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their reality: many people, repeated reports, unreliable connectivity. This proposal introduces a hybrid approach to manage sensitive work locally while using the cloud for general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their reality: many people, repeated reports, unreliable connectivity. Like a busy checkout lane, delays compound when work is slow or interrupted.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hybrid idea to an everyday experience. Local lane is secure and private, cloud assistant is for general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right side wins. The local lane handles sensitive reports; the cloud lane supports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Boundary = four dashed lines; labeled boxes with icons; arrows show the path; the cloud lane sits outside.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high/high quadrant (repeated sensitive work) is best suited for the local lane. Everything else can use the cloud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disconnected use to a familiar experience. The pilot validates that local AI works even without Wi-Fi.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device is designed for local AI. Each layer supports the next in a clear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capacity chain shows a potential time savings. The estimate is illustrative and must be validated in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is small and focused. It will measure task time and quality to decide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concrete steps, then one sentence ask with size and duration.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59536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863840" y="1417320"/>
            <a:ext cx="3566160" cy="3566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0" y="2240280"/>
            <a:ext cx="1920240" cy="1920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74">
                <a:solidFill>
                  <a:srgbClr val="1F5FBF"/>
                </a:solidFill>
                <a:latin typeface="Segoe Fluent Icons"/>
              </a:rPr>
              <a:t></a:t>
            </a:r>
          </a:p>
        </p:txBody>
      </p:sp>
      <p:sp>
        <p:nvSpPr>
          <p:cNvPr id="6" name="Oval 5"/>
          <p:cNvSpPr/>
          <p:nvPr/>
        </p:nvSpPr>
        <p:spPr>
          <a:xfrm>
            <a:off x="7452360" y="12344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35240" y="141732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1F5FBF"/>
                </a:solidFill>
                <a:latin typeface="Segoe Fluent Icons"/>
              </a:rPr>
              <a:t></a:t>
            </a:r>
          </a:p>
        </p:txBody>
      </p:sp>
      <p:sp>
        <p:nvSpPr>
          <p:cNvPr id="8" name="Oval 7"/>
          <p:cNvSpPr/>
          <p:nvPr/>
        </p:nvSpPr>
        <p:spPr>
          <a:xfrm>
            <a:off x="10744200" y="182880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27080" y="20116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3F8F7E"/>
                </a:solidFill>
                <a:latin typeface="Segoe Fluent Icons"/>
              </a:rPr>
              <a:t>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42976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18120" y="448056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B8742F"/>
                </a:solidFill>
                <a:latin typeface="Segoe Fluent Icons"/>
              </a:rPr>
              <a:t></a:t>
            </a:r>
          </a:p>
        </p:txBody>
      </p:sp>
      <p:sp>
        <p:nvSpPr>
          <p:cNvPr id="12" name="Oval 11"/>
          <p:cNvSpPr/>
          <p:nvPr/>
        </p:nvSpPr>
        <p:spPr>
          <a:xfrm>
            <a:off x="10561320" y="434340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4200" y="45262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6B5BD2"/>
                </a:solidFill>
                <a:latin typeface="Segoe Fluent Icons"/>
              </a:rPr>
              <a:t>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F5FBF"/>
                </a:solidFill>
                <a:latin typeface="Segoe UI Semibold"/>
              </a:rPr>
              <a:t>NORTHWIND PILOT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141414"/>
                </a:solidFill>
                <a:latin typeface="Segoe UI Semibold"/>
              </a:rPr>
              <a:t>Local AI for Store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4A4A4A"/>
                </a:solidFill>
                <a:latin typeface="Segoe UI"/>
              </a:rPr>
              <a:t>Hybrid lane: sensitive drafting on device, cloud assistant for everything else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8C8780"/>
                </a:solidFill>
                <a:latin typeface="Segoe UI"/>
              </a:rPr>
              <a:t>Surface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Workload Piles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Repeated reports and patchy Wi-Fi slow every store visit, like a busy checkout lane.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7420"/>
            <a:ext cx="3483864" cy="356616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217420"/>
            <a:ext cx="3483864" cy="82296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1F5FBF"/>
                </a:solidFill>
                <a:latin typeface="Segoe UI Light"/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Managers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Northwind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217420"/>
            <a:ext cx="3483864" cy="356616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2544" y="2217420"/>
            <a:ext cx="3483864" cy="82296"/>
          </a:xfrm>
          <a:prstGeom prst="rect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636008" y="2546604"/>
            <a:ext cx="713232" cy="713232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3586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3F8F7E"/>
                </a:solidFill>
                <a:latin typeface="Segoe UI Light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Stores/week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Northwind brief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2217420"/>
            <a:ext cx="3483864" cy="356616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156448" y="2217420"/>
            <a:ext cx="3483864" cy="82296"/>
          </a:xfrm>
          <a:prstGeom prst="rect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439912" y="2546604"/>
            <a:ext cx="713232" cy="713232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3976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4900" i="0">
                <a:solidFill>
                  <a:srgbClr val="B8742F"/>
                </a:solidFill>
                <a:latin typeface="Segoe UI Light"/>
              </a:rPr>
              <a:t>30 minutes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Per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Northwind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Hybrid AI Lanes Are Like a Hotel Safe + Concierge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Local lane for sensitive work, cloud assistant for everything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41414"/>
                </a:solidFill>
                <a:latin typeface="Segoe UI Semibold"/>
              </a:rPr>
              <a:t>Hybrid AI lanes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41414"/>
                </a:solidFill>
                <a:latin typeface="Segoe UI Semibold"/>
              </a:rPr>
              <a:t>Hotel safe + concierge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C878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Local lane on laptop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Room safe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Sensitive client files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Passport and valuables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Microsoft 365 Copilot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Concierge for everything else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Consultant decides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Guest chooses what goes 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Keep Cloud Assistant, Add Local 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Local lane handles sensitive reports; cloud helps with everything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41414"/>
                </a:solidFill>
                <a:latin typeface="Segoe UI Semibold"/>
              </a:rPr>
              <a:t>Current 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C878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Single cloud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C878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All reports go to Copilot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8575">
            <a:solidFill>
              <a:srgbClr val="1F5FBF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41414"/>
                </a:solidFill>
                <a:latin typeface="Segoe UI Semibold"/>
              </a:rPr>
              <a:t>Recommended Hybrid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1F5FBF"/>
                </a:solidFill>
                <a:latin typeface="Segoe Fluent Icons"/>
              </a:rPr>
              <a:t>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Local lane for sensitive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1F5FBF"/>
                </a:solidFill>
                <a:latin typeface="Segoe Fluent Icons"/>
              </a:rPr>
              <a:t>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Cloud assistant for general tasks</a:t>
            </a:r>
          </a:p>
        </p:txBody>
      </p:sp>
      <p:sp>
        <p:nvSpPr>
          <p:cNvPr id="25" name="Oval 24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F7F5F2"/>
                </a:solidFill>
                <a:latin typeface="Segoe UI Semibold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23076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FFFFFF"/>
                </a:solidFill>
                <a:latin typeface="Segoe Fluent Icons"/>
              </a:rPr>
              <a:t>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Add local lane alongside existing cloud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Sensitive Work Stays on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Files, prompts and drafts stay inside device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3501" y="2407920"/>
            <a:ext cx="7209587" cy="0"/>
          </a:xfrm>
          <a:prstGeom prst="line">
            <a:avLst/>
          </a:prstGeom>
          <a:ln w="28575">
            <a:solidFill>
              <a:srgbClr val="B874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3501" y="5882640"/>
            <a:ext cx="7209587" cy="0"/>
          </a:xfrm>
          <a:prstGeom prst="line">
            <a:avLst/>
          </a:prstGeom>
          <a:ln w="28575">
            <a:solidFill>
              <a:srgbClr val="B874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3501" y="2407920"/>
            <a:ext cx="0" cy="3474720"/>
          </a:xfrm>
          <a:prstGeom prst="line">
            <a:avLst/>
          </a:prstGeom>
          <a:ln w="28575">
            <a:solidFill>
              <a:srgbClr val="B874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43088" y="2407920"/>
            <a:ext cx="0" cy="3474720"/>
          </a:xfrm>
          <a:prstGeom prst="line">
            <a:avLst/>
          </a:prstGeom>
          <a:ln w="28575">
            <a:solidFill>
              <a:srgbClr val="B874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44266" y="3131820"/>
            <a:ext cx="277292" cy="0"/>
          </a:xfrm>
          <a:prstGeom prst="line">
            <a:avLst/>
          </a:prstGeom>
          <a:ln w="28575">
            <a:solidFill>
              <a:srgbClr val="1F5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55031" y="3131820"/>
            <a:ext cx="277292" cy="0"/>
          </a:xfrm>
          <a:prstGeom prst="line">
            <a:avLst/>
          </a:prstGeom>
          <a:ln w="28575">
            <a:solidFill>
              <a:srgbClr val="1F5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38295" y="3493770"/>
            <a:ext cx="0" cy="723900"/>
          </a:xfrm>
          <a:prstGeom prst="line">
            <a:avLst/>
          </a:prstGeom>
          <a:ln w="28575">
            <a:solidFill>
              <a:srgbClr val="A19D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76561" y="3493770"/>
            <a:ext cx="0" cy="723900"/>
          </a:xfrm>
          <a:prstGeom prst="line">
            <a:avLst/>
          </a:prstGeom>
          <a:ln w="28575">
            <a:solidFill>
              <a:srgbClr val="6B5B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3501" y="1828800"/>
            <a:ext cx="7209587" cy="398145"/>
          </a:xfrm>
          <a:prstGeom prst="roundRect">
            <a:avLst>
              <a:gd name="adj" fmla="val 50000"/>
            </a:avLst>
          </a:prstGeom>
          <a:solidFill>
            <a:srgbClr val="1F5FB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8949" y="1918383"/>
            <a:ext cx="218980" cy="218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9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6801" y="1938528"/>
            <a:ext cx="6624847" cy="17868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i="0">
                <a:solidFill>
                  <a:srgbClr val="FFFFFF"/>
                </a:solidFill>
                <a:latin typeface="Segoe UI Semibold"/>
              </a:rPr>
              <a:t>Surface Laptop Ultra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793" y="2769870"/>
            <a:ext cx="2033473" cy="723900"/>
          </a:xfrm>
          <a:prstGeom prst="roundRect">
            <a:avLst>
              <a:gd name="adj" fmla="val 22736"/>
            </a:avLst>
          </a:prstGeom>
          <a:solidFill>
            <a:srgbClr val="B8742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6624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325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Site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1558" y="2769870"/>
            <a:ext cx="2033473" cy="723900"/>
          </a:xfrm>
          <a:prstGeom prst="roundRect">
            <a:avLst>
              <a:gd name="adj" fmla="val 22736"/>
            </a:avLst>
          </a:prstGeom>
          <a:solidFill>
            <a:srgbClr val="1F5FB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77006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94023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Local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32323" y="2769870"/>
            <a:ext cx="2033473" cy="723900"/>
          </a:xfrm>
          <a:prstGeom prst="roundRect">
            <a:avLst>
              <a:gd name="adj" fmla="val 22736"/>
            </a:avLst>
          </a:prstGeom>
          <a:solidFill>
            <a:srgbClr val="3F8F7E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8777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478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Reviewed draft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1558" y="4217670"/>
            <a:ext cx="2033473" cy="651510"/>
          </a:xfrm>
          <a:prstGeom prst="roundRect">
            <a:avLst>
              <a:gd name="adj" fmla="val 25263"/>
            </a:avLst>
          </a:prstGeom>
          <a:solidFill>
            <a:srgbClr val="C2416B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77006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FFFFFF"/>
                </a:solidFill>
                <a:latin typeface="Segoe Fluent Icons"/>
              </a:rPr>
              <a:t>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4209" y="4327398"/>
            <a:ext cx="1309383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 Semibold"/>
              </a:rPr>
              <a:t>RTX Spark GPU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793" y="5231130"/>
            <a:ext cx="6655003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A19D97"/>
                </a:solidFill>
                <a:latin typeface="Segoe UI"/>
              </a:rPr>
              <a:t>Inside boundary: files, prompts, drafts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7672" y="1828800"/>
            <a:ext cx="305021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Cloud lane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97672" y="2769870"/>
            <a:ext cx="2957779" cy="723900"/>
          </a:xfrm>
          <a:prstGeom prst="roundRect">
            <a:avLst>
              <a:gd name="adj" fmla="val 22736"/>
            </a:avLst>
          </a:prstGeom>
          <a:solidFill>
            <a:srgbClr val="6B5BD2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53120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0137" y="2879598"/>
            <a:ext cx="2193874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Cloud assistant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97672" y="4217670"/>
            <a:ext cx="2957779" cy="651510"/>
          </a:xfrm>
          <a:prstGeom prst="roundRect">
            <a:avLst>
              <a:gd name="adj" fmla="val 252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53120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141414"/>
                </a:solidFill>
                <a:latin typeface="Segoe Fluent Icons"/>
              </a:rPr>
              <a:t>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0322" y="4327398"/>
            <a:ext cx="2233689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141414"/>
                </a:solidFill>
                <a:latin typeface="Segoe UI Semibold"/>
              </a:rPr>
              <a:t>Everyday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Route Work to Right 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Sensitive, repeated reports go local. Everything else stays in cloud.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6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8C87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8C87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4A4A4A"/>
                </a:solidFill>
                <a:latin typeface="Segoe UI"/>
              </a:rPr>
              <a:t>Repetition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4A4A4A"/>
                </a:solidFill>
                <a:latin typeface="Segoe UI"/>
              </a:rPr>
              <a:t>Sensitivity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1F5FB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Low Repetition, Low 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"/>
              </a:rPr>
              <a:t>Use cloud assistant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3F8F7E"/>
                </a:solidFill>
                <a:latin typeface="Segoe Fluent Icons"/>
              </a:rPr>
              <a:t>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High Repetition, Low Sensitivity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Use cloud assistant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B8742F"/>
                </a:solidFill>
                <a:latin typeface="Segoe Fluent Icons"/>
              </a:rPr>
              <a:t>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Low Repetition, High Sensitivity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Use local lane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6B5BD2"/>
                </a:solidFill>
                <a:latin typeface="Segoe Fluent Icons"/>
              </a:rPr>
              <a:t>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High Repetition, High Sensitivity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Use local lane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Restricted Wi-Fi Is Like Offline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Disconnected use validated in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41414"/>
                </a:solidFill>
                <a:latin typeface="Segoe UI Semibold"/>
              </a:rPr>
              <a:t>Local AI lane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41414"/>
                </a:solidFill>
                <a:latin typeface="Segoe UI Semibold"/>
              </a:rPr>
              <a:t>Offline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C878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Local model on laptop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Maps downloaded to 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Restricted client Wi-Fi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No signal in the tunnel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Copilot when connected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Live traffic when online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2-week pilot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Test drive before the trip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Device for Local Drafting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Surface Laptop Ultra supports drafting workflows with local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32304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252374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266364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50545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Local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50545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Gemma 4 26B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3751783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593592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On-device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593592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RTX Spark GPU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08576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470001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983" y="483991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68172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Laptop silicon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68172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20 CPU cores, 128 GB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85832" y="2432304"/>
            <a:ext cx="73152" cy="3136392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12413"/>
            </a:avLst>
          </a:prstGeom>
          <a:solidFill>
            <a:srgbClr val="D7DEEA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 Semibold"/>
              </a:rPr>
              <a:t>Drafting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Capacity Chain: Hours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People x summaries x minutes saved x weeks = hours; estimate to validate.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99439" y="2125980"/>
            <a:ext cx="914400" cy="91440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27455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1F5FBF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60 managers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Each writes reports</a:t>
            </a:r>
          </a:p>
        </p:txBody>
      </p:sp>
      <p:sp>
        <p:nvSpPr>
          <p:cNvPr id="15" name="Chevron 14"/>
          <p:cNvSpPr/>
          <p:nvPr/>
        </p:nvSpPr>
        <p:spPr>
          <a:xfrm>
            <a:off x="2501798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867558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318358" y="2125980"/>
            <a:ext cx="914400" cy="91440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4637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0438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F8F7E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0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i="0">
                <a:solidFill>
                  <a:srgbClr val="141414"/>
                </a:solidFill>
                <a:latin typeface="Segoe UI Semibold"/>
              </a:rPr>
              <a:t>12 reports/week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0438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Per manager</a:t>
            </a:r>
          </a:p>
        </p:txBody>
      </p:sp>
      <p:sp>
        <p:nvSpPr>
          <p:cNvPr id="22" name="Chevron 21"/>
          <p:cNvSpPr/>
          <p:nvPr/>
        </p:nvSpPr>
        <p:spPr>
          <a:xfrm>
            <a:off x="4820717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186477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9357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B8742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1069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10 minutes saved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9357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Per report</a:t>
            </a:r>
          </a:p>
        </p:txBody>
      </p:sp>
      <p:sp>
        <p:nvSpPr>
          <p:cNvPr id="29" name="Chevron 28"/>
          <p:cNvSpPr/>
          <p:nvPr/>
        </p:nvSpPr>
        <p:spPr>
          <a:xfrm>
            <a:off x="7139635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505395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956194" y="2125980"/>
            <a:ext cx="914400" cy="914400"/>
          </a:xfrm>
          <a:prstGeom prst="ellipse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8421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8275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6B5BD2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9987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48 weeks/year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8275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Working weeks</a:t>
            </a:r>
          </a:p>
        </p:txBody>
      </p:sp>
      <p:sp>
        <p:nvSpPr>
          <p:cNvPr id="36" name="Chevron 35"/>
          <p:cNvSpPr/>
          <p:nvPr/>
        </p:nvSpPr>
        <p:spPr>
          <a:xfrm>
            <a:off x="9458554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9824314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275113" y="2125980"/>
            <a:ext cx="914400" cy="914400"/>
          </a:xfrm>
          <a:prstGeom prst="ellipse">
            <a:avLst/>
          </a:prstGeom>
          <a:solidFill>
            <a:srgbClr val="C2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03129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7194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C2416B"/>
                </a:solidFill>
                <a:latin typeface="Segoe UI Semi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8906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5,760 hours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7194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Estimate to validate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Pilot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A small, time-boxed pilot decides next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68496"/>
            <a:ext cx="10725912" cy="64008"/>
          </a:xfrm>
          <a:prstGeom prst="rect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 flipV="1">
            <a:off x="2140839" y="3616452"/>
            <a:ext cx="0" cy="384048"/>
          </a:xfrm>
          <a:prstGeom prst="line">
            <a:avLst/>
          </a:prstGeom>
          <a:ln w="19050">
            <a:solidFill>
              <a:srgbClr val="1F5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57959" y="3817620"/>
            <a:ext cx="365760" cy="36576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14959" y="2244852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2119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1F5FBF"/>
                </a:solidFill>
                <a:latin typeface="Segoe Fluent Icons"/>
              </a:rPr>
              <a:t>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887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F5FBF"/>
                </a:solidFill>
                <a:latin typeface="Segoe UI Semibold"/>
              </a:rPr>
              <a:t>Before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119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Nominate 8 users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76597" y="4000500"/>
            <a:ext cx="0" cy="384048"/>
          </a:xfrm>
          <a:prstGeom prst="line">
            <a:avLst/>
          </a:prstGeom>
          <a:ln w="19050">
            <a:solidFill>
              <a:srgbClr val="3F8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93717" y="3817620"/>
            <a:ext cx="365760" cy="36576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450717" y="4384548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87877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3F8F7E"/>
                </a:solidFill>
                <a:latin typeface="Segoe Fluent Icons"/>
              </a:rPr>
              <a:t>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7645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3F8F7E"/>
                </a:solidFill>
                <a:latin typeface="Segoe UI Semibold"/>
              </a:rPr>
              <a:t>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7877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Run pilot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412355" y="3616452"/>
            <a:ext cx="0" cy="384048"/>
          </a:xfrm>
          <a:prstGeom prst="line">
            <a:avLst/>
          </a:prstGeom>
          <a:ln w="19050">
            <a:solidFill>
              <a:srgbClr val="B87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229475" y="3817620"/>
            <a:ext cx="365760" cy="36576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086475" y="2244852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23635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B8742F"/>
                </a:solidFill>
                <a:latin typeface="Segoe Fluent Icons"/>
              </a:rPr>
              <a:t>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3403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B8742F"/>
                </a:solidFill>
                <a:latin typeface="Segoe UI Semibold"/>
              </a:rPr>
              <a:t>Week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635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Gather feedback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48113" y="4000500"/>
            <a:ext cx="0" cy="384048"/>
          </a:xfrm>
          <a:prstGeom prst="line">
            <a:avLst/>
          </a:prstGeom>
          <a:ln w="19050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65233" y="3817620"/>
            <a:ext cx="365760" cy="365760"/>
          </a:xfrm>
          <a:prstGeom prst="ellipse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722233" y="4384548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859393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6B5BD2"/>
                </a:solidFill>
                <a:latin typeface="Segoe Fluent Icons"/>
              </a:rPr>
              <a:t>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9161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6B5BD2"/>
                </a:solidFill>
                <a:latin typeface="Segoe UI Semibold"/>
              </a:rPr>
              <a:t>Sponsor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9393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Measure task time and quality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Approve Measured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A small, time-boxed pilot decides next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1F5FBF"/>
                </a:solidFill>
                <a:latin typeface="Segoe Fluent Icons"/>
              </a:rPr>
              <a:t>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Nominate 8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District managers with repeat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F8F7E"/>
                </a:solidFill>
                <a:latin typeface="Segoe Fluent Icons"/>
              </a:rPr>
              <a:t>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Run 3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Alongside current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B8742F"/>
                </a:solidFill>
                <a:latin typeface="Segoe Fluent Icons"/>
              </a:rPr>
              <a:t>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Decide on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Task time and quality readout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4399"/>
            </a:avLst>
          </a:prstGeom>
          <a:gradFill rotWithShape="1">
            <a:gsLst>
              <a:gs pos="0">
                <a:srgbClr val="1F5FBF"/>
              </a:gs>
              <a:gs pos="100000">
                <a:srgbClr val="327C9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FFFFF"/>
                </a:solidFill>
                <a:latin typeface="Segoe UI Semibold"/>
              </a:rPr>
              <a:t>Approve 8-user, 3-week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Pilot Proposal</dc:title>
  <dc:subject/>
  <dc:creator>Offline PPTX Forge</dc:creator>
  <cp:keywords/>
  <dc:description>Generated offline; template=surface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