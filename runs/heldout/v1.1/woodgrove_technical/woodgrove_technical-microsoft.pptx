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B3B3B3"/>
            </a:solidFill>
          </c:spPr>
          <c:dPt>
            <c:idx val="1"/>
            <c:spPr>
              <a:solidFill>
                <a:srgbClr val="0078D4"/>
              </a:solidFill>
            </c:spPr>
          </c:dPt>
          <c:cat>
            <c:strRef>
              <c:f>Sheet1!$A$2:$A$4</c:f>
              <c:strCache>
                <c:ptCount val="3"/>
                <c:pt idx="0">
                  <c:v>Gemma 4 26B, 1 stream</c:v>
                </c:pt>
                <c:pt idx="1">
                  <c:v>Qwen3-Coder 30B, 1 stream</c:v>
                </c:pt>
                <c:pt idx="2">
                  <c:v>Qwen3.6 27B, 1 stream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72.0</c:v>
                </c:pt>
                <c:pt idx="1">
                  <c:v>86.0</c:v>
                </c:pt>
                <c:pt idx="2">
                  <c:v>13.0</c:v>
                </c:pt>
              </c:numCache>
            </c:numRef>
          </c:val>
        </c:ser>
        <c:dLbls>
          <c:numFmt formatCode="#,##0&quot; tokens/s&quot;" sourceLinked="0"/>
          <c:txPr>
            <a:bodyPr/>
            <a:lstStyle/>
            <a:p>
              <a:pPr>
                <a:defRPr sz="1500" b="1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1B1B1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B1B1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briefing shows Local AI working on Surface Laptop Ultra. 12 analysts used it for 3 weeks with sensitive data. Results validate local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lane protects sensitive data, cloud handles research. Hybrid approach offers best of both worlds.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is Surface Laptop Ultra with RTX Spark. Software stack includes llama.cpp and Foundry Local. Catalog has 28 models, 315 GiB on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views are distinct. Installed = whole system; visible = Windows view; GPU = CUDA view. Never add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MoE models decode faster due to selective expert use. Qwen3-Coder 30B is fastest single-stream decoder.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MoE models activate only a few experts per token, unlike dense models where all weights fire.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uses local RAG over policy docs, then local model for code gen. Developer reviews and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sizes are job sizes, not accuracy tiers. S = small jobs, XL = large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lane handles code and docs inside device boundary; cloud handles reasoning outside. Routing policy decides which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Proof, not a promise: these numbers were measured while this deck was generated on this Surface Laptop Ultra. Drafting time covers the local model passes; energy is GPU plus a platform allowance.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will test 10 developers for 14 days. Measures task time and quality, not accuracy or model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55448" cy="155448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55448" cy="155448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155448" cy="155448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53035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i="0">
                <a:solidFill>
                  <a:srgbClr val="737373"/>
                </a:solidFill>
                <a:latin typeface="Segoe UI Semibold"/>
              </a:rPr>
              <a:t>Microsoft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600200"/>
            <a:ext cx="1600200" cy="160020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01050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9" name="Rectangle 8"/>
          <p:cNvSpPr/>
          <p:nvPr/>
        </p:nvSpPr>
        <p:spPr>
          <a:xfrm>
            <a:off x="9747504" y="1600200"/>
            <a:ext cx="1600200" cy="16002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47554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346704"/>
            <a:ext cx="1600200" cy="16002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01050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47504" y="3346704"/>
            <a:ext cx="1600200" cy="16002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47554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078D4"/>
                </a:solidFill>
                <a:latin typeface="Segoe UI Semibold"/>
              </a:rPr>
              <a:t>TECHNICAL BRIEFING FOR &lt;CLIENT&gt;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B1B1B"/>
                </a:solidFill>
                <a:latin typeface="Segoe UI Semibold"/>
              </a:rPr>
              <a:t>Local AI Proven on Surface Laptop Ultra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505050"/>
                </a:solidFill>
                <a:latin typeface="Segoe UI"/>
              </a:rPr>
              <a:t>12 analysts, 3 weeks, sensitive data handled locally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A8A8A"/>
                </a:solidFill>
                <a:latin typeface="Segoe UI"/>
              </a:rPr>
              <a:t>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Local Lane for Sensitive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Like a hotel safe + concierge: local for files, cloud for research.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Shared Services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All data to shared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No local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28575">
            <a:solidFill>
              <a:srgbClr val="0078D4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Local Lane +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Sensitive files stay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Cloud for non-sensitive work</a:t>
            </a:r>
          </a:p>
        </p:txBody>
      </p:sp>
      <p:sp>
        <p:nvSpPr>
          <p:cNvPr id="26" name="Oval 25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FFFFF"/>
                </a:solidFill>
                <a:latin typeface="Segoe UI Semibold"/>
              </a:rPr>
              <a:t>VS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Hybrid routing wins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Stack: From Silicon to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Silicon → runtimes → models → workflows, each with a fact.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88236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197967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9983" y="211957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196138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Silicon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96138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NVIDIA RTX Spark N1X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Runtimes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llama.cpp 11573, Foundry Local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Model Catalog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28 open models, 315 GiB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52644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640080" y="524408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9983" y="538398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522579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Developer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522579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Code + RAG over policy docs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85832" y="1888236"/>
            <a:ext cx="73152" cy="42245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4137"/>
            </a:avLst>
          </a:prstGeom>
          <a:solidFill>
            <a:srgbClr val="D9EBF9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 Semibold"/>
              </a:rPr>
              <a:t>Woodgrove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Three Memory Views Never Summed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Like zoom levels on one map: never add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217420"/>
            <a:ext cx="3483864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0078D4"/>
                </a:solidFill>
                <a:latin typeface="Segoe UI Semibold"/>
              </a:rPr>
              <a:t>128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Installed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Device spec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544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52544" y="2217420"/>
            <a:ext cx="3483864" cy="82296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636008" y="2546604"/>
            <a:ext cx="713232" cy="713232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3586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07C10"/>
                </a:solidFill>
                <a:latin typeface="Segoe UI Semibold"/>
              </a:rPr>
              <a:t>64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Visible to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Windows memory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6448" y="2217420"/>
            <a:ext cx="3483864" cy="3566160"/>
          </a:xfrm>
          <a:prstGeom prst="roundRect">
            <a:avLst>
              <a:gd name="adj" fmla="val 157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156448" y="2217420"/>
            <a:ext cx="3483864" cy="82296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439912" y="2546604"/>
            <a:ext cx="713232" cy="713232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3976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400" i="0">
                <a:solidFill>
                  <a:srgbClr val="D83B01"/>
                </a:solidFill>
                <a:latin typeface="Segoe UI Semibold"/>
              </a:rPr>
              <a:t>64,000 MiB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GPU 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nvidia-smi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MoE vs Dense Decode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Mixture of Experts decode faster than dense models.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14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FFFFFF"/>
                </a:solidFill>
                <a:latin typeface="Segoe Fluent Icons"/>
              </a:rPr>
              <a:t>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0078D4"/>
                </a:solidFill>
                <a:latin typeface="Segoe UI Semibold"/>
              </a:rPr>
              <a:t>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505050"/>
                </a:solidFill>
                <a:latin typeface="Segoe UI"/>
              </a:rPr>
              <a:t>tokens/s  |  Qwen3-Coder 30B, 1 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Local-AI-Bench, shared machine, Oct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Why MoE Is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Like a specialist team: few experts per task, not everyone in every meeting.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6</a:t>
            </a:r>
          </a:p>
        </p:txBody>
      </p:sp>
      <p:sp>
        <p:nvSpPr>
          <p:cNvPr id="10" name="Oval 9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B1B1B"/>
                </a:solidFill>
                <a:latin typeface="Segoe UI Semibold"/>
              </a:rPr>
              <a:t>Mixture of Experts</a:t>
            </a:r>
          </a:p>
        </p:txBody>
      </p:sp>
      <p:sp>
        <p:nvSpPr>
          <p:cNvPr id="13" name="Oval 12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B1B1B"/>
                </a:solidFill>
                <a:latin typeface="Segoe UI Semibold"/>
              </a:rPr>
              <a:t>Specialist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A8A8A"/>
                </a:solidFill>
                <a:latin typeface="Segoe UI"/>
              </a:rPr>
              <a:t>is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30B total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Whole team on the roster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About 3B active per token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Few specialists per task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Gate picks experts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Lead assigns specialists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Dense: every weight fires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Everyone in every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Code + RAG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Like an open-book exam: textbook (docs) and answer with book open.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0078D4"/>
                </a:solidFill>
                <a:latin typeface="Segoe UI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IDE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Developer writes query</a:t>
            </a:r>
          </a:p>
        </p:txBody>
      </p:sp>
      <p:sp>
        <p:nvSpPr>
          <p:cNvPr id="16" name="Chevron 15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07C10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RAG 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Policy docs indexed</a:t>
            </a:r>
          </a:p>
        </p:txBody>
      </p:sp>
      <p:sp>
        <p:nvSpPr>
          <p:cNvPr id="23" name="Chevron 22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D83B01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Local Model 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Draft with citations</a:t>
            </a:r>
          </a:p>
        </p:txBody>
      </p:sp>
      <p:sp>
        <p:nvSpPr>
          <p:cNvPr id="30" name="Chevron 29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900"/>
                </a:solidFill>
                <a:latin typeface="Segoe UI Semi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Developer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Edit or approve</a:t>
            </a:r>
          </a:p>
        </p:txBody>
      </p:sp>
      <p:sp>
        <p:nvSpPr>
          <p:cNvPr id="37" name="Chevron 36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5C2D91"/>
                </a:solidFill>
                <a:latin typeface="Segoe UI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Code or query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Model Sizing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Shop machines: benchtop to gantry mill.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8</a:t>
            </a:r>
          </a:p>
        </p:txBody>
      </p:sp>
      <p:sp>
        <p:nvSpPr>
          <p:cNvPr id="10" name="Oval 9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B1B1B"/>
                </a:solidFill>
                <a:latin typeface="Segoe UI Semibold"/>
              </a:rPr>
              <a:t>Model Sizing Bands</a:t>
            </a:r>
          </a:p>
        </p:txBody>
      </p:sp>
      <p:sp>
        <p:nvSpPr>
          <p:cNvPr id="13" name="Oval 12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B1B1B"/>
                </a:solidFill>
                <a:latin typeface="Segoe UI Semibold"/>
              </a:rPr>
              <a:t>Shop Machine Sizes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A8A8A"/>
                </a:solidFill>
                <a:latin typeface="Segoe UI"/>
              </a:rPr>
              <a:t>is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S: 1-4B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Benchtop mill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M: 7-8B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Standard CNC mill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L: 14-20B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Machining center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XL: 24-32B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Gantry mill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Hybrid Routing: Local Lane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Like make-or-buy: code and docs local; reasoning cloud.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3501" y="2407920"/>
            <a:ext cx="7209587" cy="0"/>
          </a:xfrm>
          <a:prstGeom prst="line">
            <a:avLst/>
          </a:prstGeom>
          <a:ln w="28575">
            <a:solidFill>
              <a:srgbClr val="D83B0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3501" y="5882640"/>
            <a:ext cx="7209587" cy="0"/>
          </a:xfrm>
          <a:prstGeom prst="line">
            <a:avLst/>
          </a:prstGeom>
          <a:ln w="28575">
            <a:solidFill>
              <a:srgbClr val="D83B0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3501" y="2407920"/>
            <a:ext cx="0" cy="3474720"/>
          </a:xfrm>
          <a:prstGeom prst="line">
            <a:avLst/>
          </a:prstGeom>
          <a:ln w="28575">
            <a:solidFill>
              <a:srgbClr val="D83B0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43088" y="2407920"/>
            <a:ext cx="0" cy="3474720"/>
          </a:xfrm>
          <a:prstGeom prst="line">
            <a:avLst/>
          </a:prstGeom>
          <a:ln w="28575">
            <a:solidFill>
              <a:srgbClr val="D83B0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44266" y="3131820"/>
            <a:ext cx="277292" cy="0"/>
          </a:xfrm>
          <a:prstGeom prst="line">
            <a:avLst/>
          </a:prstGeom>
          <a:ln w="28575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55031" y="3131820"/>
            <a:ext cx="277292" cy="0"/>
          </a:xfrm>
          <a:prstGeom prst="line">
            <a:avLst/>
          </a:prstGeom>
          <a:ln w="28575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38295" y="3493770"/>
            <a:ext cx="0" cy="723900"/>
          </a:xfrm>
          <a:prstGeom prst="line">
            <a:avLst/>
          </a:prstGeom>
          <a:ln w="28575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6561" y="3493770"/>
            <a:ext cx="0" cy="723900"/>
          </a:xfrm>
          <a:prstGeom prst="line">
            <a:avLst/>
          </a:prstGeom>
          <a:ln w="28575">
            <a:solidFill>
              <a:srgbClr val="FFB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3501" y="1828800"/>
            <a:ext cx="7209587" cy="398145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8949" y="1918383"/>
            <a:ext cx="218980" cy="218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9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6801" y="1938528"/>
            <a:ext cx="6624847" cy="1786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i="0">
                <a:solidFill>
                  <a:srgbClr val="FFFFFF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793" y="2769870"/>
            <a:ext cx="2033473" cy="723900"/>
          </a:xfrm>
          <a:prstGeom prst="roundRect">
            <a:avLst>
              <a:gd name="adj" fmla="val 7578"/>
            </a:avLst>
          </a:prstGeom>
          <a:solidFill>
            <a:srgbClr val="D83B0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6624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325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Code &amp; Docs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21558" y="2769870"/>
            <a:ext cx="2033473" cy="723900"/>
          </a:xfrm>
          <a:prstGeom prst="roundRect">
            <a:avLst>
              <a:gd name="adj" fmla="val 7578"/>
            </a:avLst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77006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4023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Local Lane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32323" y="2769870"/>
            <a:ext cx="2033473" cy="723900"/>
          </a:xfrm>
          <a:prstGeom prst="roundRect">
            <a:avLst>
              <a:gd name="adj" fmla="val 7578"/>
            </a:avLst>
          </a:prstGeom>
          <a:solidFill>
            <a:srgbClr val="107C10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8777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478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Developer Decision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21558" y="4217670"/>
            <a:ext cx="2033473" cy="651510"/>
          </a:xfrm>
          <a:prstGeom prst="roundRect">
            <a:avLst>
              <a:gd name="adj" fmla="val 8421"/>
            </a:avLst>
          </a:prstGeom>
          <a:solidFill>
            <a:srgbClr val="5C2D9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77006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4209" y="4327398"/>
            <a:ext cx="1309383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 Semibold"/>
              </a:rPr>
              <a:t>RTX Spark 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793" y="5231130"/>
            <a:ext cx="6655003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1A1A1"/>
                </a:solidFill>
                <a:latin typeface="Segoe UI"/>
              </a:rPr>
              <a:t>Inside device boundary: files, prompts, drafts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7672" y="1828800"/>
            <a:ext cx="305021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Cloud Lane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97672" y="2769870"/>
            <a:ext cx="2957779" cy="723900"/>
          </a:xfrm>
          <a:prstGeom prst="roundRect">
            <a:avLst>
              <a:gd name="adj" fmla="val 7578"/>
            </a:avLst>
          </a:prstGeom>
          <a:solidFill>
            <a:srgbClr val="FFB900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53120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0137" y="2879598"/>
            <a:ext cx="2193874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Cloud Reasoning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97672" y="4217670"/>
            <a:ext cx="2957779" cy="651510"/>
          </a:xfrm>
          <a:prstGeom prst="roundRect">
            <a:avLst>
              <a:gd name="adj" fmla="val 84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53120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1B1B1B"/>
                </a:solidFill>
                <a:latin typeface="Segoe Fluent Icons"/>
              </a:rPr>
              <a:t>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0322" y="4327398"/>
            <a:ext cx="2233689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1B1B1B"/>
                </a:solidFill>
                <a:latin typeface="Segoe UI Semibold"/>
              </a:rPr>
              <a:t>Market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This Laptop Built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Qwen3-Coder 30B wrote it on llama.cpp, no cloud calls.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7420"/>
            <a:ext cx="2532888" cy="3566160"/>
          </a:xfrm>
          <a:prstGeom prst="roundRect">
            <a:avLst>
              <a:gd name="adj" fmla="val 21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217420"/>
            <a:ext cx="2532888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0078D4"/>
                </a:solidFill>
                <a:latin typeface="Segoe UI Semibold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Cloud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harness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217420"/>
            <a:ext cx="2532888" cy="3566160"/>
          </a:xfrm>
          <a:prstGeom prst="roundRect">
            <a:avLst>
              <a:gd name="adj" fmla="val 21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401568" y="2217420"/>
            <a:ext cx="2532888" cy="82296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685032" y="2546604"/>
            <a:ext cx="713232" cy="713232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8488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07C10"/>
                </a:solidFill>
                <a:latin typeface="Segoe UI Semibold"/>
              </a:rPr>
              <a:t>448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Drafting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measured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2217420"/>
            <a:ext cx="2532888" cy="3566160"/>
          </a:xfrm>
          <a:prstGeom prst="roundRect">
            <a:avLst>
              <a:gd name="adj" fmla="val 21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54496" y="2217420"/>
            <a:ext cx="2532888" cy="82296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D83B01"/>
                </a:solidFill>
                <a:latin typeface="Segoe UI Semibold"/>
              </a:rPr>
              <a:t>9,400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Tokens 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llama.cpp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07424" y="2217420"/>
            <a:ext cx="2532888" cy="3566160"/>
          </a:xfrm>
          <a:prstGeom prst="roundRect">
            <a:avLst>
              <a:gd name="adj" fmla="val 21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107424" y="2217420"/>
            <a:ext cx="2532888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390888" y="2546604"/>
            <a:ext cx="713232" cy="713232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49074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100" i="0">
                <a:solidFill>
                  <a:srgbClr val="1B1B1B"/>
                </a:solidFill>
                <a:latin typeface="Segoe UI Semibold"/>
              </a:rPr>
              <a:t>6.1 Wh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Energy used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nvidia-smi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Pilot Ask: 10 Developers, 14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 small, time-boxed pilot decides next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Woodgrove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0078D4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Nominate 10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Analysts and quant devs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07C10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Run 14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With local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D83B01"/>
                </a:solidFill>
                <a:latin typeface="Segoe Fluent Icons"/>
              </a:rPr>
              <a:t>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Measure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Task time, latency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the 10-user, 14-day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Woodgrove Bank Technical Briefing for Engineering</dc:title>
  <dc:subject/>
  <dc:creator>Offline PPTX Forge</dc:creator>
  <cp:keywords/>
  <dc:description>Generated offline; template=microsoft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