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Series</c:v>
                </c:pt>
              </c:strCache>
            </c:strRef>
          </c:tx>
          <c:spPr>
            <a:solidFill>
              <a:srgbClr val="B3B3B3"/>
            </a:solidFill>
          </c:spPr>
          <c:cat>
            <c:strRef>
              <c:f>Sheet1!$A$2:$A$4</c:f>
              <c:strCache>
                <c:ptCount val="3"/>
                <c:pt idx="0">
                  <c:v>Gemma 4 26B</c:v>
                </c:pt>
                <c:pt idx="1">
                  <c:v>Qwen3-Coder 30B (MoE)</c:v>
                </c:pt>
                <c:pt idx="2">
                  <c:v>Dense Qwen3.6 27B</c:v>
                </c:pt>
              </c:strCache>
            </c:strRef>
          </c:cat>
          <c:val>
            <c:numRef>
              <c:f>Sheet1!$B$2:$B$4</c:f>
              <c:numCache>
                <c:formatCode>General</c:formatCode>
                <c:ptCount val="3"/>
                <c:pt idx="0">
                  <c:v>72.0</c:v>
                </c:pt>
                <c:pt idx="1">
                  <c:v>86.0</c:v>
                </c:pt>
                <c:pt idx="2">
                  <c:v>13.0</c:v>
                </c:pt>
              </c:numCache>
            </c:numRef>
          </c:val>
        </c:ser>
        <c:dLbls>
          <c:numFmt formatCode="#,##0&quot; tokens/sec&quot;" sourceLinked="0"/>
          <c:txPr>
            <a:bodyPr/>
            <a:lstStyle/>
            <a:p>
              <a:pPr>
                <a:defRPr sz="1500" b="1">
                  <a:solidFill>
                    <a:srgbClr val="1B1B1B"/>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noFill/>
          </a:ln>
        </c:spPr>
        <c:txPr>
          <a:bodyPr/>
          <a:lstStyle/>
          <a:p>
            <a:pPr>
              <a:defRPr sz="1500">
                <a:solidFill>
                  <a:srgbClr val="1B1B1B"/>
                </a:solidFill>
              </a:defRPr>
            </a:pPr>
          </a:p>
        </c:txPr>
        <c:crossAx val="-2113994440"/>
        <c:crosses val="autoZero"/>
        <c:auto val="1"/>
        <c:lblAlgn val="ctr"/>
        <c:lblOffset val="100"/>
        <c:noMultiLvlLbl val="0"/>
      </c:catAx>
      <c:valAx>
        <c:axId val="-2113994440"/>
        <c:scaling>
          <c:max val="111.8"/>
          <c:min val="0.0"/>
        </c:scaling>
        <c:delete/>
        <c:axPos val="b"/>
        <c:majorTickMark val="out"/>
        <c:minorTickMark val="none"/>
        <c:tickLblPos val="nextTo"/>
        <c:crossAx val="-2068027336"/>
        <c:crosses val="autoZero"/>
      </c:valAx>
    </c:plotArea>
    <c:dispBlanksAs val="gap"/>
  </c:chart>
  <c:txPr>
    <a:bodyPr/>
    <a:lstStyle/>
    <a:p>
      <a:pPr>
        <a:defRPr sz="1500">
          <a:solidFill>
            <a:srgbClr val="1B1B1B"/>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Analysts use the device to extract documents, query policy manuals, and get code help without cloud calls. This ensures sensitive data stays local.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AI works like a personal assistant who knows the rules and can act on sensitive data without sharing it. It's private, fast, and reliable.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device has 128 GB RAM, with 64 GB visible to the GPU. VRAM and system RAM are separate views. The device uses 20 CPU cores and the RTX Spark GPU for AI compute.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run locally using llama.cpp and Foundry Local. Inference is done with the CUDA execution provider on ARM64. No cloud calls are made during runtime.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MoE models like Qwen3-Coder decode faster than dense models due to expert activation. Gemma 4 and Qwen3-Coder perform better in single-stream decode.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MoE models activate only a few experts per token, making them faster than dense models of similar size. It's like having a team where only specialists work on each task.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routing sends sensitive data like loan files and policy docs to the local lane. Non-sensitive work, such as market research, can route to cloud models.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itself was created on the device using Qwen3-Coder 30B through llama.cpp. No data left the machine.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spans 3 weeks with 12 analysts. It measures extraction quality, latency, and analyst experience. Results will guide future local AI adoption.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Woodgrove Bank invites 12 analysts to join a 3-week pilot. They can test document extraction, RAG, and code assistance locally. This is the first step toward a secure and private AI workflow.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40080" y="566928"/>
            <a:ext cx="155448" cy="155448"/>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822960" y="566928"/>
            <a:ext cx="155448" cy="155448"/>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640080" y="749808"/>
            <a:ext cx="155448" cy="155448"/>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822960" y="749808"/>
            <a:ext cx="155448" cy="155448"/>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530352"/>
            <a:ext cx="2743200" cy="384048"/>
          </a:xfrm>
          <a:prstGeom prst="rect">
            <a:avLst/>
          </a:prstGeom>
          <a:noFill/>
        </p:spPr>
        <p:txBody>
          <a:bodyPr wrap="square" lIns="0" rIns="0" tIns="0" bIns="0" anchor="ctr">
            <a:noAutofit/>
          </a:bodyPr>
          <a:lstStyle/>
          <a:p>
            <a:pPr algn="l"/>
            <a:r>
              <a:rPr sz="1900" i="0">
                <a:solidFill>
                  <a:srgbClr val="737373"/>
                </a:solidFill>
                <a:latin typeface="Segoe UI Semibold"/>
              </a:rPr>
              <a:t>Microsoft</a:t>
            </a:r>
          </a:p>
        </p:txBody>
      </p:sp>
      <p:sp>
        <p:nvSpPr>
          <p:cNvPr id="7" name="Rectangle 6"/>
          <p:cNvSpPr/>
          <p:nvPr/>
        </p:nvSpPr>
        <p:spPr>
          <a:xfrm>
            <a:off x="8001000" y="1600200"/>
            <a:ext cx="1600200" cy="1600200"/>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01050"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9" name="Rectangle 8"/>
          <p:cNvSpPr/>
          <p:nvPr/>
        </p:nvSpPr>
        <p:spPr>
          <a:xfrm>
            <a:off x="9747504" y="1600200"/>
            <a:ext cx="1600200" cy="1600200"/>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47554" y="2000250"/>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1" name="Rectangle 10"/>
          <p:cNvSpPr/>
          <p:nvPr/>
        </p:nvSpPr>
        <p:spPr>
          <a:xfrm>
            <a:off x="8001000" y="3346704"/>
            <a:ext cx="1600200" cy="1600200"/>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401050"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3" name="Rectangle 12"/>
          <p:cNvSpPr/>
          <p:nvPr/>
        </p:nvSpPr>
        <p:spPr>
          <a:xfrm>
            <a:off x="9747504" y="3346704"/>
            <a:ext cx="1600200" cy="1600200"/>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7554" y="3746754"/>
            <a:ext cx="800100" cy="800100"/>
          </a:xfrm>
          <a:prstGeom prst="rect">
            <a:avLst/>
          </a:prstGeom>
          <a:noFill/>
        </p:spPr>
        <p:txBody>
          <a:bodyPr wrap="none" lIns="0" rIns="0" tIns="0" bIns="0" anchor="ctr">
            <a:spAutoFit/>
          </a:bodyPr>
          <a:lstStyle/>
          <a:p>
            <a:pPr algn="ctr"/>
            <a:r>
              <a:rPr sz="3906">
                <a:solidFill>
                  <a:srgbClr val="FFFFFF"/>
                </a:solidFill>
                <a:latin typeface="Segoe Fluent Icons"/>
              </a:rPr>
              <a:t></a:t>
            </a:r>
          </a:p>
        </p:txBody>
      </p:sp>
      <p:sp>
        <p:nvSpPr>
          <p:cNvPr id="15" name="TextBox 14"/>
          <p:cNvSpPr txBox="1"/>
          <p:nvPr/>
        </p:nvSpPr>
        <p:spPr>
          <a:xfrm>
            <a:off x="640080" y="1691640"/>
            <a:ext cx="6766560" cy="411480"/>
          </a:xfrm>
          <a:prstGeom prst="rect">
            <a:avLst/>
          </a:prstGeom>
          <a:noFill/>
        </p:spPr>
        <p:txBody>
          <a:bodyPr wrap="square" lIns="0" rIns="0" tIns="0" bIns="0" anchor="t">
            <a:noAutofit/>
          </a:bodyPr>
          <a:lstStyle/>
          <a:p>
            <a:pPr algn="l"/>
            <a:r>
              <a:rPr sz="1500" i="0">
                <a:solidFill>
                  <a:srgbClr val="0078D4"/>
                </a:solidFill>
                <a:latin typeface="Segoe UI Semibold"/>
              </a:rPr>
              <a:t>SURFACE LAPTOP ULTRA WITH NVIDIA RTX SPARK</a:t>
            </a:r>
          </a:p>
        </p:txBody>
      </p:sp>
      <p:sp>
        <p:nvSpPr>
          <p:cNvPr id="16" name="TextBox 15"/>
          <p:cNvSpPr txBox="1"/>
          <p:nvPr/>
        </p:nvSpPr>
        <p:spPr>
          <a:xfrm>
            <a:off x="640080" y="2148840"/>
            <a:ext cx="6400800" cy="2194560"/>
          </a:xfrm>
          <a:prstGeom prst="rect">
            <a:avLst/>
          </a:prstGeom>
          <a:noFill/>
        </p:spPr>
        <p:txBody>
          <a:bodyPr wrap="square" lIns="0" rIns="0" tIns="0" bIns="0" anchor="t">
            <a:noAutofit/>
          </a:bodyPr>
          <a:lstStyle/>
          <a:p>
            <a:pPr algn="l"/>
            <a:r>
              <a:rPr sz="5000" i="0">
                <a:solidFill>
                  <a:srgbClr val="1B1B1B"/>
                </a:solidFill>
                <a:latin typeface="Segoe UI Semibold"/>
              </a:rPr>
              <a:t>Running Local AI Analytics</a:t>
            </a:r>
          </a:p>
        </p:txBody>
      </p:sp>
      <p:sp>
        <p:nvSpPr>
          <p:cNvPr id="17" name="TextBox 16"/>
          <p:cNvSpPr txBox="1"/>
          <p:nvPr/>
        </p:nvSpPr>
        <p:spPr>
          <a:xfrm>
            <a:off x="640080" y="4434840"/>
            <a:ext cx="6583680" cy="914400"/>
          </a:xfrm>
          <a:prstGeom prst="rect">
            <a:avLst/>
          </a:prstGeom>
          <a:noFill/>
        </p:spPr>
        <p:txBody>
          <a:bodyPr wrap="square" lIns="0" rIns="0" tIns="0" bIns="0" anchor="t">
            <a:noAutofit/>
          </a:bodyPr>
          <a:lstStyle/>
          <a:p>
            <a:pPr algn="l"/>
            <a:r>
              <a:rPr sz="2000" i="0">
                <a:solidFill>
                  <a:srgbClr val="505050"/>
                </a:solidFill>
                <a:latin typeface="Segoe UI"/>
              </a:rPr>
              <a:t>12 Analysts. 3 Weeks. No Cloud Calls.</a:t>
            </a:r>
          </a:p>
        </p:txBody>
      </p:sp>
      <p:sp>
        <p:nvSpPr>
          <p:cNvPr id="18" name="TextBox 17"/>
          <p:cNvSpPr txBox="1"/>
          <p:nvPr/>
        </p:nvSpPr>
        <p:spPr>
          <a:xfrm>
            <a:off x="640080" y="6035040"/>
            <a:ext cx="6400800" cy="320040"/>
          </a:xfrm>
          <a:prstGeom prst="rect">
            <a:avLst/>
          </a:prstGeom>
          <a:noFill/>
        </p:spPr>
        <p:txBody>
          <a:bodyPr wrap="square" lIns="0" rIns="0" tIns="0" bIns="0" anchor="t">
            <a:noAutofit/>
          </a:bodyPr>
          <a:lstStyle/>
          <a:p>
            <a:pPr algn="l"/>
            <a:r>
              <a:rPr sz="1200" i="0">
                <a:solidFill>
                  <a:srgbClr val="8A8A8A"/>
                </a:solidFill>
                <a:latin typeface="Segoe UI"/>
              </a:rPr>
              <a:t>Microsoft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Local AI Stack Architecture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Analysts work with sensitive data locally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2</a:t>
            </a:r>
          </a:p>
        </p:txBody>
      </p:sp>
      <p:sp>
        <p:nvSpPr>
          <p:cNvPr id="10" name="Rounded Rectangle 9"/>
          <p:cNvSpPr/>
          <p:nvPr/>
        </p:nvSpPr>
        <p:spPr>
          <a:xfrm>
            <a:off x="548640" y="2432304"/>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40080" y="2523744"/>
            <a:ext cx="777240" cy="777240"/>
          </a:xfrm>
          <a:prstGeom prst="roundRect">
            <a:avLst>
              <a:gd name="adj" fmla="val 14117"/>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9983" y="2663647"/>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3" name="TextBox 12"/>
          <p:cNvSpPr txBox="1"/>
          <p:nvPr/>
        </p:nvSpPr>
        <p:spPr>
          <a:xfrm>
            <a:off x="1618488" y="2505456"/>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Document Extraction</a:t>
            </a:r>
          </a:p>
        </p:txBody>
      </p:sp>
      <p:sp>
        <p:nvSpPr>
          <p:cNvPr id="14" name="TextBox 13"/>
          <p:cNvSpPr txBox="1"/>
          <p:nvPr/>
        </p:nvSpPr>
        <p:spPr>
          <a:xfrm>
            <a:off x="4773168" y="2505456"/>
            <a:ext cx="4855464" cy="813816"/>
          </a:xfrm>
          <a:prstGeom prst="rect">
            <a:avLst/>
          </a:prstGeom>
          <a:noFill/>
        </p:spPr>
        <p:txBody>
          <a:bodyPr wrap="square" lIns="0" rIns="0" tIns="0" bIns="0" anchor="ctr">
            <a:noAutofit/>
          </a:bodyPr>
          <a:lstStyle/>
          <a:p>
            <a:pPr algn="l"/>
            <a:r>
              <a:rPr sz="1600" i="0">
                <a:solidFill>
                  <a:srgbClr val="505050"/>
                </a:solidFill>
                <a:latin typeface="Segoe UI"/>
              </a:rPr>
              <a:t>Loan files to text</a:t>
            </a:r>
          </a:p>
        </p:txBody>
      </p:sp>
      <p:sp>
        <p:nvSpPr>
          <p:cNvPr id="15" name="Rounded Rectangle 14"/>
          <p:cNvSpPr/>
          <p:nvPr/>
        </p:nvSpPr>
        <p:spPr>
          <a:xfrm>
            <a:off x="548640" y="3520440"/>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40080" y="3611880"/>
            <a:ext cx="777240" cy="777240"/>
          </a:xfrm>
          <a:prstGeom prst="roundRect">
            <a:avLst>
              <a:gd name="adj" fmla="val 14117"/>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9983" y="3751783"/>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18" name="TextBox 17"/>
          <p:cNvSpPr txBox="1"/>
          <p:nvPr/>
        </p:nvSpPr>
        <p:spPr>
          <a:xfrm>
            <a:off x="1618488" y="3593592"/>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RAG over Policy Docs</a:t>
            </a:r>
          </a:p>
        </p:txBody>
      </p:sp>
      <p:sp>
        <p:nvSpPr>
          <p:cNvPr id="19" name="TextBox 18"/>
          <p:cNvSpPr txBox="1"/>
          <p:nvPr/>
        </p:nvSpPr>
        <p:spPr>
          <a:xfrm>
            <a:off x="4773168" y="3593592"/>
            <a:ext cx="4855464" cy="813816"/>
          </a:xfrm>
          <a:prstGeom prst="rect">
            <a:avLst/>
          </a:prstGeom>
          <a:noFill/>
        </p:spPr>
        <p:txBody>
          <a:bodyPr wrap="square" lIns="0" rIns="0" tIns="0" bIns="0" anchor="ctr">
            <a:noAutofit/>
          </a:bodyPr>
          <a:lstStyle/>
          <a:p>
            <a:pPr algn="l"/>
            <a:r>
              <a:rPr sz="1600" i="0">
                <a:solidFill>
                  <a:srgbClr val="505050"/>
                </a:solidFill>
                <a:latin typeface="Segoe UI"/>
              </a:rPr>
              <a:t>Credit manuals, local index</a:t>
            </a:r>
          </a:p>
        </p:txBody>
      </p:sp>
      <p:sp>
        <p:nvSpPr>
          <p:cNvPr id="20" name="Rounded Rectangle 19"/>
          <p:cNvSpPr/>
          <p:nvPr/>
        </p:nvSpPr>
        <p:spPr>
          <a:xfrm>
            <a:off x="548640" y="4608576"/>
            <a:ext cx="9262872" cy="960120"/>
          </a:xfrm>
          <a:prstGeom prst="roundRect">
            <a:avLst>
              <a:gd name="adj" fmla="val 5714"/>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0080" y="4700016"/>
            <a:ext cx="777240" cy="777240"/>
          </a:xfrm>
          <a:prstGeom prst="roundRect">
            <a:avLst>
              <a:gd name="adj" fmla="val 14117"/>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79983" y="4839919"/>
            <a:ext cx="497434" cy="497434"/>
          </a:xfrm>
          <a:prstGeom prst="rect">
            <a:avLst/>
          </a:prstGeom>
          <a:noFill/>
        </p:spPr>
        <p:txBody>
          <a:bodyPr wrap="none" lIns="0" rIns="0" tIns="0" bIns="0" anchor="ctr">
            <a:spAutoFit/>
          </a:bodyPr>
          <a:lstStyle/>
          <a:p>
            <a:pPr algn="ctr"/>
            <a:r>
              <a:rPr sz="2428">
                <a:solidFill>
                  <a:srgbClr val="FFFFFF"/>
                </a:solidFill>
                <a:latin typeface="Segoe Fluent Icons"/>
              </a:rPr>
              <a:t></a:t>
            </a:r>
          </a:p>
        </p:txBody>
      </p:sp>
      <p:sp>
        <p:nvSpPr>
          <p:cNvPr id="23" name="TextBox 22"/>
          <p:cNvSpPr txBox="1"/>
          <p:nvPr/>
        </p:nvSpPr>
        <p:spPr>
          <a:xfrm>
            <a:off x="1618488" y="4681728"/>
            <a:ext cx="3017520" cy="813816"/>
          </a:xfrm>
          <a:prstGeom prst="rect">
            <a:avLst/>
          </a:prstGeom>
          <a:noFill/>
        </p:spPr>
        <p:txBody>
          <a:bodyPr wrap="square" lIns="0" rIns="0" tIns="0" bIns="0" anchor="ctr">
            <a:noAutofit/>
          </a:bodyPr>
          <a:lstStyle/>
          <a:p>
            <a:pPr algn="l"/>
            <a:r>
              <a:rPr sz="2100" i="0">
                <a:solidFill>
                  <a:srgbClr val="1B1B1B"/>
                </a:solidFill>
                <a:latin typeface="Segoe UI Semibold"/>
              </a:rPr>
              <a:t>Notebook Code Assistance</a:t>
            </a:r>
          </a:p>
        </p:txBody>
      </p:sp>
      <p:sp>
        <p:nvSpPr>
          <p:cNvPr id="24" name="TextBox 23"/>
          <p:cNvSpPr txBox="1"/>
          <p:nvPr/>
        </p:nvSpPr>
        <p:spPr>
          <a:xfrm>
            <a:off x="4773168" y="4681728"/>
            <a:ext cx="4855464" cy="813816"/>
          </a:xfrm>
          <a:prstGeom prst="rect">
            <a:avLst/>
          </a:prstGeom>
          <a:noFill/>
        </p:spPr>
        <p:txBody>
          <a:bodyPr wrap="square" lIns="0" rIns="0" tIns="0" bIns="0" anchor="ctr">
            <a:noAutofit/>
          </a:bodyPr>
          <a:lstStyle/>
          <a:p>
            <a:pPr algn="l"/>
            <a:r>
              <a:rPr sz="1600" i="0">
                <a:solidFill>
                  <a:srgbClr val="505050"/>
                </a:solidFill>
                <a:latin typeface="Segoe UI"/>
              </a:rPr>
              <a:t>Qwen3-Coder 30B</a:t>
            </a:r>
          </a:p>
        </p:txBody>
      </p:sp>
      <p:sp>
        <p:nvSpPr>
          <p:cNvPr id="25" name="Rectangle 24"/>
          <p:cNvSpPr/>
          <p:nvPr/>
        </p:nvSpPr>
        <p:spPr>
          <a:xfrm>
            <a:off x="10085832" y="2432304"/>
            <a:ext cx="73152" cy="3136392"/>
          </a:xfrm>
          <a:prstGeom prst="rect">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10314432" y="3314700"/>
            <a:ext cx="1325880" cy="1371600"/>
          </a:xfrm>
          <a:prstGeom prst="roundRect">
            <a:avLst>
              <a:gd name="adj" fmla="val 4137"/>
            </a:avLst>
          </a:prstGeom>
          <a:solidFill>
            <a:srgbClr val="D9EBF9"/>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387584" y="3360420"/>
            <a:ext cx="1179576" cy="1280160"/>
          </a:xfrm>
          <a:prstGeom prst="rect">
            <a:avLst/>
          </a:prstGeom>
          <a:noFill/>
        </p:spPr>
        <p:txBody>
          <a:bodyPr wrap="square" lIns="0" rIns="0" tIns="0" bIns="0" anchor="ctr">
            <a:noAutofit/>
          </a:bodyPr>
          <a:lstStyle/>
          <a:p>
            <a:pPr algn="ctr"/>
            <a:r>
              <a:rPr sz="1700" i="0">
                <a:solidFill>
                  <a:srgbClr val="1B1B1B"/>
                </a:solidFill>
                <a:latin typeface="Segoe UI Semibold"/>
              </a:rPr>
              <a:t>Local AI Layer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Local AI = Personal Assistant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AI works like a trusted assistant</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3</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Local AI</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Personal Assistant</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Document Extraction</a:t>
            </a:r>
          </a:p>
        </p:txBody>
      </p:sp>
      <p:cxnSp>
        <p:nvCxnSpPr>
          <p:cNvPr id="19" name="Connector 18"/>
          <p:cNvCxnSpPr/>
          <p:nvPr/>
        </p:nvCxnSpPr>
        <p:spPr>
          <a:xfrm>
            <a:off x="5481828" y="3529584"/>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Transcribing notes from a loan file</a:t>
            </a:r>
          </a:p>
        </p:txBody>
      </p:sp>
      <p:sp>
        <p:nvSpPr>
          <p:cNvPr id="22" name="Rounded Rectangle 21"/>
          <p:cNvSpPr/>
          <p:nvPr/>
        </p:nvSpPr>
        <p:spPr>
          <a:xfrm>
            <a:off x="548640" y="4059936"/>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RAG over Policy Docs</a:t>
            </a:r>
          </a:p>
        </p:txBody>
      </p:sp>
      <p:cxnSp>
        <p:nvCxnSpPr>
          <p:cNvPr id="24" name="Connector 23"/>
          <p:cNvCxnSpPr/>
          <p:nvPr/>
        </p:nvCxnSpPr>
        <p:spPr>
          <a:xfrm>
            <a:off x="5481828" y="4480560"/>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4059936"/>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Looking up credit rules in a manual</a:t>
            </a:r>
          </a:p>
        </p:txBody>
      </p:sp>
      <p:sp>
        <p:nvSpPr>
          <p:cNvPr id="27" name="Rounded Rectangle 26"/>
          <p:cNvSpPr/>
          <p:nvPr/>
        </p:nvSpPr>
        <p:spPr>
          <a:xfrm>
            <a:off x="548640" y="5010912"/>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Code Assistance</a:t>
            </a:r>
          </a:p>
        </p:txBody>
      </p:sp>
      <p:cxnSp>
        <p:nvCxnSpPr>
          <p:cNvPr id="29" name="Connector 28"/>
          <p:cNvCxnSpPr/>
          <p:nvPr/>
        </p:nvCxnSpPr>
        <p:spPr>
          <a:xfrm>
            <a:off x="5481828" y="5431536"/>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5010912"/>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Writing code with help from a mentor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Device Hardware &amp; Memory Views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64 GB VRAM, 128 GB RAM, 20 CPU cores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4</a:t>
            </a:r>
          </a:p>
        </p:txBody>
      </p:sp>
      <p:sp>
        <p:nvSpPr>
          <p:cNvPr id="10" name="Rounded Rectangle 9"/>
          <p:cNvSpPr/>
          <p:nvPr/>
        </p:nvSpPr>
        <p:spPr>
          <a:xfrm>
            <a:off x="2397252" y="2552700"/>
            <a:ext cx="2772918" cy="1447800"/>
          </a:xfrm>
          <a:prstGeom prst="roundRect">
            <a:avLst>
              <a:gd name="adj" fmla="val 3789"/>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52700" y="30251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12" name="TextBox 11"/>
          <p:cNvSpPr txBox="1"/>
          <p:nvPr/>
        </p:nvSpPr>
        <p:spPr>
          <a:xfrm>
            <a:off x="3174492" y="2662428"/>
            <a:ext cx="1904238" cy="1228344"/>
          </a:xfrm>
          <a:prstGeom prst="rect">
            <a:avLst/>
          </a:prstGeom>
          <a:noFill/>
        </p:spPr>
        <p:txBody>
          <a:bodyPr wrap="square" lIns="0" rIns="0" tIns="0" bIns="0" anchor="ctr">
            <a:noAutofit/>
          </a:bodyPr>
          <a:lstStyle/>
          <a:p>
            <a:pPr algn="l"/>
            <a:r>
              <a:rPr sz="1600" i="0">
                <a:solidFill>
                  <a:srgbClr val="FFFFFF"/>
                </a:solidFill>
                <a:latin typeface="Segoe UI Semibold"/>
              </a:rPr>
              <a:t>NVIDIA RTX Spark N1X</a:t>
            </a:r>
          </a:p>
        </p:txBody>
      </p:sp>
      <p:sp>
        <p:nvSpPr>
          <p:cNvPr id="13" name="Rounded Rectangle 12"/>
          <p:cNvSpPr/>
          <p:nvPr/>
        </p:nvSpPr>
        <p:spPr>
          <a:xfrm>
            <a:off x="6094476" y="2552700"/>
            <a:ext cx="2772918" cy="1447800"/>
          </a:xfrm>
          <a:prstGeom prst="roundRect">
            <a:avLst>
              <a:gd name="adj" fmla="val 3789"/>
            </a:avLst>
          </a:prstGeom>
          <a:solidFill>
            <a:srgbClr val="107C10"/>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249924" y="30251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15" name="TextBox 14"/>
          <p:cNvSpPr txBox="1"/>
          <p:nvPr/>
        </p:nvSpPr>
        <p:spPr>
          <a:xfrm>
            <a:off x="6871716" y="2662428"/>
            <a:ext cx="1904238" cy="1228344"/>
          </a:xfrm>
          <a:prstGeom prst="rect">
            <a:avLst/>
          </a:prstGeom>
          <a:noFill/>
        </p:spPr>
        <p:txBody>
          <a:bodyPr wrap="square" lIns="0" rIns="0" tIns="0" bIns="0" anchor="ctr">
            <a:noAutofit/>
          </a:bodyPr>
          <a:lstStyle/>
          <a:p>
            <a:pPr algn="l"/>
            <a:r>
              <a:rPr sz="1600" i="0">
                <a:solidFill>
                  <a:srgbClr val="FFFFFF"/>
                </a:solidFill>
                <a:latin typeface="Segoe UI Semibold"/>
              </a:rPr>
              <a:t>20 CPU Cores</a:t>
            </a:r>
          </a:p>
        </p:txBody>
      </p:sp>
      <p:sp>
        <p:nvSpPr>
          <p:cNvPr id="16" name="Rounded Rectangle 15"/>
          <p:cNvSpPr/>
          <p:nvPr/>
        </p:nvSpPr>
        <p:spPr>
          <a:xfrm>
            <a:off x="2397252" y="4724400"/>
            <a:ext cx="2772918" cy="1447800"/>
          </a:xfrm>
          <a:prstGeom prst="roundRect">
            <a:avLst>
              <a:gd name="adj" fmla="val 3789"/>
            </a:avLst>
          </a:prstGeom>
          <a:solidFill>
            <a:srgbClr val="A1A1A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552700" y="51968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18" name="TextBox 17"/>
          <p:cNvSpPr txBox="1"/>
          <p:nvPr/>
        </p:nvSpPr>
        <p:spPr>
          <a:xfrm>
            <a:off x="3174492" y="4834128"/>
            <a:ext cx="1904238" cy="1228344"/>
          </a:xfrm>
          <a:prstGeom prst="rect">
            <a:avLst/>
          </a:prstGeom>
          <a:noFill/>
        </p:spPr>
        <p:txBody>
          <a:bodyPr wrap="square" lIns="0" rIns="0" tIns="0" bIns="0" anchor="ctr">
            <a:noAutofit/>
          </a:bodyPr>
          <a:lstStyle/>
          <a:p>
            <a:pPr algn="l"/>
            <a:r>
              <a:rPr sz="1600" i="0">
                <a:solidFill>
                  <a:srgbClr val="FFFFFF"/>
                </a:solidFill>
                <a:latin typeface="Segoe UI Semibold"/>
              </a:rPr>
              <a:t>128 GB RAM</a:t>
            </a:r>
          </a:p>
        </p:txBody>
      </p:sp>
      <p:sp>
        <p:nvSpPr>
          <p:cNvPr id="19" name="Rounded Rectangle 18"/>
          <p:cNvSpPr/>
          <p:nvPr/>
        </p:nvSpPr>
        <p:spPr>
          <a:xfrm>
            <a:off x="6094476" y="4724400"/>
            <a:ext cx="2772918" cy="1447800"/>
          </a:xfrm>
          <a:prstGeom prst="roundRect">
            <a:avLst>
              <a:gd name="adj" fmla="val 3789"/>
            </a:avLst>
          </a:prstGeom>
          <a:solidFill>
            <a:srgbClr val="D83B01"/>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49924" y="51968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1" name="TextBox 20"/>
          <p:cNvSpPr txBox="1"/>
          <p:nvPr/>
        </p:nvSpPr>
        <p:spPr>
          <a:xfrm>
            <a:off x="6871716" y="4834128"/>
            <a:ext cx="1904238" cy="1228344"/>
          </a:xfrm>
          <a:prstGeom prst="rect">
            <a:avLst/>
          </a:prstGeom>
          <a:noFill/>
        </p:spPr>
        <p:txBody>
          <a:bodyPr wrap="square" lIns="0" rIns="0" tIns="0" bIns="0" anchor="ctr">
            <a:noAutofit/>
          </a:bodyPr>
          <a:lstStyle/>
          <a:p>
            <a:pPr algn="l"/>
            <a:r>
              <a:rPr sz="1600" i="0">
                <a:solidFill>
                  <a:srgbClr val="FFFFFF"/>
                </a:solidFill>
                <a:latin typeface="Segoe UI Semibold"/>
              </a:rPr>
              <a:t>64 GB VRAM</a:t>
            </a:r>
          </a:p>
        </p:txBody>
      </p:sp>
      <p:sp>
        <p:nvSpPr>
          <p:cNvPr id="22" name="TextBox 21"/>
          <p:cNvSpPr txBox="1"/>
          <p:nvPr/>
        </p:nvSpPr>
        <p:spPr>
          <a:xfrm>
            <a:off x="548640" y="1828800"/>
            <a:ext cx="1848612" cy="723900"/>
          </a:xfrm>
          <a:prstGeom prst="rect">
            <a:avLst/>
          </a:prstGeom>
          <a:noFill/>
        </p:spPr>
        <p:txBody>
          <a:bodyPr wrap="square" lIns="0" rIns="0" tIns="0" bIns="0" anchor="t">
            <a:noAutofit/>
          </a:bodyPr>
          <a:lstStyle/>
          <a:p>
            <a:pPr algn="l"/>
            <a:r>
              <a:rPr sz="2200" i="0">
                <a:solidFill>
                  <a:srgbClr val="1B1B1B"/>
                </a:solidFill>
                <a:latin typeface="Segoe UI Semibold"/>
              </a:rPr>
              <a:t>Surface Laptop Ultra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Local Runtimes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llama.cpp and Foundry Local run models natively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5</a:t>
            </a:r>
          </a:p>
        </p:txBody>
      </p:sp>
      <p:sp>
        <p:nvSpPr>
          <p:cNvPr id="10" name="Rounded Rectangle 9"/>
          <p:cNvSpPr/>
          <p:nvPr/>
        </p:nvSpPr>
        <p:spPr>
          <a:xfrm>
            <a:off x="548640" y="2583180"/>
            <a:ext cx="3361944" cy="3291840"/>
          </a:xfrm>
          <a:prstGeom prst="roundRect">
            <a:avLst>
              <a:gd name="adj" fmla="val 16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772412" y="2125980"/>
            <a:ext cx="914400" cy="91440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900428"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13" name="TextBox 12"/>
          <p:cNvSpPr txBox="1"/>
          <p:nvPr/>
        </p:nvSpPr>
        <p:spPr>
          <a:xfrm>
            <a:off x="731520" y="3150108"/>
            <a:ext cx="2996184" cy="274320"/>
          </a:xfrm>
          <a:prstGeom prst="rect">
            <a:avLst/>
          </a:prstGeom>
          <a:noFill/>
        </p:spPr>
        <p:txBody>
          <a:bodyPr wrap="square" lIns="0" rIns="0" tIns="0" bIns="0" anchor="t">
            <a:noAutofit/>
          </a:bodyPr>
          <a:lstStyle/>
          <a:p>
            <a:pPr algn="ctr"/>
            <a:r>
              <a:rPr sz="1200" i="0">
                <a:solidFill>
                  <a:srgbClr val="0078D4"/>
                </a:solidFill>
                <a:latin typeface="Segoe UI Semibold"/>
              </a:rPr>
              <a:t>01</a:t>
            </a:r>
          </a:p>
        </p:txBody>
      </p:sp>
      <p:sp>
        <p:nvSpPr>
          <p:cNvPr id="14" name="TextBox 13"/>
          <p:cNvSpPr txBox="1"/>
          <p:nvPr/>
        </p:nvSpPr>
        <p:spPr>
          <a:xfrm>
            <a:off x="713232" y="3451860"/>
            <a:ext cx="3032760" cy="868680"/>
          </a:xfrm>
          <a:prstGeom prst="rect">
            <a:avLst/>
          </a:prstGeom>
          <a:noFill/>
        </p:spPr>
        <p:txBody>
          <a:bodyPr wrap="square" lIns="0" rIns="0" tIns="0" bIns="0" anchor="ctr">
            <a:noAutofit/>
          </a:bodyPr>
          <a:lstStyle/>
          <a:p>
            <a:pPr algn="ctr"/>
            <a:r>
              <a:rPr sz="2000" i="0">
                <a:solidFill>
                  <a:srgbClr val="1B1B1B"/>
                </a:solidFill>
                <a:latin typeface="Segoe UI Semibold"/>
              </a:rPr>
              <a:t>Model Load</a:t>
            </a:r>
          </a:p>
        </p:txBody>
      </p:sp>
      <p:sp>
        <p:nvSpPr>
          <p:cNvPr id="15" name="TextBox 14"/>
          <p:cNvSpPr txBox="1"/>
          <p:nvPr/>
        </p:nvSpPr>
        <p:spPr>
          <a:xfrm>
            <a:off x="731520" y="4366260"/>
            <a:ext cx="2996184" cy="1371600"/>
          </a:xfrm>
          <a:prstGeom prst="rect">
            <a:avLst/>
          </a:prstGeom>
          <a:noFill/>
        </p:spPr>
        <p:txBody>
          <a:bodyPr wrap="square" lIns="0" rIns="0" tIns="0" bIns="0" anchor="t">
            <a:noAutofit/>
          </a:bodyPr>
          <a:lstStyle/>
          <a:p>
            <a:pPr algn="ctr"/>
            <a:r>
              <a:rPr sz="1500" i="0">
                <a:solidFill>
                  <a:srgbClr val="505050"/>
                </a:solidFill>
                <a:latin typeface="Segoe UI"/>
              </a:rPr>
              <a:t>llama.cpp ARM64 CUDA</a:t>
            </a:r>
          </a:p>
        </p:txBody>
      </p:sp>
      <p:sp>
        <p:nvSpPr>
          <p:cNvPr id="16" name="Chevron 15"/>
          <p:cNvSpPr/>
          <p:nvPr/>
        </p:nvSpPr>
        <p:spPr>
          <a:xfrm>
            <a:off x="4047744"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13504" y="2583180"/>
            <a:ext cx="3361944" cy="3291840"/>
          </a:xfrm>
          <a:prstGeom prst="roundRect">
            <a:avLst>
              <a:gd name="adj" fmla="val 16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637276" y="2125980"/>
            <a:ext cx="914400" cy="91440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765292"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0" name="TextBox 19"/>
          <p:cNvSpPr txBox="1"/>
          <p:nvPr/>
        </p:nvSpPr>
        <p:spPr>
          <a:xfrm>
            <a:off x="4596384" y="3150108"/>
            <a:ext cx="2996184" cy="274320"/>
          </a:xfrm>
          <a:prstGeom prst="rect">
            <a:avLst/>
          </a:prstGeom>
          <a:noFill/>
        </p:spPr>
        <p:txBody>
          <a:bodyPr wrap="square" lIns="0" rIns="0" tIns="0" bIns="0" anchor="t">
            <a:noAutofit/>
          </a:bodyPr>
          <a:lstStyle/>
          <a:p>
            <a:pPr algn="ctr"/>
            <a:r>
              <a:rPr sz="1200" i="0">
                <a:solidFill>
                  <a:srgbClr val="107C10"/>
                </a:solidFill>
                <a:latin typeface="Segoe UI Semibold"/>
              </a:rPr>
              <a:t>02</a:t>
            </a:r>
          </a:p>
        </p:txBody>
      </p:sp>
      <p:sp>
        <p:nvSpPr>
          <p:cNvPr id="21" name="TextBox 20"/>
          <p:cNvSpPr txBox="1"/>
          <p:nvPr/>
        </p:nvSpPr>
        <p:spPr>
          <a:xfrm>
            <a:off x="4578096" y="3451860"/>
            <a:ext cx="3032760" cy="868680"/>
          </a:xfrm>
          <a:prstGeom prst="rect">
            <a:avLst/>
          </a:prstGeom>
          <a:noFill/>
        </p:spPr>
        <p:txBody>
          <a:bodyPr wrap="square" lIns="0" rIns="0" tIns="0" bIns="0" anchor="ctr">
            <a:noAutofit/>
          </a:bodyPr>
          <a:lstStyle/>
          <a:p>
            <a:pPr algn="ctr"/>
            <a:r>
              <a:rPr sz="2000" i="0">
                <a:solidFill>
                  <a:srgbClr val="1B1B1B"/>
                </a:solidFill>
                <a:latin typeface="Segoe UI Semibold"/>
              </a:rPr>
              <a:t>Inference</a:t>
            </a:r>
          </a:p>
        </p:txBody>
      </p:sp>
      <p:sp>
        <p:nvSpPr>
          <p:cNvPr id="22" name="TextBox 21"/>
          <p:cNvSpPr txBox="1"/>
          <p:nvPr/>
        </p:nvSpPr>
        <p:spPr>
          <a:xfrm>
            <a:off x="4596384" y="4366260"/>
            <a:ext cx="2996184" cy="1371600"/>
          </a:xfrm>
          <a:prstGeom prst="rect">
            <a:avLst/>
          </a:prstGeom>
          <a:noFill/>
        </p:spPr>
        <p:txBody>
          <a:bodyPr wrap="square" lIns="0" rIns="0" tIns="0" bIns="0" anchor="t">
            <a:noAutofit/>
          </a:bodyPr>
          <a:lstStyle/>
          <a:p>
            <a:pPr algn="ctr"/>
            <a:r>
              <a:rPr sz="1500" i="0">
                <a:solidFill>
                  <a:srgbClr val="505050"/>
                </a:solidFill>
                <a:latin typeface="Segoe UI"/>
              </a:rPr>
              <a:t>Foundry Local with CUDA EP</a:t>
            </a:r>
          </a:p>
        </p:txBody>
      </p:sp>
      <p:sp>
        <p:nvSpPr>
          <p:cNvPr id="23" name="Chevron 22"/>
          <p:cNvSpPr/>
          <p:nvPr/>
        </p:nvSpPr>
        <p:spPr>
          <a:xfrm>
            <a:off x="7912608" y="4027932"/>
            <a:ext cx="228600" cy="402336"/>
          </a:xfrm>
          <a:prstGeom prst="chevron">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8278368" y="2583180"/>
            <a:ext cx="3361944" cy="3291840"/>
          </a:xfrm>
          <a:prstGeom prst="roundRect">
            <a:avLst>
              <a:gd name="adj" fmla="val 1666"/>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9502140" y="2125980"/>
            <a:ext cx="914400" cy="91440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30156" y="2253996"/>
            <a:ext cx="658368" cy="658368"/>
          </a:xfrm>
          <a:prstGeom prst="rect">
            <a:avLst/>
          </a:prstGeom>
          <a:noFill/>
        </p:spPr>
        <p:txBody>
          <a:bodyPr wrap="none" lIns="0" rIns="0" tIns="0" bIns="0" anchor="ctr">
            <a:spAutoFit/>
          </a:bodyPr>
          <a:lstStyle/>
          <a:p>
            <a:pPr algn="ctr"/>
            <a:r>
              <a:rPr sz="3214">
                <a:solidFill>
                  <a:srgbClr val="FFFFFF"/>
                </a:solidFill>
                <a:latin typeface="Segoe Fluent Icons"/>
              </a:rPr>
              <a:t></a:t>
            </a:r>
          </a:p>
        </p:txBody>
      </p:sp>
      <p:sp>
        <p:nvSpPr>
          <p:cNvPr id="27" name="TextBox 26"/>
          <p:cNvSpPr txBox="1"/>
          <p:nvPr/>
        </p:nvSpPr>
        <p:spPr>
          <a:xfrm>
            <a:off x="8461248" y="3150108"/>
            <a:ext cx="2996184" cy="274320"/>
          </a:xfrm>
          <a:prstGeom prst="rect">
            <a:avLst/>
          </a:prstGeom>
          <a:noFill/>
        </p:spPr>
        <p:txBody>
          <a:bodyPr wrap="square" lIns="0" rIns="0" tIns="0" bIns="0" anchor="t">
            <a:noAutofit/>
          </a:bodyPr>
          <a:lstStyle/>
          <a:p>
            <a:pPr algn="ctr"/>
            <a:r>
              <a:rPr sz="1200" i="0">
                <a:solidFill>
                  <a:srgbClr val="D83B01"/>
                </a:solidFill>
                <a:latin typeface="Segoe UI Semibold"/>
              </a:rPr>
              <a:t>03</a:t>
            </a:r>
          </a:p>
        </p:txBody>
      </p:sp>
      <p:sp>
        <p:nvSpPr>
          <p:cNvPr id="28" name="TextBox 27"/>
          <p:cNvSpPr txBox="1"/>
          <p:nvPr/>
        </p:nvSpPr>
        <p:spPr>
          <a:xfrm>
            <a:off x="8442960" y="3451860"/>
            <a:ext cx="3032760" cy="868680"/>
          </a:xfrm>
          <a:prstGeom prst="rect">
            <a:avLst/>
          </a:prstGeom>
          <a:noFill/>
        </p:spPr>
        <p:txBody>
          <a:bodyPr wrap="square" lIns="0" rIns="0" tIns="0" bIns="0" anchor="ctr">
            <a:noAutofit/>
          </a:bodyPr>
          <a:lstStyle/>
          <a:p>
            <a:pPr algn="ctr"/>
            <a:r>
              <a:rPr sz="2000" i="0">
                <a:solidFill>
                  <a:srgbClr val="1B1B1B"/>
                </a:solidFill>
                <a:latin typeface="Segoe UI Semibold"/>
              </a:rPr>
              <a:t>Execution</a:t>
            </a:r>
          </a:p>
        </p:txBody>
      </p:sp>
      <p:sp>
        <p:nvSpPr>
          <p:cNvPr id="29" name="TextBox 28"/>
          <p:cNvSpPr txBox="1"/>
          <p:nvPr/>
        </p:nvSpPr>
        <p:spPr>
          <a:xfrm>
            <a:off x="8461248" y="4366260"/>
            <a:ext cx="2996184" cy="1371600"/>
          </a:xfrm>
          <a:prstGeom prst="rect">
            <a:avLst/>
          </a:prstGeom>
          <a:noFill/>
        </p:spPr>
        <p:txBody>
          <a:bodyPr wrap="square" lIns="0" rIns="0" tIns="0" bIns="0" anchor="t">
            <a:noAutofit/>
          </a:bodyPr>
          <a:lstStyle/>
          <a:p>
            <a:pPr algn="ctr"/>
            <a:r>
              <a:rPr sz="1500" i="0">
                <a:solidFill>
                  <a:srgbClr val="505050"/>
                </a:solidFill>
                <a:latin typeface="Segoe UI"/>
              </a:rPr>
              <a:t>Native ARM64, no cloud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Model Throughput (Tokens/s)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MoE models decode faster than dense ones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6</a:t>
            </a:r>
          </a:p>
        </p:txBody>
      </p:sp>
      <p:graphicFrame>
        <p:nvGraphicFramePr>
          <p:cNvPr id="10" name="Chart 9"/>
          <p:cNvGraphicFramePr>
            <a:graphicFrameLocks noGrp="1"/>
          </p:cNvGraphicFramePr>
          <p:nvPr/>
        </p:nvGraphicFramePr>
        <p:xfrm>
          <a:off x="548640" y="1828800"/>
          <a:ext cx="7098670" cy="4343400"/>
        </p:xfrm>
        <a:graphic>
          <a:graphicData uri="http://schemas.openxmlformats.org/drawingml/2006/chart">
            <c:chart xmlns:c="http://schemas.openxmlformats.org/drawingml/2006/chart" r:id="rId2"/>
          </a:graphicData>
        </a:graphic>
      </p:graphicFrame>
      <p:sp>
        <p:nvSpPr>
          <p:cNvPr id="11" name="Rounded Rectangle 10"/>
          <p:cNvSpPr/>
          <p:nvPr/>
        </p:nvSpPr>
        <p:spPr>
          <a:xfrm>
            <a:off x="7921630" y="2011680"/>
            <a:ext cx="3718682" cy="3977640"/>
          </a:xfrm>
          <a:prstGeom prst="roundRect">
            <a:avLst>
              <a:gd name="adj" fmla="val 14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val 11"/>
          <p:cNvSpPr/>
          <p:nvPr/>
        </p:nvSpPr>
        <p:spPr>
          <a:xfrm>
            <a:off x="8173090" y="2308860"/>
            <a:ext cx="777240" cy="77724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81904" y="2417674"/>
            <a:ext cx="559613" cy="559613"/>
          </a:xfrm>
          <a:prstGeom prst="rect">
            <a:avLst/>
          </a:prstGeom>
          <a:noFill/>
        </p:spPr>
        <p:txBody>
          <a:bodyPr wrap="none" lIns="0" rIns="0" tIns="0" bIns="0" anchor="ctr">
            <a:spAutoFit/>
          </a:bodyPr>
          <a:lstStyle/>
          <a:p>
            <a:pPr algn="ctr"/>
            <a:r>
              <a:rPr sz="2731">
                <a:solidFill>
                  <a:srgbClr val="FFFFFF"/>
                </a:solidFill>
                <a:latin typeface="Segoe Fluent Icons"/>
              </a:rPr>
              <a:t></a:t>
            </a:r>
          </a:p>
        </p:txBody>
      </p:sp>
      <p:sp>
        <p:nvSpPr>
          <p:cNvPr id="14" name="TextBox 13"/>
          <p:cNvSpPr txBox="1"/>
          <p:nvPr/>
        </p:nvSpPr>
        <p:spPr>
          <a:xfrm>
            <a:off x="8241670" y="3246120"/>
            <a:ext cx="3078602" cy="1005840"/>
          </a:xfrm>
          <a:prstGeom prst="rect">
            <a:avLst/>
          </a:prstGeom>
          <a:noFill/>
        </p:spPr>
        <p:txBody>
          <a:bodyPr wrap="square" lIns="0" rIns="0" tIns="0" bIns="0" anchor="t">
            <a:noAutofit/>
          </a:bodyPr>
          <a:lstStyle/>
          <a:p>
            <a:pPr algn="l"/>
            <a:r>
              <a:rPr sz="5400" i="0">
                <a:solidFill>
                  <a:srgbClr val="0078D4"/>
                </a:solidFill>
                <a:latin typeface="Segoe UI Semibold"/>
              </a:rPr>
              <a:t>72</a:t>
            </a:r>
          </a:p>
        </p:txBody>
      </p:sp>
      <p:sp>
        <p:nvSpPr>
          <p:cNvPr id="15" name="TextBox 14"/>
          <p:cNvSpPr txBox="1"/>
          <p:nvPr/>
        </p:nvSpPr>
        <p:spPr>
          <a:xfrm>
            <a:off x="8241670" y="4206240"/>
            <a:ext cx="3078602" cy="365760"/>
          </a:xfrm>
          <a:prstGeom prst="rect">
            <a:avLst/>
          </a:prstGeom>
          <a:noFill/>
        </p:spPr>
        <p:txBody>
          <a:bodyPr wrap="square" lIns="0" rIns="0" tIns="0" bIns="0" anchor="t">
            <a:noAutofit/>
          </a:bodyPr>
          <a:lstStyle/>
          <a:p>
            <a:pPr algn="l"/>
            <a:r>
              <a:rPr sz="1400" i="0">
                <a:solidFill>
                  <a:srgbClr val="505050"/>
                </a:solidFill>
                <a:latin typeface="Segoe UI"/>
              </a:rPr>
              <a:t>tokens/sec  |  Gemma 4 26B</a:t>
            </a:r>
          </a:p>
        </p:txBody>
      </p:sp>
      <p:sp>
        <p:nvSpPr>
          <p:cNvPr id="16" name="TextBox 15"/>
          <p:cNvSpPr txBox="1"/>
          <p:nvPr/>
        </p:nvSpPr>
        <p:spPr>
          <a:xfrm>
            <a:off x="8241670" y="4663440"/>
            <a:ext cx="3078602" cy="1188720"/>
          </a:xfrm>
          <a:prstGeom prst="rect">
            <a:avLst/>
          </a:prstGeom>
          <a:noFill/>
        </p:spPr>
        <p:txBody>
          <a:bodyPr wrap="square" lIns="0" rIns="0" tIns="0" bIns="0" anchor="t">
            <a:noAutofit/>
          </a:bodyPr>
          <a:lstStyle/>
          <a:p>
            <a:pPr algn="l"/>
            <a:r>
              <a:rPr sz="1500" i="0">
                <a:solidFill>
                  <a:srgbClr val="1B1B1B"/>
                </a:solidFill>
                <a:latin typeface="Segoe UI"/>
              </a:rPr>
              <a:t>Single-stream decode performance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MoE vs Dense = Specialized Experts</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MoE uses only active experts per token</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7</a:t>
            </a:r>
          </a:p>
        </p:txBody>
      </p:sp>
      <p:sp>
        <p:nvSpPr>
          <p:cNvPr id="10" name="Oval 9"/>
          <p:cNvSpPr/>
          <p:nvPr/>
        </p:nvSpPr>
        <p:spPr>
          <a:xfrm>
            <a:off x="617220" y="1851660"/>
            <a:ext cx="960120" cy="9601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637"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2" name="TextBox 11"/>
          <p:cNvSpPr txBox="1"/>
          <p:nvPr/>
        </p:nvSpPr>
        <p:spPr>
          <a:xfrm>
            <a:off x="1737360" y="1920240"/>
            <a:ext cx="3625596" cy="822960"/>
          </a:xfrm>
          <a:prstGeom prst="rect">
            <a:avLst/>
          </a:prstGeom>
          <a:noFill/>
        </p:spPr>
        <p:txBody>
          <a:bodyPr wrap="square" lIns="0" rIns="0" tIns="0" bIns="0" anchor="ctr">
            <a:noAutofit/>
          </a:bodyPr>
          <a:lstStyle/>
          <a:p>
            <a:pPr algn="l"/>
            <a:r>
              <a:rPr sz="2400" i="0">
                <a:solidFill>
                  <a:srgbClr val="1B1B1B"/>
                </a:solidFill>
                <a:latin typeface="Segoe UI Semibold"/>
              </a:rPr>
              <a:t>MoE Model</a:t>
            </a:r>
          </a:p>
        </p:txBody>
      </p:sp>
      <p:sp>
        <p:nvSpPr>
          <p:cNvPr id="13" name="Oval 12"/>
          <p:cNvSpPr/>
          <p:nvPr/>
        </p:nvSpPr>
        <p:spPr>
          <a:xfrm>
            <a:off x="10611612" y="1851660"/>
            <a:ext cx="960120" cy="96012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746029" y="1986077"/>
            <a:ext cx="691286" cy="691286"/>
          </a:xfrm>
          <a:prstGeom prst="rect">
            <a:avLst/>
          </a:prstGeom>
          <a:noFill/>
        </p:spPr>
        <p:txBody>
          <a:bodyPr wrap="none" lIns="0" rIns="0" tIns="0" bIns="0" anchor="ctr">
            <a:spAutoFit/>
          </a:bodyPr>
          <a:lstStyle/>
          <a:p>
            <a:pPr algn="ctr"/>
            <a:r>
              <a:rPr sz="3374">
                <a:solidFill>
                  <a:srgbClr val="FFFFFF"/>
                </a:solidFill>
                <a:latin typeface="Segoe Fluent Icons"/>
              </a:rPr>
              <a:t></a:t>
            </a:r>
          </a:p>
        </p:txBody>
      </p:sp>
      <p:sp>
        <p:nvSpPr>
          <p:cNvPr id="15" name="TextBox 14"/>
          <p:cNvSpPr txBox="1"/>
          <p:nvPr/>
        </p:nvSpPr>
        <p:spPr>
          <a:xfrm>
            <a:off x="6780276" y="1920240"/>
            <a:ext cx="3625596" cy="822960"/>
          </a:xfrm>
          <a:prstGeom prst="rect">
            <a:avLst/>
          </a:prstGeom>
          <a:noFill/>
        </p:spPr>
        <p:txBody>
          <a:bodyPr wrap="square" lIns="0" rIns="0" tIns="0" bIns="0" anchor="ctr">
            <a:noAutofit/>
          </a:bodyPr>
          <a:lstStyle/>
          <a:p>
            <a:pPr algn="r"/>
            <a:r>
              <a:rPr sz="2400" i="0">
                <a:solidFill>
                  <a:srgbClr val="1B1B1B"/>
                </a:solidFill>
                <a:latin typeface="Segoe UI Semibold"/>
              </a:rPr>
              <a:t>Specialized Team</a:t>
            </a:r>
          </a:p>
        </p:txBody>
      </p:sp>
      <p:sp>
        <p:nvSpPr>
          <p:cNvPr id="16" name="TextBox 15"/>
          <p:cNvSpPr txBox="1"/>
          <p:nvPr/>
        </p:nvSpPr>
        <p:spPr>
          <a:xfrm>
            <a:off x="5408676" y="2057400"/>
            <a:ext cx="1371600" cy="548640"/>
          </a:xfrm>
          <a:prstGeom prst="rect">
            <a:avLst/>
          </a:prstGeom>
          <a:noFill/>
        </p:spPr>
        <p:txBody>
          <a:bodyPr wrap="square" lIns="0" rIns="0" tIns="0" bIns="0" anchor="ctr">
            <a:noAutofit/>
          </a:bodyPr>
          <a:lstStyle/>
          <a:p>
            <a:pPr algn="ctr"/>
            <a:r>
              <a:rPr sz="1600" i="1">
                <a:solidFill>
                  <a:srgbClr val="8A8A8A"/>
                </a:solidFill>
                <a:latin typeface="Segoe UI"/>
              </a:rPr>
              <a:t>is like</a:t>
            </a:r>
          </a:p>
        </p:txBody>
      </p:sp>
      <p:sp>
        <p:nvSpPr>
          <p:cNvPr id="17" name="Rounded Rectangle 16"/>
          <p:cNvSpPr/>
          <p:nvPr/>
        </p:nvSpPr>
        <p:spPr>
          <a:xfrm>
            <a:off x="548640" y="3108960"/>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2960"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Active Experts</a:t>
            </a:r>
          </a:p>
        </p:txBody>
      </p:sp>
      <p:cxnSp>
        <p:nvCxnSpPr>
          <p:cNvPr id="19" name="Connector 18"/>
          <p:cNvCxnSpPr/>
          <p:nvPr/>
        </p:nvCxnSpPr>
        <p:spPr>
          <a:xfrm>
            <a:off x="5481828" y="3529584"/>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780276" y="3108960"/>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54596" y="3145536"/>
            <a:ext cx="4311396" cy="768096"/>
          </a:xfrm>
          <a:prstGeom prst="rect">
            <a:avLst/>
          </a:prstGeom>
          <a:noFill/>
        </p:spPr>
        <p:txBody>
          <a:bodyPr wrap="square" lIns="0" rIns="0" tIns="0" bIns="0" anchor="ctr">
            <a:noAutofit/>
          </a:bodyPr>
          <a:lstStyle/>
          <a:p>
            <a:pPr algn="ctr"/>
            <a:r>
              <a:rPr sz="1700" i="0">
                <a:solidFill>
                  <a:srgbClr val="1B1B1B"/>
                </a:solidFill>
                <a:latin typeface="Segoe UI"/>
              </a:rPr>
              <a:t>Experts working on a task</a:t>
            </a:r>
          </a:p>
        </p:txBody>
      </p:sp>
      <p:sp>
        <p:nvSpPr>
          <p:cNvPr id="22" name="Rounded Rectangle 21"/>
          <p:cNvSpPr/>
          <p:nvPr/>
        </p:nvSpPr>
        <p:spPr>
          <a:xfrm>
            <a:off x="548640" y="4059936"/>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Dense Model</a:t>
            </a:r>
          </a:p>
        </p:txBody>
      </p:sp>
      <p:cxnSp>
        <p:nvCxnSpPr>
          <p:cNvPr id="24" name="Connector 23"/>
          <p:cNvCxnSpPr/>
          <p:nvPr/>
        </p:nvCxnSpPr>
        <p:spPr>
          <a:xfrm>
            <a:off x="5481828" y="4480560"/>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780276" y="4059936"/>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54596" y="4096512"/>
            <a:ext cx="4311396" cy="768096"/>
          </a:xfrm>
          <a:prstGeom prst="rect">
            <a:avLst/>
          </a:prstGeom>
          <a:noFill/>
        </p:spPr>
        <p:txBody>
          <a:bodyPr wrap="square" lIns="0" rIns="0" tIns="0" bIns="0" anchor="ctr">
            <a:noAutofit/>
          </a:bodyPr>
          <a:lstStyle/>
          <a:p>
            <a:pPr algn="ctr"/>
            <a:r>
              <a:rPr sz="1700" i="0">
                <a:solidFill>
                  <a:srgbClr val="1B1B1B"/>
                </a:solidFill>
                <a:latin typeface="Segoe UI"/>
              </a:rPr>
              <a:t>All team members working together</a:t>
            </a:r>
          </a:p>
        </p:txBody>
      </p:sp>
      <p:sp>
        <p:nvSpPr>
          <p:cNvPr id="27" name="Rounded Rectangle 26"/>
          <p:cNvSpPr/>
          <p:nvPr/>
        </p:nvSpPr>
        <p:spPr>
          <a:xfrm>
            <a:off x="548640" y="5010912"/>
            <a:ext cx="4860036" cy="841248"/>
          </a:xfrm>
          <a:prstGeom prst="roundRect">
            <a:avLst>
              <a:gd name="adj" fmla="val 50000"/>
            </a:avLst>
          </a:prstGeom>
          <a:solidFill>
            <a:srgbClr val="E0EFFA"/>
          </a:solidFill>
          <a:ln w="15875">
            <a:solidFill>
              <a:srgbClr val="007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22960"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Performance</a:t>
            </a:r>
          </a:p>
        </p:txBody>
      </p:sp>
      <p:cxnSp>
        <p:nvCxnSpPr>
          <p:cNvPr id="29" name="Connector 28"/>
          <p:cNvCxnSpPr/>
          <p:nvPr/>
        </p:nvCxnSpPr>
        <p:spPr>
          <a:xfrm>
            <a:off x="5481828" y="5431536"/>
            <a:ext cx="1225296" cy="0"/>
          </a:xfrm>
          <a:prstGeom prst="line">
            <a:avLst/>
          </a:prstGeom>
          <a:ln w="25400">
            <a:solidFill>
              <a:srgbClr val="8A8A8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780276" y="5010912"/>
            <a:ext cx="4860036" cy="841248"/>
          </a:xfrm>
          <a:prstGeom prst="roundRect">
            <a:avLst>
              <a:gd name="adj" fmla="val 50000"/>
            </a:avLst>
          </a:prstGeom>
          <a:solidFill>
            <a:srgbClr val="FAE4DB"/>
          </a:solidFill>
          <a:ln w="15875">
            <a:solidFill>
              <a:srgbClr val="D83B0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054596" y="5047488"/>
            <a:ext cx="4311396" cy="768096"/>
          </a:xfrm>
          <a:prstGeom prst="rect">
            <a:avLst/>
          </a:prstGeom>
          <a:noFill/>
        </p:spPr>
        <p:txBody>
          <a:bodyPr wrap="square" lIns="0" rIns="0" tIns="0" bIns="0" anchor="ctr">
            <a:noAutofit/>
          </a:bodyPr>
          <a:lstStyle/>
          <a:p>
            <a:pPr algn="ctr"/>
            <a:r>
              <a:rPr sz="1700" i="0">
                <a:solidFill>
                  <a:srgbClr val="1B1B1B"/>
                </a:solidFill>
                <a:latin typeface="Segoe UI"/>
              </a:rPr>
              <a:t>Faster task completion with MoE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Hybrid Routing</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Local for sensitive data, cloud for research</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8</a:t>
            </a:r>
          </a:p>
        </p:txBody>
      </p:sp>
      <p:cxnSp>
        <p:nvCxnSpPr>
          <p:cNvPr id="10" name="Connector 9"/>
          <p:cNvCxnSpPr/>
          <p:nvPr/>
        </p:nvCxnSpPr>
        <p:spPr>
          <a:xfrm flipV="1">
            <a:off x="6094476" y="2240280"/>
            <a:ext cx="0" cy="1760220"/>
          </a:xfrm>
          <a:prstGeom prst="line">
            <a:avLst/>
          </a:prstGeom>
          <a:ln w="22225">
            <a:solidFill>
              <a:srgbClr val="73B5E7"/>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94476" y="4000500"/>
            <a:ext cx="4174236" cy="0"/>
          </a:xfrm>
          <a:prstGeom prst="line">
            <a:avLst/>
          </a:prstGeom>
          <a:ln w="22225">
            <a:solidFill>
              <a:srgbClr val="73B5E7"/>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4476" y="4000500"/>
            <a:ext cx="0" cy="1760220"/>
          </a:xfrm>
          <a:prstGeom prst="line">
            <a:avLst/>
          </a:prstGeom>
          <a:ln w="22225">
            <a:solidFill>
              <a:srgbClr val="73B5E7"/>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920240" y="4000500"/>
            <a:ext cx="4174236" cy="0"/>
          </a:xfrm>
          <a:prstGeom prst="line">
            <a:avLst/>
          </a:prstGeom>
          <a:ln w="22225">
            <a:solidFill>
              <a:srgbClr val="73B5E7"/>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4910328" y="2816352"/>
            <a:ext cx="2368296" cy="2368296"/>
          </a:xfrm>
          <a:prstGeom prst="ellipse">
            <a:avLst/>
          </a:prstGeom>
          <a:solidFill>
            <a:srgbClr val="0078D4">
              <a:alpha val="14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5111496" y="3017520"/>
            <a:ext cx="1965960" cy="1965960"/>
          </a:xfrm>
          <a:prstGeom prst="ellipse">
            <a:avLst/>
          </a:prstGeom>
          <a:solidFill>
            <a:srgbClr val="0078D4"/>
          </a:solidFill>
          <a:ln>
            <a:no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710428" y="3287268"/>
            <a:ext cx="768096" cy="768096"/>
          </a:xfrm>
          <a:prstGeom prst="rect">
            <a:avLst/>
          </a:prstGeom>
          <a:noFill/>
        </p:spPr>
        <p:txBody>
          <a:bodyPr wrap="none" lIns="0" rIns="0" tIns="0" bIns="0" anchor="ctr">
            <a:spAutoFit/>
          </a:bodyPr>
          <a:lstStyle/>
          <a:p>
            <a:pPr algn="ctr"/>
            <a:r>
              <a:rPr sz="3749">
                <a:solidFill>
                  <a:srgbClr val="FFFFFF"/>
                </a:solidFill>
                <a:latin typeface="Segoe Fluent Icons"/>
              </a:rPr>
              <a:t></a:t>
            </a:r>
          </a:p>
        </p:txBody>
      </p:sp>
      <p:sp>
        <p:nvSpPr>
          <p:cNvPr id="17" name="TextBox 16"/>
          <p:cNvSpPr txBox="1"/>
          <p:nvPr/>
        </p:nvSpPr>
        <p:spPr>
          <a:xfrm>
            <a:off x="5294376" y="4073652"/>
            <a:ext cx="1600200" cy="685800"/>
          </a:xfrm>
          <a:prstGeom prst="rect">
            <a:avLst/>
          </a:prstGeom>
          <a:noFill/>
        </p:spPr>
        <p:txBody>
          <a:bodyPr wrap="square" lIns="0" rIns="0" tIns="0" bIns="0" anchor="t">
            <a:noAutofit/>
          </a:bodyPr>
          <a:lstStyle/>
          <a:p>
            <a:pPr algn="ctr"/>
            <a:r>
              <a:rPr sz="1800" i="0">
                <a:solidFill>
                  <a:srgbClr val="FFFFFF"/>
                </a:solidFill>
                <a:latin typeface="Segoe UI Semibold"/>
              </a:rPr>
              <a:t>Analyst Workbench</a:t>
            </a:r>
          </a:p>
        </p:txBody>
      </p:sp>
      <p:sp>
        <p:nvSpPr>
          <p:cNvPr id="18" name="Rounded Rectangle 17"/>
          <p:cNvSpPr/>
          <p:nvPr/>
        </p:nvSpPr>
        <p:spPr>
          <a:xfrm>
            <a:off x="4837176" y="1865376"/>
            <a:ext cx="2514600" cy="749808"/>
          </a:xfrm>
          <a:prstGeom prst="roundRect">
            <a:avLst>
              <a:gd name="adj" fmla="val 50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4910328" y="1938528"/>
            <a:ext cx="603504" cy="603504"/>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994819" y="2023019"/>
            <a:ext cx="434523" cy="434523"/>
          </a:xfrm>
          <a:prstGeom prst="rect">
            <a:avLst/>
          </a:prstGeom>
          <a:noFill/>
        </p:spPr>
        <p:txBody>
          <a:bodyPr wrap="none" lIns="0" rIns="0" tIns="0" bIns="0" anchor="ctr">
            <a:spAutoFit/>
          </a:bodyPr>
          <a:lstStyle/>
          <a:p>
            <a:pPr algn="ctr"/>
            <a:r>
              <a:rPr sz="2121">
                <a:solidFill>
                  <a:srgbClr val="FFFFFF"/>
                </a:solidFill>
                <a:latin typeface="Segoe Fluent Icons"/>
              </a:rPr>
              <a:t></a:t>
            </a:r>
          </a:p>
        </p:txBody>
      </p:sp>
      <p:sp>
        <p:nvSpPr>
          <p:cNvPr id="21" name="TextBox 20"/>
          <p:cNvSpPr txBox="1"/>
          <p:nvPr/>
        </p:nvSpPr>
        <p:spPr>
          <a:xfrm>
            <a:off x="5605272" y="1920240"/>
            <a:ext cx="1636776" cy="640080"/>
          </a:xfrm>
          <a:prstGeom prst="rect">
            <a:avLst/>
          </a:prstGeom>
          <a:noFill/>
        </p:spPr>
        <p:txBody>
          <a:bodyPr wrap="square" lIns="0" rIns="0" tIns="0" bIns="0" anchor="ctr">
            <a:noAutofit/>
          </a:bodyPr>
          <a:lstStyle/>
          <a:p>
            <a:pPr algn="l"/>
            <a:r>
              <a:rPr sz="1500" i="0">
                <a:solidFill>
                  <a:srgbClr val="1B1B1B"/>
                </a:solidFill>
                <a:latin typeface="Segoe UI Semibold"/>
              </a:rPr>
              <a:t>Loan Files</a:t>
            </a:r>
          </a:p>
        </p:txBody>
      </p:sp>
      <p:sp>
        <p:nvSpPr>
          <p:cNvPr id="22" name="Rounded Rectangle 21"/>
          <p:cNvSpPr/>
          <p:nvPr/>
        </p:nvSpPr>
        <p:spPr>
          <a:xfrm>
            <a:off x="9011412" y="3625596"/>
            <a:ext cx="2514600" cy="749808"/>
          </a:xfrm>
          <a:prstGeom prst="roundRect">
            <a:avLst>
              <a:gd name="adj" fmla="val 50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084564" y="3698748"/>
            <a:ext cx="603504" cy="603504"/>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69055" y="3783239"/>
            <a:ext cx="434523" cy="434523"/>
          </a:xfrm>
          <a:prstGeom prst="rect">
            <a:avLst/>
          </a:prstGeom>
          <a:noFill/>
        </p:spPr>
        <p:txBody>
          <a:bodyPr wrap="none" lIns="0" rIns="0" tIns="0" bIns="0" anchor="ctr">
            <a:spAutoFit/>
          </a:bodyPr>
          <a:lstStyle/>
          <a:p>
            <a:pPr algn="ctr"/>
            <a:r>
              <a:rPr sz="2121">
                <a:solidFill>
                  <a:srgbClr val="FFFFFF"/>
                </a:solidFill>
                <a:latin typeface="Segoe Fluent Icons"/>
              </a:rPr>
              <a:t></a:t>
            </a:r>
          </a:p>
        </p:txBody>
      </p:sp>
      <p:sp>
        <p:nvSpPr>
          <p:cNvPr id="25" name="TextBox 24"/>
          <p:cNvSpPr txBox="1"/>
          <p:nvPr/>
        </p:nvSpPr>
        <p:spPr>
          <a:xfrm>
            <a:off x="9779508" y="3680460"/>
            <a:ext cx="1636776" cy="640080"/>
          </a:xfrm>
          <a:prstGeom prst="rect">
            <a:avLst/>
          </a:prstGeom>
          <a:noFill/>
        </p:spPr>
        <p:txBody>
          <a:bodyPr wrap="square" lIns="0" rIns="0" tIns="0" bIns="0" anchor="ctr">
            <a:noAutofit/>
          </a:bodyPr>
          <a:lstStyle/>
          <a:p>
            <a:pPr algn="l"/>
            <a:r>
              <a:rPr sz="1500" i="0">
                <a:solidFill>
                  <a:srgbClr val="1B1B1B"/>
                </a:solidFill>
                <a:latin typeface="Segoe UI Semibold"/>
              </a:rPr>
              <a:t>Policy Docs</a:t>
            </a:r>
          </a:p>
        </p:txBody>
      </p:sp>
      <p:sp>
        <p:nvSpPr>
          <p:cNvPr id="26" name="Rounded Rectangle 25"/>
          <p:cNvSpPr/>
          <p:nvPr/>
        </p:nvSpPr>
        <p:spPr>
          <a:xfrm>
            <a:off x="4837176" y="5385816"/>
            <a:ext cx="2514600" cy="749808"/>
          </a:xfrm>
          <a:prstGeom prst="roundRect">
            <a:avLst>
              <a:gd name="adj" fmla="val 50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910328" y="5458968"/>
            <a:ext cx="603504" cy="603504"/>
          </a:xfrm>
          <a:prstGeom prst="ellipse">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994819" y="5543459"/>
            <a:ext cx="434523" cy="434523"/>
          </a:xfrm>
          <a:prstGeom prst="rect">
            <a:avLst/>
          </a:prstGeom>
          <a:noFill/>
        </p:spPr>
        <p:txBody>
          <a:bodyPr wrap="none" lIns="0" rIns="0" tIns="0" bIns="0" anchor="ctr">
            <a:spAutoFit/>
          </a:bodyPr>
          <a:lstStyle/>
          <a:p>
            <a:pPr algn="ctr"/>
            <a:r>
              <a:rPr sz="2121">
                <a:solidFill>
                  <a:srgbClr val="FFFFFF"/>
                </a:solidFill>
                <a:latin typeface="Segoe Fluent Icons"/>
              </a:rPr>
              <a:t></a:t>
            </a:r>
          </a:p>
        </p:txBody>
      </p:sp>
      <p:sp>
        <p:nvSpPr>
          <p:cNvPr id="29" name="TextBox 28"/>
          <p:cNvSpPr txBox="1"/>
          <p:nvPr/>
        </p:nvSpPr>
        <p:spPr>
          <a:xfrm>
            <a:off x="5605272" y="5440680"/>
            <a:ext cx="1636776" cy="640080"/>
          </a:xfrm>
          <a:prstGeom prst="rect">
            <a:avLst/>
          </a:prstGeom>
          <a:noFill/>
        </p:spPr>
        <p:txBody>
          <a:bodyPr wrap="square" lIns="0" rIns="0" tIns="0" bIns="0" anchor="ctr">
            <a:noAutofit/>
          </a:bodyPr>
          <a:lstStyle/>
          <a:p>
            <a:pPr algn="l"/>
            <a:r>
              <a:rPr sz="1500" i="0">
                <a:solidFill>
                  <a:srgbClr val="1B1B1B"/>
                </a:solidFill>
                <a:latin typeface="Segoe UI Semibold"/>
              </a:rPr>
              <a:t>Code Assistance</a:t>
            </a:r>
          </a:p>
        </p:txBody>
      </p:sp>
      <p:sp>
        <p:nvSpPr>
          <p:cNvPr id="30" name="Rounded Rectangle 29"/>
          <p:cNvSpPr/>
          <p:nvPr/>
        </p:nvSpPr>
        <p:spPr>
          <a:xfrm>
            <a:off x="662940" y="3625596"/>
            <a:ext cx="2514600" cy="749808"/>
          </a:xfrm>
          <a:prstGeom prst="roundRect">
            <a:avLst>
              <a:gd name="adj" fmla="val 50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36092" y="3698748"/>
            <a:ext cx="603504" cy="603504"/>
          </a:xfrm>
          <a:prstGeom prst="ellipse">
            <a:avLst/>
          </a:prstGeom>
          <a:solidFill>
            <a:srgbClr val="5C2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20583" y="3783239"/>
            <a:ext cx="434523" cy="434523"/>
          </a:xfrm>
          <a:prstGeom prst="rect">
            <a:avLst/>
          </a:prstGeom>
          <a:noFill/>
        </p:spPr>
        <p:txBody>
          <a:bodyPr wrap="none" lIns="0" rIns="0" tIns="0" bIns="0" anchor="ctr">
            <a:spAutoFit/>
          </a:bodyPr>
          <a:lstStyle/>
          <a:p>
            <a:pPr algn="ctr"/>
            <a:r>
              <a:rPr sz="2121">
                <a:solidFill>
                  <a:srgbClr val="FFFFFF"/>
                </a:solidFill>
                <a:latin typeface="Segoe Fluent Icons"/>
              </a:rPr>
              <a:t></a:t>
            </a:r>
          </a:p>
        </p:txBody>
      </p:sp>
      <p:sp>
        <p:nvSpPr>
          <p:cNvPr id="33" name="TextBox 32"/>
          <p:cNvSpPr txBox="1"/>
          <p:nvPr/>
        </p:nvSpPr>
        <p:spPr>
          <a:xfrm>
            <a:off x="1431036" y="3680460"/>
            <a:ext cx="1636776" cy="640080"/>
          </a:xfrm>
          <a:prstGeom prst="rect">
            <a:avLst/>
          </a:prstGeom>
          <a:noFill/>
        </p:spPr>
        <p:txBody>
          <a:bodyPr wrap="square" lIns="0" rIns="0" tIns="0" bIns="0" anchor="ctr">
            <a:noAutofit/>
          </a:bodyPr>
          <a:lstStyle/>
          <a:p>
            <a:pPr algn="l"/>
            <a:r>
              <a:rPr sz="1500" i="0">
                <a:solidFill>
                  <a:srgbClr val="1B1B1B"/>
                </a:solidFill>
                <a:latin typeface="Segoe UI Semibold"/>
              </a:rPr>
              <a:t>Market Research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Made on Device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This deck was generated locally</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9</a:t>
            </a:r>
          </a:p>
        </p:txBody>
      </p:sp>
      <p:sp>
        <p:nvSpPr>
          <p:cNvPr id="10" name="Oval 9"/>
          <p:cNvSpPr/>
          <p:nvPr/>
        </p:nvSpPr>
        <p:spPr>
          <a:xfrm>
            <a:off x="5500116" y="1920240"/>
            <a:ext cx="1188720" cy="118872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66537" y="2086661"/>
            <a:ext cx="855878" cy="855878"/>
          </a:xfrm>
          <a:prstGeom prst="rect">
            <a:avLst/>
          </a:prstGeom>
          <a:noFill/>
        </p:spPr>
        <p:txBody>
          <a:bodyPr wrap="none" lIns="0" rIns="0" tIns="0" bIns="0" anchor="ctr">
            <a:spAutoFit/>
          </a:bodyPr>
          <a:lstStyle/>
          <a:p>
            <a:pPr algn="ctr"/>
            <a:r>
              <a:rPr sz="4178">
                <a:solidFill>
                  <a:srgbClr val="FFFFFF"/>
                </a:solidFill>
                <a:latin typeface="Segoe Fluent Icons"/>
              </a:rPr>
              <a:t></a:t>
            </a:r>
          </a:p>
        </p:txBody>
      </p:sp>
      <p:sp>
        <p:nvSpPr>
          <p:cNvPr id="12" name="TextBox 11"/>
          <p:cNvSpPr txBox="1"/>
          <p:nvPr/>
        </p:nvSpPr>
        <p:spPr>
          <a:xfrm>
            <a:off x="1280160" y="3337560"/>
            <a:ext cx="9628632" cy="1645920"/>
          </a:xfrm>
          <a:prstGeom prst="rect">
            <a:avLst/>
          </a:prstGeom>
          <a:noFill/>
        </p:spPr>
        <p:txBody>
          <a:bodyPr wrap="square" lIns="0" rIns="0" tIns="0" bIns="0" anchor="ctr">
            <a:noAutofit/>
          </a:bodyPr>
          <a:lstStyle/>
          <a:p>
            <a:pPr algn="ctr"/>
            <a:r>
              <a:rPr sz="4000" i="0">
                <a:solidFill>
                  <a:srgbClr val="1B1B1B"/>
                </a:solidFill>
                <a:latin typeface="Segoe UI Semibold"/>
              </a:rPr>
              <a:t>Generated with Qwen3-Coder 30B via llama.cpp</a:t>
            </a:r>
          </a:p>
        </p:txBody>
      </p:sp>
      <p:sp>
        <p:nvSpPr>
          <p:cNvPr id="13" name="TextBox 12"/>
          <p:cNvSpPr txBox="1"/>
          <p:nvPr/>
        </p:nvSpPr>
        <p:spPr>
          <a:xfrm>
            <a:off x="1920240" y="5074920"/>
            <a:ext cx="8348472" cy="822960"/>
          </a:xfrm>
          <a:prstGeom prst="rect">
            <a:avLst/>
          </a:prstGeom>
          <a:noFill/>
        </p:spPr>
        <p:txBody>
          <a:bodyPr wrap="square" lIns="0" rIns="0" tIns="0" bIns="0" anchor="t">
            <a:noAutofit/>
          </a:bodyPr>
          <a:lstStyle/>
          <a:p>
            <a:pPr algn="ctr"/>
            <a:r>
              <a:rPr sz="1800" i="0">
                <a:solidFill>
                  <a:srgbClr val="505050"/>
                </a:solidFill>
                <a:latin typeface="Segoe UI"/>
              </a:rPr>
              <a:t>No cloud calls used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Pilot Timeline</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12 analysts for 3 weeks</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10</a:t>
            </a:r>
          </a:p>
        </p:txBody>
      </p:sp>
      <p:sp>
        <p:nvSpPr>
          <p:cNvPr id="10" name="Rectangle 9"/>
          <p:cNvSpPr/>
          <p:nvPr/>
        </p:nvSpPr>
        <p:spPr>
          <a:xfrm>
            <a:off x="731520" y="3968496"/>
            <a:ext cx="10725912" cy="64008"/>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 name="Connector 10"/>
          <p:cNvCxnSpPr/>
          <p:nvPr/>
        </p:nvCxnSpPr>
        <p:spPr>
          <a:xfrm flipV="1">
            <a:off x="2580132" y="3616452"/>
            <a:ext cx="0" cy="384048"/>
          </a:xfrm>
          <a:prstGeom prst="line">
            <a:avLst/>
          </a:prstGeom>
          <a:ln w="19050">
            <a:solidFill>
              <a:srgbClr val="0078D4"/>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2397252" y="3817620"/>
            <a:ext cx="365760" cy="36576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1254252"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91412" y="2382012"/>
            <a:ext cx="365760" cy="365760"/>
          </a:xfrm>
          <a:prstGeom prst="rect">
            <a:avLst/>
          </a:prstGeom>
          <a:noFill/>
        </p:spPr>
        <p:txBody>
          <a:bodyPr wrap="none" lIns="0" rIns="0" tIns="0" bIns="0" anchor="ctr">
            <a:spAutoFit/>
          </a:bodyPr>
          <a:lstStyle/>
          <a:p>
            <a:pPr algn="ctr"/>
            <a:r>
              <a:rPr sz="1785">
                <a:solidFill>
                  <a:srgbClr val="0078D4"/>
                </a:solidFill>
                <a:latin typeface="Segoe Fluent Icons"/>
              </a:rPr>
              <a:t></a:t>
            </a:r>
          </a:p>
        </p:txBody>
      </p:sp>
      <p:sp>
        <p:nvSpPr>
          <p:cNvPr id="15" name="TextBox 14"/>
          <p:cNvSpPr txBox="1"/>
          <p:nvPr/>
        </p:nvSpPr>
        <p:spPr>
          <a:xfrm>
            <a:off x="1821180" y="2354580"/>
            <a:ext cx="1965960" cy="411480"/>
          </a:xfrm>
          <a:prstGeom prst="rect">
            <a:avLst/>
          </a:prstGeom>
          <a:noFill/>
        </p:spPr>
        <p:txBody>
          <a:bodyPr wrap="square" lIns="0" rIns="0" tIns="0" bIns="0" anchor="ctr">
            <a:noAutofit/>
          </a:bodyPr>
          <a:lstStyle/>
          <a:p>
            <a:pPr algn="l"/>
            <a:r>
              <a:rPr sz="1500" i="0">
                <a:solidFill>
                  <a:srgbClr val="0078D4"/>
                </a:solidFill>
                <a:latin typeface="Segoe UI Semibold"/>
              </a:rPr>
              <a:t>Week 1</a:t>
            </a:r>
          </a:p>
        </p:txBody>
      </p:sp>
      <p:sp>
        <p:nvSpPr>
          <p:cNvPr id="16" name="TextBox 15"/>
          <p:cNvSpPr txBox="1"/>
          <p:nvPr/>
        </p:nvSpPr>
        <p:spPr>
          <a:xfrm>
            <a:off x="1391412"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Setup &amp; Training</a:t>
            </a:r>
          </a:p>
        </p:txBody>
      </p:sp>
      <p:cxnSp>
        <p:nvCxnSpPr>
          <p:cNvPr id="17" name="Connector 16"/>
          <p:cNvCxnSpPr/>
          <p:nvPr/>
        </p:nvCxnSpPr>
        <p:spPr>
          <a:xfrm>
            <a:off x="6094476" y="4000500"/>
            <a:ext cx="0" cy="384048"/>
          </a:xfrm>
          <a:prstGeom prst="line">
            <a:avLst/>
          </a:prstGeom>
          <a:ln w="19050">
            <a:solidFill>
              <a:srgbClr val="107C10"/>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5911596" y="3817620"/>
            <a:ext cx="365760" cy="36576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4768596" y="4384548"/>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905756" y="4521708"/>
            <a:ext cx="365760" cy="365760"/>
          </a:xfrm>
          <a:prstGeom prst="rect">
            <a:avLst/>
          </a:prstGeom>
          <a:noFill/>
        </p:spPr>
        <p:txBody>
          <a:bodyPr wrap="none" lIns="0" rIns="0" tIns="0" bIns="0" anchor="ctr">
            <a:spAutoFit/>
          </a:bodyPr>
          <a:lstStyle/>
          <a:p>
            <a:pPr algn="ctr"/>
            <a:r>
              <a:rPr sz="1785">
                <a:solidFill>
                  <a:srgbClr val="107C10"/>
                </a:solidFill>
                <a:latin typeface="Segoe Fluent Icons"/>
              </a:rPr>
              <a:t></a:t>
            </a:r>
          </a:p>
        </p:txBody>
      </p:sp>
      <p:sp>
        <p:nvSpPr>
          <p:cNvPr id="21" name="TextBox 20"/>
          <p:cNvSpPr txBox="1"/>
          <p:nvPr/>
        </p:nvSpPr>
        <p:spPr>
          <a:xfrm>
            <a:off x="5335524" y="4494276"/>
            <a:ext cx="1965960" cy="411480"/>
          </a:xfrm>
          <a:prstGeom prst="rect">
            <a:avLst/>
          </a:prstGeom>
          <a:noFill/>
        </p:spPr>
        <p:txBody>
          <a:bodyPr wrap="square" lIns="0" rIns="0" tIns="0" bIns="0" anchor="ctr">
            <a:noAutofit/>
          </a:bodyPr>
          <a:lstStyle/>
          <a:p>
            <a:pPr algn="l"/>
            <a:r>
              <a:rPr sz="1500" i="0">
                <a:solidFill>
                  <a:srgbClr val="107C10"/>
                </a:solidFill>
                <a:latin typeface="Segoe UI Semibold"/>
              </a:rPr>
              <a:t>Week 2</a:t>
            </a:r>
          </a:p>
        </p:txBody>
      </p:sp>
      <p:sp>
        <p:nvSpPr>
          <p:cNvPr id="22" name="TextBox 21"/>
          <p:cNvSpPr txBox="1"/>
          <p:nvPr/>
        </p:nvSpPr>
        <p:spPr>
          <a:xfrm>
            <a:off x="4905756" y="4951476"/>
            <a:ext cx="2377440" cy="731520"/>
          </a:xfrm>
          <a:prstGeom prst="rect">
            <a:avLst/>
          </a:prstGeom>
          <a:noFill/>
        </p:spPr>
        <p:txBody>
          <a:bodyPr wrap="square" lIns="0" rIns="0" tIns="0" bIns="0" anchor="t">
            <a:noAutofit/>
          </a:bodyPr>
          <a:lstStyle/>
          <a:p>
            <a:pPr algn="l"/>
            <a:r>
              <a:rPr sz="1500" i="0">
                <a:solidFill>
                  <a:srgbClr val="1B1B1B"/>
                </a:solidFill>
                <a:latin typeface="Segoe UI"/>
              </a:rPr>
              <a:t>Full Pilot Execution</a:t>
            </a:r>
          </a:p>
        </p:txBody>
      </p:sp>
      <p:cxnSp>
        <p:nvCxnSpPr>
          <p:cNvPr id="23" name="Connector 22"/>
          <p:cNvCxnSpPr/>
          <p:nvPr/>
        </p:nvCxnSpPr>
        <p:spPr>
          <a:xfrm flipV="1">
            <a:off x="9608820" y="3616452"/>
            <a:ext cx="0" cy="384048"/>
          </a:xfrm>
          <a:prstGeom prst="line">
            <a:avLst/>
          </a:prstGeom>
          <a:ln w="19050">
            <a:solidFill>
              <a:srgbClr val="D83B0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9425940" y="3817620"/>
            <a:ext cx="365760" cy="365760"/>
          </a:xfrm>
          <a:prstGeom prst="ellipse">
            <a:avLst/>
          </a:prstGeom>
          <a:solidFill>
            <a:srgbClr val="D83B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82940" y="2244852"/>
            <a:ext cx="2651760" cy="1371600"/>
          </a:xfrm>
          <a:prstGeom prst="roundRect">
            <a:avLst>
              <a:gd name="adj" fmla="val 4000"/>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20100" y="2382012"/>
            <a:ext cx="365760" cy="365760"/>
          </a:xfrm>
          <a:prstGeom prst="rect">
            <a:avLst/>
          </a:prstGeom>
          <a:noFill/>
        </p:spPr>
        <p:txBody>
          <a:bodyPr wrap="none" lIns="0" rIns="0" tIns="0" bIns="0" anchor="ctr">
            <a:spAutoFit/>
          </a:bodyPr>
          <a:lstStyle/>
          <a:p>
            <a:pPr algn="ctr"/>
            <a:r>
              <a:rPr sz="1785">
                <a:solidFill>
                  <a:srgbClr val="D83B01"/>
                </a:solidFill>
                <a:latin typeface="Segoe Fluent Icons"/>
              </a:rPr>
              <a:t></a:t>
            </a:r>
          </a:p>
        </p:txBody>
      </p:sp>
      <p:sp>
        <p:nvSpPr>
          <p:cNvPr id="27" name="TextBox 26"/>
          <p:cNvSpPr txBox="1"/>
          <p:nvPr/>
        </p:nvSpPr>
        <p:spPr>
          <a:xfrm>
            <a:off x="8849868" y="2354580"/>
            <a:ext cx="1965960" cy="411480"/>
          </a:xfrm>
          <a:prstGeom prst="rect">
            <a:avLst/>
          </a:prstGeom>
          <a:noFill/>
        </p:spPr>
        <p:txBody>
          <a:bodyPr wrap="square" lIns="0" rIns="0" tIns="0" bIns="0" anchor="ctr">
            <a:noAutofit/>
          </a:bodyPr>
          <a:lstStyle/>
          <a:p>
            <a:pPr algn="l"/>
            <a:r>
              <a:rPr sz="1500" i="0">
                <a:solidFill>
                  <a:srgbClr val="D83B01"/>
                </a:solidFill>
                <a:latin typeface="Segoe UI Semibold"/>
              </a:rPr>
              <a:t>Week 3</a:t>
            </a:r>
          </a:p>
        </p:txBody>
      </p:sp>
      <p:sp>
        <p:nvSpPr>
          <p:cNvPr id="28" name="TextBox 27"/>
          <p:cNvSpPr txBox="1"/>
          <p:nvPr/>
        </p:nvSpPr>
        <p:spPr>
          <a:xfrm>
            <a:off x="8420100" y="2811780"/>
            <a:ext cx="2377440" cy="731520"/>
          </a:xfrm>
          <a:prstGeom prst="rect">
            <a:avLst/>
          </a:prstGeom>
          <a:noFill/>
        </p:spPr>
        <p:txBody>
          <a:bodyPr wrap="square" lIns="0" rIns="0" tIns="0" bIns="0" anchor="t">
            <a:noAutofit/>
          </a:bodyPr>
          <a:lstStyle/>
          <a:p>
            <a:pPr algn="l"/>
            <a:r>
              <a:rPr sz="1500" i="0">
                <a:solidFill>
                  <a:srgbClr val="1B1B1B"/>
                </a:solidFill>
                <a:latin typeface="Segoe UI"/>
              </a:rPr>
              <a:t>Evaluation &amp; Feedback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nchor="ctr">
            <a:noAutofit/>
          </a:bodyPr>
          <a:lstStyle/>
          <a:p>
            <a:pPr algn="l"/>
            <a:r>
              <a:rPr sz="3200" i="0">
                <a:solidFill>
                  <a:srgbClr val="1B1B1B"/>
                </a:solidFill>
                <a:latin typeface="Segoe UI Semibold"/>
              </a:rPr>
              <a:t>Ready to Pilot?</a:t>
            </a:r>
          </a:p>
        </p:txBody>
      </p:sp>
      <p:sp>
        <p:nvSpPr>
          <p:cNvPr id="3" name="TextBox 2"/>
          <p:cNvSpPr txBox="1"/>
          <p:nvPr/>
        </p:nvSpPr>
        <p:spPr>
          <a:xfrm>
            <a:off x="548640" y="1143000"/>
            <a:ext cx="11064240" cy="502920"/>
          </a:xfrm>
          <a:prstGeom prst="rect">
            <a:avLst/>
          </a:prstGeom>
          <a:noFill/>
        </p:spPr>
        <p:txBody>
          <a:bodyPr wrap="square" lIns="0" rIns="0" tIns="0" bIns="0" anchor="t">
            <a:noAutofit/>
          </a:bodyPr>
          <a:lstStyle/>
          <a:p>
            <a:pPr algn="l"/>
            <a:r>
              <a:rPr sz="1700" i="0">
                <a:solidFill>
                  <a:srgbClr val="505050"/>
                </a:solidFill>
                <a:latin typeface="Segoe UI"/>
              </a:rPr>
              <a:t>Join the 12-analyst trial</a:t>
            </a:r>
          </a:p>
        </p:txBody>
      </p:sp>
      <p:sp>
        <p:nvSpPr>
          <p:cNvPr id="4" name="Rectangle 3"/>
          <p:cNvSpPr/>
          <p:nvPr/>
        </p:nvSpPr>
        <p:spPr>
          <a:xfrm>
            <a:off x="548640" y="6483096"/>
            <a:ext cx="82296" cy="82296"/>
          </a:xfrm>
          <a:prstGeom prst="rect">
            <a:avLst/>
          </a:prstGeom>
          <a:solidFill>
            <a:srgbClr val="F250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49224" y="6483096"/>
            <a:ext cx="82296" cy="82296"/>
          </a:xfrm>
          <a:prstGeom prst="rect">
            <a:avLst/>
          </a:prstGeom>
          <a:solidFill>
            <a:srgbClr val="7FB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6583680"/>
            <a:ext cx="82296" cy="82296"/>
          </a:xfrm>
          <a:prstGeom prst="rect">
            <a:avLst/>
          </a:prstGeom>
          <a:solidFill>
            <a:srgbClr val="00A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49224" y="6583680"/>
            <a:ext cx="82296" cy="82296"/>
          </a:xfrm>
          <a:prstGeom prst="rect">
            <a:avLst/>
          </a:prstGeom>
          <a:solidFill>
            <a:srgbClr val="FF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86384" y="6419088"/>
            <a:ext cx="7315200" cy="274320"/>
          </a:xfrm>
          <a:prstGeom prst="rect">
            <a:avLst/>
          </a:prstGeom>
          <a:noFill/>
        </p:spPr>
        <p:txBody>
          <a:bodyPr wrap="square" lIns="0" rIns="0" tIns="0" bIns="0" anchor="t">
            <a:noAutofit/>
          </a:bodyPr>
          <a:lstStyle/>
          <a:p>
            <a:pPr algn="l"/>
            <a:r>
              <a:rPr sz="1000" i="0">
                <a:solidFill>
                  <a:srgbClr val="8A8A8A"/>
                </a:solidFill>
                <a:latin typeface="Segoe UI"/>
              </a:rPr>
              <a:t>Microsoft  |  Woodgrove Bank</a:t>
            </a:r>
          </a:p>
        </p:txBody>
      </p:sp>
      <p:sp>
        <p:nvSpPr>
          <p:cNvPr id="9" name="TextBox 8"/>
          <p:cNvSpPr txBox="1"/>
          <p:nvPr/>
        </p:nvSpPr>
        <p:spPr>
          <a:xfrm>
            <a:off x="10881360" y="6419088"/>
            <a:ext cx="758952" cy="274320"/>
          </a:xfrm>
          <a:prstGeom prst="rect">
            <a:avLst/>
          </a:prstGeom>
          <a:noFill/>
        </p:spPr>
        <p:txBody>
          <a:bodyPr wrap="square" lIns="0" rIns="0" tIns="0" bIns="0" anchor="t">
            <a:noAutofit/>
          </a:bodyPr>
          <a:lstStyle/>
          <a:p>
            <a:pPr algn="r"/>
            <a:r>
              <a:rPr sz="1000" i="0">
                <a:solidFill>
                  <a:srgbClr val="8A8A8A"/>
                </a:solidFill>
                <a:latin typeface="Segoe UI"/>
              </a:rPr>
              <a:t>11</a:t>
            </a:r>
          </a:p>
        </p:txBody>
      </p:sp>
      <p:sp>
        <p:nvSpPr>
          <p:cNvPr id="10" name="Rounded Rectangle 9"/>
          <p:cNvSpPr/>
          <p:nvPr/>
        </p:nvSpPr>
        <p:spPr>
          <a:xfrm>
            <a:off x="548640" y="1828800"/>
            <a:ext cx="5408676"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2960" y="2103120"/>
            <a:ext cx="640080" cy="640080"/>
          </a:xfrm>
          <a:prstGeom prst="ellipse">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1</a:t>
            </a:r>
          </a:p>
        </p:txBody>
      </p:sp>
      <p:sp>
        <p:nvSpPr>
          <p:cNvPr id="13" name="TextBox 12"/>
          <p:cNvSpPr txBox="1"/>
          <p:nvPr/>
        </p:nvSpPr>
        <p:spPr>
          <a:xfrm>
            <a:off x="5225796" y="2176272"/>
            <a:ext cx="475488" cy="475488"/>
          </a:xfrm>
          <a:prstGeom prst="rect">
            <a:avLst/>
          </a:prstGeom>
          <a:noFill/>
        </p:spPr>
        <p:txBody>
          <a:bodyPr wrap="none" lIns="0" rIns="0" tIns="0" bIns="0" anchor="ctr">
            <a:spAutoFit/>
          </a:bodyPr>
          <a:lstStyle/>
          <a:p>
            <a:pPr algn="ctr"/>
            <a:r>
              <a:rPr sz="2321">
                <a:solidFill>
                  <a:srgbClr val="0078D4"/>
                </a:solidFill>
                <a:latin typeface="Segoe Fluent Icons"/>
              </a:rPr>
              <a:t></a:t>
            </a:r>
          </a:p>
        </p:txBody>
      </p:sp>
      <p:sp>
        <p:nvSpPr>
          <p:cNvPr id="14" name="TextBox 13"/>
          <p:cNvSpPr txBox="1"/>
          <p:nvPr/>
        </p:nvSpPr>
        <p:spPr>
          <a:xfrm>
            <a:off x="822960" y="2880360"/>
            <a:ext cx="4860036" cy="777240"/>
          </a:xfrm>
          <a:prstGeom prst="rect">
            <a:avLst/>
          </a:prstGeom>
          <a:noFill/>
        </p:spPr>
        <p:txBody>
          <a:bodyPr wrap="square" lIns="0" rIns="0" tIns="0" bIns="0" anchor="t">
            <a:noAutofit/>
          </a:bodyPr>
          <a:lstStyle/>
          <a:p>
            <a:pPr algn="l"/>
            <a:r>
              <a:rPr sz="2000" i="0">
                <a:solidFill>
                  <a:srgbClr val="1B1B1B"/>
                </a:solidFill>
                <a:latin typeface="Segoe UI Semibold"/>
              </a:rPr>
              <a:t>Sign Up</a:t>
            </a:r>
          </a:p>
        </p:txBody>
      </p:sp>
      <p:sp>
        <p:nvSpPr>
          <p:cNvPr id="15" name="TextBox 14"/>
          <p:cNvSpPr txBox="1"/>
          <p:nvPr/>
        </p:nvSpPr>
        <p:spPr>
          <a:xfrm>
            <a:off x="822960" y="3657600"/>
            <a:ext cx="4860036" cy="960120"/>
          </a:xfrm>
          <a:prstGeom prst="rect">
            <a:avLst/>
          </a:prstGeom>
          <a:noFill/>
        </p:spPr>
        <p:txBody>
          <a:bodyPr wrap="square" lIns="0" rIns="0" tIns="0" bIns="0" anchor="t">
            <a:noAutofit/>
          </a:bodyPr>
          <a:lstStyle/>
          <a:p>
            <a:pPr algn="l"/>
            <a:r>
              <a:rPr sz="1500" i="0">
                <a:solidFill>
                  <a:srgbClr val="505050"/>
                </a:solidFill>
                <a:latin typeface="Segoe UI"/>
              </a:rPr>
              <a:t>Access to local AI stack</a:t>
            </a:r>
          </a:p>
        </p:txBody>
      </p:sp>
      <p:sp>
        <p:nvSpPr>
          <p:cNvPr id="16" name="Rounded Rectangle 15"/>
          <p:cNvSpPr/>
          <p:nvPr/>
        </p:nvSpPr>
        <p:spPr>
          <a:xfrm>
            <a:off x="6231636" y="1828800"/>
            <a:ext cx="5408676" cy="2926080"/>
          </a:xfrm>
          <a:prstGeom prst="roundRect">
            <a:avLst>
              <a:gd name="adj" fmla="val 1875"/>
            </a:avLst>
          </a:prstGeom>
          <a:solidFill>
            <a:srgbClr val="F3F3F3"/>
          </a:solidFill>
          <a:ln w="12700">
            <a:solidFill>
              <a:srgbClr val="E1E1E1"/>
            </a:solidFill>
          </a:ln>
          <a:effectLst>
            <a:outerShdw blurRad="228600" dist="50800" dir="5400000" algn="t" rotWithShape="0">
              <a:srgbClr val="000000">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6505956" y="2103120"/>
            <a:ext cx="640080" cy="640080"/>
          </a:xfrm>
          <a:prstGeom prst="ellipse">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505956" y="2103120"/>
            <a:ext cx="640080" cy="640080"/>
          </a:xfrm>
          <a:prstGeom prst="rect">
            <a:avLst/>
          </a:prstGeom>
          <a:noFill/>
        </p:spPr>
        <p:txBody>
          <a:bodyPr wrap="square" lIns="0" rIns="0" tIns="0" bIns="0" anchor="ctr">
            <a:noAutofit/>
          </a:bodyPr>
          <a:lstStyle/>
          <a:p>
            <a:pPr algn="ctr"/>
            <a:r>
              <a:rPr sz="2200" i="0">
                <a:solidFill>
                  <a:srgbClr val="FFFFFF"/>
                </a:solidFill>
                <a:latin typeface="Segoe UI Semibold"/>
              </a:rPr>
              <a:t>2</a:t>
            </a:r>
          </a:p>
        </p:txBody>
      </p:sp>
      <p:sp>
        <p:nvSpPr>
          <p:cNvPr id="19" name="TextBox 18"/>
          <p:cNvSpPr txBox="1"/>
          <p:nvPr/>
        </p:nvSpPr>
        <p:spPr>
          <a:xfrm>
            <a:off x="10908792" y="2176272"/>
            <a:ext cx="475488" cy="475488"/>
          </a:xfrm>
          <a:prstGeom prst="rect">
            <a:avLst/>
          </a:prstGeom>
          <a:noFill/>
        </p:spPr>
        <p:txBody>
          <a:bodyPr wrap="none" lIns="0" rIns="0" tIns="0" bIns="0" anchor="ctr">
            <a:spAutoFit/>
          </a:bodyPr>
          <a:lstStyle/>
          <a:p>
            <a:pPr algn="ctr"/>
            <a:r>
              <a:rPr sz="2321">
                <a:solidFill>
                  <a:srgbClr val="107C10"/>
                </a:solidFill>
                <a:latin typeface="Segoe Fluent Icons"/>
              </a:rPr>
              <a:t></a:t>
            </a:r>
          </a:p>
        </p:txBody>
      </p:sp>
      <p:sp>
        <p:nvSpPr>
          <p:cNvPr id="20" name="TextBox 19"/>
          <p:cNvSpPr txBox="1"/>
          <p:nvPr/>
        </p:nvSpPr>
        <p:spPr>
          <a:xfrm>
            <a:off x="6505956" y="2880360"/>
            <a:ext cx="4860036" cy="777240"/>
          </a:xfrm>
          <a:prstGeom prst="rect">
            <a:avLst/>
          </a:prstGeom>
          <a:noFill/>
        </p:spPr>
        <p:txBody>
          <a:bodyPr wrap="square" lIns="0" rIns="0" tIns="0" bIns="0" anchor="t">
            <a:noAutofit/>
          </a:bodyPr>
          <a:lstStyle/>
          <a:p>
            <a:pPr algn="l"/>
            <a:r>
              <a:rPr sz="2000" i="0">
                <a:solidFill>
                  <a:srgbClr val="1B1B1B"/>
                </a:solidFill>
                <a:latin typeface="Segoe UI Semibold"/>
              </a:rPr>
              <a:t>Run Pilot</a:t>
            </a:r>
          </a:p>
        </p:txBody>
      </p:sp>
      <p:sp>
        <p:nvSpPr>
          <p:cNvPr id="21" name="TextBox 20"/>
          <p:cNvSpPr txBox="1"/>
          <p:nvPr/>
        </p:nvSpPr>
        <p:spPr>
          <a:xfrm>
            <a:off x="6505956" y="3657600"/>
            <a:ext cx="4860036" cy="960120"/>
          </a:xfrm>
          <a:prstGeom prst="rect">
            <a:avLst/>
          </a:prstGeom>
          <a:noFill/>
        </p:spPr>
        <p:txBody>
          <a:bodyPr wrap="square" lIns="0" rIns="0" tIns="0" bIns="0" anchor="t">
            <a:noAutofit/>
          </a:bodyPr>
          <a:lstStyle/>
          <a:p>
            <a:pPr algn="l"/>
            <a:r>
              <a:rPr sz="1500" i="0">
                <a:solidFill>
                  <a:srgbClr val="505050"/>
                </a:solidFill>
                <a:latin typeface="Segoe UI"/>
              </a:rPr>
              <a:t>3-week technical trial</a:t>
            </a:r>
          </a:p>
        </p:txBody>
      </p:sp>
      <p:sp>
        <p:nvSpPr>
          <p:cNvPr id="22" name="Rounded Rectangle 21"/>
          <p:cNvSpPr/>
          <p:nvPr/>
        </p:nvSpPr>
        <p:spPr>
          <a:xfrm>
            <a:off x="548640" y="5029200"/>
            <a:ext cx="11091672" cy="1143000"/>
          </a:xfrm>
          <a:prstGeom prst="roundRect">
            <a:avLst>
              <a:gd name="adj" fmla="val 4800"/>
            </a:avLst>
          </a:prstGeom>
          <a:solidFill>
            <a:srgbClr val="007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14400" y="5349240"/>
            <a:ext cx="502920" cy="502920"/>
          </a:xfrm>
          <a:prstGeom prst="rect">
            <a:avLst/>
          </a:prstGeom>
          <a:noFill/>
        </p:spPr>
        <p:txBody>
          <a:bodyPr wrap="none" lIns="0" rIns="0" tIns="0" bIns="0" anchor="ctr">
            <a:spAutoFit/>
          </a:bodyPr>
          <a:lstStyle/>
          <a:p>
            <a:pPr algn="ctr"/>
            <a:r>
              <a:rPr sz="2455">
                <a:solidFill>
                  <a:srgbClr val="FFFFFF"/>
                </a:solidFill>
                <a:latin typeface="Segoe Fluent Icons"/>
              </a:rPr>
              <a:t></a:t>
            </a:r>
          </a:p>
        </p:txBody>
      </p:sp>
      <p:sp>
        <p:nvSpPr>
          <p:cNvPr id="24" name="TextBox 23"/>
          <p:cNvSpPr txBox="1"/>
          <p:nvPr/>
        </p:nvSpPr>
        <p:spPr>
          <a:xfrm>
            <a:off x="1645920" y="5138928"/>
            <a:ext cx="9720072" cy="914400"/>
          </a:xfrm>
          <a:prstGeom prst="rect">
            <a:avLst/>
          </a:prstGeom>
          <a:noFill/>
        </p:spPr>
        <p:txBody>
          <a:bodyPr wrap="square" lIns="0" rIns="0" tIns="0" bIns="0" anchor="ctr">
            <a:noAutofit/>
          </a:bodyPr>
          <a:lstStyle/>
          <a:p>
            <a:pPr algn="l"/>
            <a:r>
              <a:rPr sz="2400" i="0">
                <a:solidFill>
                  <a:srgbClr val="FFFFFF"/>
                </a:solidFill>
                <a:latin typeface="Segoe UI Semibold"/>
              </a:rPr>
              <a:t>Start your local AI journey with 12 analysts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 AI on Surface Laptop Ultra</dc:title>
  <dc:subject/>
  <dc:creator>Offline PPTX Forge</dc:creator>
  <cp:keywords/>
  <dc:description>Generated offline; template=microsoft</dc:description>
  <cp:lastModifiedBy>Steve Canny</cp:lastModifiedBy>
  <cp:revision>1</cp:revision>
  <dcterms:created xsi:type="dcterms:W3CDTF">2013-01-27T09:14:16Z</dcterms:created>
  <dcterms:modified xsi:type="dcterms:W3CDTF">2013-01-27T09:15:58Z</dcterms:modified>
  <cp:category/>
</cp:coreProperties>
</file>