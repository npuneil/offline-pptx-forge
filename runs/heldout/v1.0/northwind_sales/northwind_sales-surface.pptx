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B1AEA8"/>
            </a:solidFill>
          </c:spPr>
          <c:cat>
            <c:strRef>
              <c:f>Sheet1!$A$2:$A$4</c:f>
              <c:strCache>
                <c:ptCount val="3"/>
                <c:pt idx="0">
                  <c:v>60 Managers</c:v>
                </c:pt>
                <c:pt idx="1">
                  <c:v>12 Reports/Week</c:v>
                </c:pt>
                <c:pt idx="2">
                  <c:v>10 Minutes Saved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5760.0</c:v>
                </c:pt>
                <c:pt idx="1">
                  <c:v>48.0</c:v>
                </c:pt>
                <c:pt idx="2">
                  <c:v>10.0</c:v>
                </c:pt>
              </c:numCache>
            </c:numRef>
          </c:val>
        </c:ser>
        <c:dLbls>
          <c:numFmt formatCode="#,##0&quot; hours&quot;" sourceLinked="0"/>
          <c:txPr>
            <a:bodyPr/>
            <a:lstStyle/>
            <a:p>
              <a:pPr>
                <a:defRPr sz="15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4141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48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41414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District managers spend 30 minutes per report. This is like handwriting letters—time-consuming and requires privacy. Local AI helps in weak Wi-Fi conditions, just like having a pen and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District managers work in stores with limited connectivity. Local AI adds a second lane to their workflow—like having two assistants. Microsoft 365 Copilot stays as the main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 Laptop Ultra has 128 GB memory. Local AI uses 64 GB, leaving room for OS and other tasks. This ensures smooth performance in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runs for 3 weeks with 8 district managers. We measure report time, quality, and user experience to validate the value of local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Cloud-based AI needs Wi-Fi and sends confidential data to the cloud. Local AI works offline and keeps data on the device—ideal for Northwind's back-office Wi-Fi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canvas shows the hybrid model: Surface Laptop Ultra with local AI assistant and Microsoft 365 Copilot. Both work together, not as replacements.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AI ensures confidential supplier data never leaves the device. This is critical for Northwind’s privacy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runs over 3 weeks. In Week 1, we set up devices. In Week 2, managers write reports. In Week 3, we collect feedback and review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local AI saves 10 minutes per report, the total time saved is estimated at 5,760 hours annually. This is illustrative and will be validated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ask for approval to begin the pilot. We'll prepare devices, onboard managers, and measure results over 3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59536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863840" y="1417320"/>
            <a:ext cx="3566160" cy="3566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0" y="2240280"/>
            <a:ext cx="1920240" cy="1920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74">
                <a:solidFill>
                  <a:srgbClr val="1F5FBF"/>
                </a:solidFill>
                <a:latin typeface="Segoe Fluent Icons"/>
              </a:rPr>
              <a:t></a:t>
            </a:r>
          </a:p>
        </p:txBody>
      </p:sp>
      <p:sp>
        <p:nvSpPr>
          <p:cNvPr id="6" name="Oval 5"/>
          <p:cNvSpPr/>
          <p:nvPr/>
        </p:nvSpPr>
        <p:spPr>
          <a:xfrm>
            <a:off x="7452360" y="12344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35240" y="141732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1F5FBF"/>
                </a:solidFill>
                <a:latin typeface="Segoe Fluent Icons"/>
              </a:rPr>
              <a:t></a:t>
            </a:r>
          </a:p>
        </p:txBody>
      </p:sp>
      <p:sp>
        <p:nvSpPr>
          <p:cNvPr id="8" name="Oval 7"/>
          <p:cNvSpPr/>
          <p:nvPr/>
        </p:nvSpPr>
        <p:spPr>
          <a:xfrm>
            <a:off x="10744200" y="18288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27080" y="20116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3F8F7E"/>
                </a:solidFill>
                <a:latin typeface="Segoe Fluent Icons"/>
              </a:rPr>
              <a:t>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42976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20" y="448056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B8742F"/>
                </a:solidFill>
                <a:latin typeface="Segoe Fluent Icons"/>
              </a:rPr>
              <a:t>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20" y="43434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4200" y="45262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6B5BD2"/>
                </a:solidFill>
                <a:latin typeface="Segoe Fluent Icons"/>
              </a:rPr>
              <a:t>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PILOT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41414"/>
                </a:solidFill>
                <a:latin typeface="Segoe UI Semibold"/>
              </a:rPr>
              <a:t>Local AI in Stores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4A4A4A"/>
                </a:solidFill>
                <a:latin typeface="Segoe UI"/>
              </a:rPr>
              <a:t>For district managers with weak 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C8780"/>
                </a:solidFill>
                <a:latin typeface="Segoe UI"/>
              </a:rPr>
              <a:t>Surface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Report 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Like drafting a letter by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41414"/>
                </a:solidFill>
                <a:latin typeface="Segoe UI Semibold"/>
              </a:rPr>
              <a:t>Report Writing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41414"/>
                </a:solidFill>
                <a:latin typeface="Segoe UI Semibold"/>
              </a:rPr>
              <a:t>Letter Drafting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C878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Time to write a report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529584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Time to write a letter by hand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Confidential 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480560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Private thoughts in a letter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Weak Wi-Fi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431536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No pen or paper at hand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Manager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AI adds a second 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Report Drafting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With local AI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Microsoft 365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For general 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Store Walk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Planogram, staffing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12413"/>
            </a:avLst>
          </a:prstGeom>
          <a:solidFill>
            <a:srgbClr val="D7DEEA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 Semibold"/>
              </a:rPr>
              <a:t>Store Visit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Device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128 GB memory for local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1F5FBF"/>
                </a:solidFill>
                <a:latin typeface="Segoe UI Light"/>
              </a:rPr>
              <a:t>128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6072" y="3118104"/>
            <a:ext cx="5490972" cy="1033272"/>
          </a:xfrm>
          <a:prstGeom prst="roundRect">
            <a:avLst>
              <a:gd name="adj" fmla="val 8849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53263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Local AI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53263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64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1908" y="3118104"/>
            <a:ext cx="2718054" cy="1033272"/>
          </a:xfrm>
          <a:prstGeom prst="roundRect">
            <a:avLst>
              <a:gd name="adj" fmla="val 8849"/>
            </a:avLst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04204" y="3172968"/>
            <a:ext cx="255346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OS &amp;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4204" y="3685032"/>
            <a:ext cx="255346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32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4826" y="3118104"/>
            <a:ext cx="1331595" cy="1033272"/>
          </a:xfrm>
          <a:prstGeom prst="roundRect">
            <a:avLst>
              <a:gd name="adj" fmla="val 8849"/>
            </a:avLst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9" name="Connector 18"/>
          <p:cNvCxnSpPr/>
          <p:nvPr/>
        </p:nvCxnSpPr>
        <p:spPr>
          <a:xfrm flipV="1">
            <a:off x="9560624" y="3017520"/>
            <a:ext cx="0" cy="45720"/>
          </a:xfrm>
          <a:prstGeom prst="line">
            <a:avLst/>
          </a:prstGeom>
          <a:ln w="19050">
            <a:solidFill>
              <a:srgbClr val="B87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54784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141414"/>
                </a:solidFill>
                <a:latin typeface="Segoe UI"/>
              </a:rPr>
              <a:t>Report Data 16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1285" y="3118104"/>
            <a:ext cx="1331595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8C87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391013" y="3337560"/>
            <a:ext cx="111213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Headroom 16.0 GB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32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64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96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128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1F5FBF"/>
                </a:solidFill>
                <a:latin typeface="Segoe Fluent Icons"/>
              </a:rPr>
              <a:t>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Surface Laptop Ultra with NVIDIA RTX Spark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Pilot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3 weeks with 8 managers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2395728" cy="3291840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289304" y="2125980"/>
            <a:ext cx="914400" cy="9144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1732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F5FBF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Install local AI</a:t>
            </a:r>
          </a:p>
        </p:txBody>
      </p:sp>
      <p:sp>
        <p:nvSpPr>
          <p:cNvPr id="15" name="Chevron 14"/>
          <p:cNvSpPr/>
          <p:nvPr/>
        </p:nvSpPr>
        <p:spPr>
          <a:xfrm>
            <a:off x="3081528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447288" y="2583180"/>
            <a:ext cx="2395728" cy="3291840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187952" y="2125980"/>
            <a:ext cx="914400" cy="91440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15968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F8F7E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Write reports in store</a:t>
            </a:r>
          </a:p>
        </p:txBody>
      </p:sp>
      <p:sp>
        <p:nvSpPr>
          <p:cNvPr id="22" name="Chevron 21"/>
          <p:cNvSpPr/>
          <p:nvPr/>
        </p:nvSpPr>
        <p:spPr>
          <a:xfrm>
            <a:off x="5980176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345936" y="2583180"/>
            <a:ext cx="2395728" cy="3291840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086600" y="2125980"/>
            <a:ext cx="914400" cy="91440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14616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B8742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Time, quality, UX</a:t>
            </a:r>
          </a:p>
        </p:txBody>
      </p:sp>
      <p:sp>
        <p:nvSpPr>
          <p:cNvPr id="29" name="Chevron 28"/>
          <p:cNvSpPr/>
          <p:nvPr/>
        </p:nvSpPr>
        <p:spPr>
          <a:xfrm>
            <a:off x="8878824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244584" y="2583180"/>
            <a:ext cx="2395728" cy="3291840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985248" y="2125980"/>
            <a:ext cx="914400" cy="91440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1326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6B5BD2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9176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7464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Results &amp;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Connectivity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AI works when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Cloud-Based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Needs Wi-Fi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Confidential data in 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F5FBF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Local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Works offline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Data stays local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7F5F2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23076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Local AI wins for weak connectivity and privacy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Local AI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Hybrid model with Microsoft 365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45864" y="2552700"/>
            <a:ext cx="924306" cy="0"/>
          </a:xfrm>
          <a:prstGeom prst="line">
            <a:avLst/>
          </a:prstGeom>
          <a:ln w="28575">
            <a:solidFill>
              <a:srgbClr val="A19D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02177" y="216865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4A4A4A"/>
                </a:solidFill>
                <a:latin typeface="Segoe UI"/>
              </a:rPr>
              <a:t>Data 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43088" y="2552700"/>
            <a:ext cx="924306" cy="0"/>
          </a:xfrm>
          <a:prstGeom prst="line">
            <a:avLst/>
          </a:prstGeom>
          <a:ln w="28575">
            <a:solidFill>
              <a:srgbClr val="A19D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99401" y="216865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4A4A4A"/>
                </a:solidFill>
                <a:latin typeface="Segoe UI"/>
              </a:rPr>
              <a:t>Data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28800"/>
            <a:ext cx="3697224" cy="1447800"/>
          </a:xfrm>
          <a:prstGeom prst="roundRect">
            <a:avLst>
              <a:gd name="adj" fmla="val 11368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408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0170" y="1828800"/>
            <a:ext cx="2772918" cy="1447800"/>
          </a:xfrm>
          <a:prstGeom prst="roundRect">
            <a:avLst>
              <a:gd name="adj" fmla="val 11368"/>
            </a:avLst>
          </a:prstGeom>
          <a:solidFill>
            <a:srgbClr val="3F8F7E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2561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7410" y="1938528"/>
            <a:ext cx="1904238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Local AI Assistant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7394" y="1828800"/>
            <a:ext cx="2772918" cy="1447800"/>
          </a:xfrm>
          <a:prstGeom prst="roundRect">
            <a:avLst>
              <a:gd name="adj" fmla="val 11368"/>
            </a:avLst>
          </a:prstGeom>
          <a:solidFill>
            <a:srgbClr val="B8742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22842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4634" y="1938528"/>
            <a:ext cx="1904238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Microsoft 365 Copilot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Data Stays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Confidential supplier data protected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FFFFFF"/>
                </a:solidFill>
                <a:latin typeface="Segoe Fluent Icons"/>
              </a:rPr>
              <a:t>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141414"/>
                </a:solidFill>
                <a:latin typeface="Segoe UI Semibold"/>
              </a:rPr>
              <a:t>Supplier cost sheets and promotions stay on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4A4A4A"/>
                </a:solidFill>
                <a:latin typeface="Segoe UI"/>
              </a:rPr>
              <a:t>No cloud upload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Pilot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3 weeks, 8 managers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2580132" y="3616452"/>
            <a:ext cx="0" cy="384048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97252" y="3817620"/>
            <a:ext cx="365760" cy="36576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254252" y="2244852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91412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1F5FBF"/>
                </a:solidFill>
                <a:latin typeface="Segoe Fluent Icons"/>
              </a:rPr>
              <a:t>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1180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1412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Device Setup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4476" y="4000500"/>
            <a:ext cx="0" cy="384048"/>
          </a:xfrm>
          <a:prstGeom prst="line">
            <a:avLst/>
          </a:prstGeom>
          <a:ln w="19050">
            <a:solidFill>
              <a:srgbClr val="3F8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911596" y="3817620"/>
            <a:ext cx="365760" cy="36576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768596" y="4384548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05756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3F8F7E"/>
                </a:solidFill>
                <a:latin typeface="Segoe Fluent Icons"/>
              </a:rPr>
              <a:t>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5524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3F8F7E"/>
                </a:solidFill>
                <a:latin typeface="Segoe UI Semibold"/>
              </a:rPr>
              <a:t>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5756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Report Writing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9608820" y="3616452"/>
            <a:ext cx="0" cy="384048"/>
          </a:xfrm>
          <a:prstGeom prst="line">
            <a:avLst/>
          </a:prstGeom>
          <a:ln w="19050">
            <a:solidFill>
              <a:srgbClr val="B87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25940" y="3817620"/>
            <a:ext cx="365760" cy="36576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282940" y="2244852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20100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B8742F"/>
                </a:solidFill>
                <a:latin typeface="Segoe Fluent Icons"/>
              </a:rPr>
              <a:t>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9868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B8742F"/>
                </a:solidFill>
                <a:latin typeface="Segoe UI Semibold"/>
              </a:rPr>
              <a:t>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0100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Feedback &amp;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Time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Estimate shows 5,760 hours saved annually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1F5FBF"/>
                </a:solidFill>
                <a:latin typeface="Segoe UI Light"/>
              </a:rPr>
              <a:t>5,760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4A4A4A"/>
                </a:solidFill>
                <a:latin typeface="Segoe UI"/>
              </a:rPr>
              <a:t>hours  |  60 Managers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Illustrative estimate based on 10 mins/report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Approve the 3-week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567178" cy="2926080"/>
          </a:xfrm>
          <a:prstGeom prst="roundRect">
            <a:avLst>
              <a:gd name="adj" fmla="val 6411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429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F5FBF"/>
                </a:solidFill>
                <a:latin typeface="Segoe Fluent Icons"/>
              </a:rPr>
              <a:t>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01853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Green light for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138" y="1828800"/>
            <a:ext cx="2567178" cy="2926080"/>
          </a:xfrm>
          <a:prstGeom prst="roundRect">
            <a:avLst>
              <a:gd name="adj" fmla="val 6411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664458" y="2103120"/>
            <a:ext cx="640080" cy="64008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6445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5796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F8F7E"/>
                </a:solidFill>
                <a:latin typeface="Segoe Fluent Icons"/>
              </a:rPr>
              <a:t>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4458" y="288036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Device Prep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4458" y="3657600"/>
            <a:ext cx="201853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8 Surface Laptops with local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1828800"/>
            <a:ext cx="2567178" cy="2926080"/>
          </a:xfrm>
          <a:prstGeom prst="roundRect">
            <a:avLst>
              <a:gd name="adj" fmla="val 6411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505956" y="2103120"/>
            <a:ext cx="640080" cy="64008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05956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729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B8742F"/>
                </a:solidFill>
                <a:latin typeface="Segoe Fluent Icons"/>
              </a:rPr>
              <a:t>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956" y="288036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Manager 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956" y="3657600"/>
            <a:ext cx="201853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Training and setup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3134" y="1828800"/>
            <a:ext cx="2567178" cy="2926080"/>
          </a:xfrm>
          <a:prstGeom prst="roundRect">
            <a:avLst>
              <a:gd name="adj" fmla="val 6411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347454" y="2103120"/>
            <a:ext cx="640080" cy="64008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4745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6B5BD2"/>
                </a:solidFill>
                <a:latin typeface="Segoe Fluent Icons"/>
              </a:rPr>
              <a:t>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7454" y="288036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Measure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7454" y="3657600"/>
            <a:ext cx="201853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Report time, quality, UX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4399"/>
            </a:avLst>
          </a:prstGeom>
          <a:gradFill rotWithShape="1">
            <a:gsLst>
              <a:gs pos="0">
                <a:srgbClr val="1F5FBF"/>
              </a:gs>
              <a:gs pos="100000">
                <a:srgbClr val="327C9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Support the 3-week pilot to validate local AI for district managers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for District Managers</dc:title>
  <dc:subject/>
  <dc:creator>Offline PPTX Forge</dc:creator>
  <cp:keywords/>
  <dc:description>Generated offline; template=surface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