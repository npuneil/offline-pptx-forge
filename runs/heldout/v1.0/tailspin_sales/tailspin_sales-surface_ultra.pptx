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4B5162"/>
            </a:solidFill>
          </c:spPr>
          <c:cat>
            <c:strRef>
              <c:f>Sheet1!$A$2:$A$2</c:f>
              <c:strCache>
                <c:ptCount val="1"/>
                <c:pt idx="0">
                  <c:v>45 designers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2475.0</c:v>
                </c:pt>
              </c:numCache>
            </c:numRef>
          </c:val>
        </c:ser>
        <c:dLbls>
          <c:numFmt formatCode="#,##0&quot; hours&quot;" sourceLinked="0"/>
          <c:txPr>
            <a:bodyPr/>
            <a:lstStyle/>
            <a:p>
              <a:pPr>
                <a:defRPr sz="1500" b="1">
                  <a:solidFill>
                    <a:srgbClr val="F4F6F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solidFill>
                  <a:srgbClr val="F4F6FA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17.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500">
          <a:solidFill>
            <a:srgbClr val="F4F6FA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Narrative design is like cooking. Playtest sessions are ingredients, feedback digests are recipes, and dialogue drafts are dishes. Local AI provides a dedicated kitchen space for embargoed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Microsoft 365 Copilot handles public tasks, while local AI on Surface handles embargoed creative material. This hybrid approach ensures secure workflows without replacing existing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session review takes about 40 minutes to turn into a digest. Local AI can reduce this time significantly, especially for repetitive tasks like summarizing and drafting.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Surface Laptop Ultra has 128 GB memory and 20 CPU cores. It supports 28 open models locally, ensuring performance for creative tasks without relying on cloud resources.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Offline use is validated in the pilot. Local AI works without internet, making it perfect for offsite playtest venues and conventions where connectivity is unreliable.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matrix shows how local AI fits into the workflow. Secure and offline work is best handled by local AI, while public tasks use Copilot.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Illustrative estimate: if local AI saves 15 minutes per digest, that's 2,475 hours/year. This will be validated during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pilot involves 6 users over 2 weeks. It will measure digest time, draft quality, and user experience to validate the benefits of local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ask for approval to run a 2-week pilot with 6 users. This will validate time savings and usability for embargoed creative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2179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822960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7315200" y="1234440"/>
            <a:ext cx="4297680" cy="4297680"/>
          </a:xfrm>
          <a:prstGeom prst="ellipse">
            <a:avLst/>
          </a:prstGeom>
          <a:noFill/>
          <a:ln w="15875">
            <a:solidFill>
              <a:srgbClr val="76B900"/>
            </a:solidFill>
          </a:ln>
          <a:effectLst>
            <a:glow rad="1016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7772400" y="1691640"/>
            <a:ext cx="3383280" cy="3383280"/>
          </a:xfrm>
          <a:prstGeom prst="ellipse">
            <a:avLst/>
          </a:prstGeom>
          <a:noFill/>
          <a:ln w="22225">
            <a:solidFill>
              <a:srgbClr val="3DA9FC"/>
            </a:solidFill>
          </a:ln>
          <a:effectLst>
            <a:glow rad="101600">
              <a:srgbClr val="3DA9FC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8229600" y="2148840"/>
            <a:ext cx="2468880" cy="2468880"/>
          </a:xfrm>
          <a:prstGeom prst="ellipse">
            <a:avLst/>
          </a:prstGeom>
          <a:noFill/>
          <a:ln w="28575">
            <a:solidFill>
              <a:srgbClr val="9B6BFF"/>
            </a:solidFill>
          </a:ln>
          <a:effectLst>
            <a:glow rad="101600">
              <a:srgbClr val="9B6BFF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8595360" y="2514600"/>
            <a:ext cx="1737360" cy="1737360"/>
          </a:xfrm>
          <a:prstGeom prst="ellipse">
            <a:avLst/>
          </a:prstGeom>
          <a:solidFill>
            <a:srgbClr val="141824"/>
          </a:solidFill>
          <a:ln>
            <a:noFill/>
          </a:ln>
          <a:effectLst>
            <a:glow rad="3048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42248" y="2743200"/>
            <a:ext cx="1243584" cy="1243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6071">
                <a:solidFill>
                  <a:srgbClr val="76B900"/>
                </a:solidFill>
                <a:latin typeface="Segoe Fluent Icons"/>
              </a:rPr>
              <a:t></a:t>
            </a:r>
          </a:p>
        </p:txBody>
      </p:sp>
      <p:sp>
        <p:nvSpPr>
          <p:cNvPr id="9" name="Oval 8"/>
          <p:cNvSpPr/>
          <p:nvPr/>
        </p:nvSpPr>
        <p:spPr>
          <a:xfrm>
            <a:off x="696772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0488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76B900"/>
                </a:solidFill>
                <a:latin typeface="Segoe Fluent Icons"/>
              </a:rPr>
              <a:t></a:t>
            </a:r>
          </a:p>
        </p:txBody>
      </p:sp>
      <p:sp>
        <p:nvSpPr>
          <p:cNvPr id="11" name="Oval 10"/>
          <p:cNvSpPr/>
          <p:nvPr/>
        </p:nvSpPr>
        <p:spPr>
          <a:xfrm>
            <a:off x="11265408" y="303580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3DA9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1402568" y="317296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3DA9FC"/>
                </a:solidFill>
                <a:latin typeface="Segoe Fluent Icons"/>
              </a:rPr>
              <a:t></a:t>
            </a:r>
          </a:p>
        </p:txBody>
      </p:sp>
      <p:sp>
        <p:nvSpPr>
          <p:cNvPr id="13" name="Oval 12"/>
          <p:cNvSpPr/>
          <p:nvPr/>
        </p:nvSpPr>
        <p:spPr>
          <a:xfrm>
            <a:off x="9116568" y="88696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253728" y="102412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9B6BFF"/>
                </a:solidFill>
                <a:latin typeface="Segoe Fluent Icons"/>
              </a:rPr>
              <a:t></a:t>
            </a:r>
          </a:p>
        </p:txBody>
      </p:sp>
      <p:sp>
        <p:nvSpPr>
          <p:cNvPr id="15" name="Oval 14"/>
          <p:cNvSpPr/>
          <p:nvPr/>
        </p:nvSpPr>
        <p:spPr>
          <a:xfrm>
            <a:off x="9116568" y="5184648"/>
            <a:ext cx="694944" cy="694944"/>
          </a:xfrm>
          <a:prstGeom prst="ellipse">
            <a:avLst/>
          </a:prstGeom>
          <a:solidFill>
            <a:srgbClr val="141824"/>
          </a:solidFill>
          <a:ln w="19050">
            <a:solidFill>
              <a:srgbClr val="FFB5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253728" y="5321808"/>
            <a:ext cx="420624" cy="42062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053">
                <a:solidFill>
                  <a:srgbClr val="FFB547"/>
                </a:solidFill>
                <a:latin typeface="Segoe Fluent Icons"/>
              </a:rPr>
              <a:t>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1691640"/>
            <a:ext cx="67665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76B900"/>
                </a:solidFill>
                <a:latin typeface="Segoe UI Semibold"/>
              </a:rPr>
              <a:t>PILOT PROPOSAL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1488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i="0">
                <a:solidFill>
                  <a:srgbClr val="F4F6FA"/>
                </a:solidFill>
                <a:latin typeface="Segoe UI Semibold"/>
              </a:rPr>
              <a:t>Surface Laptop Ultra with Local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i="0">
                <a:solidFill>
                  <a:srgbClr val="AEB6C8"/>
                </a:solidFill>
                <a:latin typeface="Segoe UI"/>
              </a:rPr>
              <a:t>For Embargoed Creative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0350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i="0">
                <a:solidFill>
                  <a:srgbClr val="6F7890"/>
                </a:solidFill>
                <a:latin typeface="Segoe UI"/>
              </a:rPr>
              <a:t>Surface Laptop Ultra  |  NVIDIA RTX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Creative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Like a chef’s kitchen, not a restaurant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2</a:t>
            </a:r>
          </a:p>
        </p:txBody>
      </p:sp>
      <p:sp>
        <p:nvSpPr>
          <p:cNvPr id="9" name="Oval 8"/>
          <p:cNvSpPr/>
          <p:nvPr/>
        </p:nvSpPr>
        <p:spPr>
          <a:xfrm>
            <a:off x="617220" y="1851660"/>
            <a:ext cx="960120" cy="9601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51637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i="0">
                <a:solidFill>
                  <a:srgbClr val="F4F6FA"/>
                </a:solidFill>
                <a:latin typeface="Segoe UI Semibold"/>
              </a:rPr>
              <a:t>Narrative Design</a:t>
            </a:r>
          </a:p>
        </p:txBody>
      </p:sp>
      <p:sp>
        <p:nvSpPr>
          <p:cNvPr id="12" name="Oval 11"/>
          <p:cNvSpPr/>
          <p:nvPr/>
        </p:nvSpPr>
        <p:spPr>
          <a:xfrm>
            <a:off x="10611612" y="1851660"/>
            <a:ext cx="960120" cy="96012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524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746029" y="1986077"/>
            <a:ext cx="691286" cy="69128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74">
                <a:solidFill>
                  <a:srgbClr val="07080C"/>
                </a:solidFill>
                <a:latin typeface="Segoe Fluent Icons"/>
              </a:rPr>
              <a:t>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0276" y="1920240"/>
            <a:ext cx="3625596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2400" i="0">
                <a:solidFill>
                  <a:srgbClr val="F4F6FA"/>
                </a:solidFill>
                <a:latin typeface="Segoe UI Semibold"/>
              </a:rPr>
              <a:t>Kitchen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8676" y="2057400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1">
                <a:solidFill>
                  <a:srgbClr val="6F7890"/>
                </a:solidFill>
                <a:latin typeface="Segoe UI"/>
              </a:rPr>
              <a:t>is like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60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Playtest Sessions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1828" y="3529584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780276" y="3108960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054596" y="3145536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Ingredients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22960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Feedback Digests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1828" y="4480560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780276" y="4059936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054596" y="4096512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Recipes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22960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Dialogue Drafts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1828" y="5431536"/>
            <a:ext cx="1225296" cy="0"/>
          </a:xfrm>
          <a:prstGeom prst="line">
            <a:avLst/>
          </a:prstGeom>
          <a:ln w="25400">
            <a:solidFill>
              <a:srgbClr val="6F789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780276" y="5010912"/>
            <a:ext cx="4860036" cy="841248"/>
          </a:xfrm>
          <a:prstGeom prst="roundRect">
            <a:avLst>
              <a:gd name="adj" fmla="val 50000"/>
            </a:avLst>
          </a:prstGeom>
          <a:solidFill>
            <a:srgbClr val="141824"/>
          </a:solidFill>
          <a:ln w="15875">
            <a:solidFill>
              <a:srgbClr val="9B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054596" y="5047488"/>
            <a:ext cx="4311396" cy="7680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"/>
              </a:rPr>
              <a:t>Dishes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Two lanes: Copilot + Local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76372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406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40080" y="3067812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9983" y="3207715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3049524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Microsoft 365 Copilot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049524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Public tasks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64508"/>
            <a:ext cx="9262872" cy="960120"/>
          </a:xfrm>
          <a:prstGeom prst="roundRect">
            <a:avLst>
              <a:gd name="adj" fmla="val 13333"/>
            </a:avLst>
          </a:prstGeom>
          <a:solidFill>
            <a:srgbClr val="141824"/>
          </a:solidFill>
          <a:ln w="12700">
            <a:solidFill>
              <a:srgbClr val="2659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40080" y="4155948"/>
            <a:ext cx="777240" cy="777240"/>
          </a:xfrm>
          <a:prstGeom prst="roundRect">
            <a:avLst>
              <a:gd name="adj" fmla="val 14117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9983" y="4295851"/>
            <a:ext cx="497434" cy="49743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28">
                <a:solidFill>
                  <a:srgbClr val="07080C"/>
                </a:solidFill>
                <a:latin typeface="Segoe Fluent Icons"/>
              </a:rPr>
              <a:t>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4137660"/>
            <a:ext cx="3017520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i="0">
                <a:solidFill>
                  <a:srgbClr val="F4F6FA"/>
                </a:solidFill>
                <a:latin typeface="Segoe UI Semibold"/>
              </a:rPr>
              <a:t>Local AI (Surface)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137660"/>
            <a:ext cx="4855464" cy="8138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Embargoed work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85832" y="2976372"/>
            <a:ext cx="73152" cy="2048256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10314432" y="3314700"/>
            <a:ext cx="1325880" cy="1371600"/>
          </a:xfrm>
          <a:prstGeom prst="roundRect">
            <a:avLst>
              <a:gd name="adj" fmla="val 9655"/>
            </a:avLst>
          </a:prstGeom>
          <a:solidFill>
            <a:srgbClr val="233409"/>
          </a:solidFill>
          <a:ln w="15875">
            <a:solidFill>
              <a:srgbClr val="76B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387584" y="3360420"/>
            <a:ext cx="1179576" cy="12801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i="0">
                <a:solidFill>
                  <a:srgbClr val="F4F6FA"/>
                </a:solidFill>
                <a:latin typeface="Segoe UI Semibold"/>
              </a:rPr>
              <a:t>Workflow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Current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40 minutes per digest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83180"/>
            <a:ext cx="3361944" cy="3291840"/>
          </a:xfrm>
          <a:prstGeom prst="roundRect">
            <a:avLst>
              <a:gd name="adj" fmla="val 3888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772412" y="2125980"/>
            <a:ext cx="914400" cy="91440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00428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76B900"/>
                </a:solidFill>
                <a:latin typeface="Segoe UI Semi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Session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Watch footage</a:t>
            </a:r>
          </a:p>
        </p:txBody>
      </p:sp>
      <p:sp>
        <p:nvSpPr>
          <p:cNvPr id="15" name="Chevron 14"/>
          <p:cNvSpPr/>
          <p:nvPr/>
        </p:nvSpPr>
        <p:spPr>
          <a:xfrm>
            <a:off x="4047744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4413504" y="2583180"/>
            <a:ext cx="3361944" cy="3291840"/>
          </a:xfrm>
          <a:prstGeom prst="roundRect">
            <a:avLst>
              <a:gd name="adj" fmla="val 3888"/>
            </a:avLst>
          </a:prstGeom>
          <a:solidFill>
            <a:srgbClr val="141824"/>
          </a:solidFill>
          <a:ln w="12700">
            <a:solidFill>
              <a:srgbClr val="286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637276" y="2125980"/>
            <a:ext cx="914400" cy="914400"/>
          </a:xfrm>
          <a:prstGeom prst="ellipse">
            <a:avLst/>
          </a:prstGeom>
          <a:solidFill>
            <a:srgbClr val="3DA9FC"/>
          </a:solidFill>
          <a:ln>
            <a:noFill/>
          </a:ln>
          <a:effectLst>
            <a:glow rad="127000">
              <a:srgbClr val="3DA9FC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765292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6384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3DA9FC"/>
                </a:solidFill>
                <a:latin typeface="Segoe UI Semi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8096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Feedback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6384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Manual typing</a:t>
            </a:r>
          </a:p>
        </p:txBody>
      </p:sp>
      <p:sp>
        <p:nvSpPr>
          <p:cNvPr id="22" name="Chevron 21"/>
          <p:cNvSpPr/>
          <p:nvPr/>
        </p:nvSpPr>
        <p:spPr>
          <a:xfrm>
            <a:off x="7912608" y="4027932"/>
            <a:ext cx="228600" cy="402336"/>
          </a:xfrm>
          <a:prstGeom prst="chevron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8278368" y="2583180"/>
            <a:ext cx="3361944" cy="3291840"/>
          </a:xfrm>
          <a:prstGeom prst="roundRect">
            <a:avLst>
              <a:gd name="adj" fmla="val 3888"/>
            </a:avLst>
          </a:prstGeom>
          <a:solidFill>
            <a:srgbClr val="141824"/>
          </a:solidFill>
          <a:ln w="12700">
            <a:solidFill>
              <a:srgbClr val="5842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502140" y="2125980"/>
            <a:ext cx="914400" cy="914400"/>
          </a:xfrm>
          <a:prstGeom prst="ellipse">
            <a:avLst/>
          </a:prstGeom>
          <a:solidFill>
            <a:srgbClr val="9B6BFF"/>
          </a:solidFill>
          <a:ln>
            <a:noFill/>
          </a:ln>
          <a:effectLst>
            <a:glow rad="127000">
              <a:srgbClr val="9B6BFF">
                <a:alpha val="4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30156" y="2253996"/>
            <a:ext cx="658368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214">
                <a:solidFill>
                  <a:srgbClr val="07080C"/>
                </a:solidFill>
                <a:latin typeface="Segoe Fluent Icons"/>
              </a:rPr>
              <a:t>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1248" y="3150108"/>
            <a:ext cx="2996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200" i="0">
                <a:solidFill>
                  <a:srgbClr val="9B6BFF"/>
                </a:solidFill>
                <a:latin typeface="Segoe UI Semibold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2960" y="3451860"/>
            <a:ext cx="3032760" cy="8686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i="0">
                <a:solidFill>
                  <a:srgbClr val="F4F6FA"/>
                </a:solidFill>
                <a:latin typeface="Segoe UI Semibold"/>
              </a:rPr>
              <a:t>Digest 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1248" y="4366260"/>
            <a:ext cx="2996184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40 min average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Device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128 GB memory, 20 CPU cores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300" i="0">
                <a:solidFill>
                  <a:srgbClr val="76B900"/>
                </a:solidFill>
                <a:latin typeface="Segoe UI Black"/>
              </a:rPr>
              <a:t>128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38528"/>
            <a:ext cx="8165592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Memory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76072" y="3118104"/>
            <a:ext cx="2718054" cy="1033272"/>
          </a:xfrm>
          <a:prstGeom prst="roundRect">
            <a:avLst>
              <a:gd name="adj" fmla="val 8849"/>
            </a:avLst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3172968"/>
            <a:ext cx="2553462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Local AI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85032"/>
            <a:ext cx="2553462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"/>
              </a:rPr>
              <a:t>32 GB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8990" y="3118104"/>
            <a:ext cx="5490972" cy="1033272"/>
          </a:xfrm>
          <a:prstGeom prst="roundRect">
            <a:avLst>
              <a:gd name="adj" fmla="val 8849"/>
            </a:avLst>
          </a:prstGeom>
          <a:solidFill>
            <a:srgbClr val="3DA9FC"/>
          </a:solidFill>
          <a:ln>
            <a:noFill/>
          </a:ln>
          <a:effectLst>
            <a:glow rad="762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31286" y="3172968"/>
            <a:ext cx="532638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 Semibold"/>
              </a:rPr>
              <a:t>System &amp; Apps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1286" y="3685032"/>
            <a:ext cx="532638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07080C"/>
                </a:solidFill>
                <a:latin typeface="Segoe UI"/>
              </a:rPr>
              <a:t>64 GB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94826" y="3118104"/>
            <a:ext cx="2718054" cy="1033272"/>
          </a:xfrm>
          <a:prstGeom prst="roundRect">
            <a:avLst>
              <a:gd name="adj" fmla="val 8849"/>
            </a:avLst>
          </a:prstGeom>
          <a:noFill/>
          <a:ln w="12700">
            <a:solidFill>
              <a:srgbClr val="6F789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4554" y="3337560"/>
            <a:ext cx="249859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i="0">
                <a:solidFill>
                  <a:srgbClr val="AEB6C8"/>
                </a:solidFill>
                <a:latin typeface="Segoe UI"/>
              </a:rPr>
              <a:t>Headroom 32.0 GB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0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0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21558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772918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32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94476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545836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64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67394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318754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96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640312" y="4892040"/>
            <a:ext cx="0" cy="137160"/>
          </a:xfrm>
          <a:prstGeom prst="line">
            <a:avLst/>
          </a:prstGeom>
          <a:ln w="12700">
            <a:solidFill>
              <a:srgbClr val="6F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091672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100" i="0">
                <a:solidFill>
                  <a:srgbClr val="6F7890"/>
                </a:solidFill>
                <a:latin typeface="Segoe UI"/>
              </a:rPr>
              <a:t>128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69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874">
                <a:solidFill>
                  <a:srgbClr val="76B900"/>
                </a:solidFill>
                <a:latin typeface="Segoe Fluent Icons"/>
              </a:rPr>
              <a:t>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623560"/>
            <a:ext cx="10543032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AEB6C8"/>
                </a:solidFill>
                <a:latin typeface="Segoe UI"/>
              </a:rPr>
              <a:t>Surface Laptop Ultra with NVIDIA RTX Spark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Offline vs Online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Local AI works disconnected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12700">
            <a:solidFill>
              <a:srgbClr val="2A31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768096" y="2020824"/>
            <a:ext cx="749808" cy="749808"/>
          </a:xfrm>
          <a:prstGeom prst="ellipse">
            <a:avLst/>
          </a:prstGeom>
          <a:solidFill>
            <a:srgbClr val="6F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3069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Online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Relies on internet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6F7890"/>
                </a:solidFill>
                <a:latin typeface="Segoe Fluent Icons"/>
              </a:rPr>
              <a:t>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Slower for drafts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51676" y="1828800"/>
            <a:ext cx="5088636" cy="3429000"/>
          </a:xfrm>
          <a:prstGeom prst="roundRect">
            <a:avLst>
              <a:gd name="adj" fmla="val 3733"/>
            </a:avLst>
          </a:prstGeom>
          <a:solidFill>
            <a:srgbClr val="141824"/>
          </a:solidFill>
          <a:ln w="28575">
            <a:solidFill>
              <a:srgbClr val="76B900"/>
            </a:solidFill>
          </a:ln>
          <a:effectLst>
            <a:glow rad="127000">
              <a:srgbClr val="76B900">
                <a:alpha val="3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6771132" y="2020824"/>
            <a:ext cx="749808" cy="749808"/>
          </a:xfrm>
          <a:prstGeom prst="ellipse">
            <a:avLst/>
          </a:prstGeom>
          <a:solidFill>
            <a:srgbClr val="76B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876105" y="2125797"/>
            <a:ext cx="539862" cy="53986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35">
                <a:solidFill>
                  <a:srgbClr val="07080C"/>
                </a:solidFill>
                <a:latin typeface="Segoe Fluent Icons"/>
              </a:rPr>
              <a:t>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8956" y="2029968"/>
            <a:ext cx="3808476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300" i="0">
                <a:solidFill>
                  <a:srgbClr val="F4F6FA"/>
                </a:solidFill>
                <a:latin typeface="Segoe UI Semibold"/>
              </a:rPr>
              <a:t>Local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63156" y="321259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0356" y="301752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Works offline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3156" y="3913632"/>
            <a:ext cx="310896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517">
                <a:solidFill>
                  <a:srgbClr val="76B900"/>
                </a:solidFill>
                <a:latin typeface="Segoe Fluent Icons"/>
              </a:rPr>
              <a:t>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0356" y="3718560"/>
            <a:ext cx="3991356" cy="701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700" i="0">
                <a:solidFill>
                  <a:srgbClr val="F4F6FA"/>
                </a:solidFill>
                <a:latin typeface="Segoe UI"/>
              </a:rPr>
              <a:t>Faster feedback</a:t>
            </a:r>
          </a:p>
        </p:txBody>
      </p:sp>
      <p:sp>
        <p:nvSpPr>
          <p:cNvPr id="25" name="Oval 24"/>
          <p:cNvSpPr/>
          <p:nvPr/>
        </p:nvSpPr>
        <p:spPr>
          <a:xfrm>
            <a:off x="5728716" y="3177540"/>
            <a:ext cx="731520" cy="731520"/>
          </a:xfrm>
          <a:prstGeom prst="ellipse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728716" y="317754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i="0">
                <a:solidFill>
                  <a:srgbClr val="07080C"/>
                </a:solidFill>
                <a:latin typeface="Segoe UI Semibold"/>
              </a:rPr>
              <a:t>VS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458968"/>
            <a:ext cx="11091672" cy="713232"/>
          </a:xfrm>
          <a:prstGeom prst="roundRect">
            <a:avLst>
              <a:gd name="adj" fmla="val 17948"/>
            </a:avLst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22960" y="561441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964">
                <a:solidFill>
                  <a:srgbClr val="07080C"/>
                </a:solidFill>
                <a:latin typeface="Segoe Fluent Icons"/>
              </a:rPr>
              <a:t>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513832"/>
            <a:ext cx="9994392" cy="60350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Ideal for offsite playtests and conventions.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For embargoed creative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7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822960" y="1828800"/>
            <a:ext cx="0" cy="388620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51560" y="5916168"/>
            <a:ext cx="10588752" cy="0"/>
          </a:xfrm>
          <a:prstGeom prst="line">
            <a:avLst/>
          </a:prstGeom>
          <a:ln w="25400">
            <a:solidFill>
              <a:srgbClr val="6F789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1560" y="5961888"/>
            <a:ext cx="105887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300" i="0">
                <a:solidFill>
                  <a:srgbClr val="AEB6C8"/>
                </a:solidFill>
                <a:latin typeface="Segoe UI"/>
              </a:rPr>
              <a:t>Network Access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81051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i="0">
                <a:solidFill>
                  <a:srgbClr val="AEB6C8"/>
                </a:solidFill>
                <a:latin typeface="Segoe UI"/>
              </a:rPr>
              <a:t>Security Needs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76B900"/>
                </a:solidFill>
                <a:latin typeface="Segoe Fluent Icons"/>
              </a:rPr>
              <a:t>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20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Public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Use Copilot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4516" y="214884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76B900"/>
          </a:solidFill>
          <a:ln>
            <a:noFill/>
          </a:ln>
          <a:effectLst>
            <a:glow rad="1524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643116" y="237744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07080C"/>
                </a:solidFill>
                <a:latin typeface="Segoe Fluent Icons"/>
              </a:rPr>
              <a:t>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7476" y="233172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07080C"/>
                </a:solidFill>
                <a:latin typeface="Segoe UI Semibold"/>
              </a:rPr>
              <a:t>Secure 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3116" y="297180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07080C"/>
                </a:solidFill>
                <a:latin typeface="Segoe UI"/>
              </a:rPr>
              <a:t>Local AI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80160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9B6BFF"/>
                </a:solidFill>
                <a:latin typeface="Segoe Fluent Icons"/>
              </a:rPr>
              <a:t>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20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Unsecure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Copilot or Local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14516" y="4023360"/>
            <a:ext cx="5225796" cy="1737360"/>
          </a:xfrm>
          <a:prstGeom prst="roundRect">
            <a:avLst>
              <a:gd name="adj" fmla="val 7368"/>
            </a:avLst>
          </a:prstGeom>
          <a:solidFill>
            <a:srgbClr val="141824"/>
          </a:solidFill>
          <a:ln w="12700">
            <a:solidFill>
              <a:srgbClr val="2830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643116" y="42519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232">
                <a:solidFill>
                  <a:srgbClr val="FFB547"/>
                </a:solidFill>
                <a:latin typeface="Segoe Fluent Icons"/>
              </a:rPr>
              <a:t>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7476" y="4206240"/>
            <a:ext cx="4219956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i="0">
                <a:solidFill>
                  <a:srgbClr val="F4F6FA"/>
                </a:solidFill>
                <a:latin typeface="Segoe UI Semibold"/>
              </a:rPr>
              <a:t>Secure &amp; Offline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3116" y="4846320"/>
            <a:ext cx="4768596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AEB6C8"/>
                </a:solidFill>
                <a:latin typeface="Segoe UI"/>
              </a:rPr>
              <a:t>Local AI only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Time Savings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2,475 hours/year (estimate)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8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828800"/>
          <a:ext cx="709867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921630" y="2011680"/>
            <a:ext cx="3718682" cy="3977640"/>
          </a:xfrm>
          <a:prstGeom prst="roundRect">
            <a:avLst>
              <a:gd name="adj" fmla="val 3442"/>
            </a:avLst>
          </a:prstGeom>
          <a:solidFill>
            <a:srgbClr val="141824"/>
          </a:solidFill>
          <a:ln w="12700">
            <a:solidFill>
              <a:srgbClr val="456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8173090" y="2308860"/>
            <a:ext cx="777240" cy="77724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127000">
              <a:srgbClr val="76B900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81904" y="2417674"/>
            <a:ext cx="559613" cy="55961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731">
                <a:solidFill>
                  <a:srgbClr val="07080C"/>
                </a:solidFill>
                <a:latin typeface="Segoe Fluent Icons"/>
              </a:rPr>
              <a:t>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1670" y="3246120"/>
            <a:ext cx="307860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400" i="0">
                <a:solidFill>
                  <a:srgbClr val="76B900"/>
                </a:solidFill>
                <a:latin typeface="Segoe UI Black"/>
              </a:rPr>
              <a:t>2,475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1670" y="4206240"/>
            <a:ext cx="3078602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i="0">
                <a:solidFill>
                  <a:srgbClr val="AEB6C8"/>
                </a:solidFill>
                <a:latin typeface="Segoe UI"/>
              </a:rPr>
              <a:t>hours  |  45 designers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1670" y="4663440"/>
            <a:ext cx="3078602" cy="1188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i="0">
                <a:solidFill>
                  <a:srgbClr val="F4F6FA"/>
                </a:solidFill>
                <a:latin typeface="Segoe UI"/>
              </a:rPr>
              <a:t>If 15 min saved per digest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Pilot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6 users, 2 weeks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828800"/>
            <a:ext cx="3697224" cy="1447800"/>
          </a:xfrm>
          <a:prstGeom prst="roundRect">
            <a:avLst>
              <a:gd name="adj" fmla="val 8842"/>
            </a:avLst>
          </a:prstGeom>
          <a:solidFill>
            <a:srgbClr val="76B900"/>
          </a:solidFill>
          <a:ln>
            <a:noFill/>
          </a:ln>
          <a:effectLst>
            <a:glow rad="101600">
              <a:srgbClr val="76B900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408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Users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0170" y="1828800"/>
            <a:ext cx="3697224" cy="1447800"/>
          </a:xfrm>
          <a:prstGeom prst="roundRect">
            <a:avLst>
              <a:gd name="adj" fmla="val 8842"/>
            </a:avLst>
          </a:prstGeom>
          <a:solidFill>
            <a:srgbClr val="3DA9FC"/>
          </a:solidFill>
          <a:ln>
            <a:noFill/>
          </a:ln>
          <a:effectLst>
            <a:glow rad="101600">
              <a:srgbClr val="3DA9FC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32561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7410" y="1938528"/>
            <a:ext cx="2828544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Duration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91700" y="1828800"/>
            <a:ext cx="1848612" cy="1447800"/>
          </a:xfrm>
          <a:prstGeom prst="roundRect">
            <a:avLst>
              <a:gd name="adj" fmla="val 8842"/>
            </a:avLst>
          </a:prstGeom>
          <a:solidFill>
            <a:srgbClr val="9B6BFF"/>
          </a:solidFill>
          <a:ln>
            <a:noFill/>
          </a:ln>
          <a:effectLst>
            <a:glow rad="101600">
              <a:srgbClr val="9B6BFF">
                <a:alpha val="35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947148" y="2301240"/>
            <a:ext cx="50292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55">
                <a:solidFill>
                  <a:srgbClr val="07080C"/>
                </a:solidFill>
                <a:latin typeface="Segoe Fluent Icons"/>
              </a:rPr>
              <a:t>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68940" y="1938528"/>
            <a:ext cx="979932" cy="122834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i="0">
                <a:solidFill>
                  <a:srgbClr val="07080C"/>
                </a:solidFill>
                <a:latin typeface="Segoe UI Semibold"/>
              </a:rPr>
              <a:t>Goal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7080C"/>
            </a:gs>
            <a:gs pos="100000">
              <a:srgbClr val="121521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961120" y="-2743200"/>
            <a:ext cx="6400800" cy="6400800"/>
          </a:xfrm>
          <a:prstGeom prst="ellipse">
            <a:avLst/>
          </a:prstGeom>
          <a:solidFill>
            <a:srgbClr val="76B900">
              <a:alpha val="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10241280" y="-1371600"/>
            <a:ext cx="4114800" cy="4114800"/>
          </a:xfrm>
          <a:prstGeom prst="ellipse">
            <a:avLst/>
          </a:prstGeom>
          <a:solidFill>
            <a:srgbClr val="3DA9FC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548640" y="292608"/>
            <a:ext cx="685800" cy="54864"/>
          </a:xfrm>
          <a:prstGeom prst="rect">
            <a:avLst/>
          </a:prstGeom>
          <a:solidFill>
            <a:srgbClr val="76B900"/>
          </a:solidFill>
          <a:ln>
            <a:noFill/>
          </a:ln>
          <a:effectLst>
            <a:glow rad="76200">
              <a:srgbClr val="76B900">
                <a:alpha val="6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200" i="0">
                <a:solidFill>
                  <a:srgbClr val="F4F6FA"/>
                </a:solidFill>
                <a:latin typeface="Segoe UI Semibold"/>
              </a:rPr>
              <a:t>Pilot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i="0">
                <a:solidFill>
                  <a:srgbClr val="AEB6C8"/>
                </a:solidFill>
                <a:latin typeface="Segoe UI"/>
              </a:rPr>
              <a:t>Approve 2-week pilot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i="0">
                <a:solidFill>
                  <a:srgbClr val="6F7890"/>
                </a:solidFill>
                <a:latin typeface="Segoe UI"/>
              </a:rPr>
              <a:t>Surface Laptop Ultra  |  NVIDIA RTX Spark  |  Tailspin Toys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19088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000" i="0">
                <a:solidFill>
                  <a:srgbClr val="6F7890"/>
                </a:solidFill>
                <a:latin typeface="Segoe UI"/>
              </a:rPr>
              <a:t>10</a:t>
            </a:r>
          </a:p>
        </p:txBody>
      </p:sp>
      <p:sp>
        <p:nvSpPr>
          <p:cNvPr id="9" name="Oval 8"/>
          <p:cNvSpPr/>
          <p:nvPr/>
        </p:nvSpPr>
        <p:spPr>
          <a:xfrm>
            <a:off x="5500116" y="1920240"/>
            <a:ext cx="1188720" cy="1188720"/>
          </a:xfrm>
          <a:prstGeom prst="ellipse">
            <a:avLst/>
          </a:prstGeom>
          <a:solidFill>
            <a:srgbClr val="76B900"/>
          </a:solidFill>
          <a:ln>
            <a:noFill/>
          </a:ln>
          <a:effectLst>
            <a:glow rad="228600">
              <a:srgbClr val="76B900">
                <a:alpha val="5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666537" y="2086661"/>
            <a:ext cx="855878" cy="85587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178">
                <a:solidFill>
                  <a:srgbClr val="07080C"/>
                </a:solidFill>
                <a:latin typeface="Segoe Fluent Icons"/>
              </a:rPr>
              <a:t>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37560"/>
            <a:ext cx="9628632" cy="1645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4000" i="0">
                <a:solidFill>
                  <a:srgbClr val="F4F6FA"/>
                </a:solidFill>
                <a:latin typeface="Segoe UI Semibold"/>
              </a:rPr>
              <a:t>Support a 6-user, 2-week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5074920"/>
            <a:ext cx="8348472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800" i="0">
                <a:solidFill>
                  <a:srgbClr val="AEB6C8"/>
                </a:solidFill>
                <a:latin typeface="Segoe UI"/>
              </a:rPr>
              <a:t>On Surface Laptop Ultra with local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AI for Narrative Teams</dc:title>
  <dc:subject/>
  <dc:creator>Offline PPTX Forge</dc:creator>
  <cp:keywords/>
  <dc:description>Generated offline; template=surface_ultra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