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4B5162"/>
            </a:solidFill>
          </c:spPr>
          <c:dPt>
            <c:idx val="1"/>
            <c:spPr>
              <a:solidFill>
                <a:srgbClr val="76B900"/>
              </a:solidFill>
            </c:spPr>
          </c:dPt>
          <c:cat>
            <c:strRef>
              <c:f>Sheet1!$A$2:$A$9</c:f>
              <c:strCache>
                <c:ptCount val="8"/>
                <c:pt idx="0">
                  <c:v>Local v1.0</c:v>
                </c:pt>
                <c:pt idx="1">
                  <c:v>Local v1.1</c:v>
                </c:pt>
                <c:pt idx="2">
                  <c:v>Opus low</c:v>
                </c:pt>
                <c:pt idx="3">
                  <c:v>Opus high</c:v>
                </c:pt>
                <c:pt idx="4">
                  <c:v>Opus max</c:v>
                </c:pt>
                <c:pt idx="5">
                  <c:v>Astra low</c:v>
                </c:pt>
                <c:pt idx="6">
                  <c:v>Astra high</c:v>
                </c:pt>
                <c:pt idx="7">
                  <c:v>Astra max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62.8</c:v>
                </c:pt>
                <c:pt idx="1">
                  <c:v>85.6</c:v>
                </c:pt>
                <c:pt idx="2">
                  <c:v>78.7</c:v>
                </c:pt>
                <c:pt idx="3">
                  <c:v>81.8</c:v>
                </c:pt>
                <c:pt idx="4">
                  <c:v>80.3</c:v>
                </c:pt>
                <c:pt idx="5">
                  <c:v>82.1</c:v>
                </c:pt>
                <c:pt idx="6">
                  <c:v>82.2</c:v>
                </c:pt>
                <c:pt idx="7">
                  <c:v>83.0</c:v>
                </c:pt>
              </c:numCache>
            </c:numRef>
          </c:val>
        </c:ser>
        <c:dLbls>
          <c:numFmt formatCode="#,##0.0&quot; pts&quot;" sourceLinked="0"/>
          <c:txPr>
            <a:bodyPr/>
            <a:lstStyle/>
            <a:p>
              <a:pPr>
                <a:defRPr sz="1500" b="1">
                  <a:solidFill>
                    <a:srgbClr val="F4F6F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500">
                <a:solidFill>
                  <a:srgbClr val="F4F6FA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1.28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500">
          <a:solidFill>
            <a:srgbClr val="F4F6FA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4B5162"/>
            </a:solidFill>
          </c:spPr>
          <c:dPt>
            <c:idx val="1"/>
            <c:spPr>
              <a:solidFill>
                <a:srgbClr val="76B900"/>
              </a:solidFill>
            </c:spPr>
          </c:dPt>
          <c:cat>
            <c:strRef>
              <c:f>Sheet1!$A$2:$A$9</c:f>
              <c:strCache>
                <c:ptCount val="8"/>
                <c:pt idx="0">
                  <c:v>Local v1.0</c:v>
                </c:pt>
                <c:pt idx="1">
                  <c:v>Local v1.1</c:v>
                </c:pt>
                <c:pt idx="2">
                  <c:v>Opus low</c:v>
                </c:pt>
                <c:pt idx="3">
                  <c:v>Opus high</c:v>
                </c:pt>
                <c:pt idx="4">
                  <c:v>Opus max</c:v>
                </c:pt>
                <c:pt idx="5">
                  <c:v>Astra low</c:v>
                </c:pt>
                <c:pt idx="6">
                  <c:v>Astra high</c:v>
                </c:pt>
                <c:pt idx="7">
                  <c:v>Astra max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19.5</c:v>
                </c:pt>
                <c:pt idx="1">
                  <c:v>39.0</c:v>
                </c:pt>
                <c:pt idx="2">
                  <c:v>36.0</c:v>
                </c:pt>
                <c:pt idx="3">
                  <c:v>40.0</c:v>
                </c:pt>
                <c:pt idx="4">
                  <c:v>40.5</c:v>
                </c:pt>
                <c:pt idx="5">
                  <c:v>39.5</c:v>
                </c:pt>
                <c:pt idx="6">
                  <c:v>39.0</c:v>
                </c:pt>
                <c:pt idx="7">
                  <c:v>40.5</c:v>
                </c:pt>
              </c:numCache>
            </c:numRef>
          </c:val>
        </c:ser>
        <c:dLbls>
          <c:numFmt formatCode="#,##0.0&quot; /50&quot;" sourceLinked="0"/>
          <c:txPr>
            <a:bodyPr/>
            <a:lstStyle/>
            <a:p>
              <a:pPr>
                <a:defRPr sz="1500" b="1">
                  <a:solidFill>
                    <a:srgbClr val="F4F6F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500">
                <a:solidFill>
                  <a:srgbClr val="F4F6FA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2.65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500">
          <a:solidFill>
            <a:srgbClr val="F4F6FA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4B5162"/>
            </a:solidFill>
          </c:spPr>
          <c:dPt>
            <c:idx val="1"/>
            <c:spPr>
              <a:solidFill>
                <a:srgbClr val="76B900"/>
              </a:solidFill>
            </c:spPr>
          </c:dPt>
          <c:cat>
            <c:strRef>
              <c:f>Sheet1!$A$2:$A$9</c:f>
              <c:strCache>
                <c:ptCount val="8"/>
                <c:pt idx="0">
                  <c:v>Local v1.0</c:v>
                </c:pt>
                <c:pt idx="1">
                  <c:v>Local v1.1</c:v>
                </c:pt>
                <c:pt idx="2">
                  <c:v>Opus low</c:v>
                </c:pt>
                <c:pt idx="3">
                  <c:v>Opus high</c:v>
                </c:pt>
                <c:pt idx="4">
                  <c:v>Opus max</c:v>
                </c:pt>
                <c:pt idx="5">
                  <c:v>Astra low</c:v>
                </c:pt>
                <c:pt idx="6">
                  <c:v>Astra high</c:v>
                </c:pt>
                <c:pt idx="7">
                  <c:v>Astra max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64.0</c:v>
                </c:pt>
                <c:pt idx="1">
                  <c:v>241.0</c:v>
                </c:pt>
                <c:pt idx="2">
                  <c:v>28.0</c:v>
                </c:pt>
                <c:pt idx="3">
                  <c:v>88.0</c:v>
                </c:pt>
                <c:pt idx="4">
                  <c:v>606.0</c:v>
                </c:pt>
                <c:pt idx="5">
                  <c:v>57.0</c:v>
                </c:pt>
                <c:pt idx="6">
                  <c:v>137.0</c:v>
                </c:pt>
                <c:pt idx="7">
                  <c:v>268.0</c:v>
                </c:pt>
              </c:numCache>
            </c:numRef>
          </c:val>
        </c:ser>
        <c:dLbls>
          <c:numFmt formatCode="#,##0&quot; s&quot;" sourceLinked="0"/>
          <c:txPr>
            <a:bodyPr/>
            <a:lstStyle/>
            <a:p>
              <a:pPr>
                <a:defRPr sz="1500" b="1">
                  <a:solidFill>
                    <a:srgbClr val="F4F6F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500">
                <a:solidFill>
                  <a:srgbClr val="F4F6FA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87.8000000000001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500">
          <a:solidFill>
            <a:srgbClr val="F4F6FA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4B5162"/>
            </a:solidFill>
          </c:spPr>
          <c:dPt>
            <c:idx val="1"/>
            <c:spPr>
              <a:solidFill>
                <a:srgbClr val="76B900"/>
              </a:solidFill>
            </c:spPr>
          </c:dPt>
          <c:cat>
            <c:strRef>
              <c:f>Sheet1!$A$2:$A$9</c:f>
              <c:strCache>
                <c:ptCount val="8"/>
                <c:pt idx="0">
                  <c:v>Local v1.0</c:v>
                </c:pt>
                <c:pt idx="1">
                  <c:v>Local v1.1</c:v>
                </c:pt>
                <c:pt idx="2">
                  <c:v>Opus low</c:v>
                </c:pt>
                <c:pt idx="3">
                  <c:v>Opus high</c:v>
                </c:pt>
                <c:pt idx="4">
                  <c:v>Opus max</c:v>
                </c:pt>
                <c:pt idx="5">
                  <c:v>Astra low</c:v>
                </c:pt>
                <c:pt idx="6">
                  <c:v>Astra high</c:v>
                </c:pt>
                <c:pt idx="7">
                  <c:v>Astra max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0.1</c:v>
                </c:pt>
                <c:pt idx="1">
                  <c:v>0.41</c:v>
                </c:pt>
                <c:pt idx="2">
                  <c:v>74.38</c:v>
                </c:pt>
                <c:pt idx="3">
                  <c:v>203.59</c:v>
                </c:pt>
                <c:pt idx="4">
                  <c:v>1430.28</c:v>
                </c:pt>
                <c:pt idx="5">
                  <c:v>187.12</c:v>
                </c:pt>
                <c:pt idx="6">
                  <c:v>392.34</c:v>
                </c:pt>
                <c:pt idx="7">
                  <c:v>708.32</c:v>
                </c:pt>
              </c:numCache>
            </c:numRef>
          </c:val>
        </c:ser>
        <c:dLbls>
          <c:numFmt formatCode="#,##0.00&quot; USD&quot;" sourceLinked="0"/>
          <c:txPr>
            <a:bodyPr/>
            <a:lstStyle/>
            <a:p>
              <a:pPr>
                <a:defRPr sz="1500" b="1">
                  <a:solidFill>
                    <a:srgbClr val="F4F6F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500">
                <a:solidFill>
                  <a:srgbClr val="F4F6FA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859.364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500">
          <a:solidFill>
            <a:srgbClr val="F4F6FA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v1.0 overall 62.8, v1.1 85.6. Best cloud Astra max 83.0. Gap moved from -20.2 to +2.6.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Overall blends the automated rubric with a blind visual judge. v1.1 lint targets some rubric checks, so read the next slide (judge only) as the fairer quality signal.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round-1 decks were re-scored blind under new IDs in round 2 and matched exactly.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Cloud median 108 s. Local ran on a shared server slot under contention.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Local v1.1 saves 99.9% vs the cloud median per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Values per deck x 1,000. Local GPU power includes other tenants, so local energy is overstated.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Lint issues fell from 30 to 24 across both decks before grading.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fine-tuning: the gains came from program and prompt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Grades come from formulas versus the cloud median; see BENCHMARK.md.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step is measurable with this benchmark harness.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80C"/>
            </a:gs>
            <a:gs pos="100000">
              <a:srgbClr val="121521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217920" y="-2743200"/>
            <a:ext cx="6400800" cy="6400800"/>
          </a:xfrm>
          <a:prstGeom prst="ellipse">
            <a:avLst/>
          </a:prstGeom>
          <a:solidFill>
            <a:srgbClr val="76B9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229600" y="-1371600"/>
            <a:ext cx="4114800" cy="4114800"/>
          </a:xfrm>
          <a:prstGeom prst="ellipse">
            <a:avLst/>
          </a:prstGeom>
          <a:solidFill>
            <a:srgbClr val="3DA9F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7315200" y="1234440"/>
            <a:ext cx="4297680" cy="4297680"/>
          </a:xfrm>
          <a:prstGeom prst="ellipse">
            <a:avLst/>
          </a:prstGeom>
          <a:noFill/>
          <a:ln w="15875">
            <a:solidFill>
              <a:srgbClr val="76B900"/>
            </a:solidFill>
          </a:ln>
          <a:effectLst>
            <a:glow rad="101600">
              <a:srgbClr val="76B900">
                <a:alpha val="3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7772400" y="1691640"/>
            <a:ext cx="3383280" cy="3383280"/>
          </a:xfrm>
          <a:prstGeom prst="ellipse">
            <a:avLst/>
          </a:prstGeom>
          <a:noFill/>
          <a:ln w="22225">
            <a:solidFill>
              <a:srgbClr val="3DA9FC"/>
            </a:solidFill>
          </a:ln>
          <a:effectLst>
            <a:glow rad="101600">
              <a:srgbClr val="3DA9FC">
                <a:alpha val="3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8229600" y="2148840"/>
            <a:ext cx="2468880" cy="2468880"/>
          </a:xfrm>
          <a:prstGeom prst="ellipse">
            <a:avLst/>
          </a:prstGeom>
          <a:noFill/>
          <a:ln w="28575">
            <a:solidFill>
              <a:srgbClr val="9B6BFF"/>
            </a:solidFill>
          </a:ln>
          <a:effectLst>
            <a:glow rad="101600">
              <a:srgbClr val="9B6BFF">
                <a:alpha val="3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8595360" y="2514600"/>
            <a:ext cx="1737360" cy="1737360"/>
          </a:xfrm>
          <a:prstGeom prst="ellipse">
            <a:avLst/>
          </a:prstGeom>
          <a:solidFill>
            <a:srgbClr val="141824"/>
          </a:solidFill>
          <a:ln>
            <a:noFill/>
          </a:ln>
          <a:effectLst>
            <a:glow rad="304800">
              <a:srgbClr val="76B900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42248" y="2743200"/>
            <a:ext cx="1243584" cy="1243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71">
                <a:solidFill>
                  <a:srgbClr val="76B900"/>
                </a:solidFill>
                <a:latin typeface="Segoe Fluent Icons"/>
              </a:rPr>
              <a:t></a:t>
            </a:r>
          </a:p>
        </p:txBody>
      </p:sp>
      <p:sp>
        <p:nvSpPr>
          <p:cNvPr id="9" name="Oval 8"/>
          <p:cNvSpPr/>
          <p:nvPr/>
        </p:nvSpPr>
        <p:spPr>
          <a:xfrm>
            <a:off x="6967728" y="3035808"/>
            <a:ext cx="694944" cy="694944"/>
          </a:xfrm>
          <a:prstGeom prst="ellipse">
            <a:avLst/>
          </a:prstGeom>
          <a:solidFill>
            <a:srgbClr val="141824"/>
          </a:solidFill>
          <a:ln w="190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104888" y="3172968"/>
            <a:ext cx="420624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53">
                <a:solidFill>
                  <a:srgbClr val="76B900"/>
                </a:solidFill>
                <a:latin typeface="Segoe Fluent Icons"/>
              </a:rPr>
              <a:t></a:t>
            </a:r>
          </a:p>
        </p:txBody>
      </p:sp>
      <p:sp>
        <p:nvSpPr>
          <p:cNvPr id="11" name="Oval 10"/>
          <p:cNvSpPr/>
          <p:nvPr/>
        </p:nvSpPr>
        <p:spPr>
          <a:xfrm>
            <a:off x="11265408" y="3035808"/>
            <a:ext cx="694944" cy="694944"/>
          </a:xfrm>
          <a:prstGeom prst="ellipse">
            <a:avLst/>
          </a:prstGeom>
          <a:solidFill>
            <a:srgbClr val="141824"/>
          </a:solidFill>
          <a:ln w="19050">
            <a:solidFill>
              <a:srgbClr val="3DA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1402568" y="3172968"/>
            <a:ext cx="420624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53">
                <a:solidFill>
                  <a:srgbClr val="3DA9FC"/>
                </a:solidFill>
                <a:latin typeface="Segoe Fluent Icons"/>
              </a:rPr>
              <a:t></a:t>
            </a:r>
          </a:p>
        </p:txBody>
      </p:sp>
      <p:sp>
        <p:nvSpPr>
          <p:cNvPr id="13" name="Oval 12"/>
          <p:cNvSpPr/>
          <p:nvPr/>
        </p:nvSpPr>
        <p:spPr>
          <a:xfrm>
            <a:off x="9116568" y="886968"/>
            <a:ext cx="694944" cy="694944"/>
          </a:xfrm>
          <a:prstGeom prst="ellipse">
            <a:avLst/>
          </a:prstGeom>
          <a:solidFill>
            <a:srgbClr val="141824"/>
          </a:solidFill>
          <a:ln w="19050">
            <a:solidFill>
              <a:srgbClr val="9B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253728" y="1024128"/>
            <a:ext cx="420624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53">
                <a:solidFill>
                  <a:srgbClr val="9B6BFF"/>
                </a:solidFill>
                <a:latin typeface="Segoe Fluent Icons"/>
              </a:rPr>
              <a:t></a:t>
            </a:r>
          </a:p>
        </p:txBody>
      </p:sp>
      <p:sp>
        <p:nvSpPr>
          <p:cNvPr id="15" name="Oval 14"/>
          <p:cNvSpPr/>
          <p:nvPr/>
        </p:nvSpPr>
        <p:spPr>
          <a:xfrm>
            <a:off x="9116568" y="5184648"/>
            <a:ext cx="694944" cy="694944"/>
          </a:xfrm>
          <a:prstGeom prst="ellipse">
            <a:avLst/>
          </a:prstGeom>
          <a:solidFill>
            <a:srgbClr val="141824"/>
          </a:solidFill>
          <a:ln w="19050">
            <a:solidFill>
              <a:srgbClr val="FFB5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253728" y="5321808"/>
            <a:ext cx="420624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53">
                <a:solidFill>
                  <a:srgbClr val="FFB547"/>
                </a:solidFill>
                <a:latin typeface="Segoe Fluent Icons"/>
              </a:rPr>
              <a:t>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1691640"/>
            <a:ext cx="676656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76B900"/>
                </a:solidFill>
                <a:latin typeface="Segoe UI Semibold"/>
              </a:rPr>
              <a:t>OFFLINE PPTX FORGE BENCHMARK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148840"/>
            <a:ext cx="6400800" cy="2194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5000" i="0">
                <a:solidFill>
                  <a:srgbClr val="F4F6FA"/>
                </a:solidFill>
                <a:latin typeface="Segoe UI Semibold"/>
              </a:rPr>
              <a:t>Laptop Ultra vs Frontier Cloud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434840"/>
            <a:ext cx="658368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i="0">
                <a:solidFill>
                  <a:srgbClr val="AEB6C8"/>
                </a:solidFill>
                <a:latin typeface="Segoe UI"/>
              </a:rPr>
              <a:t>2 briefs, 16 decks, 1 round of frontier distillation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03504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i="0">
                <a:solidFill>
                  <a:srgbClr val="6F7890"/>
                </a:solidFill>
                <a:latin typeface="Segoe UI"/>
              </a:rPr>
              <a:t>Surface Laptop Ultra  |  NVIDIA RTX Spark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80C"/>
            </a:gs>
            <a:gs pos="100000">
              <a:srgbClr val="121521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2743200"/>
            <a:ext cx="6400800" cy="6400800"/>
          </a:xfrm>
          <a:prstGeom prst="ellipse">
            <a:avLst/>
          </a:prstGeom>
          <a:solidFill>
            <a:srgbClr val="76B9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241280" y="-1371600"/>
            <a:ext cx="4114800" cy="4114800"/>
          </a:xfrm>
          <a:prstGeom prst="ellipse">
            <a:avLst/>
          </a:prstGeom>
          <a:solidFill>
            <a:srgbClr val="3DA9F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685800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glow rad="76200">
              <a:srgbClr val="76B90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F4F6FA"/>
                </a:solidFill>
                <a:latin typeface="Segoe UI Semibold"/>
              </a:rPr>
              <a:t>One Round Lifted Quality +23 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Local deck grade went D to B with weights unchanged.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Surface Laptop Ultra  |  NVIDIA RTX Spark  | 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6F7890"/>
                </a:solidFill>
                <a:latin typeface="Segoe UI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217420"/>
            <a:ext cx="2532888" cy="3566160"/>
          </a:xfrm>
          <a:prstGeom prst="roundRect">
            <a:avLst>
              <a:gd name="adj" fmla="val 5054"/>
            </a:avLst>
          </a:prstGeom>
          <a:solidFill>
            <a:srgbClr val="141824"/>
          </a:solidFill>
          <a:ln w="12700">
            <a:solidFill>
              <a:srgbClr val="4568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48640" y="2217420"/>
            <a:ext cx="2532888" cy="8229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832104" y="2546604"/>
            <a:ext cx="713232" cy="713232"/>
          </a:xfrm>
          <a:prstGeom prst="ellipse">
            <a:avLst/>
          </a:prstGeom>
          <a:solidFill>
            <a:srgbClr val="76B900"/>
          </a:solidFill>
          <a:ln>
            <a:noFill/>
          </a:ln>
          <a:effectLst>
            <a:glow rad="101600">
              <a:srgbClr val="76B900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1956" y="2646456"/>
            <a:ext cx="513527" cy="5135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6">
                <a:solidFill>
                  <a:srgbClr val="07080C"/>
                </a:solidFill>
                <a:latin typeface="Segoe Fluent Icons"/>
              </a:rPr>
              <a:t>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06140"/>
            <a:ext cx="1984248" cy="12344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800" i="0">
                <a:solidFill>
                  <a:srgbClr val="76B900"/>
                </a:solidFill>
                <a:latin typeface="Segoe UI Black"/>
              </a:rPr>
              <a:t>63 to 86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640580"/>
            <a:ext cx="1984248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F4F6FA"/>
                </a:solidFill>
                <a:latin typeface="Segoe UI"/>
              </a:rPr>
              <a:t>Overall 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372100"/>
            <a:ext cx="1984248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rubric + blind judge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01568" y="2217420"/>
            <a:ext cx="2532888" cy="3566160"/>
          </a:xfrm>
          <a:prstGeom prst="roundRect">
            <a:avLst>
              <a:gd name="adj" fmla="val 5054"/>
            </a:avLst>
          </a:prstGeom>
          <a:solidFill>
            <a:srgbClr val="141824"/>
          </a:solidFill>
          <a:ln w="12700">
            <a:solidFill>
              <a:srgbClr val="286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3401568" y="2217420"/>
            <a:ext cx="2532888" cy="82296"/>
          </a:xfrm>
          <a:prstGeom prst="rect">
            <a:avLst/>
          </a:prstGeom>
          <a:solidFill>
            <a:srgbClr val="3DA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3685032" y="2546604"/>
            <a:ext cx="713232" cy="713232"/>
          </a:xfrm>
          <a:prstGeom prst="ellipse">
            <a:avLst/>
          </a:prstGeom>
          <a:solidFill>
            <a:srgbClr val="3DA9FC"/>
          </a:solidFill>
          <a:ln>
            <a:noFill/>
          </a:ln>
          <a:effectLst>
            <a:glow rad="101600">
              <a:srgbClr val="3DA9FC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3784884" y="2646456"/>
            <a:ext cx="513527" cy="5135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6">
                <a:solidFill>
                  <a:srgbClr val="07080C"/>
                </a:solidFill>
                <a:latin typeface="Segoe Fluent Icons"/>
              </a:rPr>
              <a:t>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75888" y="3406140"/>
            <a:ext cx="1984248" cy="12344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6000" i="0">
                <a:solidFill>
                  <a:srgbClr val="3DA9FC"/>
                </a:solidFill>
                <a:latin typeface="Segoe UI Black"/>
              </a:rPr>
              <a:t>+2.6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75888" y="4640580"/>
            <a:ext cx="1984248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F4F6FA"/>
                </a:solidFill>
                <a:latin typeface="Segoe UI"/>
              </a:rPr>
              <a:t>Gap to Astra max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75888" y="5372100"/>
            <a:ext cx="1984248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mean of 2 briefs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54496" y="2217420"/>
            <a:ext cx="2532888" cy="3566160"/>
          </a:xfrm>
          <a:prstGeom prst="roundRect">
            <a:avLst>
              <a:gd name="adj" fmla="val 5054"/>
            </a:avLst>
          </a:prstGeom>
          <a:solidFill>
            <a:srgbClr val="141824"/>
          </a:solidFill>
          <a:ln w="12700">
            <a:solidFill>
              <a:srgbClr val="5842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254496" y="2217420"/>
            <a:ext cx="2532888" cy="82296"/>
          </a:xfrm>
          <a:prstGeom prst="rect">
            <a:avLst/>
          </a:prstGeom>
          <a:solidFill>
            <a:srgbClr val="9B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6537960" y="2546604"/>
            <a:ext cx="713232" cy="713232"/>
          </a:xfrm>
          <a:prstGeom prst="ellipse">
            <a:avLst/>
          </a:prstGeom>
          <a:solidFill>
            <a:srgbClr val="9B6BFF"/>
          </a:solidFill>
          <a:ln>
            <a:noFill/>
          </a:ln>
          <a:effectLst>
            <a:glow rad="101600">
              <a:srgbClr val="9B6BFF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637812" y="2646456"/>
            <a:ext cx="513527" cy="5135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6">
                <a:solidFill>
                  <a:srgbClr val="07080C"/>
                </a:solidFill>
                <a:latin typeface="Segoe Fluent Icons"/>
              </a:rPr>
              <a:t>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8816" y="3406140"/>
            <a:ext cx="1984248" cy="12344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900" i="0">
                <a:solidFill>
                  <a:srgbClr val="9B6BFF"/>
                </a:solidFill>
                <a:latin typeface="Segoe UI Black"/>
              </a:rPr>
              <a:t>$0.0004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8816" y="4640580"/>
            <a:ext cx="1984248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F4F6FA"/>
                </a:solidFill>
                <a:latin typeface="Segoe UI"/>
              </a:rPr>
              <a:t>Cost per deck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8816" y="5372100"/>
            <a:ext cx="1984248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measured Wh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07424" y="2217420"/>
            <a:ext cx="2532888" cy="3566160"/>
          </a:xfrm>
          <a:prstGeom prst="roundRect">
            <a:avLst>
              <a:gd name="adj" fmla="val 5054"/>
            </a:avLst>
          </a:prstGeom>
          <a:solidFill>
            <a:srgbClr val="141824"/>
          </a:solidFill>
          <a:ln w="12700">
            <a:solidFill>
              <a:srgbClr val="8A66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9107424" y="2217420"/>
            <a:ext cx="2532888" cy="82296"/>
          </a:xfrm>
          <a:prstGeom prst="rect">
            <a:avLst/>
          </a:prstGeom>
          <a:solidFill>
            <a:srgbClr val="FFB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9390888" y="2546604"/>
            <a:ext cx="713232" cy="713232"/>
          </a:xfrm>
          <a:prstGeom prst="ellipse">
            <a:avLst/>
          </a:prstGeom>
          <a:solidFill>
            <a:srgbClr val="FFB547"/>
          </a:solidFill>
          <a:ln>
            <a:noFill/>
          </a:ln>
          <a:effectLst>
            <a:glow rad="101600">
              <a:srgbClr val="FFB547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9490740" y="2646456"/>
            <a:ext cx="513527" cy="5135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6">
                <a:solidFill>
                  <a:srgbClr val="07080C"/>
                </a:solidFill>
                <a:latin typeface="Segoe Fluent Icons"/>
              </a:rPr>
              <a:t>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81744" y="3406140"/>
            <a:ext cx="1984248" cy="12344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6000" i="0">
                <a:solidFill>
                  <a:srgbClr val="FFB547"/>
                </a:solidFill>
                <a:latin typeface="Segoe UI Black"/>
              </a:rPr>
              <a:t>0 mL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81744" y="4640580"/>
            <a:ext cx="1984248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F4F6FA"/>
                </a:solidFill>
                <a:latin typeface="Segoe UI"/>
              </a:rPr>
              <a:t>Water per deck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81744" y="5372100"/>
            <a:ext cx="1984248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no data center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80C"/>
            </a:gs>
            <a:gs pos="100000">
              <a:srgbClr val="121521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2743200"/>
            <a:ext cx="6400800" cy="6400800"/>
          </a:xfrm>
          <a:prstGeom prst="ellipse">
            <a:avLst/>
          </a:prstGeom>
          <a:solidFill>
            <a:srgbClr val="76B9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241280" y="-1371600"/>
            <a:ext cx="4114800" cy="4114800"/>
          </a:xfrm>
          <a:prstGeom prst="ellipse">
            <a:avLst/>
          </a:prstGeom>
          <a:solidFill>
            <a:srgbClr val="3DA9F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685800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glow rad="76200">
              <a:srgbClr val="76B90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F4F6FA"/>
                </a:solidFill>
                <a:latin typeface="Segoe UI Semibold"/>
              </a:rPr>
              <a:t>Local v1.1 Now Competes on 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Top mean overall; auto rubric gives most of the lead.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Surface Laptop Ultra  |  NVIDIA RTX Spark  | 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6F7890"/>
                </a:solidFill>
                <a:latin typeface="Segoe UI"/>
              </a:rPr>
              <a:t>3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48640" y="1828800"/>
          <a:ext cx="709867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921630" y="2011680"/>
            <a:ext cx="3718682" cy="3977640"/>
          </a:xfrm>
          <a:prstGeom prst="roundRect">
            <a:avLst>
              <a:gd name="adj" fmla="val 3442"/>
            </a:avLst>
          </a:prstGeom>
          <a:solidFill>
            <a:srgbClr val="141824"/>
          </a:solidFill>
          <a:ln w="12700">
            <a:solidFill>
              <a:srgbClr val="4568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8173090" y="2308860"/>
            <a:ext cx="777240" cy="777240"/>
          </a:xfrm>
          <a:prstGeom prst="ellipse">
            <a:avLst/>
          </a:prstGeom>
          <a:solidFill>
            <a:srgbClr val="76B900"/>
          </a:solidFill>
          <a:ln>
            <a:noFill/>
          </a:ln>
          <a:effectLst>
            <a:glow rad="127000">
              <a:srgbClr val="76B900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81904" y="2417674"/>
            <a:ext cx="559613" cy="5596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731">
                <a:solidFill>
                  <a:srgbClr val="07080C"/>
                </a:solidFill>
                <a:latin typeface="Segoe Fluent Icons"/>
              </a:rPr>
              <a:t>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1670" y="3246120"/>
            <a:ext cx="3078602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5400" i="0">
                <a:solidFill>
                  <a:srgbClr val="76B900"/>
                </a:solidFill>
                <a:latin typeface="Segoe UI Black"/>
              </a:rPr>
              <a:t>85.6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1670" y="4206240"/>
            <a:ext cx="307860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i="0">
                <a:solidFill>
                  <a:srgbClr val="AEB6C8"/>
                </a:solidFill>
                <a:latin typeface="Segoe UI"/>
              </a:rPr>
              <a:t>pts  |  Local v1.1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1670" y="4663440"/>
            <a:ext cx="3078602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F4F6FA"/>
                </a:solidFill>
                <a:latin typeface="Segoe UI"/>
              </a:rPr>
              <a:t>0.5 x auto rubric + 0.5 x blind judge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80C"/>
            </a:gs>
            <a:gs pos="100000">
              <a:srgbClr val="121521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2743200"/>
            <a:ext cx="6400800" cy="6400800"/>
          </a:xfrm>
          <a:prstGeom prst="ellipse">
            <a:avLst/>
          </a:prstGeom>
          <a:solidFill>
            <a:srgbClr val="76B9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241280" y="-1371600"/>
            <a:ext cx="4114800" cy="4114800"/>
          </a:xfrm>
          <a:prstGeom prst="ellipse">
            <a:avLst/>
          </a:prstGeom>
          <a:solidFill>
            <a:srgbClr val="3DA9F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685800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glow rad="76200">
              <a:srgbClr val="76B90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F4F6FA"/>
                </a:solidFill>
                <a:latin typeface="Segoe UI Semibold"/>
              </a:rPr>
              <a:t>Blind Judge Says Parity, Not a Win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v1.1 judge 39.0/50 vs best cloud 40.5.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Surface Laptop Ultra  |  NVIDIA RTX Spark  | 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6F7890"/>
                </a:solidFill>
                <a:latin typeface="Segoe UI"/>
              </a:rPr>
              <a:t>4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48640" y="1828800"/>
          <a:ext cx="709867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921630" y="2011680"/>
            <a:ext cx="3718682" cy="3977640"/>
          </a:xfrm>
          <a:prstGeom prst="roundRect">
            <a:avLst>
              <a:gd name="adj" fmla="val 3442"/>
            </a:avLst>
          </a:prstGeom>
          <a:solidFill>
            <a:srgbClr val="141824"/>
          </a:solidFill>
          <a:ln w="12700">
            <a:solidFill>
              <a:srgbClr val="4568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8173090" y="2308860"/>
            <a:ext cx="777240" cy="777240"/>
          </a:xfrm>
          <a:prstGeom prst="ellipse">
            <a:avLst/>
          </a:prstGeom>
          <a:solidFill>
            <a:srgbClr val="76B900"/>
          </a:solidFill>
          <a:ln>
            <a:noFill/>
          </a:ln>
          <a:effectLst>
            <a:glow rad="127000">
              <a:srgbClr val="76B900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81904" y="2417674"/>
            <a:ext cx="559613" cy="5596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731">
                <a:solidFill>
                  <a:srgbClr val="07080C"/>
                </a:solidFill>
                <a:latin typeface="Segoe Fluent Icons"/>
              </a:rPr>
              <a:t>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1670" y="3246120"/>
            <a:ext cx="3078602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5400" i="0">
                <a:solidFill>
                  <a:srgbClr val="76B900"/>
                </a:solidFill>
                <a:latin typeface="Segoe UI Black"/>
              </a:rPr>
              <a:t>39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1670" y="4206240"/>
            <a:ext cx="307860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i="0">
                <a:solidFill>
                  <a:srgbClr val="AEB6C8"/>
                </a:solidFill>
                <a:latin typeface="Segoe UI"/>
              </a:rPr>
              <a:t>/50  |  Local v1.1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1670" y="4663440"/>
            <a:ext cx="3078602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F4F6FA"/>
                </a:solidFill>
                <a:latin typeface="Segoe UI"/>
              </a:rPr>
              <a:t>Anonymized contact sheets, same judge, 0 anchor drift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80C"/>
            </a:gs>
            <a:gs pos="100000">
              <a:srgbClr val="121521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2743200"/>
            <a:ext cx="6400800" cy="6400800"/>
          </a:xfrm>
          <a:prstGeom prst="ellipse">
            <a:avLst/>
          </a:prstGeom>
          <a:solidFill>
            <a:srgbClr val="76B9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241280" y="-1371600"/>
            <a:ext cx="4114800" cy="4114800"/>
          </a:xfrm>
          <a:prstGeom prst="ellipse">
            <a:avLst/>
          </a:prstGeom>
          <a:solidFill>
            <a:srgbClr val="3DA9F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685800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glow rad="76200">
              <a:srgbClr val="76B90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F4F6FA"/>
                </a:solidFill>
                <a:latin typeface="Segoe UI Semibold"/>
              </a:rPr>
              <a:t>Quality Cost Local Drafting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Repair passes made local 3.8x slower; still beats Astra max at 268 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Surface Laptop Ultra  |  NVIDIA RTX Spark  | 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6F7890"/>
                </a:solidFill>
                <a:latin typeface="Segoe UI"/>
              </a:rPr>
              <a:t>5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48640" y="1828800"/>
          <a:ext cx="709867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921630" y="2011680"/>
            <a:ext cx="3718682" cy="3977640"/>
          </a:xfrm>
          <a:prstGeom prst="roundRect">
            <a:avLst>
              <a:gd name="adj" fmla="val 3442"/>
            </a:avLst>
          </a:prstGeom>
          <a:solidFill>
            <a:srgbClr val="141824"/>
          </a:solidFill>
          <a:ln w="12700">
            <a:solidFill>
              <a:srgbClr val="4568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8173090" y="2308860"/>
            <a:ext cx="777240" cy="777240"/>
          </a:xfrm>
          <a:prstGeom prst="ellipse">
            <a:avLst/>
          </a:prstGeom>
          <a:solidFill>
            <a:srgbClr val="76B900"/>
          </a:solidFill>
          <a:ln>
            <a:noFill/>
          </a:ln>
          <a:effectLst>
            <a:glow rad="127000">
              <a:srgbClr val="76B900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81904" y="2417674"/>
            <a:ext cx="559613" cy="5596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731">
                <a:solidFill>
                  <a:srgbClr val="07080C"/>
                </a:solidFill>
                <a:latin typeface="Segoe Fluent Icons"/>
              </a:rPr>
              <a:t>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1670" y="3246120"/>
            <a:ext cx="3078602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5400" i="0">
                <a:solidFill>
                  <a:srgbClr val="76B900"/>
                </a:solidFill>
                <a:latin typeface="Segoe UI Black"/>
              </a:rPr>
              <a:t>241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1670" y="4206240"/>
            <a:ext cx="307860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i="0">
                <a:solidFill>
                  <a:srgbClr val="AEB6C8"/>
                </a:solidFill>
                <a:latin typeface="Segoe UI"/>
              </a:rPr>
              <a:t>s  |  Local v1.1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1670" y="4663440"/>
            <a:ext cx="3078602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F4F6FA"/>
                </a:solidFill>
                <a:latin typeface="Segoe UI"/>
              </a:rPr>
              <a:t>Local: wall-clock generation. Cloud: API generation seconds.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80C"/>
            </a:gs>
            <a:gs pos="100000">
              <a:srgbClr val="121521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2743200"/>
            <a:ext cx="6400800" cy="6400800"/>
          </a:xfrm>
          <a:prstGeom prst="ellipse">
            <a:avLst/>
          </a:prstGeom>
          <a:solidFill>
            <a:srgbClr val="76B9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241280" y="-1371600"/>
            <a:ext cx="4114800" cy="4114800"/>
          </a:xfrm>
          <a:prstGeom prst="ellipse">
            <a:avLst/>
          </a:prstGeom>
          <a:solidFill>
            <a:srgbClr val="3DA9F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685800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glow rad="76200">
              <a:srgbClr val="76B90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F4F6FA"/>
                </a:solidFill>
                <a:latin typeface="Segoe UI Semibold"/>
              </a:rPr>
              <a:t>Cloud Cost Scales With Reasoning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Marginal cost per 1,000 decks; local is electricity only.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Surface Laptop Ultra  |  NVIDIA RTX Spark  | 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6F7890"/>
                </a:solidFill>
                <a:latin typeface="Segoe UI"/>
              </a:rPr>
              <a:t>6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48640" y="1828800"/>
          <a:ext cx="709867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921630" y="2011680"/>
            <a:ext cx="3718682" cy="3977640"/>
          </a:xfrm>
          <a:prstGeom prst="roundRect">
            <a:avLst>
              <a:gd name="adj" fmla="val 3442"/>
            </a:avLst>
          </a:prstGeom>
          <a:solidFill>
            <a:srgbClr val="141824"/>
          </a:solidFill>
          <a:ln w="12700">
            <a:solidFill>
              <a:srgbClr val="4568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8173090" y="2308860"/>
            <a:ext cx="777240" cy="777240"/>
          </a:xfrm>
          <a:prstGeom prst="ellipse">
            <a:avLst/>
          </a:prstGeom>
          <a:solidFill>
            <a:srgbClr val="76B900"/>
          </a:solidFill>
          <a:ln>
            <a:noFill/>
          </a:ln>
          <a:effectLst>
            <a:glow rad="127000">
              <a:srgbClr val="76B900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81904" y="2417674"/>
            <a:ext cx="559613" cy="5596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731">
                <a:solidFill>
                  <a:srgbClr val="07080C"/>
                </a:solidFill>
                <a:latin typeface="Segoe Fluent Icons"/>
              </a:rPr>
              <a:t>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1670" y="3246120"/>
            <a:ext cx="3078602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5400" i="0">
                <a:solidFill>
                  <a:srgbClr val="76B900"/>
                </a:solidFill>
                <a:latin typeface="Segoe UI Black"/>
              </a:rPr>
              <a:t>0.41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1670" y="4206240"/>
            <a:ext cx="307860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i="0">
                <a:solidFill>
                  <a:srgbClr val="AEB6C8"/>
                </a:solidFill>
                <a:latin typeface="Segoe UI"/>
              </a:rPr>
              <a:t>USD  |  Local v1.1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1670" y="4663440"/>
            <a:ext cx="3078602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F4F6FA"/>
                </a:solidFill>
                <a:latin typeface="Segoe UI"/>
              </a:rPr>
              <a:t>List price x exact tokens vs measured kWh x $0.13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80C"/>
            </a:gs>
            <a:gs pos="100000">
              <a:srgbClr val="121521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2743200"/>
            <a:ext cx="6400800" cy="6400800"/>
          </a:xfrm>
          <a:prstGeom prst="ellipse">
            <a:avLst/>
          </a:prstGeom>
          <a:solidFill>
            <a:srgbClr val="76B9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241280" y="-1371600"/>
            <a:ext cx="4114800" cy="4114800"/>
          </a:xfrm>
          <a:prstGeom prst="ellipse">
            <a:avLst/>
          </a:prstGeom>
          <a:solidFill>
            <a:srgbClr val="3DA9F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685800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glow rad="76200">
              <a:srgbClr val="76B90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F4F6FA"/>
                </a:solidFill>
                <a:latin typeface="Segoe UI Semibold"/>
              </a:rPr>
              <a:t>Sustainability per 1,000 Decks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Measured local energy vs published cloud per-token estimates.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Surface Laptop Ultra  |  NVIDIA RTX Spark  | 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6F7890"/>
                </a:solidFill>
                <a:latin typeface="Segoe UI"/>
              </a:rP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217420"/>
            <a:ext cx="2532888" cy="3566160"/>
          </a:xfrm>
          <a:prstGeom prst="roundRect">
            <a:avLst>
              <a:gd name="adj" fmla="val 5054"/>
            </a:avLst>
          </a:prstGeom>
          <a:solidFill>
            <a:srgbClr val="141824"/>
          </a:solidFill>
          <a:ln w="12700">
            <a:solidFill>
              <a:srgbClr val="4568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48640" y="2217420"/>
            <a:ext cx="2532888" cy="8229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832104" y="2546604"/>
            <a:ext cx="713232" cy="713232"/>
          </a:xfrm>
          <a:prstGeom prst="ellipse">
            <a:avLst/>
          </a:prstGeom>
          <a:solidFill>
            <a:srgbClr val="76B900"/>
          </a:solidFill>
          <a:ln>
            <a:noFill/>
          </a:ln>
          <a:effectLst>
            <a:glow rad="101600">
              <a:srgbClr val="76B900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1956" y="2646456"/>
            <a:ext cx="513527" cy="5135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6">
                <a:solidFill>
                  <a:srgbClr val="07080C"/>
                </a:solidFill>
                <a:latin typeface="Segoe Fluent Icons"/>
              </a:rPr>
              <a:t>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06140"/>
            <a:ext cx="1984248" cy="12344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800" i="0">
                <a:solidFill>
                  <a:srgbClr val="76B900"/>
                </a:solidFill>
                <a:latin typeface="Segoe UI Black"/>
              </a:rPr>
              <a:t>3.2 kWh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640580"/>
            <a:ext cx="1984248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F4F6FA"/>
                </a:solidFill>
                <a:latin typeface="Segoe UI"/>
              </a:rPr>
              <a:t>Local v1.1 energy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372100"/>
            <a:ext cx="1984248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nvidia-smi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01568" y="2217420"/>
            <a:ext cx="2532888" cy="3566160"/>
          </a:xfrm>
          <a:prstGeom prst="roundRect">
            <a:avLst>
              <a:gd name="adj" fmla="val 5054"/>
            </a:avLst>
          </a:prstGeom>
          <a:solidFill>
            <a:srgbClr val="141824"/>
          </a:solidFill>
          <a:ln w="12700">
            <a:solidFill>
              <a:srgbClr val="286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3401568" y="2217420"/>
            <a:ext cx="2532888" cy="82296"/>
          </a:xfrm>
          <a:prstGeom prst="rect">
            <a:avLst/>
          </a:prstGeom>
          <a:solidFill>
            <a:srgbClr val="3DA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3685032" y="2546604"/>
            <a:ext cx="713232" cy="713232"/>
          </a:xfrm>
          <a:prstGeom prst="ellipse">
            <a:avLst/>
          </a:prstGeom>
          <a:solidFill>
            <a:srgbClr val="3DA9FC"/>
          </a:solidFill>
          <a:ln>
            <a:noFill/>
          </a:ln>
          <a:effectLst>
            <a:glow rad="101600">
              <a:srgbClr val="3DA9FC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3784884" y="2646456"/>
            <a:ext cx="513527" cy="5135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6">
                <a:solidFill>
                  <a:srgbClr val="07080C"/>
                </a:solidFill>
                <a:latin typeface="Segoe Fluent Icons"/>
              </a:rPr>
              <a:t>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75888" y="3406140"/>
            <a:ext cx="1984248" cy="12344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700" i="0">
                <a:solidFill>
                  <a:srgbClr val="3DA9FC"/>
                </a:solidFill>
                <a:latin typeface="Segoe UI Black"/>
              </a:rPr>
              <a:t>9.4 kWh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75888" y="4640580"/>
            <a:ext cx="1984248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F4F6FA"/>
                </a:solidFill>
                <a:latin typeface="Segoe UI"/>
              </a:rPr>
              <a:t>Cloud median energy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75888" y="5372100"/>
            <a:ext cx="1984248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1.1 Wh/1k tok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54496" y="2217420"/>
            <a:ext cx="2532888" cy="3566160"/>
          </a:xfrm>
          <a:prstGeom prst="roundRect">
            <a:avLst>
              <a:gd name="adj" fmla="val 5054"/>
            </a:avLst>
          </a:prstGeom>
          <a:solidFill>
            <a:srgbClr val="141824"/>
          </a:solidFill>
          <a:ln w="12700">
            <a:solidFill>
              <a:srgbClr val="5842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254496" y="2217420"/>
            <a:ext cx="2532888" cy="82296"/>
          </a:xfrm>
          <a:prstGeom prst="rect">
            <a:avLst/>
          </a:prstGeom>
          <a:solidFill>
            <a:srgbClr val="9B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6537960" y="2546604"/>
            <a:ext cx="713232" cy="713232"/>
          </a:xfrm>
          <a:prstGeom prst="ellipse">
            <a:avLst/>
          </a:prstGeom>
          <a:solidFill>
            <a:srgbClr val="9B6BFF"/>
          </a:solidFill>
          <a:ln>
            <a:noFill/>
          </a:ln>
          <a:effectLst>
            <a:glow rad="101600">
              <a:srgbClr val="9B6BFF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637812" y="2646456"/>
            <a:ext cx="513527" cy="5135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6">
                <a:solidFill>
                  <a:srgbClr val="07080C"/>
                </a:solidFill>
                <a:latin typeface="Segoe Fluent Icons"/>
              </a:rPr>
              <a:t>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8816" y="3406140"/>
            <a:ext cx="1984248" cy="12344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6000" i="0">
                <a:solidFill>
                  <a:srgbClr val="9B6BFF"/>
                </a:solidFill>
                <a:latin typeface="Segoe UI Black"/>
              </a:rPr>
              <a:t>31 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8816" y="4640580"/>
            <a:ext cx="1984248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F4F6FA"/>
                </a:solidFill>
                <a:latin typeface="Segoe UI"/>
              </a:rPr>
              <a:t>Cloud water avoided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8816" y="5372100"/>
            <a:ext cx="1984248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3.6 mL/1k tok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07424" y="2217420"/>
            <a:ext cx="2532888" cy="3566160"/>
          </a:xfrm>
          <a:prstGeom prst="roundRect">
            <a:avLst>
              <a:gd name="adj" fmla="val 5054"/>
            </a:avLst>
          </a:prstGeom>
          <a:solidFill>
            <a:srgbClr val="141824"/>
          </a:solidFill>
          <a:ln w="12700">
            <a:solidFill>
              <a:srgbClr val="8A66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9107424" y="2217420"/>
            <a:ext cx="2532888" cy="82296"/>
          </a:xfrm>
          <a:prstGeom prst="rect">
            <a:avLst/>
          </a:prstGeom>
          <a:solidFill>
            <a:srgbClr val="FFB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9390888" y="2546604"/>
            <a:ext cx="713232" cy="713232"/>
          </a:xfrm>
          <a:prstGeom prst="ellipse">
            <a:avLst/>
          </a:prstGeom>
          <a:solidFill>
            <a:srgbClr val="FFB547"/>
          </a:solidFill>
          <a:ln>
            <a:noFill/>
          </a:ln>
          <a:effectLst>
            <a:glow rad="101600">
              <a:srgbClr val="FFB547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9490740" y="2646456"/>
            <a:ext cx="513527" cy="5135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6">
                <a:solidFill>
                  <a:srgbClr val="07080C"/>
                </a:solidFill>
                <a:latin typeface="Segoe Fluent Icons"/>
              </a:rPr>
              <a:t>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81744" y="3406140"/>
            <a:ext cx="1984248" cy="12344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5100" i="0">
                <a:solidFill>
                  <a:srgbClr val="FFB547"/>
                </a:solidFill>
                <a:latin typeface="Segoe UI Black"/>
              </a:rPr>
              <a:t>2.3 kg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81744" y="4640580"/>
            <a:ext cx="1984248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F4F6FA"/>
                </a:solidFill>
                <a:latin typeface="Segoe UI"/>
              </a:rPr>
              <a:t>CO2e avoided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81744" y="5372100"/>
            <a:ext cx="1984248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0.367 kg/kWh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80C"/>
            </a:gs>
            <a:gs pos="100000">
              <a:srgbClr val="121521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2743200"/>
            <a:ext cx="6400800" cy="6400800"/>
          </a:xfrm>
          <a:prstGeom prst="ellipse">
            <a:avLst/>
          </a:prstGeom>
          <a:solidFill>
            <a:srgbClr val="76B9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241280" y="-1371600"/>
            <a:ext cx="4114800" cy="4114800"/>
          </a:xfrm>
          <a:prstGeom prst="ellipse">
            <a:avLst/>
          </a:prstGeom>
          <a:solidFill>
            <a:srgbClr val="3DA9F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685800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glow rad="76200">
              <a:srgbClr val="76B90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F4F6FA"/>
                </a:solidFill>
                <a:latin typeface="Segoe UI Semibold"/>
              </a:rPr>
              <a:t>What v1.1 Learned From Frontier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Distilled arc, analogies and checks; the model stayed the same.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Surface Laptop Ultra  |  NVIDIA RTX Spark  | 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6F7890"/>
                </a:solidFill>
                <a:latin typeface="Segoe UI"/>
              </a:rPr>
              <a:t>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83180"/>
            <a:ext cx="1815998" cy="3291840"/>
          </a:xfrm>
          <a:prstGeom prst="roundRect">
            <a:avLst>
              <a:gd name="adj" fmla="val 7049"/>
            </a:avLst>
          </a:prstGeom>
          <a:solidFill>
            <a:srgbClr val="141824"/>
          </a:solidFill>
          <a:ln w="12700">
            <a:solidFill>
              <a:srgbClr val="4568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999439" y="2125980"/>
            <a:ext cx="914400" cy="914400"/>
          </a:xfrm>
          <a:prstGeom prst="ellipse">
            <a:avLst/>
          </a:prstGeom>
          <a:solidFill>
            <a:srgbClr val="76B900"/>
          </a:solidFill>
          <a:ln>
            <a:noFill/>
          </a:ln>
          <a:effectLst>
            <a:glow rad="127000">
              <a:srgbClr val="76B900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127455" y="2253996"/>
            <a:ext cx="658368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214">
                <a:solidFill>
                  <a:srgbClr val="07080C"/>
                </a:solidFill>
                <a:latin typeface="Segoe Fluent Icons"/>
              </a:rPr>
              <a:t>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150108"/>
            <a:ext cx="145023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i="0">
                <a:solidFill>
                  <a:srgbClr val="76B900"/>
                </a:solidFill>
                <a:latin typeface="Segoe UI Semibold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451860"/>
            <a:ext cx="1486814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i="0">
                <a:solidFill>
                  <a:srgbClr val="F4F6FA"/>
                </a:solidFill>
                <a:latin typeface="Segoe UI Semibold"/>
              </a:rPr>
              <a:t>Deck arc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66260"/>
            <a:ext cx="1450238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00" i="0">
                <a:solidFill>
                  <a:srgbClr val="AEB6C8"/>
                </a:solidFill>
                <a:latin typeface="Segoe UI"/>
              </a:rPr>
              <a:t>Slot-by-slot story</a:t>
            </a:r>
          </a:p>
        </p:txBody>
      </p:sp>
      <p:sp>
        <p:nvSpPr>
          <p:cNvPr id="15" name="Chevron 14"/>
          <p:cNvSpPr/>
          <p:nvPr/>
        </p:nvSpPr>
        <p:spPr>
          <a:xfrm>
            <a:off x="2501798" y="4027932"/>
            <a:ext cx="228600" cy="402336"/>
          </a:xfrm>
          <a:prstGeom prst="chevron">
            <a:avLst/>
          </a:prstGeom>
          <a:solidFill>
            <a:srgbClr val="6F7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2867558" y="2583180"/>
            <a:ext cx="1815998" cy="3291840"/>
          </a:xfrm>
          <a:prstGeom prst="roundRect">
            <a:avLst>
              <a:gd name="adj" fmla="val 7049"/>
            </a:avLst>
          </a:prstGeom>
          <a:solidFill>
            <a:srgbClr val="141824"/>
          </a:solidFill>
          <a:ln w="12700">
            <a:solidFill>
              <a:srgbClr val="286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3318358" y="2125980"/>
            <a:ext cx="914400" cy="914400"/>
          </a:xfrm>
          <a:prstGeom prst="ellipse">
            <a:avLst/>
          </a:prstGeom>
          <a:solidFill>
            <a:srgbClr val="3DA9FC"/>
          </a:solidFill>
          <a:ln>
            <a:noFill/>
          </a:ln>
          <a:effectLst>
            <a:glow rad="127000">
              <a:srgbClr val="3DA9FC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3446374" y="2253996"/>
            <a:ext cx="658368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214">
                <a:solidFill>
                  <a:srgbClr val="07080C"/>
                </a:solidFill>
                <a:latin typeface="Segoe Fluent Icons"/>
              </a:rPr>
              <a:t>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0438" y="3150108"/>
            <a:ext cx="145023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i="0">
                <a:solidFill>
                  <a:srgbClr val="3DA9FC"/>
                </a:solidFill>
                <a:latin typeface="Segoe UI Semibold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32150" y="3451860"/>
            <a:ext cx="1486814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i="0">
                <a:solidFill>
                  <a:srgbClr val="F4F6FA"/>
                </a:solidFill>
                <a:latin typeface="Segoe UI Semibold"/>
              </a:rPr>
              <a:t>Analogy bank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50438" y="4366260"/>
            <a:ext cx="1450238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00" i="0">
                <a:solidFill>
                  <a:srgbClr val="AEB6C8"/>
                </a:solidFill>
                <a:latin typeface="Segoe UI"/>
              </a:rPr>
              <a:t>Caveat-mapped analogies</a:t>
            </a:r>
          </a:p>
        </p:txBody>
      </p:sp>
      <p:sp>
        <p:nvSpPr>
          <p:cNvPr id="22" name="Chevron 21"/>
          <p:cNvSpPr/>
          <p:nvPr/>
        </p:nvSpPr>
        <p:spPr>
          <a:xfrm>
            <a:off x="4820717" y="4027932"/>
            <a:ext cx="228600" cy="402336"/>
          </a:xfrm>
          <a:prstGeom prst="chevron">
            <a:avLst/>
          </a:prstGeom>
          <a:solidFill>
            <a:srgbClr val="6F7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5186477" y="2583180"/>
            <a:ext cx="1815998" cy="3291840"/>
          </a:xfrm>
          <a:prstGeom prst="roundRect">
            <a:avLst>
              <a:gd name="adj" fmla="val 7049"/>
            </a:avLst>
          </a:prstGeom>
          <a:solidFill>
            <a:srgbClr val="141824"/>
          </a:solidFill>
          <a:ln w="12700">
            <a:solidFill>
              <a:srgbClr val="5842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5637276" y="2125980"/>
            <a:ext cx="914400" cy="914400"/>
          </a:xfrm>
          <a:prstGeom prst="ellipse">
            <a:avLst/>
          </a:prstGeom>
          <a:solidFill>
            <a:srgbClr val="9B6BFF"/>
          </a:solidFill>
          <a:ln>
            <a:noFill/>
          </a:ln>
          <a:effectLst>
            <a:glow rad="127000">
              <a:srgbClr val="9B6BFF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765292" y="2253996"/>
            <a:ext cx="658368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214">
                <a:solidFill>
                  <a:srgbClr val="07080C"/>
                </a:solidFill>
                <a:latin typeface="Segoe Fluent Icons"/>
              </a:rPr>
              <a:t>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69357" y="3150108"/>
            <a:ext cx="145023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i="0">
                <a:solidFill>
                  <a:srgbClr val="9B6BFF"/>
                </a:solidFill>
                <a:latin typeface="Segoe UI Semibold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51069" y="3451860"/>
            <a:ext cx="1486814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i="0">
                <a:solidFill>
                  <a:srgbClr val="F4F6FA"/>
                </a:solidFill>
                <a:latin typeface="Segoe UI Semibold"/>
              </a:rPr>
              <a:t>JSON draft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69357" y="4366260"/>
            <a:ext cx="1450238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00" i="0">
                <a:solidFill>
                  <a:srgbClr val="AEB6C8"/>
                </a:solidFill>
                <a:latin typeface="Segoe UI"/>
              </a:rPr>
              <a:t>Local model, JSON mode</a:t>
            </a:r>
          </a:p>
        </p:txBody>
      </p:sp>
      <p:sp>
        <p:nvSpPr>
          <p:cNvPr id="29" name="Chevron 28"/>
          <p:cNvSpPr/>
          <p:nvPr/>
        </p:nvSpPr>
        <p:spPr>
          <a:xfrm>
            <a:off x="7139635" y="4027932"/>
            <a:ext cx="228600" cy="402336"/>
          </a:xfrm>
          <a:prstGeom prst="chevron">
            <a:avLst/>
          </a:prstGeom>
          <a:solidFill>
            <a:srgbClr val="6F7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7505395" y="2583180"/>
            <a:ext cx="1815998" cy="3291840"/>
          </a:xfrm>
          <a:prstGeom prst="roundRect">
            <a:avLst>
              <a:gd name="adj" fmla="val 7049"/>
            </a:avLst>
          </a:prstGeom>
          <a:solidFill>
            <a:srgbClr val="141824"/>
          </a:solidFill>
          <a:ln w="12700">
            <a:solidFill>
              <a:srgbClr val="8A66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7956194" y="2125980"/>
            <a:ext cx="914400" cy="914400"/>
          </a:xfrm>
          <a:prstGeom prst="ellipse">
            <a:avLst/>
          </a:prstGeom>
          <a:solidFill>
            <a:srgbClr val="FFB547"/>
          </a:solidFill>
          <a:ln>
            <a:noFill/>
          </a:ln>
          <a:effectLst>
            <a:glow rad="127000">
              <a:srgbClr val="FFB547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084210" y="2253996"/>
            <a:ext cx="658368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214">
                <a:solidFill>
                  <a:srgbClr val="07080C"/>
                </a:solidFill>
                <a:latin typeface="Segoe Fluent Icons"/>
              </a:rPr>
              <a:t>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8275" y="3150108"/>
            <a:ext cx="145023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i="0">
                <a:solidFill>
                  <a:srgbClr val="FFB547"/>
                </a:solidFill>
                <a:latin typeface="Segoe UI Semibold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69987" y="3451860"/>
            <a:ext cx="1486814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i="0">
                <a:solidFill>
                  <a:srgbClr val="F4F6FA"/>
                </a:solidFill>
                <a:latin typeface="Segoe UI Semibold"/>
              </a:rPr>
              <a:t>Render + lint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8275" y="4366260"/>
            <a:ext cx="1450238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00" i="0">
                <a:solidFill>
                  <a:srgbClr val="AEB6C8"/>
                </a:solidFill>
                <a:latin typeface="Segoe UI"/>
              </a:rPr>
              <a:t>Deterministic checks</a:t>
            </a:r>
          </a:p>
        </p:txBody>
      </p:sp>
      <p:sp>
        <p:nvSpPr>
          <p:cNvPr id="36" name="Chevron 35"/>
          <p:cNvSpPr/>
          <p:nvPr/>
        </p:nvSpPr>
        <p:spPr>
          <a:xfrm>
            <a:off x="9458554" y="4027932"/>
            <a:ext cx="228600" cy="402336"/>
          </a:xfrm>
          <a:prstGeom prst="chevron">
            <a:avLst/>
          </a:prstGeom>
          <a:solidFill>
            <a:srgbClr val="6F7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9824314" y="2583180"/>
            <a:ext cx="1815998" cy="3291840"/>
          </a:xfrm>
          <a:prstGeom prst="roundRect">
            <a:avLst>
              <a:gd name="adj" fmla="val 7049"/>
            </a:avLst>
          </a:prstGeom>
          <a:solidFill>
            <a:srgbClr val="141824"/>
          </a:solidFill>
          <a:ln w="12700">
            <a:solidFill>
              <a:srgbClr val="8A3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10275113" y="2125980"/>
            <a:ext cx="914400" cy="914400"/>
          </a:xfrm>
          <a:prstGeom prst="ellipse">
            <a:avLst/>
          </a:prstGeom>
          <a:solidFill>
            <a:srgbClr val="FF5D8F"/>
          </a:solidFill>
          <a:ln>
            <a:noFill/>
          </a:ln>
          <a:effectLst>
            <a:glow rad="127000">
              <a:srgbClr val="FF5D8F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10403129" y="2253996"/>
            <a:ext cx="658368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214">
                <a:solidFill>
                  <a:srgbClr val="07080C"/>
                </a:solidFill>
                <a:latin typeface="Segoe Fluent Icons"/>
              </a:rPr>
              <a:t>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07194" y="3150108"/>
            <a:ext cx="145023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i="0">
                <a:solidFill>
                  <a:srgbClr val="FF5D8F"/>
                </a:solidFill>
                <a:latin typeface="Segoe UI Semibold"/>
              </a:rPr>
              <a:t>05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88906" y="3451860"/>
            <a:ext cx="1486814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i="0">
                <a:solidFill>
                  <a:srgbClr val="F4F6FA"/>
                </a:solidFill>
                <a:latin typeface="Segoe UI Semibold"/>
              </a:rPr>
              <a:t>Targeted repair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07194" y="4366260"/>
            <a:ext cx="1450238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00" i="0">
                <a:solidFill>
                  <a:srgbClr val="AEB6C8"/>
                </a:solidFill>
                <a:latin typeface="Segoe UI"/>
              </a:rPr>
              <a:t>Keep only improvements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80C"/>
            </a:gs>
            <a:gs pos="100000">
              <a:srgbClr val="121521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2743200"/>
            <a:ext cx="6400800" cy="6400800"/>
          </a:xfrm>
          <a:prstGeom prst="ellipse">
            <a:avLst/>
          </a:prstGeom>
          <a:solidFill>
            <a:srgbClr val="76B9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241280" y="-1371600"/>
            <a:ext cx="4114800" cy="4114800"/>
          </a:xfrm>
          <a:prstGeom prst="ellipse">
            <a:avLst/>
          </a:prstGeom>
          <a:solidFill>
            <a:srgbClr val="3DA9F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685800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glow rad="76200">
              <a:srgbClr val="76B90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F4F6FA"/>
                </a:solidFill>
                <a:latin typeface="Segoe UI Semibold"/>
              </a:rPr>
              <a:t>Distillation Is Like an Apprenticeship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Same apprentice, better playbook.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Surface Laptop Ultra  |  NVIDIA RTX Spark  | 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6F7890"/>
                </a:solidFill>
                <a:latin typeface="Segoe UI"/>
              </a:rPr>
              <a:t>9</a:t>
            </a:r>
          </a:p>
        </p:txBody>
      </p:sp>
      <p:sp>
        <p:nvSpPr>
          <p:cNvPr id="9" name="Oval 8"/>
          <p:cNvSpPr/>
          <p:nvPr/>
        </p:nvSpPr>
        <p:spPr>
          <a:xfrm>
            <a:off x="617220" y="1851660"/>
            <a:ext cx="960120" cy="960120"/>
          </a:xfrm>
          <a:prstGeom prst="ellipse">
            <a:avLst/>
          </a:prstGeom>
          <a:solidFill>
            <a:srgbClr val="76B900"/>
          </a:solidFill>
          <a:ln>
            <a:noFill/>
          </a:ln>
          <a:effectLst>
            <a:glow rad="152400">
              <a:srgbClr val="76B900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51637" y="1986077"/>
            <a:ext cx="691286" cy="69128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374">
                <a:solidFill>
                  <a:srgbClr val="07080C"/>
                </a:solidFill>
                <a:latin typeface="Segoe Fluent Icons"/>
              </a:rPr>
              <a:t>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920240"/>
            <a:ext cx="3625596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i="0">
                <a:solidFill>
                  <a:srgbClr val="F4F6FA"/>
                </a:solidFill>
                <a:latin typeface="Segoe UI Semibold"/>
              </a:rPr>
              <a:t>Harness v1.1</a:t>
            </a:r>
          </a:p>
        </p:txBody>
      </p:sp>
      <p:sp>
        <p:nvSpPr>
          <p:cNvPr id="12" name="Oval 11"/>
          <p:cNvSpPr/>
          <p:nvPr/>
        </p:nvSpPr>
        <p:spPr>
          <a:xfrm>
            <a:off x="10611612" y="1851660"/>
            <a:ext cx="960120" cy="960120"/>
          </a:xfrm>
          <a:prstGeom prst="ellipse">
            <a:avLst/>
          </a:prstGeom>
          <a:solidFill>
            <a:srgbClr val="9B6BFF"/>
          </a:solidFill>
          <a:ln>
            <a:noFill/>
          </a:ln>
          <a:effectLst>
            <a:glow rad="152400">
              <a:srgbClr val="9B6BFF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0746029" y="1986077"/>
            <a:ext cx="691286" cy="69128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374">
                <a:solidFill>
                  <a:srgbClr val="07080C"/>
                </a:solidFill>
                <a:latin typeface="Segoe Fluent Icons"/>
              </a:rPr>
              <a:t>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80276" y="1920240"/>
            <a:ext cx="3625596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2400" i="0">
                <a:solidFill>
                  <a:srgbClr val="F4F6FA"/>
                </a:solidFill>
                <a:latin typeface="Segoe UI Semibold"/>
              </a:rPr>
              <a:t>Apprentice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8676" y="205740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i="1">
                <a:solidFill>
                  <a:srgbClr val="6F7890"/>
                </a:solidFill>
                <a:latin typeface="Segoe UI"/>
              </a:rPr>
              <a:t>is like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108960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5875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2960" y="3145536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"/>
              </a:rPr>
              <a:t>Frontier decks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1828" y="3450717"/>
            <a:ext cx="1225296" cy="0"/>
          </a:xfrm>
          <a:prstGeom prst="line">
            <a:avLst/>
          </a:prstGeom>
          <a:ln w="25400">
            <a:solidFill>
              <a:srgbClr val="6F789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780276" y="3108960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5875">
            <a:solidFill>
              <a:srgbClr val="9B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054596" y="3145536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"/>
              </a:rPr>
              <a:t>Master's portfolio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902202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5875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22960" y="3938778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"/>
              </a:rPr>
              <a:t>Blind judge notes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81828" y="4243959"/>
            <a:ext cx="1225296" cy="0"/>
          </a:xfrm>
          <a:prstGeom prst="line">
            <a:avLst/>
          </a:prstGeom>
          <a:ln w="25400">
            <a:solidFill>
              <a:srgbClr val="6F789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780276" y="3902202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5875">
            <a:solidFill>
              <a:srgbClr val="9B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054596" y="3938778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"/>
              </a:rPr>
              <a:t>Studio critique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695444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5875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22960" y="4732020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"/>
              </a:rPr>
              <a:t>Lint rules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481828" y="5037201"/>
            <a:ext cx="1225296" cy="0"/>
          </a:xfrm>
          <a:prstGeom prst="line">
            <a:avLst/>
          </a:prstGeom>
          <a:ln w="25400">
            <a:solidFill>
              <a:srgbClr val="6F789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780276" y="4695444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5875">
            <a:solidFill>
              <a:srgbClr val="9B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054596" y="4732020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"/>
              </a:rPr>
              <a:t>Pre-flight checklist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488686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5875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22960" y="5525262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"/>
              </a:rPr>
              <a:t>Repair pass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481828" y="5830443"/>
            <a:ext cx="1225296" cy="0"/>
          </a:xfrm>
          <a:prstGeom prst="line">
            <a:avLst/>
          </a:prstGeom>
          <a:ln w="25400">
            <a:solidFill>
              <a:srgbClr val="6F789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780276" y="5488686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5875">
            <a:solidFill>
              <a:srgbClr val="9B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054596" y="5525262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"/>
              </a:rPr>
              <a:t>Rework before review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80C"/>
            </a:gs>
            <a:gs pos="100000">
              <a:srgbClr val="121521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2743200"/>
            <a:ext cx="6400800" cy="6400800"/>
          </a:xfrm>
          <a:prstGeom prst="ellipse">
            <a:avLst/>
          </a:prstGeom>
          <a:solidFill>
            <a:srgbClr val="76B9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241280" y="-1371600"/>
            <a:ext cx="4114800" cy="4114800"/>
          </a:xfrm>
          <a:prstGeom prst="ellipse">
            <a:avLst/>
          </a:prstGeom>
          <a:solidFill>
            <a:srgbClr val="3DA9F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685800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glow rad="76200">
              <a:srgbClr val="76B90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F4F6FA"/>
                </a:solidFill>
                <a:latin typeface="Segoe UI Semibold"/>
              </a:rPr>
              <a:t>Self-Grade: v1.0 vs v1.1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Quality up, speed down, cost and water still near zero.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Surface Laptop Ultra  |  NVIDIA RTX Spark  | 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6F7890"/>
                </a:solidFill>
                <a:latin typeface="Segoe UI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5088636" cy="3429000"/>
          </a:xfrm>
          <a:prstGeom prst="roundRect">
            <a:avLst>
              <a:gd name="adj" fmla="val 3733"/>
            </a:avLst>
          </a:prstGeom>
          <a:solidFill>
            <a:srgbClr val="141824"/>
          </a:solidFill>
          <a:ln w="12700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768096" y="2020824"/>
            <a:ext cx="749808" cy="749808"/>
          </a:xfrm>
          <a:prstGeom prst="ellipse">
            <a:avLst/>
          </a:prstGeom>
          <a:solidFill>
            <a:srgbClr val="6F7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73069" y="2125797"/>
            <a:ext cx="539862" cy="53986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635">
                <a:solidFill>
                  <a:srgbClr val="07080C"/>
                </a:solidFill>
                <a:latin typeface="Segoe Fluent Icons"/>
              </a:rPr>
              <a:t>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029968"/>
            <a:ext cx="3808476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300" i="0">
                <a:solidFill>
                  <a:srgbClr val="F4F6FA"/>
                </a:solidFill>
                <a:latin typeface="Segoe UI Semibold"/>
              </a:rPr>
              <a:t>v1.0 composite B+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24962"/>
            <a:ext cx="31089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17">
                <a:solidFill>
                  <a:srgbClr val="6F7890"/>
                </a:solidFill>
                <a:latin typeface="Segoe Fluent Icons"/>
              </a:rPr>
              <a:t>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017520"/>
            <a:ext cx="3991356" cy="5257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Deck 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650742"/>
            <a:ext cx="31089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17">
                <a:solidFill>
                  <a:srgbClr val="6F7890"/>
                </a:solidFill>
                <a:latin typeface="Segoe Fluent Icons"/>
              </a:rPr>
              <a:t>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543300"/>
            <a:ext cx="3991356" cy="5257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Time A+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176522"/>
            <a:ext cx="31089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17">
                <a:solidFill>
                  <a:srgbClr val="6F7890"/>
                </a:solidFill>
                <a:latin typeface="Segoe Fluent Icons"/>
              </a:rPr>
              <a:t>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069080"/>
            <a:ext cx="3991356" cy="5257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Cost A+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702302"/>
            <a:ext cx="31089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17">
                <a:solidFill>
                  <a:srgbClr val="6F7890"/>
                </a:solidFill>
                <a:latin typeface="Segoe Fluent Icons"/>
              </a:rPr>
              <a:t>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594860"/>
            <a:ext cx="3991356" cy="5257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Sustain 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51676" y="1828800"/>
            <a:ext cx="5088636" cy="3429000"/>
          </a:xfrm>
          <a:prstGeom prst="roundRect">
            <a:avLst>
              <a:gd name="adj" fmla="val 3733"/>
            </a:avLst>
          </a:prstGeom>
          <a:solidFill>
            <a:srgbClr val="141824"/>
          </a:solidFill>
          <a:ln w="28575">
            <a:solidFill>
              <a:srgbClr val="76B900"/>
            </a:solidFill>
          </a:ln>
          <a:effectLst>
            <a:glow rad="127000">
              <a:srgbClr val="76B900">
                <a:alpha val="3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6771132" y="2020824"/>
            <a:ext cx="749808" cy="749808"/>
          </a:xfrm>
          <a:prstGeom prst="ellipse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876105" y="2125797"/>
            <a:ext cx="539862" cy="53986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635">
                <a:solidFill>
                  <a:srgbClr val="07080C"/>
                </a:solidFill>
                <a:latin typeface="Segoe Fluent Icons"/>
              </a:rPr>
              <a:t>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48956" y="2029968"/>
            <a:ext cx="3808476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300" i="0">
                <a:solidFill>
                  <a:srgbClr val="F4F6FA"/>
                </a:solidFill>
                <a:latin typeface="Segoe UI Semibold"/>
              </a:rPr>
              <a:t>v1.1 composite C+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3156" y="3124962"/>
            <a:ext cx="31089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17">
                <a:solidFill>
                  <a:srgbClr val="76B900"/>
                </a:solidFill>
                <a:latin typeface="Segoe Fluent Icons"/>
              </a:rPr>
              <a:t>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20356" y="3017520"/>
            <a:ext cx="3991356" cy="5257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i="0">
                <a:solidFill>
                  <a:srgbClr val="F4F6FA"/>
                </a:solidFill>
                <a:latin typeface="Segoe UI"/>
              </a:rPr>
              <a:t>Deck 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63156" y="3650742"/>
            <a:ext cx="31089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17">
                <a:solidFill>
                  <a:srgbClr val="76B900"/>
                </a:solidFill>
                <a:latin typeface="Segoe Fluent Icons"/>
              </a:rPr>
              <a:t>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20356" y="3543300"/>
            <a:ext cx="3991356" cy="5257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i="0">
                <a:solidFill>
                  <a:srgbClr val="F4F6FA"/>
                </a:solidFill>
                <a:latin typeface="Segoe UI"/>
              </a:rPr>
              <a:t>Time 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63156" y="4176522"/>
            <a:ext cx="31089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17">
                <a:solidFill>
                  <a:srgbClr val="76B900"/>
                </a:solidFill>
                <a:latin typeface="Segoe Fluent Icons"/>
              </a:rPr>
              <a:t>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20356" y="4069080"/>
            <a:ext cx="3991356" cy="5257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i="0">
                <a:solidFill>
                  <a:srgbClr val="F4F6FA"/>
                </a:solidFill>
                <a:latin typeface="Segoe UI"/>
              </a:rPr>
              <a:t>Cost A+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63156" y="4702302"/>
            <a:ext cx="31089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17">
                <a:solidFill>
                  <a:srgbClr val="76B900"/>
                </a:solidFill>
                <a:latin typeface="Segoe Fluent Icons"/>
              </a:rPr>
              <a:t>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20356" y="4594860"/>
            <a:ext cx="3991356" cy="5257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i="0">
                <a:solidFill>
                  <a:srgbClr val="F4F6FA"/>
                </a:solidFill>
                <a:latin typeface="Segoe UI"/>
              </a:rPr>
              <a:t>Sustain B</a:t>
            </a:r>
          </a:p>
        </p:txBody>
      </p:sp>
      <p:sp>
        <p:nvSpPr>
          <p:cNvPr id="33" name="Oval 32"/>
          <p:cNvSpPr/>
          <p:nvPr/>
        </p:nvSpPr>
        <p:spPr>
          <a:xfrm>
            <a:off x="5728716" y="3177540"/>
            <a:ext cx="731520" cy="731520"/>
          </a:xfrm>
          <a:prstGeom prst="ellipse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728716" y="317754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i="0">
                <a:solidFill>
                  <a:srgbClr val="07080C"/>
                </a:solidFill>
                <a:latin typeface="Segoe UI Semibold"/>
              </a:rPr>
              <a:t>VS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5458968"/>
            <a:ext cx="11091672" cy="713232"/>
          </a:xfrm>
          <a:prstGeom prst="roundRect">
            <a:avLst>
              <a:gd name="adj" fmla="val 17948"/>
            </a:avLst>
          </a:prstGeom>
          <a:solidFill>
            <a:srgbClr val="76B900"/>
          </a:solidFill>
          <a:ln>
            <a:noFill/>
          </a:ln>
          <a:effectLst>
            <a:glow rad="127000">
              <a:srgbClr val="76B900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822960" y="5614416"/>
            <a:ext cx="402336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964">
                <a:solidFill>
                  <a:srgbClr val="07080C"/>
                </a:solidFill>
                <a:latin typeface="Segoe Fluent Icons"/>
              </a:rPr>
              <a:t>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17320" y="5513832"/>
            <a:ext cx="9994392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i="0">
                <a:solidFill>
                  <a:srgbClr val="07080C"/>
                </a:solidFill>
                <a:latin typeface="Segoe UI Semibold"/>
              </a:rPr>
              <a:t>Ship v1.1 for quality; v1.2 targets speed.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80C"/>
            </a:gs>
            <a:gs pos="100000">
              <a:srgbClr val="121521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2743200"/>
            <a:ext cx="6400800" cy="6400800"/>
          </a:xfrm>
          <a:prstGeom prst="ellipse">
            <a:avLst/>
          </a:prstGeom>
          <a:solidFill>
            <a:srgbClr val="76B9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241280" y="-1371600"/>
            <a:ext cx="4114800" cy="4114800"/>
          </a:xfrm>
          <a:prstGeom prst="ellipse">
            <a:avLst/>
          </a:prstGeom>
          <a:solidFill>
            <a:srgbClr val="3DA9F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685800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glow rad="76200">
              <a:srgbClr val="76B90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F4F6FA"/>
                </a:solidFill>
                <a:latin typeface="Segoe UI Semibold"/>
              </a:rPr>
              <a:t>Next: Harness v1.2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Keep the quality, win back the 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Surface Laptop Ultra  |  NVIDIA RTX Spark  | 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6F7890"/>
                </a:solidFill>
                <a:latin typeface="Segoe UI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3514344" cy="2926080"/>
          </a:xfrm>
          <a:prstGeom prst="roundRect">
            <a:avLst>
              <a:gd name="adj" fmla="val 4375"/>
            </a:avLst>
          </a:prstGeom>
          <a:solidFill>
            <a:srgbClr val="141824"/>
          </a:solidFill>
          <a:ln w="12700">
            <a:solidFill>
              <a:srgbClr val="4568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822960" y="2103120"/>
            <a:ext cx="640080" cy="640080"/>
          </a:xfrm>
          <a:prstGeom prst="ellipse">
            <a:avLst/>
          </a:prstGeom>
          <a:solidFill>
            <a:srgbClr val="76B900"/>
          </a:solidFill>
          <a:ln>
            <a:noFill/>
          </a:ln>
          <a:effectLst>
            <a:glow rad="101600">
              <a:srgbClr val="76B900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2960" y="21031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200" i="0">
                <a:solidFill>
                  <a:srgbClr val="07080C"/>
                </a:solidFill>
                <a:latin typeface="Segoe UI Semibol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1464" y="2176272"/>
            <a:ext cx="47548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21">
                <a:solidFill>
                  <a:srgbClr val="76B900"/>
                </a:solidFill>
                <a:latin typeface="Segoe Fluent Icons"/>
              </a:rPr>
              <a:t>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880360"/>
            <a:ext cx="2965704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i="0">
                <a:solidFill>
                  <a:srgbClr val="F4F6FA"/>
                </a:solidFill>
                <a:latin typeface="Segoe UI Semibold"/>
              </a:rPr>
              <a:t>Dedicated GPU slot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657600"/>
            <a:ext cx="2965704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AEB6C8"/>
                </a:solidFill>
                <a:latin typeface="Segoe UI"/>
              </a:rPr>
              <a:t>No shared-server contention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37304" y="1828800"/>
            <a:ext cx="3514344" cy="2926080"/>
          </a:xfrm>
          <a:prstGeom prst="roundRect">
            <a:avLst>
              <a:gd name="adj" fmla="val 4375"/>
            </a:avLst>
          </a:prstGeom>
          <a:solidFill>
            <a:srgbClr val="141824"/>
          </a:solidFill>
          <a:ln w="12700">
            <a:solidFill>
              <a:srgbClr val="286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4611624" y="2103120"/>
            <a:ext cx="640080" cy="640080"/>
          </a:xfrm>
          <a:prstGeom prst="ellipse">
            <a:avLst/>
          </a:prstGeom>
          <a:solidFill>
            <a:srgbClr val="3DA9FC"/>
          </a:solidFill>
          <a:ln>
            <a:noFill/>
          </a:ln>
          <a:effectLst>
            <a:glow rad="101600">
              <a:srgbClr val="3DA9FC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611624" y="21031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200" i="0">
                <a:solidFill>
                  <a:srgbClr val="07080C"/>
                </a:solidFill>
                <a:latin typeface="Segoe UI Semibold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20128" y="2176272"/>
            <a:ext cx="47548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21">
                <a:solidFill>
                  <a:srgbClr val="3DA9FC"/>
                </a:solidFill>
                <a:latin typeface="Segoe Fluent Icons"/>
              </a:rPr>
              <a:t>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1624" y="2880360"/>
            <a:ext cx="2965704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i="0">
                <a:solidFill>
                  <a:srgbClr val="F4F6FA"/>
                </a:solidFill>
                <a:latin typeface="Segoe UI Semibold"/>
              </a:rPr>
              <a:t>Early-stop repair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1624" y="3657600"/>
            <a:ext cx="2965704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AEB6C8"/>
                </a:solidFill>
                <a:latin typeface="Segoe UI"/>
              </a:rPr>
              <a:t>Skip passes that cannot win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25968" y="1828800"/>
            <a:ext cx="3514344" cy="2926080"/>
          </a:xfrm>
          <a:prstGeom prst="roundRect">
            <a:avLst>
              <a:gd name="adj" fmla="val 4375"/>
            </a:avLst>
          </a:prstGeom>
          <a:solidFill>
            <a:srgbClr val="141824"/>
          </a:solidFill>
          <a:ln w="12700">
            <a:solidFill>
              <a:srgbClr val="5842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8400288" y="2103120"/>
            <a:ext cx="640080" cy="640080"/>
          </a:xfrm>
          <a:prstGeom prst="ellipse">
            <a:avLst/>
          </a:prstGeom>
          <a:solidFill>
            <a:srgbClr val="9B6BFF"/>
          </a:solidFill>
          <a:ln>
            <a:noFill/>
          </a:ln>
          <a:effectLst>
            <a:glow rad="101600">
              <a:srgbClr val="9B6BFF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400288" y="21031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200" i="0">
                <a:solidFill>
                  <a:srgbClr val="07080C"/>
                </a:solidFill>
                <a:latin typeface="Segoe UI Semibol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08792" y="2176272"/>
            <a:ext cx="47548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21">
                <a:solidFill>
                  <a:srgbClr val="9B6BFF"/>
                </a:solidFill>
                <a:latin typeface="Segoe Fluent Icons"/>
              </a:rPr>
              <a:t>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00288" y="2880360"/>
            <a:ext cx="2965704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i="0">
                <a:solidFill>
                  <a:srgbClr val="F4F6FA"/>
                </a:solidFill>
                <a:latin typeface="Segoe UI Semibold"/>
              </a:rPr>
              <a:t>Held-out briefs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00288" y="3657600"/>
            <a:ext cx="2965704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AEB6C8"/>
                </a:solidFill>
                <a:latin typeface="Segoe UI"/>
              </a:rPr>
              <a:t>Prove it generalizes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029200"/>
            <a:ext cx="11091672" cy="1143000"/>
          </a:xfrm>
          <a:prstGeom prst="roundRect">
            <a:avLst>
              <a:gd name="adj" fmla="val 11200"/>
            </a:avLst>
          </a:prstGeom>
          <a:gradFill rotWithShape="1">
            <a:gsLst>
              <a:gs pos="0">
                <a:srgbClr val="76B900"/>
              </a:gs>
              <a:gs pos="100000">
                <a:srgbClr val="54AF97"/>
              </a:gs>
            </a:gsLst>
            <a:lin scaled="0" ang="0"/>
          </a:gradFill>
          <a:ln>
            <a:noFill/>
          </a:ln>
          <a:effectLst>
            <a:glow rad="177800">
              <a:srgbClr val="76B900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14400" y="5349240"/>
            <a:ext cx="502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55">
                <a:solidFill>
                  <a:srgbClr val="07080C"/>
                </a:solidFill>
                <a:latin typeface="Segoe Fluent Icons"/>
              </a:rPr>
              <a:t>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20" y="5138928"/>
            <a:ext cx="9720072" cy="91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i="0">
                <a:solidFill>
                  <a:srgbClr val="07080C"/>
                </a:solidFill>
                <a:latin typeface="Segoe UI Semibold"/>
              </a:rPr>
              <a:t>Run round 2 distillation on new briefs.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Offline PPTX Forge Benchmark</dc:title>
  <dc:subject/>
  <dc:creator>Offline PPTX Forge</dc:creator>
  <cp:keywords/>
  <dc:description>Generated offline; template=surface_ultra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