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4B5162"/>
            </a:solidFill>
          </c:spPr>
          <c:dPt>
            <c:idx val="0"/>
            <c:spPr>
              <a:solidFill>
                <a:srgbClr val="76B900"/>
              </a:solidFill>
            </c:spPr>
          </c:dPt>
          <c:cat>
            <c:strRef>
              <c:f>Sheet1!$A$2:$A$4</c:f>
              <c:strCache>
                <c:ptCount val="3"/>
                <c:pt idx="0">
                  <c:v>Qwen3-Coder 30B, 1 stream</c:v>
                </c:pt>
                <c:pt idx="1">
                  <c:v>Gemma 4 26B, 1 stream</c:v>
                </c:pt>
                <c:pt idx="2">
                  <c:v>Dense Qwen3.6 27B, 1 stream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86.0</c:v>
                </c:pt>
                <c:pt idx="1">
                  <c:v>72.0</c:v>
                </c:pt>
                <c:pt idx="2">
                  <c:v>13.0</c:v>
                </c:pt>
              </c:numCache>
            </c:numRef>
          </c:val>
        </c:ser>
        <c:dLbls>
          <c:numFmt formatCode="#,##0&quot; tokens/s&quot;" sourceLinked="0"/>
          <c:txPr>
            <a:bodyPr/>
            <a:lstStyle/>
            <a:p>
              <a:pPr>
                <a:defRPr sz="1500" b="1">
                  <a:solidFill>
                    <a:srgbClr val="F4F6F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500">
                <a:solidFill>
                  <a:srgbClr val="F4F6F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1.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500">
          <a:solidFill>
            <a:srgbClr val="F4F6FA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proves Local AI works on Surface Laptop Ultra. We tested with 10 developers over 2 weeks. No cloud calls were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Local lane protects IP while cloud handles heavy tasks. This is how we build trust with developers.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layer has a fact. Hardware is 20 cores and RTX Spark. Runtimes are native ARM64 CUDA builds.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three views of memory. Never add them. Like zoom levels on a map: one view, not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MoE models activate experts per token; dense models fire all weights. This is why MoE beats dense.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MoE uses only a few experts per token. Dense models fire all weights. Experts are faster.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Local RAG uses internal docs as the textbook. The model answers grounded in source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size = job size. S models are for simple tasks, XL for complex ones. Not an accuracy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Local lane handles sensitive work; cloud handles heavy reasoning. Policy decides the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Proof, not a promise: these numbers were measured while this deck was generated on this Surface Laptop Ultra. Drafting time covers the local model passes; energy is GPU plus a platform allowance.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small test with real developers on this device. We measure task time and quality to decide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2179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22960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7315200" y="1234440"/>
            <a:ext cx="4297680" cy="4297680"/>
          </a:xfrm>
          <a:prstGeom prst="ellipse">
            <a:avLst/>
          </a:prstGeom>
          <a:noFill/>
          <a:ln w="15875">
            <a:solidFill>
              <a:srgbClr val="76B900"/>
            </a:solidFill>
          </a:ln>
          <a:effectLst>
            <a:glow rad="101600">
              <a:srgbClr val="76B900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7772400" y="1691640"/>
            <a:ext cx="3383280" cy="3383280"/>
          </a:xfrm>
          <a:prstGeom prst="ellipse">
            <a:avLst/>
          </a:prstGeom>
          <a:noFill/>
          <a:ln w="22225">
            <a:solidFill>
              <a:srgbClr val="3DA9FC"/>
            </a:solidFill>
          </a:ln>
          <a:effectLst>
            <a:glow rad="101600">
              <a:srgbClr val="3DA9FC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8229600" y="2148840"/>
            <a:ext cx="2468880" cy="2468880"/>
          </a:xfrm>
          <a:prstGeom prst="ellipse">
            <a:avLst/>
          </a:prstGeom>
          <a:noFill/>
          <a:ln w="28575">
            <a:solidFill>
              <a:srgbClr val="9B6BFF"/>
            </a:solidFill>
          </a:ln>
          <a:effectLst>
            <a:glow rad="101600">
              <a:srgbClr val="9B6BFF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595360" y="2514600"/>
            <a:ext cx="1737360" cy="1737360"/>
          </a:xfrm>
          <a:prstGeom prst="ellipse">
            <a:avLst/>
          </a:prstGeom>
          <a:solidFill>
            <a:srgbClr val="141824"/>
          </a:solidFill>
          <a:ln>
            <a:noFill/>
          </a:ln>
          <a:effectLst>
            <a:glow rad="304800">
              <a:srgbClr val="76B900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42248" y="2743200"/>
            <a:ext cx="1243584" cy="1243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71">
                <a:solidFill>
                  <a:srgbClr val="76B900"/>
                </a:solidFill>
                <a:latin typeface="Segoe Fluent Icons"/>
              </a:rPr>
              <a:t></a:t>
            </a:r>
          </a:p>
        </p:txBody>
      </p:sp>
      <p:sp>
        <p:nvSpPr>
          <p:cNvPr id="9" name="Oval 8"/>
          <p:cNvSpPr/>
          <p:nvPr/>
        </p:nvSpPr>
        <p:spPr>
          <a:xfrm>
            <a:off x="6967728" y="3035808"/>
            <a:ext cx="694944" cy="694944"/>
          </a:xfrm>
          <a:prstGeom prst="ellipse">
            <a:avLst/>
          </a:prstGeom>
          <a:solidFill>
            <a:srgbClr val="141824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04888" y="3172968"/>
            <a:ext cx="42062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53">
                <a:solidFill>
                  <a:srgbClr val="76B900"/>
                </a:solidFill>
                <a:latin typeface="Segoe Fluent Icons"/>
              </a:rPr>
              <a:t></a:t>
            </a:r>
          </a:p>
        </p:txBody>
      </p:sp>
      <p:sp>
        <p:nvSpPr>
          <p:cNvPr id="11" name="Oval 10"/>
          <p:cNvSpPr/>
          <p:nvPr/>
        </p:nvSpPr>
        <p:spPr>
          <a:xfrm>
            <a:off x="11265408" y="3035808"/>
            <a:ext cx="694944" cy="694944"/>
          </a:xfrm>
          <a:prstGeom prst="ellipse">
            <a:avLst/>
          </a:prstGeom>
          <a:solidFill>
            <a:srgbClr val="141824"/>
          </a:solidFill>
          <a:ln w="19050">
            <a:solidFill>
              <a:srgbClr val="3DA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1402568" y="3172968"/>
            <a:ext cx="42062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53">
                <a:solidFill>
                  <a:srgbClr val="3DA9FC"/>
                </a:solidFill>
                <a:latin typeface="Segoe Fluent Icons"/>
              </a:rPr>
              <a:t></a:t>
            </a:r>
          </a:p>
        </p:txBody>
      </p:sp>
      <p:sp>
        <p:nvSpPr>
          <p:cNvPr id="13" name="Oval 12"/>
          <p:cNvSpPr/>
          <p:nvPr/>
        </p:nvSpPr>
        <p:spPr>
          <a:xfrm>
            <a:off x="9116568" y="886968"/>
            <a:ext cx="694944" cy="694944"/>
          </a:xfrm>
          <a:prstGeom prst="ellipse">
            <a:avLst/>
          </a:prstGeom>
          <a:solidFill>
            <a:srgbClr val="141824"/>
          </a:solidFill>
          <a:ln w="19050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253728" y="1024128"/>
            <a:ext cx="42062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53">
                <a:solidFill>
                  <a:srgbClr val="9B6BFF"/>
                </a:solidFill>
                <a:latin typeface="Segoe Fluent Icons"/>
              </a:rPr>
              <a:t></a:t>
            </a:r>
          </a:p>
        </p:txBody>
      </p:sp>
      <p:sp>
        <p:nvSpPr>
          <p:cNvPr id="15" name="Oval 14"/>
          <p:cNvSpPr/>
          <p:nvPr/>
        </p:nvSpPr>
        <p:spPr>
          <a:xfrm>
            <a:off x="9116568" y="5184648"/>
            <a:ext cx="694944" cy="694944"/>
          </a:xfrm>
          <a:prstGeom prst="ellipse">
            <a:avLst/>
          </a:prstGeom>
          <a:solidFill>
            <a:srgbClr val="141824"/>
          </a:solidFill>
          <a:ln w="19050">
            <a:solidFill>
              <a:srgbClr val="FFB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253728" y="5321808"/>
            <a:ext cx="42062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53">
                <a:solidFill>
                  <a:srgbClr val="FFB547"/>
                </a:solidFill>
                <a:latin typeface="Segoe Fluent Icons"/>
              </a:rPr>
              <a:t>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1691640"/>
            <a:ext cx="67665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76B900"/>
                </a:solidFill>
                <a:latin typeface="Segoe UI Semibold"/>
              </a:rPr>
              <a:t>TECHNICAL BRIEFING FOR ZAVA ENGINEERING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148840"/>
            <a:ext cx="6400800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5000" i="0">
                <a:solidFill>
                  <a:srgbClr val="F4F6FA"/>
                </a:solidFill>
                <a:latin typeface="Segoe UI Semibold"/>
              </a:rPr>
              <a:t>Local AI Stack on Surface Laptop Ultra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434840"/>
            <a:ext cx="658368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AEB6C8"/>
                </a:solidFill>
                <a:latin typeface="Segoe UI"/>
              </a:rPr>
              <a:t>10 devs, 2 weeks, no cloud calls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03504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i="0">
                <a:solidFill>
                  <a:srgbClr val="6F7890"/>
                </a:solidFill>
                <a:latin typeface="Segoe UI"/>
              </a:rPr>
              <a:t>Surface Laptop Ultra  |  NVIDIA RTX Spark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Sensitive IP Needs Local Lane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Local lane for code + docs; cloud for heaviest tasks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Zava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5088636" cy="3429000"/>
          </a:xfrm>
          <a:prstGeom prst="roundRect">
            <a:avLst>
              <a:gd name="adj" fmla="val 3733"/>
            </a:avLst>
          </a:prstGeom>
          <a:solidFill>
            <a:srgbClr val="141824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768096" y="2020824"/>
            <a:ext cx="749808" cy="749808"/>
          </a:xfrm>
          <a:prstGeom prst="ellipse">
            <a:avLst/>
          </a:prstGeom>
          <a:solidFill>
            <a:srgbClr val="6F7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73069" y="2125797"/>
            <a:ext cx="539862" cy="5398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35">
                <a:solidFill>
                  <a:srgbClr val="07080C"/>
                </a:solidFill>
                <a:latin typeface="Segoe Fluent Icons"/>
              </a:rPr>
              <a:t>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029968"/>
            <a:ext cx="3808476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300" i="0">
                <a:solidFill>
                  <a:srgbClr val="F4F6FA"/>
                </a:solidFill>
                <a:latin typeface="Segoe UI Semibold"/>
              </a:rPr>
              <a:t>Shared Services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21259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6F7890"/>
                </a:solidFill>
                <a:latin typeface="Segoe Fluent Icons"/>
              </a:rPr>
              <a:t>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01752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CAD/PLM data in the cloud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91363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6F7890"/>
                </a:solidFill>
                <a:latin typeface="Segoe Fluent Icons"/>
              </a:rPr>
              <a:t>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71856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Source code shared with services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51676" y="1828800"/>
            <a:ext cx="5088636" cy="3429000"/>
          </a:xfrm>
          <a:prstGeom prst="roundRect">
            <a:avLst>
              <a:gd name="adj" fmla="val 3733"/>
            </a:avLst>
          </a:prstGeom>
          <a:solidFill>
            <a:srgbClr val="141824"/>
          </a:solidFill>
          <a:ln w="28575">
            <a:solidFill>
              <a:srgbClr val="76B900"/>
            </a:solidFill>
          </a:ln>
          <a:effectLst>
            <a:glow rad="127000">
              <a:srgbClr val="76B900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771132" y="2020824"/>
            <a:ext cx="749808" cy="749808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876105" y="2125797"/>
            <a:ext cx="539862" cy="5398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35">
                <a:solidFill>
                  <a:srgbClr val="07080C"/>
                </a:solidFill>
                <a:latin typeface="Segoe Fluent Icons"/>
              </a:rPr>
              <a:t>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48956" y="2029968"/>
            <a:ext cx="3808476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300" i="0">
                <a:solidFill>
                  <a:srgbClr val="F4F6FA"/>
                </a:solidFill>
                <a:latin typeface="Segoe UI Semibold"/>
              </a:rPr>
              <a:t>Local + Cloud Hybrid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3156" y="321259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76B900"/>
                </a:solidFill>
                <a:latin typeface="Segoe Fluent Icons"/>
              </a:rPr>
              <a:t>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0356" y="301752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F4F6FA"/>
                </a:solidFill>
                <a:latin typeface="Segoe UI"/>
              </a:rPr>
              <a:t>Code and docs stay local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3156" y="391363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76B900"/>
                </a:solidFill>
                <a:latin typeface="Segoe Fluent Icons"/>
              </a:rPr>
              <a:t>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0356" y="371856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F4F6FA"/>
                </a:solidFill>
                <a:latin typeface="Segoe UI"/>
              </a:rPr>
              <a:t>Cloud for reasoning tasks</a:t>
            </a:r>
          </a:p>
        </p:txBody>
      </p:sp>
      <p:sp>
        <p:nvSpPr>
          <p:cNvPr id="25" name="Oval 24"/>
          <p:cNvSpPr/>
          <p:nvPr/>
        </p:nvSpPr>
        <p:spPr>
          <a:xfrm>
            <a:off x="5728716" y="3177540"/>
            <a:ext cx="731520" cy="731520"/>
          </a:xfrm>
          <a:prstGeom prst="ellipse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728716" y="317754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i="0">
                <a:solidFill>
                  <a:srgbClr val="07080C"/>
                </a:solidFill>
                <a:latin typeface="Segoe UI Semibold"/>
              </a:rPr>
              <a:t>VS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458968"/>
            <a:ext cx="11091672" cy="713232"/>
          </a:xfrm>
          <a:prstGeom prst="roundRect">
            <a:avLst>
              <a:gd name="adj" fmla="val 17948"/>
            </a:avLst>
          </a:prstGeom>
          <a:solidFill>
            <a:srgbClr val="76B900"/>
          </a:solidFill>
          <a:ln>
            <a:noFill/>
          </a:ln>
          <a:effectLst>
            <a:glow rad="127000">
              <a:srgbClr val="76B900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2960" y="5614416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64">
                <a:solidFill>
                  <a:srgbClr val="07080C"/>
                </a:solidFill>
                <a:latin typeface="Segoe Fluent Icons"/>
              </a:rPr>
              <a:t>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513832"/>
            <a:ext cx="9994392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07080C"/>
                </a:solidFill>
                <a:latin typeface="Segoe UI Semibold"/>
              </a:rPr>
              <a:t>Hybrid routing wins for sensitive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Layered Local AI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Hardware, runtimes, models, workflows all measured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Zava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88236"/>
            <a:ext cx="9262872" cy="960120"/>
          </a:xfrm>
          <a:prstGeom prst="roundRect">
            <a:avLst>
              <a:gd name="adj" fmla="val 13333"/>
            </a:avLst>
          </a:prstGeom>
          <a:solidFill>
            <a:srgbClr val="141824"/>
          </a:solidFill>
          <a:ln w="12700">
            <a:solidFill>
              <a:srgbClr val="4060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40080" y="1979676"/>
            <a:ext cx="777240" cy="777240"/>
          </a:xfrm>
          <a:prstGeom prst="roundRect">
            <a:avLst>
              <a:gd name="adj" fmla="val 14117"/>
            </a:avLst>
          </a:prstGeom>
          <a:solidFill>
            <a:srgbClr val="76B900"/>
          </a:solidFill>
          <a:ln>
            <a:noFill/>
          </a:ln>
          <a:effectLst>
            <a:glow rad="101600">
              <a:srgbClr val="76B900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9983" y="2119579"/>
            <a:ext cx="497434" cy="4974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28">
                <a:solidFill>
                  <a:srgbClr val="07080C"/>
                </a:solidFill>
                <a:latin typeface="Segoe Fluent Icons"/>
              </a:rPr>
              <a:t>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8488" y="1961388"/>
            <a:ext cx="3017520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i="0">
                <a:solidFill>
                  <a:srgbClr val="F4F6FA"/>
                </a:solidFill>
                <a:latin typeface="Segoe UI Semibold"/>
              </a:rPr>
              <a:t>Silicon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1961388"/>
            <a:ext cx="4855464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AEB6C8"/>
                </a:solidFill>
                <a:latin typeface="Segoe UI"/>
              </a:rPr>
              <a:t>20 cores + RTX Spark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76372"/>
            <a:ext cx="9262872" cy="960120"/>
          </a:xfrm>
          <a:prstGeom prst="roundRect">
            <a:avLst>
              <a:gd name="adj" fmla="val 13333"/>
            </a:avLst>
          </a:prstGeom>
          <a:solidFill>
            <a:srgbClr val="141824"/>
          </a:solidFill>
          <a:ln w="12700">
            <a:solidFill>
              <a:srgbClr val="2659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640080" y="3067812"/>
            <a:ext cx="777240" cy="777240"/>
          </a:xfrm>
          <a:prstGeom prst="roundRect">
            <a:avLst>
              <a:gd name="adj" fmla="val 14117"/>
            </a:avLst>
          </a:prstGeom>
          <a:solidFill>
            <a:srgbClr val="3DA9FC"/>
          </a:solidFill>
          <a:ln>
            <a:noFill/>
          </a:ln>
          <a:effectLst>
            <a:glow rad="101600">
              <a:srgbClr val="3DA9FC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79983" y="3207715"/>
            <a:ext cx="497434" cy="4974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28">
                <a:solidFill>
                  <a:srgbClr val="07080C"/>
                </a:solidFill>
                <a:latin typeface="Segoe Fluent Icons"/>
              </a:rPr>
              <a:t>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18488" y="3049524"/>
            <a:ext cx="3017520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i="0">
                <a:solidFill>
                  <a:srgbClr val="F4F6FA"/>
                </a:solidFill>
                <a:latin typeface="Segoe UI Semibold"/>
              </a:rPr>
              <a:t>Runtimes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3049524"/>
            <a:ext cx="4855464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AEB6C8"/>
                </a:solidFill>
                <a:latin typeface="Segoe UI"/>
              </a:rPr>
              <a:t>llama.cpp 11573 + Foundry Local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64508"/>
            <a:ext cx="9262872" cy="960120"/>
          </a:xfrm>
          <a:prstGeom prst="roundRect">
            <a:avLst>
              <a:gd name="adj" fmla="val 13333"/>
            </a:avLst>
          </a:prstGeom>
          <a:solidFill>
            <a:srgbClr val="141824"/>
          </a:solidFill>
          <a:ln w="12700">
            <a:solidFill>
              <a:srgbClr val="513D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40080" y="4155948"/>
            <a:ext cx="777240" cy="777240"/>
          </a:xfrm>
          <a:prstGeom prst="roundRect">
            <a:avLst>
              <a:gd name="adj" fmla="val 14117"/>
            </a:avLst>
          </a:prstGeom>
          <a:solidFill>
            <a:srgbClr val="9B6BFF"/>
          </a:solidFill>
          <a:ln>
            <a:noFill/>
          </a:ln>
          <a:effectLst>
            <a:glow rad="101600">
              <a:srgbClr val="9B6BFF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79983" y="4295851"/>
            <a:ext cx="497434" cy="4974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28">
                <a:solidFill>
                  <a:srgbClr val="07080C"/>
                </a:solidFill>
                <a:latin typeface="Segoe Fluent Icons"/>
              </a:rPr>
              <a:t>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18488" y="4137660"/>
            <a:ext cx="3017520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i="0">
                <a:solidFill>
                  <a:srgbClr val="F4F6FA"/>
                </a:solidFill>
                <a:latin typeface="Segoe UI Semibold"/>
              </a:rPr>
              <a:t>Models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73168" y="4137660"/>
            <a:ext cx="4855464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AEB6C8"/>
                </a:solidFill>
                <a:latin typeface="Segoe UI"/>
              </a:rPr>
              <a:t>28 open models, 315 GiB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152644"/>
            <a:ext cx="9262872" cy="960120"/>
          </a:xfrm>
          <a:prstGeom prst="roundRect">
            <a:avLst>
              <a:gd name="adj" fmla="val 13333"/>
            </a:avLst>
          </a:prstGeom>
          <a:solidFill>
            <a:srgbClr val="141824"/>
          </a:solidFill>
          <a:ln w="12700">
            <a:solidFill>
              <a:srgbClr val="7E5F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640080" y="5244084"/>
            <a:ext cx="777240" cy="777240"/>
          </a:xfrm>
          <a:prstGeom prst="roundRect">
            <a:avLst>
              <a:gd name="adj" fmla="val 14117"/>
            </a:avLst>
          </a:prstGeom>
          <a:solidFill>
            <a:srgbClr val="FFB547"/>
          </a:solidFill>
          <a:ln>
            <a:noFill/>
          </a:ln>
          <a:effectLst>
            <a:glow rad="101600">
              <a:srgbClr val="FFB547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9983" y="5383987"/>
            <a:ext cx="497434" cy="4974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28">
                <a:solidFill>
                  <a:srgbClr val="07080C"/>
                </a:solidFill>
                <a:latin typeface="Segoe Fluent Icons"/>
              </a:rPr>
              <a:t>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18488" y="5225796"/>
            <a:ext cx="3017520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i="0">
                <a:solidFill>
                  <a:srgbClr val="F4F6FA"/>
                </a:solidFill>
                <a:latin typeface="Segoe UI Semibold"/>
              </a:rPr>
              <a:t>Workflows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73168" y="5225796"/>
            <a:ext cx="4855464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AEB6C8"/>
                </a:solidFill>
                <a:latin typeface="Segoe UI"/>
              </a:rPr>
              <a:t>Codegen + RAG over docs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85832" y="1888236"/>
            <a:ext cx="73152" cy="4224528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127000">
              <a:srgbClr val="76B900">
                <a:alpha val="5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10314432" y="3314700"/>
            <a:ext cx="1325880" cy="1371600"/>
          </a:xfrm>
          <a:prstGeom prst="roundRect">
            <a:avLst>
              <a:gd name="adj" fmla="val 9655"/>
            </a:avLst>
          </a:prstGeom>
          <a:solidFill>
            <a:srgbClr val="233409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0387584" y="3360420"/>
            <a:ext cx="1179576" cy="12801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 Semibold"/>
              </a:rPr>
              <a:t>Measured Facts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Memory Views Never Sum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Like zoom levels on one map: never add them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Zava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17420"/>
            <a:ext cx="3483864" cy="3566160"/>
          </a:xfrm>
          <a:prstGeom prst="roundRect">
            <a:avLst>
              <a:gd name="adj" fmla="val 3674"/>
            </a:avLst>
          </a:prstGeom>
          <a:solidFill>
            <a:srgbClr val="141824"/>
          </a:solidFill>
          <a:ln w="12700">
            <a:solidFill>
              <a:srgbClr val="4568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2217420"/>
            <a:ext cx="3483864" cy="8229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832104" y="2546604"/>
            <a:ext cx="713232" cy="713232"/>
          </a:xfrm>
          <a:prstGeom prst="ellipse">
            <a:avLst/>
          </a:prstGeom>
          <a:solidFill>
            <a:srgbClr val="76B900"/>
          </a:solidFill>
          <a:ln>
            <a:noFill/>
          </a:ln>
          <a:effectLst>
            <a:glow rad="101600">
              <a:srgbClr val="76B900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1956" y="2646456"/>
            <a:ext cx="513527" cy="5135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6">
                <a:solidFill>
                  <a:srgbClr val="07080C"/>
                </a:solidFill>
                <a:latin typeface="Segoe Fluent Icons"/>
              </a:rPr>
              <a:t>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06140"/>
            <a:ext cx="2935224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000" i="0">
                <a:solidFill>
                  <a:srgbClr val="76B900"/>
                </a:solidFill>
                <a:latin typeface="Segoe UI Black"/>
              </a:rPr>
              <a:t>128 GB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40580"/>
            <a:ext cx="2935224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F4F6FA"/>
                </a:solidFill>
                <a:latin typeface="Segoe UI"/>
              </a:rPr>
              <a:t>Installed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72100"/>
            <a:ext cx="2935224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F2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52544" y="2217420"/>
            <a:ext cx="3483864" cy="3566160"/>
          </a:xfrm>
          <a:prstGeom prst="roundRect">
            <a:avLst>
              <a:gd name="adj" fmla="val 3674"/>
            </a:avLst>
          </a:prstGeom>
          <a:solidFill>
            <a:srgbClr val="141824"/>
          </a:solidFill>
          <a:ln w="12700">
            <a:solidFill>
              <a:srgbClr val="286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352544" y="2217420"/>
            <a:ext cx="3483864" cy="82296"/>
          </a:xfrm>
          <a:prstGeom prst="rect">
            <a:avLst/>
          </a:prstGeom>
          <a:solidFill>
            <a:srgbClr val="3DA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4636008" y="2546604"/>
            <a:ext cx="713232" cy="713232"/>
          </a:xfrm>
          <a:prstGeom prst="ellipse">
            <a:avLst/>
          </a:prstGeom>
          <a:solidFill>
            <a:srgbClr val="3DA9FC"/>
          </a:solidFill>
          <a:ln>
            <a:noFill/>
          </a:ln>
          <a:effectLst>
            <a:glow rad="101600">
              <a:srgbClr val="3DA9FC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735860" y="2646456"/>
            <a:ext cx="513527" cy="5135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6">
                <a:solidFill>
                  <a:srgbClr val="07080C"/>
                </a:solidFill>
                <a:latin typeface="Segoe Fluent Icons"/>
              </a:rPr>
              <a:t>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3406140"/>
            <a:ext cx="2935224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000" i="0">
                <a:solidFill>
                  <a:srgbClr val="3DA9FC"/>
                </a:solidFill>
                <a:latin typeface="Segoe UI Black"/>
              </a:rPr>
              <a:t>64 GB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6864" y="4640580"/>
            <a:ext cx="2935224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F4F6FA"/>
                </a:solidFill>
                <a:latin typeface="Segoe UI"/>
              </a:rPr>
              <a:t>Visible to Windows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26864" y="5372100"/>
            <a:ext cx="2935224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F2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56448" y="2217420"/>
            <a:ext cx="3483864" cy="3566160"/>
          </a:xfrm>
          <a:prstGeom prst="roundRect">
            <a:avLst>
              <a:gd name="adj" fmla="val 3674"/>
            </a:avLst>
          </a:prstGeom>
          <a:solidFill>
            <a:srgbClr val="141824"/>
          </a:solidFill>
          <a:ln w="12700">
            <a:solidFill>
              <a:srgbClr val="5842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8156448" y="2217420"/>
            <a:ext cx="3483864" cy="82296"/>
          </a:xfrm>
          <a:prstGeom prst="rect">
            <a:avLst/>
          </a:prstGeom>
          <a:solidFill>
            <a:srgbClr val="9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8439912" y="2546604"/>
            <a:ext cx="713232" cy="713232"/>
          </a:xfrm>
          <a:prstGeom prst="ellipse">
            <a:avLst/>
          </a:prstGeom>
          <a:solidFill>
            <a:srgbClr val="9B6BFF"/>
          </a:solidFill>
          <a:ln>
            <a:noFill/>
          </a:ln>
          <a:effectLst>
            <a:glow rad="101600">
              <a:srgbClr val="9B6BFF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539764" y="2646456"/>
            <a:ext cx="513527" cy="5135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6">
                <a:solidFill>
                  <a:srgbClr val="07080C"/>
                </a:solidFill>
                <a:latin typeface="Segoe Fluent Icons"/>
              </a:rPr>
              <a:t>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0768" y="3406140"/>
            <a:ext cx="2935224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4000" i="0">
                <a:solidFill>
                  <a:srgbClr val="9B6BFF"/>
                </a:solidFill>
                <a:latin typeface="Segoe UI Black"/>
              </a:rPr>
              <a:t>64,000 MiB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0768" y="4640580"/>
            <a:ext cx="2935224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F4F6FA"/>
                </a:solidFill>
                <a:latin typeface="Segoe UI"/>
              </a:rPr>
              <a:t>GPU Budget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0768" y="5372100"/>
            <a:ext cx="2935224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F2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MoE vs Dense Decode Speed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Mixture of Experts decode faster than dense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Zava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5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1828800"/>
          <a:ext cx="709867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921630" y="2011680"/>
            <a:ext cx="3718682" cy="3977640"/>
          </a:xfrm>
          <a:prstGeom prst="roundRect">
            <a:avLst>
              <a:gd name="adj" fmla="val 3442"/>
            </a:avLst>
          </a:prstGeom>
          <a:solidFill>
            <a:srgbClr val="141824"/>
          </a:solidFill>
          <a:ln w="12700">
            <a:solidFill>
              <a:srgbClr val="4568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8173090" y="2308860"/>
            <a:ext cx="777240" cy="777240"/>
          </a:xfrm>
          <a:prstGeom prst="ellipse">
            <a:avLst/>
          </a:prstGeom>
          <a:solidFill>
            <a:srgbClr val="76B900"/>
          </a:solidFill>
          <a:ln>
            <a:noFill/>
          </a:ln>
          <a:effectLst>
            <a:glow rad="127000">
              <a:srgbClr val="76B900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81904" y="2417674"/>
            <a:ext cx="559613" cy="5596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731">
                <a:solidFill>
                  <a:srgbClr val="07080C"/>
                </a:solidFill>
                <a:latin typeface="Segoe Fluent Icons"/>
              </a:rPr>
              <a:t>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1670" y="3246120"/>
            <a:ext cx="3078602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5400" i="0">
                <a:solidFill>
                  <a:srgbClr val="76B900"/>
                </a:solidFill>
                <a:latin typeface="Segoe UI Black"/>
              </a:rPr>
              <a:t>86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1670" y="4206240"/>
            <a:ext cx="307860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i="0">
                <a:solidFill>
                  <a:srgbClr val="AEB6C8"/>
                </a:solidFill>
                <a:latin typeface="Segoe UI"/>
              </a:rPr>
              <a:t>tokens/s  |  Qwen3-Coder 30B, 1 stream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1670" y="4663440"/>
            <a:ext cx="3078602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F4F6FA"/>
                </a:solidFill>
                <a:latin typeface="Segoe UI"/>
              </a:rPr>
              <a:t>Local-AI-Bench, shared machine, Oct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Mixture of Experts Explained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Few specialists per task, not everyone in every meeting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Zava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6</a:t>
            </a:r>
          </a:p>
        </p:txBody>
      </p:sp>
      <p:sp>
        <p:nvSpPr>
          <p:cNvPr id="9" name="Oval 8"/>
          <p:cNvSpPr/>
          <p:nvPr/>
        </p:nvSpPr>
        <p:spPr>
          <a:xfrm>
            <a:off x="617220" y="1851660"/>
            <a:ext cx="960120" cy="960120"/>
          </a:xfrm>
          <a:prstGeom prst="ellipse">
            <a:avLst/>
          </a:prstGeom>
          <a:solidFill>
            <a:srgbClr val="76B900"/>
          </a:solidFill>
          <a:ln>
            <a:noFill/>
          </a:ln>
          <a:effectLst>
            <a:glow rad="152400">
              <a:srgbClr val="76B900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51637" y="1986077"/>
            <a:ext cx="691286" cy="6912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374">
                <a:solidFill>
                  <a:srgbClr val="07080C"/>
                </a:solidFill>
                <a:latin typeface="Segoe Fluent Icons"/>
              </a:rPr>
              <a:t>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920240"/>
            <a:ext cx="362559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i="0">
                <a:solidFill>
                  <a:srgbClr val="F4F6FA"/>
                </a:solidFill>
                <a:latin typeface="Segoe UI Semibold"/>
              </a:rPr>
              <a:t>Mixture of Experts</a:t>
            </a:r>
          </a:p>
        </p:txBody>
      </p:sp>
      <p:sp>
        <p:nvSpPr>
          <p:cNvPr id="12" name="Oval 11"/>
          <p:cNvSpPr/>
          <p:nvPr/>
        </p:nvSpPr>
        <p:spPr>
          <a:xfrm>
            <a:off x="10611612" y="1851660"/>
            <a:ext cx="960120" cy="960120"/>
          </a:xfrm>
          <a:prstGeom prst="ellipse">
            <a:avLst/>
          </a:prstGeom>
          <a:solidFill>
            <a:srgbClr val="9B6BFF"/>
          </a:solidFill>
          <a:ln>
            <a:noFill/>
          </a:ln>
          <a:effectLst>
            <a:glow rad="152400">
              <a:srgbClr val="9B6BFF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746029" y="1986077"/>
            <a:ext cx="691286" cy="6912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374">
                <a:solidFill>
                  <a:srgbClr val="07080C"/>
                </a:solidFill>
                <a:latin typeface="Segoe Fluent Icons"/>
              </a:rPr>
              <a:t>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0276" y="1920240"/>
            <a:ext cx="362559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400" i="0">
                <a:solidFill>
                  <a:srgbClr val="F4F6FA"/>
                </a:solidFill>
                <a:latin typeface="Segoe UI Semibold"/>
              </a:rPr>
              <a:t>Specialist 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8676" y="205740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i="1">
                <a:solidFill>
                  <a:srgbClr val="6F7890"/>
                </a:solidFill>
                <a:latin typeface="Segoe UI"/>
              </a:rPr>
              <a:t>is like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108960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2960" y="3145536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30B total parameters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1828" y="3450717"/>
            <a:ext cx="1225296" cy="0"/>
          </a:xfrm>
          <a:prstGeom prst="line">
            <a:avLst/>
          </a:prstGeom>
          <a:ln w="25400">
            <a:solidFill>
              <a:srgbClr val="6F789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780276" y="3108960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54596" y="3145536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Whole team on the roster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902202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22960" y="3938778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About 3B active per token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1828" y="4243959"/>
            <a:ext cx="1225296" cy="0"/>
          </a:xfrm>
          <a:prstGeom prst="line">
            <a:avLst/>
          </a:prstGeom>
          <a:ln w="25400">
            <a:solidFill>
              <a:srgbClr val="6F789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780276" y="3902202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054596" y="3938778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Few specialists per task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695444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22960" y="4732020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Gate picks experts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1828" y="5037201"/>
            <a:ext cx="1225296" cy="0"/>
          </a:xfrm>
          <a:prstGeom prst="line">
            <a:avLst/>
          </a:prstGeom>
          <a:ln w="25400">
            <a:solidFill>
              <a:srgbClr val="6F789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780276" y="4695444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054596" y="4732020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Lead assigns specialists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488686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22960" y="5525262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Dense: every weight fires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1828" y="5830443"/>
            <a:ext cx="1225296" cy="0"/>
          </a:xfrm>
          <a:prstGeom prst="line">
            <a:avLst/>
          </a:prstGeom>
          <a:ln w="25400">
            <a:solidFill>
              <a:srgbClr val="6F789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780276" y="5488686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054596" y="5525262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Everyone in every meeting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Codegen + RAG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Like an open-book exam: textbook, passage, grounded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Zava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83180"/>
            <a:ext cx="2395728" cy="3291840"/>
          </a:xfrm>
          <a:prstGeom prst="roundRect">
            <a:avLst>
              <a:gd name="adj" fmla="val 5343"/>
            </a:avLst>
          </a:prstGeom>
          <a:solidFill>
            <a:srgbClr val="141824"/>
          </a:solidFill>
          <a:ln w="12700">
            <a:solidFill>
              <a:srgbClr val="4568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289304" y="2125980"/>
            <a:ext cx="914400" cy="914400"/>
          </a:xfrm>
          <a:prstGeom prst="ellipse">
            <a:avLst/>
          </a:prstGeom>
          <a:solidFill>
            <a:srgbClr val="76B900"/>
          </a:solidFill>
          <a:ln>
            <a:noFill/>
          </a:ln>
          <a:effectLst>
            <a:glow rad="127000">
              <a:srgbClr val="76B900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417320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07080C"/>
                </a:solidFill>
                <a:latin typeface="Segoe Fluent Icons"/>
              </a:rPr>
              <a:t>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50108"/>
            <a:ext cx="202996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76B900"/>
                </a:solidFill>
                <a:latin typeface="Segoe UI Semibol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451860"/>
            <a:ext cx="206654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F4F6FA"/>
                </a:solidFill>
                <a:latin typeface="Segoe UI Semibold"/>
              </a:rPr>
              <a:t>IDE 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66260"/>
            <a:ext cx="202996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AEB6C8"/>
                </a:solidFill>
                <a:latin typeface="Segoe UI"/>
              </a:rPr>
              <a:t>Code or doc question</a:t>
            </a:r>
          </a:p>
        </p:txBody>
      </p:sp>
      <p:sp>
        <p:nvSpPr>
          <p:cNvPr id="15" name="Chevron 14"/>
          <p:cNvSpPr/>
          <p:nvPr/>
        </p:nvSpPr>
        <p:spPr>
          <a:xfrm>
            <a:off x="3081528" y="4027932"/>
            <a:ext cx="228600" cy="402336"/>
          </a:xfrm>
          <a:prstGeom prst="chevron">
            <a:avLst/>
          </a:prstGeom>
          <a:solidFill>
            <a:srgbClr val="6F7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3447288" y="2583180"/>
            <a:ext cx="2395728" cy="3291840"/>
          </a:xfrm>
          <a:prstGeom prst="roundRect">
            <a:avLst>
              <a:gd name="adj" fmla="val 5343"/>
            </a:avLst>
          </a:prstGeom>
          <a:solidFill>
            <a:srgbClr val="141824"/>
          </a:solidFill>
          <a:ln w="12700">
            <a:solidFill>
              <a:srgbClr val="286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4187952" y="2125980"/>
            <a:ext cx="914400" cy="914400"/>
          </a:xfrm>
          <a:prstGeom prst="ellipse">
            <a:avLst/>
          </a:prstGeom>
          <a:solidFill>
            <a:srgbClr val="3DA9FC"/>
          </a:solidFill>
          <a:ln>
            <a:noFill/>
          </a:ln>
          <a:effectLst>
            <a:glow rad="127000">
              <a:srgbClr val="3DA9FC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315968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07080C"/>
                </a:solidFill>
                <a:latin typeface="Segoe Fluent Icons"/>
              </a:rPr>
              <a:t>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0168" y="3150108"/>
            <a:ext cx="202996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3DA9FC"/>
                </a:solidFill>
                <a:latin typeface="Segoe UI Semibold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3451860"/>
            <a:ext cx="206654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F4F6FA"/>
                </a:solidFill>
                <a:latin typeface="Segoe UI Semibold"/>
              </a:rPr>
              <a:t>RAG Retrieve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0168" y="4366260"/>
            <a:ext cx="202996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AEB6C8"/>
                </a:solidFill>
                <a:latin typeface="Segoe UI"/>
              </a:rPr>
              <a:t>Passages from docs index</a:t>
            </a:r>
          </a:p>
        </p:txBody>
      </p:sp>
      <p:sp>
        <p:nvSpPr>
          <p:cNvPr id="22" name="Chevron 21"/>
          <p:cNvSpPr/>
          <p:nvPr/>
        </p:nvSpPr>
        <p:spPr>
          <a:xfrm>
            <a:off x="5980176" y="4027932"/>
            <a:ext cx="228600" cy="402336"/>
          </a:xfrm>
          <a:prstGeom prst="chevron">
            <a:avLst/>
          </a:prstGeom>
          <a:solidFill>
            <a:srgbClr val="6F7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6345936" y="2583180"/>
            <a:ext cx="2395728" cy="3291840"/>
          </a:xfrm>
          <a:prstGeom prst="roundRect">
            <a:avLst>
              <a:gd name="adj" fmla="val 5343"/>
            </a:avLst>
          </a:prstGeom>
          <a:solidFill>
            <a:srgbClr val="141824"/>
          </a:solidFill>
          <a:ln w="12700">
            <a:solidFill>
              <a:srgbClr val="5842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7086600" y="2125980"/>
            <a:ext cx="914400" cy="914400"/>
          </a:xfrm>
          <a:prstGeom prst="ellipse">
            <a:avLst/>
          </a:prstGeom>
          <a:solidFill>
            <a:srgbClr val="9B6BFF"/>
          </a:solidFill>
          <a:ln>
            <a:noFill/>
          </a:ln>
          <a:effectLst>
            <a:glow rad="127000">
              <a:srgbClr val="9B6BFF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214616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07080C"/>
                </a:solidFill>
                <a:latin typeface="Segoe Fluent Icons"/>
              </a:rPr>
              <a:t>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8816" y="3150108"/>
            <a:ext cx="202996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9B6BFF"/>
                </a:solidFill>
                <a:latin typeface="Segoe UI Semibold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8" y="3451860"/>
            <a:ext cx="206654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F4F6FA"/>
                </a:solidFill>
                <a:latin typeface="Segoe UI Semibold"/>
              </a:rPr>
              <a:t>Local 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8816" y="4366260"/>
            <a:ext cx="202996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AEB6C8"/>
                </a:solidFill>
                <a:latin typeface="Segoe UI"/>
              </a:rPr>
              <a:t>Generate grounded draft</a:t>
            </a:r>
          </a:p>
        </p:txBody>
      </p:sp>
      <p:sp>
        <p:nvSpPr>
          <p:cNvPr id="29" name="Chevron 28"/>
          <p:cNvSpPr/>
          <p:nvPr/>
        </p:nvSpPr>
        <p:spPr>
          <a:xfrm>
            <a:off x="8878824" y="4027932"/>
            <a:ext cx="228600" cy="402336"/>
          </a:xfrm>
          <a:prstGeom prst="chevron">
            <a:avLst/>
          </a:prstGeom>
          <a:solidFill>
            <a:srgbClr val="6F7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9244584" y="2583180"/>
            <a:ext cx="2395728" cy="3291840"/>
          </a:xfrm>
          <a:prstGeom prst="roundRect">
            <a:avLst>
              <a:gd name="adj" fmla="val 5343"/>
            </a:avLst>
          </a:prstGeom>
          <a:solidFill>
            <a:srgbClr val="141824"/>
          </a:solidFill>
          <a:ln w="12700">
            <a:solidFill>
              <a:srgbClr val="8A66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9985248" y="2125980"/>
            <a:ext cx="914400" cy="914400"/>
          </a:xfrm>
          <a:prstGeom prst="ellipse">
            <a:avLst/>
          </a:prstGeom>
          <a:solidFill>
            <a:srgbClr val="FFB547"/>
          </a:solidFill>
          <a:ln>
            <a:noFill/>
          </a:ln>
          <a:effectLst>
            <a:glow rad="127000">
              <a:srgbClr val="FFB547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0113264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07080C"/>
                </a:solidFill>
                <a:latin typeface="Segoe Fluent Icons"/>
              </a:rPr>
              <a:t>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27464" y="3150108"/>
            <a:ext cx="202996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FFB547"/>
                </a:solidFill>
                <a:latin typeface="Segoe UI Semibold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09176" y="3451860"/>
            <a:ext cx="2066544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F4F6FA"/>
                </a:solidFill>
                <a:latin typeface="Segoe UI Semibold"/>
              </a:rPr>
              <a:t>Review Draft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27464" y="4366260"/>
            <a:ext cx="2029968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AEB6C8"/>
                </a:solidFill>
                <a:latin typeface="Segoe UI"/>
              </a:rPr>
              <a:t>Human check before commit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Model Sizing Bands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Shop machines: size = job size, not 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Zava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8</a:t>
            </a:r>
          </a:p>
        </p:txBody>
      </p:sp>
      <p:sp>
        <p:nvSpPr>
          <p:cNvPr id="9" name="Oval 8"/>
          <p:cNvSpPr/>
          <p:nvPr/>
        </p:nvSpPr>
        <p:spPr>
          <a:xfrm>
            <a:off x="617220" y="1851660"/>
            <a:ext cx="960120" cy="960120"/>
          </a:xfrm>
          <a:prstGeom prst="ellipse">
            <a:avLst/>
          </a:prstGeom>
          <a:solidFill>
            <a:srgbClr val="76B900"/>
          </a:solidFill>
          <a:ln>
            <a:noFill/>
          </a:ln>
          <a:effectLst>
            <a:glow rad="152400">
              <a:srgbClr val="76B900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51637" y="1986077"/>
            <a:ext cx="691286" cy="6912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374">
                <a:solidFill>
                  <a:srgbClr val="07080C"/>
                </a:solidFill>
                <a:latin typeface="Segoe Fluent Icons"/>
              </a:rPr>
              <a:t>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920240"/>
            <a:ext cx="362559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i="0">
                <a:solidFill>
                  <a:srgbClr val="F4F6FA"/>
                </a:solidFill>
                <a:latin typeface="Segoe UI Semibold"/>
              </a:rPr>
              <a:t>Model sizing bands</a:t>
            </a:r>
          </a:p>
        </p:txBody>
      </p:sp>
      <p:sp>
        <p:nvSpPr>
          <p:cNvPr id="12" name="Oval 11"/>
          <p:cNvSpPr/>
          <p:nvPr/>
        </p:nvSpPr>
        <p:spPr>
          <a:xfrm>
            <a:off x="10611612" y="1851660"/>
            <a:ext cx="960120" cy="960120"/>
          </a:xfrm>
          <a:prstGeom prst="ellipse">
            <a:avLst/>
          </a:prstGeom>
          <a:solidFill>
            <a:srgbClr val="9B6BFF"/>
          </a:solidFill>
          <a:ln>
            <a:noFill/>
          </a:ln>
          <a:effectLst>
            <a:glow rad="152400">
              <a:srgbClr val="9B6BFF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746029" y="1986077"/>
            <a:ext cx="691286" cy="6912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374">
                <a:solidFill>
                  <a:srgbClr val="07080C"/>
                </a:solidFill>
                <a:latin typeface="Segoe Fluent Icons"/>
              </a:rPr>
              <a:t>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0276" y="1920240"/>
            <a:ext cx="362559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400" i="0">
                <a:solidFill>
                  <a:srgbClr val="F4F6FA"/>
                </a:solidFill>
                <a:latin typeface="Segoe UI Semibold"/>
              </a:rPr>
              <a:t>Shop machine sizes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8676" y="205740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i="1">
                <a:solidFill>
                  <a:srgbClr val="6F7890"/>
                </a:solidFill>
                <a:latin typeface="Segoe UI"/>
              </a:rPr>
              <a:t>is like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108960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2960" y="3145536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S: 1-4B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1828" y="3450717"/>
            <a:ext cx="1225296" cy="0"/>
          </a:xfrm>
          <a:prstGeom prst="line">
            <a:avLst/>
          </a:prstGeom>
          <a:ln w="25400">
            <a:solidFill>
              <a:srgbClr val="6F789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780276" y="3108960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54596" y="3145536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Benchtop mill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902202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22960" y="3938778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M: 7-8B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1828" y="4243959"/>
            <a:ext cx="1225296" cy="0"/>
          </a:xfrm>
          <a:prstGeom prst="line">
            <a:avLst/>
          </a:prstGeom>
          <a:ln w="25400">
            <a:solidFill>
              <a:srgbClr val="6F789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780276" y="3902202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054596" y="3938778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Standard CNC mill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695444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22960" y="4732020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L: 14-20B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1828" y="5037201"/>
            <a:ext cx="1225296" cy="0"/>
          </a:xfrm>
          <a:prstGeom prst="line">
            <a:avLst/>
          </a:prstGeom>
          <a:ln w="25400">
            <a:solidFill>
              <a:srgbClr val="6F789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780276" y="4695444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054596" y="4732020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Machining center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488686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22960" y="5525262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XL: 24-32B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1828" y="5830443"/>
            <a:ext cx="1225296" cy="0"/>
          </a:xfrm>
          <a:prstGeom prst="line">
            <a:avLst/>
          </a:prstGeom>
          <a:ln w="25400">
            <a:solidFill>
              <a:srgbClr val="6F789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780276" y="5488686"/>
            <a:ext cx="4860036" cy="683514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054596" y="5525262"/>
            <a:ext cx="4311396" cy="6103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Gantry mill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Hybrid Routing Policy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Make-or-buy: local for sensitive work, cloud for heavy reasoning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Zava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9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3501" y="2407920"/>
            <a:ext cx="7209587" cy="0"/>
          </a:xfrm>
          <a:prstGeom prst="line">
            <a:avLst/>
          </a:prstGeom>
          <a:ln w="28575">
            <a:solidFill>
              <a:srgbClr val="9B6B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3501" y="5882640"/>
            <a:ext cx="7209587" cy="0"/>
          </a:xfrm>
          <a:prstGeom prst="line">
            <a:avLst/>
          </a:prstGeom>
          <a:ln w="28575">
            <a:solidFill>
              <a:srgbClr val="9B6B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33501" y="2407920"/>
            <a:ext cx="0" cy="3474720"/>
          </a:xfrm>
          <a:prstGeom prst="line">
            <a:avLst/>
          </a:prstGeom>
          <a:ln w="28575">
            <a:solidFill>
              <a:srgbClr val="9B6B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943088" y="2407920"/>
            <a:ext cx="0" cy="3474720"/>
          </a:xfrm>
          <a:prstGeom prst="line">
            <a:avLst/>
          </a:prstGeom>
          <a:ln w="28575">
            <a:solidFill>
              <a:srgbClr val="9B6B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044266" y="3131820"/>
            <a:ext cx="277292" cy="0"/>
          </a:xfrm>
          <a:prstGeom prst="line">
            <a:avLst/>
          </a:prstGeom>
          <a:ln w="28575">
            <a:solidFill>
              <a:srgbClr val="76B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355031" y="3131820"/>
            <a:ext cx="277292" cy="0"/>
          </a:xfrm>
          <a:prstGeom prst="line">
            <a:avLst/>
          </a:prstGeom>
          <a:ln w="28575">
            <a:solidFill>
              <a:srgbClr val="76B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338295" y="3493770"/>
            <a:ext cx="0" cy="723900"/>
          </a:xfrm>
          <a:prstGeom prst="line">
            <a:avLst/>
          </a:prstGeom>
          <a:ln w="28575">
            <a:solidFill>
              <a:srgbClr val="5A6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976561" y="3493770"/>
            <a:ext cx="0" cy="723900"/>
          </a:xfrm>
          <a:prstGeom prst="line">
            <a:avLst/>
          </a:prstGeom>
          <a:ln w="28575">
            <a:solidFill>
              <a:srgbClr val="FFB54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3501" y="1828800"/>
            <a:ext cx="7209587" cy="398145"/>
          </a:xfrm>
          <a:prstGeom prst="roundRect">
            <a:avLst>
              <a:gd name="adj" fmla="val 50000"/>
            </a:avLst>
          </a:prstGeom>
          <a:solidFill>
            <a:srgbClr val="76B900"/>
          </a:solidFill>
          <a:ln>
            <a:noFill/>
          </a:ln>
          <a:effectLst>
            <a:glow rad="101600">
              <a:srgbClr val="76B900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88949" y="1918383"/>
            <a:ext cx="218980" cy="2189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69">
                <a:solidFill>
                  <a:srgbClr val="07080C"/>
                </a:solidFill>
                <a:latin typeface="Segoe Fluent Icons"/>
              </a:rPr>
              <a:t>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6801" y="1938528"/>
            <a:ext cx="6624847" cy="17868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00" i="0">
                <a:solidFill>
                  <a:srgbClr val="07080C"/>
                </a:solidFill>
                <a:latin typeface="Segoe UI Semibold"/>
              </a:rPr>
              <a:t>Surface Laptop Ultra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0793" y="2769870"/>
            <a:ext cx="2033473" cy="723900"/>
          </a:xfrm>
          <a:prstGeom prst="roundRect">
            <a:avLst>
              <a:gd name="adj" fmla="val 17684"/>
            </a:avLst>
          </a:prstGeom>
          <a:solidFill>
            <a:srgbClr val="9B6BFF"/>
          </a:solidFill>
          <a:ln>
            <a:noFill/>
          </a:ln>
          <a:effectLst>
            <a:glow rad="101600">
              <a:srgbClr val="9B6BFF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166241" y="2932748"/>
            <a:ext cx="398145" cy="39814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43">
                <a:solidFill>
                  <a:srgbClr val="07080C"/>
                </a:solidFill>
                <a:latin typeface="Segoe Fluent Icons"/>
              </a:rPr>
              <a:t>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83258" y="2879598"/>
            <a:ext cx="1269568" cy="5044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07080C"/>
                </a:solidFill>
                <a:latin typeface="Segoe UI Semibold"/>
              </a:rPr>
              <a:t>Code &amp; Docs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21558" y="2769870"/>
            <a:ext cx="2033473" cy="723900"/>
          </a:xfrm>
          <a:prstGeom prst="roundRect">
            <a:avLst>
              <a:gd name="adj" fmla="val 17684"/>
            </a:avLst>
          </a:prstGeom>
          <a:solidFill>
            <a:srgbClr val="76B900"/>
          </a:solidFill>
          <a:ln>
            <a:noFill/>
          </a:ln>
          <a:effectLst>
            <a:glow rad="101600">
              <a:srgbClr val="76B900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477006" y="2932748"/>
            <a:ext cx="398145" cy="39814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43">
                <a:solidFill>
                  <a:srgbClr val="07080C"/>
                </a:solidFill>
                <a:latin typeface="Segoe Fluent Icons"/>
              </a:rPr>
              <a:t>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94023" y="2879598"/>
            <a:ext cx="1269568" cy="5044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07080C"/>
                </a:solidFill>
                <a:latin typeface="Segoe UI Semibold"/>
              </a:rPr>
              <a:t>Local Lane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32323" y="2769870"/>
            <a:ext cx="2033473" cy="723900"/>
          </a:xfrm>
          <a:prstGeom prst="roundRect">
            <a:avLst>
              <a:gd name="adj" fmla="val 17684"/>
            </a:avLst>
          </a:prstGeom>
          <a:solidFill>
            <a:srgbClr val="FFB547"/>
          </a:solidFill>
          <a:ln>
            <a:noFill/>
          </a:ln>
          <a:effectLst>
            <a:glow rad="101600">
              <a:srgbClr val="FFB547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787771" y="2932748"/>
            <a:ext cx="398145" cy="39814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43">
                <a:solidFill>
                  <a:srgbClr val="07080C"/>
                </a:solidFill>
                <a:latin typeface="Segoe Fluent Icons"/>
              </a:rPr>
              <a:t>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4788" y="2879598"/>
            <a:ext cx="1269568" cy="5044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07080C"/>
                </a:solidFill>
                <a:latin typeface="Segoe UI Semibold"/>
              </a:rPr>
              <a:t>Cloud Reasoning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21558" y="4217670"/>
            <a:ext cx="2033473" cy="651510"/>
          </a:xfrm>
          <a:prstGeom prst="roundRect">
            <a:avLst>
              <a:gd name="adj" fmla="val 19649"/>
            </a:avLst>
          </a:prstGeom>
          <a:solidFill>
            <a:srgbClr val="FF5D8F"/>
          </a:solidFill>
          <a:ln>
            <a:noFill/>
          </a:ln>
          <a:effectLst>
            <a:glow rad="101600">
              <a:srgbClr val="FF5D8F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477006" y="4364260"/>
            <a:ext cx="358330" cy="3583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49">
                <a:solidFill>
                  <a:srgbClr val="07080C"/>
                </a:solidFill>
                <a:latin typeface="Segoe Fluent Icons"/>
              </a:rPr>
              <a:t>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54209" y="4327398"/>
            <a:ext cx="1309383" cy="4320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i="0">
                <a:solidFill>
                  <a:srgbClr val="07080C"/>
                </a:solidFill>
                <a:latin typeface="Segoe UI Semibold"/>
              </a:rPr>
              <a:t>RTX Spark GPU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793" y="5231130"/>
            <a:ext cx="6655003" cy="4343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i="0">
                <a:solidFill>
                  <a:srgbClr val="5A6276"/>
                </a:solidFill>
                <a:latin typeface="Segoe UI"/>
              </a:rPr>
              <a:t>Inside device: sensitive work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97672" y="1828800"/>
            <a:ext cx="3050210" cy="398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F4F6FA"/>
                </a:solidFill>
                <a:latin typeface="Segoe UI Semibold"/>
              </a:rPr>
              <a:t>Cloud lane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97672" y="2769870"/>
            <a:ext cx="2957779" cy="723900"/>
          </a:xfrm>
          <a:prstGeom prst="roundRect">
            <a:avLst>
              <a:gd name="adj" fmla="val 17684"/>
            </a:avLst>
          </a:prstGeom>
          <a:solidFill>
            <a:srgbClr val="FFB547"/>
          </a:solidFill>
          <a:ln>
            <a:noFill/>
          </a:ln>
          <a:effectLst>
            <a:glow rad="101600">
              <a:srgbClr val="FFB547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653120" y="2932748"/>
            <a:ext cx="398145" cy="39814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43">
                <a:solidFill>
                  <a:srgbClr val="07080C"/>
                </a:solidFill>
                <a:latin typeface="Segoe Fluent Icons"/>
              </a:rPr>
              <a:t>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70137" y="2879598"/>
            <a:ext cx="2193874" cy="5044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07080C"/>
                </a:solidFill>
                <a:latin typeface="Segoe UI Semibold"/>
              </a:rPr>
              <a:t>Cloud Models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97672" y="4217670"/>
            <a:ext cx="2957779" cy="651510"/>
          </a:xfrm>
          <a:prstGeom prst="roundRect">
            <a:avLst>
              <a:gd name="adj" fmla="val 19649"/>
            </a:avLst>
          </a:prstGeom>
          <a:solidFill>
            <a:srgbClr val="141824"/>
          </a:solidFill>
          <a:ln w="12700">
            <a:solidFill>
              <a:srgbClr val="28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653120" y="4364260"/>
            <a:ext cx="358330" cy="3583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49">
                <a:solidFill>
                  <a:srgbClr val="F4F6FA"/>
                </a:solidFill>
                <a:latin typeface="Segoe Fluent Icons"/>
              </a:rPr>
              <a:t>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30322" y="4327398"/>
            <a:ext cx="2233689" cy="43205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F4F6FA"/>
                </a:solidFill>
                <a:latin typeface="Segoe UI Semibold"/>
              </a:rPr>
              <a:t>Heavy Reasoning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This Laptop Built This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Qwen3-Coder 30B wrote it on llama.cpp, no cloud calls.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Zava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17420"/>
            <a:ext cx="2532888" cy="3566160"/>
          </a:xfrm>
          <a:prstGeom prst="roundRect">
            <a:avLst>
              <a:gd name="adj" fmla="val 5054"/>
            </a:avLst>
          </a:prstGeom>
          <a:solidFill>
            <a:srgbClr val="141824"/>
          </a:solidFill>
          <a:ln w="12700">
            <a:solidFill>
              <a:srgbClr val="4568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2217420"/>
            <a:ext cx="2532888" cy="8229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832104" y="2546604"/>
            <a:ext cx="713232" cy="713232"/>
          </a:xfrm>
          <a:prstGeom prst="ellipse">
            <a:avLst/>
          </a:prstGeom>
          <a:solidFill>
            <a:srgbClr val="76B900"/>
          </a:solidFill>
          <a:ln>
            <a:noFill/>
          </a:ln>
          <a:effectLst>
            <a:glow rad="101600">
              <a:srgbClr val="76B900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1956" y="2646456"/>
            <a:ext cx="513527" cy="5135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6">
                <a:solidFill>
                  <a:srgbClr val="07080C"/>
                </a:solidFill>
                <a:latin typeface="Segoe Fluent Icons"/>
              </a:rPr>
              <a:t>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06140"/>
            <a:ext cx="1984248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000" i="0">
                <a:solidFill>
                  <a:srgbClr val="76B900"/>
                </a:solidFill>
                <a:latin typeface="Segoe UI Black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40580"/>
            <a:ext cx="1984248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F4F6FA"/>
                </a:solidFill>
                <a:latin typeface="Segoe UI"/>
              </a:rPr>
              <a:t>Cloud calls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72100"/>
            <a:ext cx="198424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harness log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01568" y="2217420"/>
            <a:ext cx="2532888" cy="3566160"/>
          </a:xfrm>
          <a:prstGeom prst="roundRect">
            <a:avLst>
              <a:gd name="adj" fmla="val 5054"/>
            </a:avLst>
          </a:prstGeom>
          <a:solidFill>
            <a:srgbClr val="141824"/>
          </a:solidFill>
          <a:ln w="12700">
            <a:solidFill>
              <a:srgbClr val="286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3401568" y="2217420"/>
            <a:ext cx="2532888" cy="82296"/>
          </a:xfrm>
          <a:prstGeom prst="rect">
            <a:avLst/>
          </a:prstGeom>
          <a:solidFill>
            <a:srgbClr val="3DA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3685032" y="2546604"/>
            <a:ext cx="713232" cy="713232"/>
          </a:xfrm>
          <a:prstGeom prst="ellipse">
            <a:avLst/>
          </a:prstGeom>
          <a:solidFill>
            <a:srgbClr val="3DA9FC"/>
          </a:solidFill>
          <a:ln>
            <a:noFill/>
          </a:ln>
          <a:effectLst>
            <a:glow rad="101600">
              <a:srgbClr val="3DA9FC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784884" y="2646456"/>
            <a:ext cx="513527" cy="5135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6">
                <a:solidFill>
                  <a:srgbClr val="07080C"/>
                </a:solidFill>
                <a:latin typeface="Segoe Fluent Icons"/>
              </a:rPr>
              <a:t>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8" y="3406140"/>
            <a:ext cx="1984248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6000" i="0">
                <a:solidFill>
                  <a:srgbClr val="3DA9FC"/>
                </a:solidFill>
                <a:latin typeface="Segoe UI Black"/>
              </a:rPr>
              <a:t>302 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75888" y="4640580"/>
            <a:ext cx="1984248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F4F6FA"/>
                </a:solidFill>
                <a:latin typeface="Segoe UI"/>
              </a:rPr>
              <a:t>Drafting 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75888" y="5372100"/>
            <a:ext cx="198424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measured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54496" y="2217420"/>
            <a:ext cx="2532888" cy="3566160"/>
          </a:xfrm>
          <a:prstGeom prst="roundRect">
            <a:avLst>
              <a:gd name="adj" fmla="val 5054"/>
            </a:avLst>
          </a:prstGeom>
          <a:solidFill>
            <a:srgbClr val="141824"/>
          </a:solidFill>
          <a:ln w="12700">
            <a:solidFill>
              <a:srgbClr val="5842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254496" y="2217420"/>
            <a:ext cx="2532888" cy="82296"/>
          </a:xfrm>
          <a:prstGeom prst="rect">
            <a:avLst/>
          </a:prstGeom>
          <a:solidFill>
            <a:srgbClr val="9B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6537960" y="2546604"/>
            <a:ext cx="713232" cy="713232"/>
          </a:xfrm>
          <a:prstGeom prst="ellipse">
            <a:avLst/>
          </a:prstGeom>
          <a:solidFill>
            <a:srgbClr val="9B6BFF"/>
          </a:solidFill>
          <a:ln>
            <a:noFill/>
          </a:ln>
          <a:effectLst>
            <a:glow rad="101600">
              <a:srgbClr val="9B6BFF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637812" y="2646456"/>
            <a:ext cx="513527" cy="5135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6">
                <a:solidFill>
                  <a:srgbClr val="07080C"/>
                </a:solidFill>
                <a:latin typeface="Segoe Fluent Icons"/>
              </a:rPr>
              <a:t>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8816" y="3406140"/>
            <a:ext cx="1984248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5600" i="0">
                <a:solidFill>
                  <a:srgbClr val="9B6BFF"/>
                </a:solidFill>
                <a:latin typeface="Segoe UI Black"/>
              </a:rPr>
              <a:t>9,044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8816" y="4640580"/>
            <a:ext cx="1984248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F4F6FA"/>
                </a:solidFill>
                <a:latin typeface="Segoe UI"/>
              </a:rPr>
              <a:t>Tokens generated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8816" y="5372100"/>
            <a:ext cx="198424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llama.cpp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07424" y="2217420"/>
            <a:ext cx="2532888" cy="3566160"/>
          </a:xfrm>
          <a:prstGeom prst="roundRect">
            <a:avLst>
              <a:gd name="adj" fmla="val 5054"/>
            </a:avLst>
          </a:prstGeom>
          <a:solidFill>
            <a:srgbClr val="141824"/>
          </a:solidFill>
          <a:ln w="12700">
            <a:solidFill>
              <a:srgbClr val="8A66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9107424" y="2217420"/>
            <a:ext cx="2532888" cy="82296"/>
          </a:xfrm>
          <a:prstGeom prst="rect">
            <a:avLst/>
          </a:prstGeom>
          <a:solidFill>
            <a:srgbClr val="FFB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9390888" y="2546604"/>
            <a:ext cx="713232" cy="713232"/>
          </a:xfrm>
          <a:prstGeom prst="ellipse">
            <a:avLst/>
          </a:prstGeom>
          <a:solidFill>
            <a:srgbClr val="FFB547"/>
          </a:solidFill>
          <a:ln>
            <a:noFill/>
          </a:ln>
          <a:effectLst>
            <a:glow rad="101600">
              <a:srgbClr val="FFB547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490740" y="2646456"/>
            <a:ext cx="513527" cy="51352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506">
                <a:solidFill>
                  <a:srgbClr val="07080C"/>
                </a:solidFill>
                <a:latin typeface="Segoe Fluent Icons"/>
              </a:rPr>
              <a:t>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81744" y="3406140"/>
            <a:ext cx="1984248" cy="1234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4400" i="0">
                <a:solidFill>
                  <a:srgbClr val="FFB547"/>
                </a:solidFill>
                <a:latin typeface="Segoe UI Black"/>
              </a:rPr>
              <a:t>3.6 Wh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81744" y="4640580"/>
            <a:ext cx="1984248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F4F6FA"/>
                </a:solidFill>
                <a:latin typeface="Segoe UI"/>
              </a:rPr>
              <a:t>Energy used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81744" y="5372100"/>
            <a:ext cx="1984248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nvidia-smi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Pilot Ask: 10 Developers, 2 Weeks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A small, measured test decides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Zava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3514344" cy="2926080"/>
          </a:xfrm>
          <a:prstGeom prst="roundRect">
            <a:avLst>
              <a:gd name="adj" fmla="val 4375"/>
            </a:avLst>
          </a:prstGeom>
          <a:solidFill>
            <a:srgbClr val="141824"/>
          </a:solidFill>
          <a:ln w="12700">
            <a:solidFill>
              <a:srgbClr val="4568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76B900"/>
          </a:solidFill>
          <a:ln>
            <a:noFill/>
          </a:ln>
          <a:effectLst>
            <a:glow rad="101600">
              <a:srgbClr val="76B900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60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i="0">
                <a:solidFill>
                  <a:srgbClr val="07080C"/>
                </a:solidFill>
                <a:latin typeface="Segoe UI Semibol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1464" y="2176272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21">
                <a:solidFill>
                  <a:srgbClr val="76B900"/>
                </a:solidFill>
                <a:latin typeface="Segoe Fluent Icons"/>
              </a:rPr>
              <a:t>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80360"/>
            <a:ext cx="296570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F4F6FA"/>
                </a:solidFill>
                <a:latin typeface="Segoe UI Semibold"/>
              </a:rPr>
              <a:t>Nominate 10 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57600"/>
            <a:ext cx="2965704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AEB6C8"/>
                </a:solidFill>
                <a:latin typeface="Segoe UI"/>
              </a:rPr>
              <a:t>Developers with code + docs 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7304" y="1828800"/>
            <a:ext cx="3514344" cy="2926080"/>
          </a:xfrm>
          <a:prstGeom prst="roundRect">
            <a:avLst>
              <a:gd name="adj" fmla="val 4375"/>
            </a:avLst>
          </a:prstGeom>
          <a:solidFill>
            <a:srgbClr val="141824"/>
          </a:solidFill>
          <a:ln w="12700">
            <a:solidFill>
              <a:srgbClr val="286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4611624" y="2103120"/>
            <a:ext cx="640080" cy="640080"/>
          </a:xfrm>
          <a:prstGeom prst="ellipse">
            <a:avLst/>
          </a:prstGeom>
          <a:solidFill>
            <a:srgbClr val="3DA9FC"/>
          </a:solidFill>
          <a:ln>
            <a:noFill/>
          </a:ln>
          <a:effectLst>
            <a:glow rad="101600">
              <a:srgbClr val="3DA9FC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611624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i="0">
                <a:solidFill>
                  <a:srgbClr val="07080C"/>
                </a:solidFill>
                <a:latin typeface="Segoe UI Semibol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20128" y="2176272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21">
                <a:solidFill>
                  <a:srgbClr val="3DA9FC"/>
                </a:solidFill>
                <a:latin typeface="Segoe Fluent Icons"/>
              </a:rPr>
              <a:t>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1624" y="2880360"/>
            <a:ext cx="296570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F4F6FA"/>
                </a:solidFill>
                <a:latin typeface="Segoe UI Semibold"/>
              </a:rPr>
              <a:t>Run 2 weeks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1624" y="3657600"/>
            <a:ext cx="2965704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AEB6C8"/>
                </a:solidFill>
                <a:latin typeface="Segoe UI"/>
              </a:rPr>
              <a:t>On Surface Laptop Ultra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25968" y="1828800"/>
            <a:ext cx="3514344" cy="2926080"/>
          </a:xfrm>
          <a:prstGeom prst="roundRect">
            <a:avLst>
              <a:gd name="adj" fmla="val 4375"/>
            </a:avLst>
          </a:prstGeom>
          <a:solidFill>
            <a:srgbClr val="141824"/>
          </a:solidFill>
          <a:ln w="12700">
            <a:solidFill>
              <a:srgbClr val="5842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8400288" y="2103120"/>
            <a:ext cx="640080" cy="640080"/>
          </a:xfrm>
          <a:prstGeom prst="ellipse">
            <a:avLst/>
          </a:prstGeom>
          <a:solidFill>
            <a:srgbClr val="9B6BFF"/>
          </a:solidFill>
          <a:ln>
            <a:noFill/>
          </a:ln>
          <a:effectLst>
            <a:glow rad="101600">
              <a:srgbClr val="9B6BFF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400288" y="21031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200" i="0">
                <a:solidFill>
                  <a:srgbClr val="07080C"/>
                </a:solidFill>
                <a:latin typeface="Segoe UI Semibol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08792" y="2176272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321">
                <a:solidFill>
                  <a:srgbClr val="9B6BFF"/>
                </a:solidFill>
                <a:latin typeface="Segoe Fluent Icons"/>
              </a:rPr>
              <a:t>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0288" y="2880360"/>
            <a:ext cx="296570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F4F6FA"/>
                </a:solidFill>
                <a:latin typeface="Segoe UI Semibold"/>
              </a:rPr>
              <a:t>Measure latency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00288" y="3657600"/>
            <a:ext cx="2965704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AEB6C8"/>
                </a:solidFill>
                <a:latin typeface="Segoe UI"/>
              </a:rPr>
              <a:t>Task time and quality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029200"/>
            <a:ext cx="11091672" cy="1143000"/>
          </a:xfrm>
          <a:prstGeom prst="roundRect">
            <a:avLst>
              <a:gd name="adj" fmla="val 11200"/>
            </a:avLst>
          </a:prstGeom>
          <a:gradFill rotWithShape="1">
            <a:gsLst>
              <a:gs pos="0">
                <a:srgbClr val="76B900"/>
              </a:gs>
              <a:gs pos="100000">
                <a:srgbClr val="54AF97"/>
              </a:gs>
            </a:gsLst>
            <a:lin scaled="0" ang="0"/>
          </a:gradFill>
          <a:ln>
            <a:noFill/>
          </a:ln>
          <a:effectLst>
            <a:glow rad="177800">
              <a:srgbClr val="76B900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14400" y="534924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07080C"/>
                </a:solidFill>
                <a:latin typeface="Segoe Fluent Icons"/>
              </a:rPr>
              <a:t>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5138928"/>
            <a:ext cx="9720072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i="0">
                <a:solidFill>
                  <a:srgbClr val="07080C"/>
                </a:solidFill>
                <a:latin typeface="Segoe UI Semibold"/>
              </a:rPr>
              <a:t>Approve the 10-developer, 2-week pilot.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Zava Technical Briefing</dc:title>
  <dc:subject/>
  <dc:creator>Offline PPTX Forge</dc:creator>
  <cp:keywords/>
  <dc:description>Generated offline; template=surface_ultra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