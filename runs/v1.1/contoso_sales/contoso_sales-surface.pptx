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reality: many consultants, repeated reports, unreliable connectivity. This impacts efficiency and quality. The hybrid approach adds local capability for sensitive work while keeping the cloud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their reality: many people, repeated reports, unreliable connectivity. This impacts efficiency and quality. Like a traffic jam, these delays slow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hybrid idea to familiar terms: a safe for sensitive work and a concierge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side wins: keep Copilot, add a local lane for sensitive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 = four dashed lines; labeled boxes with icons; arrows show the path; the cloud lane sits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high/high quadrant (repetitive and sensitive) is best served by the local lane. Like a specialized team, this approach assigns tasks to the right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validates disconnected use, like testing a map before a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with RTX Spark supports local AI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capacity: 1,200 consultants x 6 summaries x 5 minutes x 46 weeks = 27,600 hours/year.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a small, time-boxed test to measure real-world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steps, then one sentence ask with size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59536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863840" y="1417320"/>
            <a:ext cx="3566160" cy="3566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0" y="2240280"/>
            <a:ext cx="1920240" cy="1920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74">
                <a:solidFill>
                  <a:srgbClr val="1F5FBF"/>
                </a:solidFill>
                <a:latin typeface="Segoe Fluent Icons"/>
              </a:rPr>
              <a:t></a:t>
            </a:r>
          </a:p>
        </p:txBody>
      </p:sp>
      <p:sp>
        <p:nvSpPr>
          <p:cNvPr id="6" name="Oval 5"/>
          <p:cNvSpPr/>
          <p:nvPr/>
        </p:nvSpPr>
        <p:spPr>
          <a:xfrm>
            <a:off x="7452360" y="12344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F5FBF"/>
                </a:solidFill>
                <a:latin typeface="Segoe Fluent Icons"/>
              </a:rPr>
              <a:t></a:t>
            </a:r>
          </a:p>
        </p:txBody>
      </p:sp>
      <p:sp>
        <p:nvSpPr>
          <p:cNvPr id="8" name="Oval 7"/>
          <p:cNvSpPr/>
          <p:nvPr/>
        </p:nvSpPr>
        <p:spPr>
          <a:xfrm>
            <a:off x="10744200" y="18288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27080" y="20116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3F8F7E"/>
                </a:solidFill>
                <a:latin typeface="Segoe Fluent Icons"/>
              </a:rPr>
              <a:t>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4297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B8742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0" y="43434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4200" y="4526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6B5BD2"/>
                </a:solidFill>
                <a:latin typeface="Segoe Fluent Icons"/>
              </a:rPr>
              <a:t>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CONTOSO PILOT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41414"/>
                </a:solidFill>
                <a:latin typeface="Segoe UI Semibold"/>
              </a:rPr>
              <a:t>Local AI for Traveling Consultants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4A4A4A"/>
                </a:solidFill>
                <a:latin typeface="Segoe UI"/>
              </a:rPr>
              <a:t>Hybrid lane adds sensitive drafting without replacing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C8780"/>
                </a:solidFill>
                <a:latin typeface="Segoe UI"/>
              </a:rPr>
              <a:t>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Consultant Workload and Connectivity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Repeated summaries and patchy Wi-Fi slow site visits like a traffic jam.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6498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F5FBF"/>
                </a:solidFill>
                <a:latin typeface="Segoe UI Light"/>
              </a:rPr>
              <a:t>1,200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Traveling consultants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F2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6498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F8F7E"/>
                </a:solidFill>
                <a:latin typeface="Segoe UI Light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Summaries per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F3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6498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700" i="0">
                <a:solidFill>
                  <a:srgbClr val="B8742F"/>
                </a:solidFill>
                <a:latin typeface="Segoe UI Light"/>
              </a:rPr>
              <a:t>25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Per summary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F4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6498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6B5BD2"/>
                </a:solidFill>
                <a:latin typeface="Segoe UI Light"/>
              </a:rPr>
              <a:t>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Sites without Wi-Fi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F5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Hybrid AI Lanes Like a Hotel Safe and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lane for sensitive work, cloud assistant for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Hybrid AI lanes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Hotel safe + concierge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Local lane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Room safe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Sensitive client files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Passport and valuables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Concierge for everything else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Consultant decides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Guest chooses what goes 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Current Lane vs Recommended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Keep cloud assistant, add local lane for sensitive drafting.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Current 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All work in the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No local 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F5FBF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Recommended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Local lane for sensitive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Cloud assistant for everything else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7F5F2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23076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Add a local lane to the existing cloud assistant.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Sensitive Work Stays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Files, prompts and drafts stay inside device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B874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A19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6B5B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FFFFFF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22736"/>
            </a:avLst>
          </a:prstGeom>
          <a:solidFill>
            <a:srgbClr val="B8742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Site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22736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22736"/>
            </a:avLst>
          </a:prstGeom>
          <a:solidFill>
            <a:srgbClr val="3F8F7E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Reviewed draft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25263"/>
            </a:avLst>
          </a:prstGeom>
          <a:solidFill>
            <a:srgbClr val="C2416B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 Semibold"/>
              </a:rPr>
              <a:t>RTX Spark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19D97"/>
                </a:solidFill>
                <a:latin typeface="Segoe UI"/>
              </a:rPr>
              <a:t>Inside the boundary: files, prompts, drafts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Cloud lane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22736"/>
            </a:avLst>
          </a:prstGeom>
          <a:solidFill>
            <a:srgbClr val="6B5BD2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Existing cloud assistant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252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141414"/>
                </a:solidFill>
                <a:latin typeface="Segoe Fluent Icons"/>
              </a:rPr>
              <a:t>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41414"/>
                </a:solidFill>
                <a:latin typeface="Segoe UI Semibold"/>
              </a:rPr>
              <a:t>Everyday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Routing Work to the Right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Sensitive and repetitive work goes to local lane like a specialized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4A4A4A"/>
                </a:solidFill>
                <a:latin typeface="Segoe UI"/>
              </a:rPr>
              <a:t>Repetition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4A4A4A"/>
                </a:solidFill>
                <a:latin typeface="Segoe UI"/>
              </a:rPr>
              <a:t>Sensitivity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Low Repetition, Low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Use cloud 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3F8F7E"/>
                </a:solidFill>
                <a:latin typeface="Segoe Fluent Icons"/>
              </a:rPr>
              <a:t>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High Repetition, Low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cloud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B8742F"/>
                </a:solidFill>
                <a:latin typeface="Segoe Fluent Icons"/>
              </a:rPr>
              <a:t>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Low Repetition, High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local lane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6B5BD2"/>
                </a:solidFill>
                <a:latin typeface="Segoe Fluent Icons"/>
              </a:rPr>
              <a:t>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High Repetition, High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Use local lane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Offline Maps for Restricted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AI works where client Wi-Fi is restricted.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Local AI lane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Offline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Local model on laptop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Maps downloaded to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Restricted client Wi-Fi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No signal in the 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Copilot when connected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Live traffic when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2-week pilot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Test drive before the 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Device for Local Drafting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On-device runtime powers local drafting with 128 GB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Local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28 open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On-device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RTX Spark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Laptop silicon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20 CPU cores, 128 GB 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12413"/>
            </a:avLst>
          </a:prstGeom>
          <a:solidFill>
            <a:srgbClr val="D7DEEA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 Semibold"/>
              </a:rPr>
              <a:t>Drafting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Capacity Chain: 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People x summaries x minutes saved x weeks = hours (estimate).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F5FB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1,200 consultants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Traveling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F8F7E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141414"/>
                </a:solidFill>
                <a:latin typeface="Segoe UI Semibold"/>
              </a:rPr>
              <a:t>6 summaries/week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Each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B8742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5 minutes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Per summary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6B5BD2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46 working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Per year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C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C2416B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27,600 hours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Estimate to validate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Pilot Plan and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Time-boxed pilot measures task time, draft quality and user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F5FBF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Before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User nomination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3F8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F8F7E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F8F7E"/>
                </a:solidFill>
                <a:latin typeface="Segoe UI Semibold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Pilot execution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B87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B8742F"/>
                </a:solidFill>
                <a:latin typeface="Segoe Fluent Icons"/>
              </a:rPr>
              <a:t>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B8742F"/>
                </a:solidFill>
                <a:latin typeface="Segoe UI Semibold"/>
              </a:rPr>
              <a:t>Week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Data collection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6B5BD2"/>
                </a:solidFill>
                <a:latin typeface="Segoe Fluent Icons"/>
              </a:rPr>
              <a:t>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6B5BD2"/>
                </a:solidFill>
                <a:latin typeface="Segoe UI Semibold"/>
              </a:rPr>
              <a:t>Sponsor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Next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Approve the Measured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 small, time-boxed pilot decides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F5FBF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Nominate 10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Traveling consultants with repeat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F8F7E"/>
                </a:solidFill>
                <a:latin typeface="Segoe Fluent Icons"/>
              </a:rPr>
              <a:t>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Run 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Alongside current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B8742F"/>
                </a:solidFill>
                <a:latin typeface="Segoe Fluent Icons"/>
              </a:rPr>
              <a:t>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Decide 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Task time and quality readout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4399"/>
            </a:avLst>
          </a:prstGeom>
          <a:gradFill rotWithShape="1">
            <a:gsLst>
              <a:gs pos="0">
                <a:srgbClr val="1F5FBF"/>
              </a:gs>
              <a:gs pos="100000">
                <a:srgbClr val="327C9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the 10-user, 2-week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Pilot Proposal</dc:title>
  <dc:subject/>
  <dc:creator>Offline PPTX Forge</dc:creator>
  <cp:keywords/>
  <dc:description>Generated offline; template=surface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