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reality: many consultants, repeated reports, unreliable connectivity. This impacts efficiency and quality. The hybrid approach adds local capability for sensitive work while keeping the cloud assistant.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their reality: many people, repeated reports, unreliable connectivity. This impacts efficiency and quality. Like a traffic jam, these delays slow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hybrid idea to familiar terms: a safe for sensitive work and a concierge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side wins: keep Copilot, add a local lane for sensitive drafting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 = four dashed lines; labeled boxes with icons; arrows show the path; the cloud lane sits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high/high quadrant (repetitive and sensitive) is best served by the local lane. Like a specialized team, this approach assigns tasks to the right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validates disconnected use, like testing a map before a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with RTX Spark supports local AI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capacity: 1,200 consultants x 6 summaries x 5 minutes x 46 weeks = 27,600 hours/year.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is a small, time-boxed test to measure real-world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concrete steps, then one sentence ask with size and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55448" cy="155448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22960" y="566928"/>
            <a:ext cx="155448" cy="155448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749808"/>
            <a:ext cx="155448" cy="155448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22960" y="749808"/>
            <a:ext cx="155448" cy="155448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530352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i="0">
                <a:solidFill>
                  <a:srgbClr val="737373"/>
                </a:solidFill>
                <a:latin typeface="Segoe UI Semibold"/>
              </a:rPr>
              <a:t>Microsoft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1000" y="1600200"/>
            <a:ext cx="1600200" cy="1600200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01050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9" name="Rectangle 8"/>
          <p:cNvSpPr/>
          <p:nvPr/>
        </p:nvSpPr>
        <p:spPr>
          <a:xfrm>
            <a:off x="9747504" y="1600200"/>
            <a:ext cx="1600200" cy="16002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147554" y="2000250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3346704"/>
            <a:ext cx="1600200" cy="1600200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01050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3346704"/>
            <a:ext cx="1600200" cy="16002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147554" y="3746754"/>
            <a:ext cx="80010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906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CONTOSO PILOT 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1B1B1B"/>
                </a:solidFill>
                <a:latin typeface="Segoe UI Semibold"/>
              </a:rPr>
              <a:t>Local AI for Traveling Consultants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505050"/>
                </a:solidFill>
                <a:latin typeface="Segoe UI"/>
              </a:rPr>
              <a:t>Hybrid lane adds sensitive drafting without replacing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8A8A8A"/>
                </a:solidFill>
                <a:latin typeface="Segoe UI"/>
              </a:rPr>
              <a:t>Microsoft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Consultant Workload and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Repeated summaries and patchy Wi-Fi slow site visits like a traffic jam.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0078D4"/>
                </a:solidFill>
                <a:latin typeface="Segoe UI Semibold"/>
              </a:rPr>
              <a:t>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Traveling consultants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F2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07C10"/>
                </a:solidFill>
                <a:latin typeface="Segoe UI Semibold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Summaries per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F3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700" i="0">
                <a:solidFill>
                  <a:srgbClr val="D83B01"/>
                </a:solidFill>
                <a:latin typeface="Segoe UI Semibold"/>
              </a:rPr>
              <a:t>25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Per summary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F4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2166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1B1B1B"/>
                </a:solidFill>
                <a:latin typeface="Segoe UI Semibold"/>
              </a:rPr>
              <a:t>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Sites without Wi-Fi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F5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Hybrid AI Lanes Like a Hotel Safe and Concierge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Local lane for sensitive work, cloud assistant for everything else.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Hybrid AI lanes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Hotel safe + concierge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Local lane on laptop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Room safe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Sensitive client files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Passport and valuables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Microsoft 365 Copilot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Concierge for everything else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Consultant decides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Guest chooses what goes 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Current Lane vs Recommended Hybrid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Keep cloud assistant, add local lane for sensitive drafting.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Current 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All work in the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8A8A8A"/>
                </a:solidFill>
                <a:latin typeface="Segoe Fluent Icons"/>
              </a:rPr>
              <a:t>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No local 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1600"/>
            </a:avLst>
          </a:prstGeom>
          <a:solidFill>
            <a:srgbClr val="F3F3F3"/>
          </a:solidFill>
          <a:ln w="28575">
            <a:solidFill>
              <a:srgbClr val="0078D4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FFFFFF"/>
                </a:solidFill>
                <a:latin typeface="Segoe Fluent Icons"/>
              </a:rPr>
              <a:t>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1B1B1B"/>
                </a:solidFill>
                <a:latin typeface="Segoe UI Semibold"/>
              </a:rPr>
              <a:t>Recommended 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Local lane for sensitive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0078D4"/>
                </a:solidFill>
                <a:latin typeface="Segoe Fluent Icons"/>
              </a:rPr>
              <a:t>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1B1B1B"/>
                </a:solidFill>
                <a:latin typeface="Segoe UI"/>
              </a:rPr>
              <a:t>Cloud assistant for everything else</a:t>
            </a:r>
          </a:p>
        </p:txBody>
      </p:sp>
      <p:sp>
        <p:nvSpPr>
          <p:cNvPr id="26" name="Oval 25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FFFFFF"/>
                </a:solidFill>
                <a:latin typeface="Segoe UI Semibold"/>
              </a:rPr>
              <a:t>VS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FFFFFF"/>
                </a:solidFill>
                <a:latin typeface="Segoe Fluent Icons"/>
              </a:rPr>
              <a:t>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Add a local lane to the existing cloud assistant.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Sensitive Work Stays on the Laptop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Files, prompts and drafts stay inside device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D83B0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0078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FF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FFFFFF"/>
                </a:solidFill>
                <a:latin typeface="Segoe Fluent Icons"/>
              </a:rPr>
              <a:t>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FFFFFF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D83B0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Site files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Local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7578"/>
            </a:avLst>
          </a:prstGeom>
          <a:solidFill>
            <a:srgbClr val="107C1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 Semibold"/>
              </a:rPr>
              <a:t>Reviewed draft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8421"/>
            </a:avLst>
          </a:prstGeom>
          <a:solidFill>
            <a:srgbClr val="5C2D91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FFFFFF"/>
                </a:solidFill>
                <a:latin typeface="Segoe UI Semibold"/>
              </a:rPr>
              <a:t>RTX Spark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1A1A1"/>
                </a:solidFill>
                <a:latin typeface="Segoe UI"/>
              </a:rPr>
              <a:t>Inside the boundary: files, prompts, drafts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Cloud lane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7578"/>
            </a:avLst>
          </a:prstGeom>
          <a:solidFill>
            <a:srgbClr val="FFB900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Segoe UI Semibold"/>
              </a:rPr>
              <a:t>Existing cloud assistant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84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1B1B1B"/>
                </a:solidFill>
                <a:latin typeface="Segoe Fluent Icons"/>
              </a:rPr>
              <a:t>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1B1B1B"/>
                </a:solidFill>
                <a:latin typeface="Segoe UI Semibold"/>
              </a:rPr>
              <a:t>Everyday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Routing Work to the Right Lane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Sensitive and repetitive work goes to local lane like a specialized team.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8A8A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505050"/>
                </a:solidFill>
                <a:latin typeface="Segoe UI"/>
              </a:rPr>
              <a:t>Repetition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505050"/>
                </a:solidFill>
                <a:latin typeface="Segoe UI"/>
              </a:rPr>
              <a:t>Sensitivity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0078D4"/>
          </a:solidFill>
          <a:ln>
            <a:noFill/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FFFF"/>
                </a:solidFill>
                <a:latin typeface="Segoe Fluent Icons"/>
              </a:rPr>
              <a:t>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FFFFF"/>
                </a:solidFill>
                <a:latin typeface="Segoe UI Semibold"/>
              </a:rPr>
              <a:t>Low Repetition, Low Sensitivity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FFFFF"/>
                </a:solidFill>
                <a:latin typeface="Segoe UI"/>
              </a:rPr>
              <a:t>Use cloud assistant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107C10"/>
                </a:solidFill>
                <a:latin typeface="Segoe Fluent Icons"/>
              </a:rPr>
              <a:t>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High Repetition, Low Sensitivity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cloud assistant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D83B01"/>
                </a:solidFill>
                <a:latin typeface="Segoe Fluent Icons"/>
              </a:rPr>
              <a:t>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Low Repetition, High Sensitivity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local lane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3157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900"/>
                </a:solidFill>
                <a:latin typeface="Segoe Fluent Icons"/>
              </a:rPr>
              <a:t>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High Repetition, High Sensitivity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Use local lane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Offline Maps for Restricted Wi-Fi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Local AI works where client Wi-Fi is restricted.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1B1B1B"/>
                </a:solidFill>
                <a:latin typeface="Segoe UI Semibold"/>
              </a:rPr>
              <a:t>Local AI lane</a:t>
            </a:r>
          </a:p>
        </p:txBody>
      </p:sp>
      <p:sp>
        <p:nvSpPr>
          <p:cNvPr id="13" name="Oval 12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FFFFFF"/>
                </a:solidFill>
                <a:latin typeface="Segoe Fluent Icons"/>
              </a:rPr>
              <a:t>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1B1B1B"/>
                </a:solidFill>
                <a:latin typeface="Segoe UI Semibold"/>
              </a:rPr>
              <a:t>Offline maps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8A8A8A"/>
                </a:solidFill>
                <a:latin typeface="Segoe UI"/>
              </a:rPr>
              <a:t>is like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Local model on laptop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Maps downloaded to phone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Restricted client Wi-Fi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No signal in the tunnel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Copilot when connected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Live traffic when online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E0EFFA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2-week pilot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8A8A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FAE4DB"/>
          </a:solidFill>
          <a:ln w="15875">
            <a:solidFill>
              <a:srgbClr val="D83B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"/>
              </a:rPr>
              <a:t>Test drive before the trip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Device for Local Drafting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On-device runtime powers local drafting with 128 GB memory.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32304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252374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983" y="266364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50545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Local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50545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28 open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9983" y="3751783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593592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On-device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593592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RTX Spark GPU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608576"/>
            <a:ext cx="9262872" cy="960120"/>
          </a:xfrm>
          <a:prstGeom prst="roundRect">
            <a:avLst>
              <a:gd name="adj" fmla="val 5714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080" y="470001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9983" y="483991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FFFFFF"/>
                </a:solidFill>
                <a:latin typeface="Segoe Fluent Icons"/>
              </a:rPr>
              <a:t>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68172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1B1B1B"/>
                </a:solidFill>
                <a:latin typeface="Segoe UI Semibold"/>
              </a:rPr>
              <a:t>Laptop silicon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468172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505050"/>
                </a:solidFill>
                <a:latin typeface="Segoe UI"/>
              </a:rPr>
              <a:t>20 CPU cores, 128 GB 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85832" y="2432304"/>
            <a:ext cx="73152" cy="313639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4137"/>
            </a:avLst>
          </a:prstGeom>
          <a:solidFill>
            <a:srgbClr val="D9EBF9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1B1B1B"/>
                </a:solidFill>
                <a:latin typeface="Segoe UI Semibold"/>
              </a:rPr>
              <a:t>Drafting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Capacity Chain: Time Saved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People x summaries x minutes saved x weeks = hours (estimate).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99439" y="2125980"/>
            <a:ext cx="914400" cy="9144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27455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0078D4"/>
                </a:solidFill>
                <a:latin typeface="Segoe UI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1,200 consultants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Traveling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2501798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867558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318358" y="2125980"/>
            <a:ext cx="914400" cy="91440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4637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0438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107C10"/>
                </a:solidFill>
                <a:latin typeface="Segoe UI Semibold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150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1B1B1B"/>
                </a:solidFill>
                <a:latin typeface="Segoe UI Semibold"/>
              </a:rPr>
              <a:t>6 summaries/week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0438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Each</a:t>
            </a:r>
          </a:p>
        </p:txBody>
      </p:sp>
      <p:sp>
        <p:nvSpPr>
          <p:cNvPr id="23" name="Chevron 22"/>
          <p:cNvSpPr/>
          <p:nvPr/>
        </p:nvSpPr>
        <p:spPr>
          <a:xfrm>
            <a:off x="4820717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186477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9357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D83B01"/>
                </a:solidFill>
                <a:latin typeface="Segoe UI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1069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5 minutes 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9357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Per summary</a:t>
            </a:r>
          </a:p>
        </p:txBody>
      </p:sp>
      <p:sp>
        <p:nvSpPr>
          <p:cNvPr id="30" name="Chevron 29"/>
          <p:cNvSpPr/>
          <p:nvPr/>
        </p:nvSpPr>
        <p:spPr>
          <a:xfrm>
            <a:off x="7139635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505395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956194" y="2125980"/>
            <a:ext cx="914400" cy="91440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8421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8275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900"/>
                </a:solidFill>
                <a:latin typeface="Segoe UI Semibold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9987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46 working weeks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8275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Per year</a:t>
            </a:r>
          </a:p>
        </p:txBody>
      </p:sp>
      <p:sp>
        <p:nvSpPr>
          <p:cNvPr id="37" name="Chevron 36"/>
          <p:cNvSpPr/>
          <p:nvPr/>
        </p:nvSpPr>
        <p:spPr>
          <a:xfrm>
            <a:off x="9458554" y="4027932"/>
            <a:ext cx="228600" cy="402336"/>
          </a:xfrm>
          <a:prstGeom prst="chevron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9824314" y="2583180"/>
            <a:ext cx="1815998" cy="3291840"/>
          </a:xfrm>
          <a:prstGeom prst="roundRect">
            <a:avLst>
              <a:gd name="adj" fmla="val 3021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275113" y="2125980"/>
            <a:ext cx="914400" cy="91440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403129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FFFFFF"/>
                </a:solidFill>
                <a:latin typeface="Segoe Fluent Icons"/>
              </a:rPr>
              <a:t>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7194" y="3150108"/>
            <a:ext cx="145023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5C2D91"/>
                </a:solidFill>
                <a:latin typeface="Segoe UI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8906" y="3451860"/>
            <a:ext cx="148681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1B1B1B"/>
                </a:solidFill>
                <a:latin typeface="Segoe UI Semibold"/>
              </a:rPr>
              <a:t>27,600 hours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7194" y="4366260"/>
            <a:ext cx="145023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505050"/>
                </a:solidFill>
                <a:latin typeface="Segoe UI"/>
              </a:rPr>
              <a:t>Estimate to validate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Pilot Plan and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Time-boxed pilot measures task time, draft quality and user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68496"/>
            <a:ext cx="10725912" cy="64008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" name="Connector 10"/>
          <p:cNvCxnSpPr/>
          <p:nvPr/>
        </p:nvCxnSpPr>
        <p:spPr>
          <a:xfrm flipV="1">
            <a:off x="2140839" y="3616452"/>
            <a:ext cx="0" cy="384048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57959" y="3817620"/>
            <a:ext cx="365760" cy="36576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4959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2119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0078D4"/>
                </a:solidFill>
                <a:latin typeface="Segoe Fluent Icons"/>
              </a:rPr>
              <a:t>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1887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078D4"/>
                </a:solidFill>
                <a:latin typeface="Segoe UI Semibold"/>
              </a:rPr>
              <a:t>Before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119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User nomination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76597" y="4000500"/>
            <a:ext cx="0" cy="384048"/>
          </a:xfrm>
          <a:prstGeom prst="line">
            <a:avLst/>
          </a:prstGeom>
          <a:ln w="19050">
            <a:solidFill>
              <a:srgbClr val="107C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593717" y="3817620"/>
            <a:ext cx="365760" cy="36576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450717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87877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107C10"/>
                </a:solidFill>
                <a:latin typeface="Segoe Fluent Icons"/>
              </a:rPr>
              <a:t>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7645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107C10"/>
                </a:solidFill>
                <a:latin typeface="Segoe UI Semibold"/>
              </a:rPr>
              <a:t>Week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7877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Pilot execution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412355" y="3616452"/>
            <a:ext cx="0" cy="384048"/>
          </a:xfrm>
          <a:prstGeom prst="line">
            <a:avLst/>
          </a:prstGeom>
          <a:ln w="19050">
            <a:solidFill>
              <a:srgbClr val="D83B0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229475" y="3817620"/>
            <a:ext cx="365760" cy="36576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86475" y="2244852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23635" y="238201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D83B01"/>
                </a:solidFill>
                <a:latin typeface="Segoe Fluent Icons"/>
              </a:rPr>
              <a:t>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3403" y="235458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D83B01"/>
                </a:solidFill>
                <a:latin typeface="Segoe UI Semibold"/>
              </a:rPr>
              <a:t>Week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3635" y="28117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Data collection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048113" y="4000500"/>
            <a:ext cx="0" cy="384048"/>
          </a:xfrm>
          <a:prstGeom prst="line">
            <a:avLst/>
          </a:prstGeom>
          <a:ln w="19050">
            <a:solidFill>
              <a:srgbClr val="FFB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65233" y="3817620"/>
            <a:ext cx="365760" cy="365760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722233" y="438454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59393" y="452170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85">
                <a:solidFill>
                  <a:srgbClr val="FFB900"/>
                </a:solidFill>
                <a:latin typeface="Segoe Fluent Icons"/>
              </a:rPr>
              <a:t>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9161" y="4494276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FFB900"/>
                </a:solidFill>
                <a:latin typeface="Segoe UI Semibold"/>
              </a:rPr>
              <a:t>Sponsor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9393" y="495147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1B1B1B"/>
                </a:solidFill>
                <a:latin typeface="Segoe UI"/>
              </a:rPr>
              <a:t>Next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1B1B1B"/>
                </a:solidFill>
                <a:latin typeface="Segoe UI Semibold"/>
              </a:rPr>
              <a:t>Approve the Measured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505050"/>
                </a:solidFill>
                <a:latin typeface="Segoe UI"/>
              </a:rPr>
              <a:t>A small, time-boxed pilot decides next step.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83096"/>
            <a:ext cx="82296" cy="82296"/>
          </a:xfrm>
          <a:prstGeom prst="rect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49224" y="6483096"/>
            <a:ext cx="82296" cy="8229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6583680"/>
            <a:ext cx="82296" cy="82296"/>
          </a:xfrm>
          <a:prstGeom prst="rect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49224" y="6583680"/>
            <a:ext cx="82296" cy="82296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8A8A8A"/>
                </a:solidFill>
                <a:latin typeface="Segoe UI"/>
              </a:rPr>
              <a:t>Microsoft  |  Contoso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8A8A8A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0078D4"/>
                </a:solidFill>
                <a:latin typeface="Segoe Fluent Icons"/>
              </a:rPr>
              <a:t>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Nominate 10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Traveling consultants with repeat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107C10"/>
                </a:solidFill>
                <a:latin typeface="Segoe Fluent Icons"/>
              </a:rPr>
              <a:t>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Run 2 weeks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Alongside current tools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1875"/>
            </a:avLst>
          </a:prstGeom>
          <a:solidFill>
            <a:srgbClr val="F3F3F3"/>
          </a:solidFill>
          <a:ln w="12700">
            <a:solidFill>
              <a:srgbClr val="E1E1E1"/>
            </a:solidFill>
          </a:ln>
          <a:effectLst>
            <a:outerShdw blurRad="228600" dist="50800" dir="5400000" algn="t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D83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D83B01"/>
                </a:solidFill>
                <a:latin typeface="Segoe Fluent Icons"/>
              </a:rPr>
              <a:t>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1B1B1B"/>
                </a:solidFill>
                <a:latin typeface="Segoe UI Semibold"/>
              </a:rPr>
              <a:t>Decide on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505050"/>
                </a:solidFill>
                <a:latin typeface="Segoe UI"/>
              </a:rPr>
              <a:t>Task time and quality readout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FFFFFF"/>
                </a:solidFill>
                <a:latin typeface="Segoe Fluent Icons"/>
              </a:rPr>
              <a:t>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FFFFF"/>
                </a:solidFill>
                <a:latin typeface="Segoe UI Semibold"/>
              </a:rPr>
              <a:t>Approve the 10-user, 2-week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 Pilot Proposal</dc:title>
  <dc:subject/>
  <dc:creator>Offline PPTX Forge</dc:creator>
  <cp:keywords/>
  <dc:description>Generated offline; template=microsoft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