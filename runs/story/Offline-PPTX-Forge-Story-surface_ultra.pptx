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0"/>
            <c:spPr>
              <a:solidFill>
                <a:srgbClr val="76B900"/>
              </a:solidFill>
            </c:spPr>
          </c:dPt>
          <c:cat>
            <c:strRef>
              <c:f>Sheet1!$A$2:$A$8</c:f>
              <c:strCache>
                <c:ptCount val="7"/>
                <c:pt idx="0">
                  <c:v>Local v1.0</c:v>
                </c:pt>
                <c:pt idx="1">
                  <c:v>Opus low</c:v>
                </c:pt>
                <c:pt idx="2">
                  <c:v>Opus high</c:v>
                </c:pt>
                <c:pt idx="3">
                  <c:v>Opus max</c:v>
                </c:pt>
                <c:pt idx="4">
                  <c:v>Astra low</c:v>
                </c:pt>
                <c:pt idx="5">
                  <c:v>Astra high</c:v>
                </c:pt>
                <c:pt idx="6">
                  <c:v>Astra max</c:v>
                </c:pt>
              </c:strCache>
            </c:strRef>
          </c:cat>
          <c:val>
            <c:numRef>
              <c:f>Sheet1!$B$2:$B$8</c:f>
              <c:numCache>
                <c:formatCode>General</c:formatCode>
                <c:ptCount val="7"/>
                <c:pt idx="0">
                  <c:v>19.5</c:v>
                </c:pt>
                <c:pt idx="1">
                  <c:v>36.0</c:v>
                </c:pt>
                <c:pt idx="2">
                  <c:v>40.0</c:v>
                </c:pt>
                <c:pt idx="3">
                  <c:v>40.5</c:v>
                </c:pt>
                <c:pt idx="4">
                  <c:v>39.5</c:v>
                </c:pt>
                <c:pt idx="5">
                  <c:v>39.0</c:v>
                </c:pt>
                <c:pt idx="6">
                  <c:v>40.5</c:v>
                </c:pt>
              </c:numCache>
            </c:numRef>
          </c:val>
        </c:ser>
        <c:dLbls>
          <c:numFmt formatCode="#,##0.0&quot; /50&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52.65"/>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2"/>
            <c:spPr>
              <a:solidFill>
                <a:srgbClr val="76B900"/>
              </a:solidFill>
            </c:spPr>
          </c:dPt>
          <c:cat>
            <c:strRef>
              <c:f>Sheet1!$A$2:$A$7</c:f>
              <c:strCache>
                <c:ptCount val="6"/>
                <c:pt idx="0">
                  <c:v>Opus low</c:v>
                </c:pt>
                <c:pt idx="1">
                  <c:v>Opus high</c:v>
                </c:pt>
                <c:pt idx="2">
                  <c:v>Opus max</c:v>
                </c:pt>
                <c:pt idx="3">
                  <c:v>Astra low</c:v>
                </c:pt>
                <c:pt idx="4">
                  <c:v>Astra high</c:v>
                </c:pt>
                <c:pt idx="5">
                  <c:v>Astra max</c:v>
                </c:pt>
              </c:strCache>
            </c:strRef>
          </c:cat>
          <c:val>
            <c:numRef>
              <c:f>Sheet1!$B$2:$B$7</c:f>
              <c:numCache>
                <c:formatCode>General</c:formatCode>
                <c:ptCount val="6"/>
                <c:pt idx="0">
                  <c:v>3386.0</c:v>
                </c:pt>
                <c:pt idx="1">
                  <c:v>9846.0</c:v>
                </c:pt>
                <c:pt idx="2">
                  <c:v>71181.0</c:v>
                </c:pt>
                <c:pt idx="3">
                  <c:v>3410.0</c:v>
                </c:pt>
                <c:pt idx="4">
                  <c:v>7514.0</c:v>
                </c:pt>
                <c:pt idx="5">
                  <c:v>13834.0</c:v>
                </c:pt>
              </c:numCache>
            </c:numRef>
          </c:val>
        </c:ser>
        <c:dLbls>
          <c:numFmt formatCode="#,##0&quot; tok&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92535.3"/>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1"/>
            <c:spPr>
              <a:solidFill>
                <a:srgbClr val="76B900"/>
              </a:solidFill>
            </c:spPr>
          </c:dPt>
          <c:cat>
            <c:strRef>
              <c:f>Sheet1!$A$2:$A$9</c:f>
              <c:strCache>
                <c:ptCount val="8"/>
                <c:pt idx="0">
                  <c:v>Local v1.0</c:v>
                </c:pt>
                <c:pt idx="1">
                  <c:v>Local v1.1</c:v>
                </c:pt>
                <c:pt idx="2">
                  <c:v>Opus low</c:v>
                </c:pt>
                <c:pt idx="3">
                  <c:v>Opus high</c:v>
                </c:pt>
                <c:pt idx="4">
                  <c:v>Opus max</c:v>
                </c:pt>
                <c:pt idx="5">
                  <c:v>Astra low</c:v>
                </c:pt>
                <c:pt idx="6">
                  <c:v>Astra high</c:v>
                </c:pt>
                <c:pt idx="7">
                  <c:v>Astra max</c:v>
                </c:pt>
              </c:strCache>
            </c:strRef>
          </c:cat>
          <c:val>
            <c:numRef>
              <c:f>Sheet1!$B$2:$B$9</c:f>
              <c:numCache>
                <c:formatCode>General</c:formatCode>
                <c:ptCount val="8"/>
                <c:pt idx="0">
                  <c:v>64.0</c:v>
                </c:pt>
                <c:pt idx="1">
                  <c:v>241.0</c:v>
                </c:pt>
                <c:pt idx="2">
                  <c:v>28.0</c:v>
                </c:pt>
                <c:pt idx="3">
                  <c:v>88.0</c:v>
                </c:pt>
                <c:pt idx="4">
                  <c:v>606.0</c:v>
                </c:pt>
                <c:pt idx="5">
                  <c:v>57.0</c:v>
                </c:pt>
                <c:pt idx="6">
                  <c:v>137.0</c:v>
                </c:pt>
                <c:pt idx="7">
                  <c:v>268.0</c:v>
                </c:pt>
              </c:numCache>
            </c:numRef>
          </c:val>
        </c:ser>
        <c:dLbls>
          <c:numFmt formatCode="#,##0&quot; 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787.8000000000001"/>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story of a pitch-deck generator that runs entirely on a Surface Laptop Ultra. We built it, graded it against frontier cloud models, let it learn from them once, and measured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fictional customers: an executive sales pitch for Contoso and an engineering briefing for Zava. Each lane got the identical brief. Cloud specs went through the same renderer and rubric as the local ones, so only the model and harness differ.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model only writes a JSON blueprint. A deterministic renderer turns it into native, editable shapes and charts. In v1.1 a lint step checks the rendered deck and sends targeted fixes back to the model. The cloud is never called.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Separating design from construction is why a 30B local model can produce clean slides: it never has to draw. Swapping templates is like swapping finishes; the structure stays.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Contoso v1.1 slide, three templates. Re-rendering the full 11-slide deck took 0.12 to 0.14 seconds per template on this laptop, measured while building this story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harness was fast and cheap, and it passed most automated checks, but the blind judge saw label titles, mixed-unit charts and floating diagram nodes. It came last on both briefs.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effort mostly bought polish. Opus max hit its 32k output cap twice per brief. That reasoning is expensive to buy per deck, so we captured it once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studied the best frontier decks and the judge's critiques, then wrote down the habits: a slot-by-slot story arc, an analogy bank, worked examples and checks a script can enforce.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fine-tuning. The local model is identical in v1.0 and v1.1; only the program around it 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v1.1 deck used 3 local model passes: one draft and up to two repair passes. A repair is kept only if it reduces lint issues.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v1.0, right is v1.1, both exported from the real decks. v1.1 opens on why local matters for CAD and source-code IP, keeps the speed chart like-for-like, and ends on measured proof that this laptop built the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judge still flagged v1.1 Contoso for label titles and one overstated Wi-Fi line, which feeds the v1.2 backlog.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Overall is half automated rubric, half blind judge. v1.1 lint targets some rubric checks, so the judge-only jump from 19.5 to 39 is the cleaner signal.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per 1,000 decks: local v1.1 $0.41 in electricity versus $285 at the cloud median list price. Device and subscriptions are excluded for both lanes. Parity, not a win: Opus max and Astra max scored 40.5.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GPU power was measured on a shared GPU that other workloads were also using, so local energy is overstated. Cloud energy and water use published per-token estimates.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passes on a shared server slot made v1.1 3.8x slower than v1.0. The best-quality cloud config, Astra max, took 268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is an equal-weight mean of the four criteria: 89.6 for v1.0 and 78.4 for v1.1. The deck got much better; drafting time is what v1.2 has to win back.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briefs informed v1.1, so the honest next test is unseen briefs. Rendered offline by the Forge renderer; every number comes from bench/results.json.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OFFLINE PPTX FORGE | BENCHMARK STORY</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Teaching Laptop Ultra to Teach Laptop Ultra</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16 decks scored, 2 briefs, 1 round of frontier distillation</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The Test: Customer Decks, Zero Cloud Calls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Same prompt, same renderer, same rubric for every lane.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Rounded Rectangle 8"/>
          <p:cNvSpPr/>
          <p:nvPr/>
        </p:nvSpPr>
        <p:spPr>
          <a:xfrm>
            <a:off x="548640" y="2217420"/>
            <a:ext cx="2532888" cy="3566160"/>
          </a:xfrm>
          <a:prstGeom prst="roundRect">
            <a:avLst>
              <a:gd name="adj" fmla="val 505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2532888"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1984248" cy="1234440"/>
          </a:xfrm>
          <a:prstGeom prst="rect">
            <a:avLst/>
          </a:prstGeom>
          <a:noFill/>
        </p:spPr>
        <p:txBody>
          <a:bodyPr wrap="square" lIns="0" rIns="0" tIns="0" bIns="0" anchor="ctr">
            <a:noAutofit/>
          </a:bodyPr>
          <a:lstStyle/>
          <a:p>
            <a:pPr algn="l"/>
            <a:r>
              <a:rPr sz="6000" i="0">
                <a:solidFill>
                  <a:srgbClr val="76B900"/>
                </a:solidFill>
                <a:latin typeface="Segoe UI Black"/>
              </a:rPr>
              <a:t>2</a:t>
            </a:r>
          </a:p>
        </p:txBody>
      </p:sp>
      <p:sp>
        <p:nvSpPr>
          <p:cNvPr id="14" name="TextBox 13"/>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Briefs: Contoso sales, Zava technical</a:t>
            </a:r>
          </a:p>
        </p:txBody>
      </p:sp>
      <p:sp>
        <p:nvSpPr>
          <p:cNvPr id="15" name="TextBox 14"/>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fictional clients</a:t>
            </a:r>
          </a:p>
        </p:txBody>
      </p:sp>
      <p:sp>
        <p:nvSpPr>
          <p:cNvPr id="16" name="Rounded Rectangle 15"/>
          <p:cNvSpPr/>
          <p:nvPr/>
        </p:nvSpPr>
        <p:spPr>
          <a:xfrm>
            <a:off x="3401568" y="2217420"/>
            <a:ext cx="2532888" cy="3566160"/>
          </a:xfrm>
          <a:prstGeom prst="roundRect">
            <a:avLst>
              <a:gd name="adj" fmla="val 505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01568" y="2217420"/>
            <a:ext cx="2532888"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685032"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3DA9FC"/>
                </a:solidFill>
                <a:latin typeface="Segoe UI Black"/>
              </a:rPr>
              <a:t>3</a:t>
            </a:r>
          </a:p>
        </p:txBody>
      </p:sp>
      <p:sp>
        <p:nvSpPr>
          <p:cNvPr id="21" name="TextBox 20"/>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Templates to choose from</a:t>
            </a:r>
          </a:p>
        </p:txBody>
      </p:sp>
      <p:sp>
        <p:nvSpPr>
          <p:cNvPr id="22" name="TextBox 21"/>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MS, Surface, Ultra</a:t>
            </a:r>
          </a:p>
        </p:txBody>
      </p:sp>
      <p:sp>
        <p:nvSpPr>
          <p:cNvPr id="23" name="Rounded Rectangle 22"/>
          <p:cNvSpPr/>
          <p:nvPr/>
        </p:nvSpPr>
        <p:spPr>
          <a:xfrm>
            <a:off x="6254496" y="2217420"/>
            <a:ext cx="2532888" cy="3566160"/>
          </a:xfrm>
          <a:prstGeom prst="roundRect">
            <a:avLst>
              <a:gd name="adj" fmla="val 505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54496" y="2217420"/>
            <a:ext cx="2532888"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37960"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6528816" y="3406140"/>
            <a:ext cx="1984248" cy="1234440"/>
          </a:xfrm>
          <a:prstGeom prst="rect">
            <a:avLst/>
          </a:prstGeom>
          <a:noFill/>
        </p:spPr>
        <p:txBody>
          <a:bodyPr wrap="square" lIns="0" rIns="0" tIns="0" bIns="0" anchor="ctr">
            <a:noAutofit/>
          </a:bodyPr>
          <a:lstStyle/>
          <a:p>
            <a:pPr algn="l"/>
            <a:r>
              <a:rPr sz="6000" i="0">
                <a:solidFill>
                  <a:srgbClr val="9B6BFF"/>
                </a:solidFill>
                <a:latin typeface="Segoe UI Black"/>
              </a:rPr>
              <a:t>6</a:t>
            </a:r>
          </a:p>
        </p:txBody>
      </p:sp>
      <p:sp>
        <p:nvSpPr>
          <p:cNvPr id="28" name="TextBox 27"/>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Cloud configs: Opus + Astra</a:t>
            </a:r>
          </a:p>
        </p:txBody>
      </p:sp>
      <p:sp>
        <p:nvSpPr>
          <p:cNvPr id="29" name="TextBox 28"/>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low, high, max</a:t>
            </a:r>
          </a:p>
        </p:txBody>
      </p:sp>
      <p:sp>
        <p:nvSpPr>
          <p:cNvPr id="30" name="Rounded Rectangle 29"/>
          <p:cNvSpPr/>
          <p:nvPr/>
        </p:nvSpPr>
        <p:spPr>
          <a:xfrm>
            <a:off x="9107424" y="2217420"/>
            <a:ext cx="2532888" cy="3566160"/>
          </a:xfrm>
          <a:prstGeom prst="roundRect">
            <a:avLst>
              <a:gd name="adj" fmla="val 5054"/>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107424" y="2217420"/>
            <a:ext cx="2532888" cy="82296"/>
          </a:xfrm>
          <a:prstGeom prst="rect">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390888" y="2546604"/>
            <a:ext cx="713232" cy="713232"/>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34" name="TextBox 33"/>
          <p:cNvSpPr txBox="1"/>
          <p:nvPr/>
        </p:nvSpPr>
        <p:spPr>
          <a:xfrm>
            <a:off x="9381744" y="3406140"/>
            <a:ext cx="1984248" cy="1234440"/>
          </a:xfrm>
          <a:prstGeom prst="rect">
            <a:avLst/>
          </a:prstGeom>
          <a:noFill/>
        </p:spPr>
        <p:txBody>
          <a:bodyPr wrap="square" lIns="0" rIns="0" tIns="0" bIns="0" anchor="ctr">
            <a:noAutofit/>
          </a:bodyPr>
          <a:lstStyle/>
          <a:p>
            <a:pPr algn="l"/>
            <a:r>
              <a:rPr sz="6000" i="0">
                <a:solidFill>
                  <a:srgbClr val="FFB547"/>
                </a:solidFill>
                <a:latin typeface="Segoe UI Black"/>
              </a:rPr>
              <a:t>4</a:t>
            </a:r>
          </a:p>
        </p:txBody>
      </p:sp>
      <p:sp>
        <p:nvSpPr>
          <p:cNvPr id="35" name="TextBox 34"/>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Criteria: cost, CO2, time, quality</a:t>
            </a:r>
          </a:p>
        </p:txBody>
      </p:sp>
      <p:sp>
        <p:nvSpPr>
          <p:cNvPr id="36" name="TextBox 35"/>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graded per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How It Works: Everything Stays on the Laptop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Brief in, native PowerPoint out; drafting and rendering run on-device.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cxnSp>
        <p:nvCxnSpPr>
          <p:cNvPr id="9" name="Connector 8"/>
          <p:cNvCxnSpPr/>
          <p:nvPr/>
        </p:nvCxnSpPr>
        <p:spPr>
          <a:xfrm>
            <a:off x="733501" y="2226945"/>
            <a:ext cx="8734692" cy="0"/>
          </a:xfrm>
          <a:prstGeom prst="line">
            <a:avLst/>
          </a:prstGeom>
          <a:ln w="28575">
            <a:solidFill>
              <a:srgbClr val="9B6BFF"/>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68193" y="2226945"/>
            <a:ext cx="0" cy="3764280"/>
          </a:xfrm>
          <a:prstGeom prst="line">
            <a:avLst/>
          </a:prstGeom>
          <a:ln w="28575">
            <a:solidFill>
              <a:srgbClr val="9B6BFF"/>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33501" y="5991225"/>
            <a:ext cx="8734692" cy="0"/>
          </a:xfrm>
          <a:prstGeom prst="line">
            <a:avLst/>
          </a:prstGeom>
          <a:ln w="28575">
            <a:solidFill>
              <a:srgbClr val="9B6BFF"/>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33501" y="2226945"/>
            <a:ext cx="0" cy="3764280"/>
          </a:xfrm>
          <a:prstGeom prst="line">
            <a:avLst/>
          </a:prstGeom>
          <a:ln w="28575">
            <a:solidFill>
              <a:srgbClr val="9B6BFF"/>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82113" y="2856738"/>
            <a:ext cx="462153" cy="0"/>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62601" y="2856738"/>
            <a:ext cx="369722" cy="0"/>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203643" y="2856738"/>
            <a:ext cx="369723" cy="0"/>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405241" y="3240405"/>
            <a:ext cx="0" cy="506730"/>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153433" y="4123563"/>
            <a:ext cx="3419933" cy="0"/>
          </a:xfrm>
          <a:prstGeom prst="line">
            <a:avLst/>
          </a:prstGeom>
          <a:ln w="28575">
            <a:solidFill>
              <a:srgbClr val="6F789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57560" y="3739515"/>
            <a:ext cx="2011680" cy="329184"/>
          </a:xfrm>
          <a:prstGeom prst="rect">
            <a:avLst/>
          </a:prstGeom>
          <a:noFill/>
        </p:spPr>
        <p:txBody>
          <a:bodyPr wrap="square" lIns="0" rIns="0" tIns="0" bIns="0" anchor="t">
            <a:noAutofit/>
          </a:bodyPr>
          <a:lstStyle/>
          <a:p>
            <a:pPr algn="ctr"/>
            <a:r>
              <a:rPr sz="1200" i="0">
                <a:solidFill>
                  <a:srgbClr val="AEB6C8"/>
                </a:solidFill>
                <a:latin typeface="Segoe UI"/>
              </a:rPr>
              <a:t>targeted fixes</a:t>
            </a:r>
          </a:p>
        </p:txBody>
      </p:sp>
      <p:cxnSp>
        <p:nvCxnSpPr>
          <p:cNvPr id="19" name="Connector 18"/>
          <p:cNvCxnSpPr/>
          <p:nvPr/>
        </p:nvCxnSpPr>
        <p:spPr>
          <a:xfrm flipV="1">
            <a:off x="4153433" y="3240405"/>
            <a:ext cx="0" cy="883158"/>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405241" y="4507230"/>
            <a:ext cx="0" cy="506730"/>
          </a:xfrm>
          <a:prstGeom prst="line">
            <a:avLst/>
          </a:prstGeom>
          <a:ln w="28575">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5932" y="1828800"/>
            <a:ext cx="8318754" cy="361950"/>
          </a:xfrm>
          <a:prstGeom prst="rect">
            <a:avLst/>
          </a:prstGeom>
          <a:noFill/>
        </p:spPr>
        <p:txBody>
          <a:bodyPr wrap="square" lIns="0" rIns="0" tIns="0" bIns="0" anchor="t">
            <a:noAutofit/>
          </a:bodyPr>
          <a:lstStyle/>
          <a:p>
            <a:pPr algn="l"/>
            <a:r>
              <a:rPr sz="1400" i="0">
                <a:solidFill>
                  <a:srgbClr val="76B900"/>
                </a:solidFill>
                <a:latin typeface="Segoe UI"/>
              </a:rPr>
              <a:t>SURFACE LAPTOP ULTRA | NVIDIA RTX SPARK</a:t>
            </a:r>
          </a:p>
        </p:txBody>
      </p:sp>
      <p:sp>
        <p:nvSpPr>
          <p:cNvPr id="22" name="Rounded Rectangle 21"/>
          <p:cNvSpPr/>
          <p:nvPr/>
        </p:nvSpPr>
        <p:spPr>
          <a:xfrm>
            <a:off x="1010793" y="2480310"/>
            <a:ext cx="1571320" cy="760095"/>
          </a:xfrm>
          <a:prstGeom prst="roundRect">
            <a:avLst>
              <a:gd name="adj" fmla="val 16842"/>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66241" y="2651331"/>
            <a:ext cx="418052" cy="418052"/>
          </a:xfrm>
          <a:prstGeom prst="rect">
            <a:avLst/>
          </a:prstGeom>
          <a:noFill/>
        </p:spPr>
        <p:txBody>
          <a:bodyPr wrap="none" lIns="0" rIns="0" tIns="0" bIns="0" anchor="ctr">
            <a:spAutoFit/>
          </a:bodyPr>
          <a:lstStyle/>
          <a:p>
            <a:pPr algn="ctr"/>
            <a:r>
              <a:rPr sz="2040">
                <a:solidFill>
                  <a:srgbClr val="F4F6FA"/>
                </a:solidFill>
                <a:latin typeface="Segoe Fluent Icons"/>
              </a:rPr>
              <a:t></a:t>
            </a:r>
          </a:p>
        </p:txBody>
      </p:sp>
      <p:sp>
        <p:nvSpPr>
          <p:cNvPr id="24" name="TextBox 23"/>
          <p:cNvSpPr txBox="1"/>
          <p:nvPr/>
        </p:nvSpPr>
        <p:spPr>
          <a:xfrm>
            <a:off x="1703165" y="2590038"/>
            <a:ext cx="787508" cy="540639"/>
          </a:xfrm>
          <a:prstGeom prst="rect">
            <a:avLst/>
          </a:prstGeom>
          <a:noFill/>
        </p:spPr>
        <p:txBody>
          <a:bodyPr wrap="square" lIns="0" rIns="0" tIns="0" bIns="0" anchor="ctr">
            <a:noAutofit/>
          </a:bodyPr>
          <a:lstStyle/>
          <a:p>
            <a:pPr algn="l"/>
            <a:r>
              <a:rPr sz="1600" i="0">
                <a:solidFill>
                  <a:srgbClr val="F4F6FA"/>
                </a:solidFill>
                <a:latin typeface="Segoe UI Semibold"/>
              </a:rPr>
              <a:t>Brief</a:t>
            </a:r>
          </a:p>
        </p:txBody>
      </p:sp>
      <p:sp>
        <p:nvSpPr>
          <p:cNvPr id="25" name="Rounded Rectangle 24"/>
          <p:cNvSpPr/>
          <p:nvPr/>
        </p:nvSpPr>
        <p:spPr>
          <a:xfrm>
            <a:off x="3044266" y="2480310"/>
            <a:ext cx="2218334" cy="760095"/>
          </a:xfrm>
          <a:prstGeom prst="roundRect">
            <a:avLst>
              <a:gd name="adj" fmla="val 16842"/>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199714" y="2651331"/>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27" name="TextBox 26"/>
          <p:cNvSpPr txBox="1"/>
          <p:nvPr/>
        </p:nvSpPr>
        <p:spPr>
          <a:xfrm>
            <a:off x="3736638" y="2590038"/>
            <a:ext cx="1434522" cy="540639"/>
          </a:xfrm>
          <a:prstGeom prst="rect">
            <a:avLst/>
          </a:prstGeom>
          <a:noFill/>
        </p:spPr>
        <p:txBody>
          <a:bodyPr wrap="square" lIns="0" rIns="0" tIns="0" bIns="0" anchor="ctr">
            <a:noAutofit/>
          </a:bodyPr>
          <a:lstStyle/>
          <a:p>
            <a:pPr algn="l"/>
            <a:r>
              <a:rPr sz="1600" i="0">
                <a:solidFill>
                  <a:srgbClr val="07080C"/>
                </a:solidFill>
                <a:latin typeface="Segoe UI Semibold"/>
              </a:rPr>
              <a:t>Qwen3-Coder 30B</a:t>
            </a:r>
          </a:p>
        </p:txBody>
      </p:sp>
      <p:sp>
        <p:nvSpPr>
          <p:cNvPr id="28" name="Rounded Rectangle 27"/>
          <p:cNvSpPr/>
          <p:nvPr/>
        </p:nvSpPr>
        <p:spPr>
          <a:xfrm>
            <a:off x="5632323" y="2480310"/>
            <a:ext cx="1571320" cy="760095"/>
          </a:xfrm>
          <a:prstGeom prst="roundRect">
            <a:avLst>
              <a:gd name="adj" fmla="val 16842"/>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87771" y="2651331"/>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30" name="TextBox 29"/>
          <p:cNvSpPr txBox="1"/>
          <p:nvPr/>
        </p:nvSpPr>
        <p:spPr>
          <a:xfrm>
            <a:off x="6324695" y="2590038"/>
            <a:ext cx="787508" cy="540639"/>
          </a:xfrm>
          <a:prstGeom prst="rect">
            <a:avLst/>
          </a:prstGeom>
          <a:noFill/>
        </p:spPr>
        <p:txBody>
          <a:bodyPr wrap="square" lIns="0" rIns="0" tIns="0" bIns="0" anchor="ctr">
            <a:noAutofit/>
          </a:bodyPr>
          <a:lstStyle/>
          <a:p>
            <a:pPr algn="l"/>
            <a:r>
              <a:rPr sz="1600" i="0">
                <a:solidFill>
                  <a:srgbClr val="07080C"/>
                </a:solidFill>
                <a:latin typeface="Segoe UI Semibold"/>
              </a:rPr>
              <a:t>JSON spec</a:t>
            </a:r>
          </a:p>
        </p:txBody>
      </p:sp>
      <p:sp>
        <p:nvSpPr>
          <p:cNvPr id="31" name="Rounded Rectangle 30"/>
          <p:cNvSpPr/>
          <p:nvPr/>
        </p:nvSpPr>
        <p:spPr>
          <a:xfrm>
            <a:off x="7573366" y="2480310"/>
            <a:ext cx="1663751" cy="760095"/>
          </a:xfrm>
          <a:prstGeom prst="roundRect">
            <a:avLst>
              <a:gd name="adj" fmla="val 16842"/>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28814" y="2651331"/>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33" name="TextBox 32"/>
          <p:cNvSpPr txBox="1"/>
          <p:nvPr/>
        </p:nvSpPr>
        <p:spPr>
          <a:xfrm>
            <a:off x="8265738" y="2590038"/>
            <a:ext cx="879939" cy="540639"/>
          </a:xfrm>
          <a:prstGeom prst="rect">
            <a:avLst/>
          </a:prstGeom>
          <a:noFill/>
        </p:spPr>
        <p:txBody>
          <a:bodyPr wrap="square" lIns="0" rIns="0" tIns="0" bIns="0" anchor="ctr">
            <a:noAutofit/>
          </a:bodyPr>
          <a:lstStyle/>
          <a:p>
            <a:pPr algn="l"/>
            <a:r>
              <a:rPr sz="1600" i="0">
                <a:solidFill>
                  <a:srgbClr val="07080C"/>
                </a:solidFill>
                <a:latin typeface="Segoe UI Semibold"/>
              </a:rPr>
              <a:t>Renderer</a:t>
            </a:r>
          </a:p>
        </p:txBody>
      </p:sp>
      <p:sp>
        <p:nvSpPr>
          <p:cNvPr id="34" name="Rounded Rectangle 33"/>
          <p:cNvSpPr/>
          <p:nvPr/>
        </p:nvSpPr>
        <p:spPr>
          <a:xfrm>
            <a:off x="7573366" y="3747135"/>
            <a:ext cx="1663751" cy="760095"/>
          </a:xfrm>
          <a:prstGeom prst="roundRect">
            <a:avLst>
              <a:gd name="adj" fmla="val 16842"/>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28814" y="3918156"/>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36" name="TextBox 35"/>
          <p:cNvSpPr txBox="1"/>
          <p:nvPr/>
        </p:nvSpPr>
        <p:spPr>
          <a:xfrm>
            <a:off x="8265738" y="3856863"/>
            <a:ext cx="879939" cy="540639"/>
          </a:xfrm>
          <a:prstGeom prst="rect">
            <a:avLst/>
          </a:prstGeom>
          <a:noFill/>
        </p:spPr>
        <p:txBody>
          <a:bodyPr wrap="square" lIns="0" rIns="0" tIns="0" bIns="0" anchor="ctr">
            <a:noAutofit/>
          </a:bodyPr>
          <a:lstStyle/>
          <a:p>
            <a:pPr algn="l"/>
            <a:r>
              <a:rPr sz="1600" i="0">
                <a:solidFill>
                  <a:srgbClr val="07080C"/>
                </a:solidFill>
                <a:latin typeface="Segoe UI Semibold"/>
              </a:rPr>
              <a:t>Lint</a:t>
            </a:r>
          </a:p>
        </p:txBody>
      </p:sp>
      <p:sp>
        <p:nvSpPr>
          <p:cNvPr id="37" name="Rounded Rectangle 36"/>
          <p:cNvSpPr/>
          <p:nvPr/>
        </p:nvSpPr>
        <p:spPr>
          <a:xfrm>
            <a:off x="7573366" y="5013960"/>
            <a:ext cx="1663751" cy="760095"/>
          </a:xfrm>
          <a:prstGeom prst="roundRect">
            <a:avLst>
              <a:gd name="adj" fmla="val 16842"/>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28814" y="5184981"/>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39" name="TextBox 38"/>
          <p:cNvSpPr txBox="1"/>
          <p:nvPr/>
        </p:nvSpPr>
        <p:spPr>
          <a:xfrm>
            <a:off x="8265738" y="5123688"/>
            <a:ext cx="879939" cy="540639"/>
          </a:xfrm>
          <a:prstGeom prst="rect">
            <a:avLst/>
          </a:prstGeom>
          <a:noFill/>
        </p:spPr>
        <p:txBody>
          <a:bodyPr wrap="square" lIns="0" rIns="0" tIns="0" bIns="0" anchor="ctr">
            <a:noAutofit/>
          </a:bodyPr>
          <a:lstStyle/>
          <a:p>
            <a:pPr algn="l"/>
            <a:r>
              <a:rPr sz="1600" i="0">
                <a:solidFill>
                  <a:srgbClr val="07080C"/>
                </a:solidFill>
                <a:latin typeface="Segoe UI Semibold"/>
              </a:rPr>
              <a:t>PPTX</a:t>
            </a:r>
          </a:p>
        </p:txBody>
      </p:sp>
      <p:sp>
        <p:nvSpPr>
          <p:cNvPr id="40" name="TextBox 39"/>
          <p:cNvSpPr txBox="1"/>
          <p:nvPr/>
        </p:nvSpPr>
        <p:spPr>
          <a:xfrm>
            <a:off x="1010793" y="5122545"/>
            <a:ext cx="6285281" cy="579120"/>
          </a:xfrm>
          <a:prstGeom prst="rect">
            <a:avLst/>
          </a:prstGeom>
          <a:noFill/>
        </p:spPr>
        <p:txBody>
          <a:bodyPr wrap="square" lIns="0" rIns="0" tIns="0" bIns="0" anchor="t">
            <a:noAutofit/>
          </a:bodyPr>
          <a:lstStyle/>
          <a:p>
            <a:pPr algn="l"/>
            <a:r>
              <a:rPr sz="1400" i="0">
                <a:solidFill>
                  <a:srgbClr val="5A6276"/>
                </a:solidFill>
                <a:latin typeface="Segoe UI"/>
              </a:rPr>
              <a:t>Measured per deck: seconds, tokens, watt-hours (nvidia-smi)</a:t>
            </a:r>
          </a:p>
        </p:txBody>
      </p:sp>
      <p:sp>
        <p:nvSpPr>
          <p:cNvPr id="41" name="Rounded Rectangle 40"/>
          <p:cNvSpPr/>
          <p:nvPr/>
        </p:nvSpPr>
        <p:spPr>
          <a:xfrm>
            <a:off x="9791700" y="2480310"/>
            <a:ext cx="1756181" cy="760095"/>
          </a:xfrm>
          <a:prstGeom prst="roundRect">
            <a:avLst>
              <a:gd name="adj" fmla="val 16842"/>
            </a:avLst>
          </a:prstGeom>
          <a:solidFill>
            <a:srgbClr val="5A6276"/>
          </a:solidFill>
          <a:ln>
            <a:noFill/>
          </a:ln>
          <a:effectLst>
            <a:glow rad="101600">
              <a:srgbClr val="5A6276">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947148" y="2651331"/>
            <a:ext cx="418052" cy="418052"/>
          </a:xfrm>
          <a:prstGeom prst="rect">
            <a:avLst/>
          </a:prstGeom>
          <a:noFill/>
        </p:spPr>
        <p:txBody>
          <a:bodyPr wrap="none" lIns="0" rIns="0" tIns="0" bIns="0" anchor="ctr">
            <a:spAutoFit/>
          </a:bodyPr>
          <a:lstStyle/>
          <a:p>
            <a:pPr algn="ctr"/>
            <a:r>
              <a:rPr sz="2040">
                <a:solidFill>
                  <a:srgbClr val="07080C"/>
                </a:solidFill>
                <a:latin typeface="Segoe Fluent Icons"/>
              </a:rPr>
              <a:t></a:t>
            </a:r>
          </a:p>
        </p:txBody>
      </p:sp>
      <p:sp>
        <p:nvSpPr>
          <p:cNvPr id="43" name="TextBox 42"/>
          <p:cNvSpPr txBox="1"/>
          <p:nvPr/>
        </p:nvSpPr>
        <p:spPr>
          <a:xfrm>
            <a:off x="10484072" y="2590038"/>
            <a:ext cx="972369" cy="540639"/>
          </a:xfrm>
          <a:prstGeom prst="rect">
            <a:avLst/>
          </a:prstGeom>
          <a:noFill/>
        </p:spPr>
        <p:txBody>
          <a:bodyPr wrap="square" lIns="0" rIns="0" tIns="0" bIns="0" anchor="ctr">
            <a:noAutofit/>
          </a:bodyPr>
          <a:lstStyle/>
          <a:p>
            <a:pPr algn="l"/>
            <a:r>
              <a:rPr sz="1600" i="0">
                <a:solidFill>
                  <a:srgbClr val="07080C"/>
                </a:solidFill>
                <a:latin typeface="Segoe UI Semibold"/>
              </a:rPr>
              <a:t>Cloud APIs</a:t>
            </a:r>
          </a:p>
        </p:txBody>
      </p:sp>
      <p:sp>
        <p:nvSpPr>
          <p:cNvPr id="44" name="TextBox 43"/>
          <p:cNvSpPr txBox="1"/>
          <p:nvPr/>
        </p:nvSpPr>
        <p:spPr>
          <a:xfrm>
            <a:off x="9653054" y="3348990"/>
            <a:ext cx="2033473" cy="651510"/>
          </a:xfrm>
          <a:prstGeom prst="rect">
            <a:avLst/>
          </a:prstGeom>
          <a:noFill/>
        </p:spPr>
        <p:txBody>
          <a:bodyPr wrap="square" lIns="0" rIns="0" tIns="0" bIns="0" anchor="t">
            <a:noAutofit/>
          </a:bodyPr>
          <a:lstStyle/>
          <a:p>
            <a:pPr algn="ctr"/>
            <a:r>
              <a:rPr sz="3000" i="0">
                <a:solidFill>
                  <a:srgbClr val="76B900"/>
                </a:solidFill>
                <a:latin typeface="Segoe UI Semibold"/>
              </a:rPr>
              <a:t>0 calls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Like an Architect and a Builder</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The model designs; deterministic code builds to spec.</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Forge pipeline</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Architect + builder</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LLM writes JSON spec</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Architect draws blueprint</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Renderer draws shapes</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Builder follows the plan</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Lint checks the render</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Inspector walks the site</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Templates</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Finish packages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One Spec, Three Templates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Pick Microsoft, Surface or Surface Ultra at build time, or re-render later.</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sp>
        <p:nvSpPr>
          <p:cNvPr id="9" name="TextBox 8"/>
          <p:cNvSpPr txBox="1"/>
          <p:nvPr/>
        </p:nvSpPr>
        <p:spPr>
          <a:xfrm>
            <a:off x="548640" y="4017645"/>
            <a:ext cx="3566160" cy="398145"/>
          </a:xfrm>
          <a:prstGeom prst="rect">
            <a:avLst/>
          </a:prstGeom>
          <a:noFill/>
        </p:spPr>
        <p:txBody>
          <a:bodyPr wrap="square" lIns="0" rIns="0" tIns="0" bIns="0" anchor="t">
            <a:noAutofit/>
          </a:bodyPr>
          <a:lstStyle/>
          <a:p>
            <a:pPr algn="ctr"/>
            <a:r>
              <a:rPr sz="2000" i="0">
                <a:solidFill>
                  <a:srgbClr val="F4F6FA"/>
                </a:solidFill>
                <a:latin typeface="Segoe UI Semibold"/>
              </a:rPr>
              <a:t>Microsoft</a:t>
            </a:r>
          </a:p>
        </p:txBody>
      </p:sp>
      <p:sp>
        <p:nvSpPr>
          <p:cNvPr id="10" name="TextBox 9"/>
          <p:cNvSpPr txBox="1"/>
          <p:nvPr/>
        </p:nvSpPr>
        <p:spPr>
          <a:xfrm>
            <a:off x="548640" y="4401693"/>
            <a:ext cx="3566160" cy="325755"/>
          </a:xfrm>
          <a:prstGeom prst="rect">
            <a:avLst/>
          </a:prstGeom>
          <a:noFill/>
        </p:spPr>
        <p:txBody>
          <a:bodyPr wrap="square" lIns="0" rIns="0" tIns="0" bIns="0" anchor="t">
            <a:noAutofit/>
          </a:bodyPr>
          <a:lstStyle/>
          <a:p>
            <a:pPr algn="ctr"/>
            <a:r>
              <a:rPr sz="1400" i="0">
                <a:solidFill>
                  <a:srgbClr val="5A6276"/>
                </a:solidFill>
                <a:latin typeface="Segoe UI"/>
              </a:rPr>
              <a:t>re-rendered in 0.14 s</a:t>
            </a:r>
          </a:p>
        </p:txBody>
      </p:sp>
      <p:sp>
        <p:nvSpPr>
          <p:cNvPr id="11" name="TextBox 10"/>
          <p:cNvSpPr txBox="1"/>
          <p:nvPr/>
        </p:nvSpPr>
        <p:spPr>
          <a:xfrm>
            <a:off x="4311396" y="4017645"/>
            <a:ext cx="3566160" cy="398145"/>
          </a:xfrm>
          <a:prstGeom prst="rect">
            <a:avLst/>
          </a:prstGeom>
          <a:noFill/>
        </p:spPr>
        <p:txBody>
          <a:bodyPr wrap="square" lIns="0" rIns="0" tIns="0" bIns="0" anchor="t">
            <a:noAutofit/>
          </a:bodyPr>
          <a:lstStyle/>
          <a:p>
            <a:pPr algn="ctr"/>
            <a:r>
              <a:rPr sz="2000" i="0">
                <a:solidFill>
                  <a:srgbClr val="F4F6FA"/>
                </a:solidFill>
                <a:latin typeface="Segoe UI Semibold"/>
              </a:rPr>
              <a:t>Surface</a:t>
            </a:r>
          </a:p>
        </p:txBody>
      </p:sp>
      <p:sp>
        <p:nvSpPr>
          <p:cNvPr id="12" name="TextBox 11"/>
          <p:cNvSpPr txBox="1"/>
          <p:nvPr/>
        </p:nvSpPr>
        <p:spPr>
          <a:xfrm>
            <a:off x="4311396" y="4401693"/>
            <a:ext cx="3566160" cy="325755"/>
          </a:xfrm>
          <a:prstGeom prst="rect">
            <a:avLst/>
          </a:prstGeom>
          <a:noFill/>
        </p:spPr>
        <p:txBody>
          <a:bodyPr wrap="square" lIns="0" rIns="0" tIns="0" bIns="0" anchor="t">
            <a:noAutofit/>
          </a:bodyPr>
          <a:lstStyle/>
          <a:p>
            <a:pPr algn="ctr"/>
            <a:r>
              <a:rPr sz="1400" i="0">
                <a:solidFill>
                  <a:srgbClr val="5A6276"/>
                </a:solidFill>
                <a:latin typeface="Segoe UI"/>
              </a:rPr>
              <a:t>re-rendered in 0.12 s</a:t>
            </a:r>
          </a:p>
        </p:txBody>
      </p:sp>
      <p:sp>
        <p:nvSpPr>
          <p:cNvPr id="13" name="TextBox 12"/>
          <p:cNvSpPr txBox="1"/>
          <p:nvPr/>
        </p:nvSpPr>
        <p:spPr>
          <a:xfrm>
            <a:off x="8074152" y="4017645"/>
            <a:ext cx="3566160" cy="398145"/>
          </a:xfrm>
          <a:prstGeom prst="rect">
            <a:avLst/>
          </a:prstGeom>
          <a:noFill/>
        </p:spPr>
        <p:txBody>
          <a:bodyPr wrap="square" lIns="0" rIns="0" tIns="0" bIns="0" anchor="t">
            <a:noAutofit/>
          </a:bodyPr>
          <a:lstStyle/>
          <a:p>
            <a:pPr algn="ctr"/>
            <a:r>
              <a:rPr sz="2000" i="0">
                <a:solidFill>
                  <a:srgbClr val="F4F6FA"/>
                </a:solidFill>
                <a:latin typeface="Segoe UI Semibold"/>
              </a:rPr>
              <a:t>Surface Ultra</a:t>
            </a:r>
          </a:p>
        </p:txBody>
      </p:sp>
      <p:sp>
        <p:nvSpPr>
          <p:cNvPr id="14" name="TextBox 13"/>
          <p:cNvSpPr txBox="1"/>
          <p:nvPr/>
        </p:nvSpPr>
        <p:spPr>
          <a:xfrm>
            <a:off x="8074152" y="4401693"/>
            <a:ext cx="3566160" cy="325755"/>
          </a:xfrm>
          <a:prstGeom prst="rect">
            <a:avLst/>
          </a:prstGeom>
          <a:noFill/>
        </p:spPr>
        <p:txBody>
          <a:bodyPr wrap="square" lIns="0" rIns="0" tIns="0" bIns="0" anchor="t">
            <a:noAutofit/>
          </a:bodyPr>
          <a:lstStyle/>
          <a:p>
            <a:pPr algn="ctr"/>
            <a:r>
              <a:rPr sz="1400" i="0">
                <a:solidFill>
                  <a:srgbClr val="5A6276"/>
                </a:solidFill>
                <a:latin typeface="Segoe UI"/>
              </a:rPr>
              <a:t>re-rendered in 0.13 s</a:t>
            </a:r>
          </a:p>
        </p:txBody>
      </p:sp>
      <p:sp>
        <p:nvSpPr>
          <p:cNvPr id="15" name="Rounded Rectangle 14"/>
          <p:cNvSpPr/>
          <p:nvPr/>
        </p:nvSpPr>
        <p:spPr>
          <a:xfrm>
            <a:off x="548640" y="5050155"/>
            <a:ext cx="11091672" cy="687705"/>
          </a:xfrm>
          <a:prstGeom prst="roundRect">
            <a:avLst>
              <a:gd name="adj" fmla="val 50000"/>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4088" y="5204889"/>
            <a:ext cx="378238" cy="378238"/>
          </a:xfrm>
          <a:prstGeom prst="rect">
            <a:avLst/>
          </a:prstGeom>
          <a:noFill/>
        </p:spPr>
        <p:txBody>
          <a:bodyPr wrap="none" lIns="0" rIns="0" tIns="0" bIns="0" anchor="ctr">
            <a:spAutoFit/>
          </a:bodyPr>
          <a:lstStyle/>
          <a:p>
            <a:pPr algn="ctr"/>
            <a:r>
              <a:rPr sz="1846">
                <a:solidFill>
                  <a:srgbClr val="F4F6FA"/>
                </a:solidFill>
                <a:latin typeface="Segoe Fluent Icons"/>
              </a:rPr>
              <a:t></a:t>
            </a:r>
          </a:p>
        </p:txBody>
      </p:sp>
      <p:sp>
        <p:nvSpPr>
          <p:cNvPr id="17" name="TextBox 16"/>
          <p:cNvSpPr txBox="1"/>
          <p:nvPr/>
        </p:nvSpPr>
        <p:spPr>
          <a:xfrm>
            <a:off x="1201198" y="5159883"/>
            <a:ext cx="10347674" cy="468249"/>
          </a:xfrm>
          <a:prstGeom prst="rect">
            <a:avLst/>
          </a:prstGeom>
          <a:noFill/>
        </p:spPr>
        <p:txBody>
          <a:bodyPr wrap="square" lIns="0" rIns="0" tIns="0" bIns="0" anchor="ctr">
            <a:noAutofit/>
          </a:bodyPr>
          <a:lstStyle/>
          <a:p>
            <a:pPr algn="l"/>
            <a:r>
              <a:rPr sz="1600" i="0">
                <a:solidFill>
                  <a:srgbClr val="F4F6FA"/>
                </a:solidFill>
                <a:latin typeface="Segoe UI Semibold"/>
              </a:rPr>
              <a:t>1 JSON spec, 3 templates, 0 LLM calls to restyle</a:t>
            </a:r>
          </a:p>
        </p:txBody>
      </p:sp>
      <p:pic>
        <p:nvPicPr>
          <p:cNvPr id="18" name="Picture 17" descr="slide05.png"/>
          <p:cNvPicPr>
            <a:picLocks noChangeAspect="1"/>
          </p:cNvPicPr>
          <p:nvPr/>
        </p:nvPicPr>
        <p:blipFill>
          <a:blip r:embed="rId3"/>
          <a:stretch>
            <a:fillRect/>
          </a:stretch>
        </p:blipFill>
        <p:spPr>
          <a:xfrm>
            <a:off x="548640" y="1920240"/>
            <a:ext cx="3566160" cy="2005965"/>
          </a:xfrm>
          <a:prstGeom prst="rect">
            <a:avLst/>
          </a:prstGeom>
          <a:ln w="15875">
            <a:solidFill>
              <a:srgbClr val="283044"/>
            </a:solidFill>
          </a:ln>
        </p:spPr>
      </p:pic>
      <p:pic>
        <p:nvPicPr>
          <p:cNvPr id="19" name="Picture 18" descr="slide05.png"/>
          <p:cNvPicPr>
            <a:picLocks noChangeAspect="1"/>
          </p:cNvPicPr>
          <p:nvPr/>
        </p:nvPicPr>
        <p:blipFill>
          <a:blip r:embed="rId4"/>
          <a:stretch>
            <a:fillRect/>
          </a:stretch>
        </p:blipFill>
        <p:spPr>
          <a:xfrm>
            <a:off x="4311396" y="1920240"/>
            <a:ext cx="3566160" cy="2005965"/>
          </a:xfrm>
          <a:prstGeom prst="rect">
            <a:avLst/>
          </a:prstGeom>
          <a:ln w="15875">
            <a:solidFill>
              <a:srgbClr val="283044"/>
            </a:solidFill>
          </a:ln>
        </p:spPr>
      </p:pic>
      <p:pic>
        <p:nvPicPr>
          <p:cNvPr id="20" name="Picture 19" descr="slide05.png"/>
          <p:cNvPicPr>
            <a:picLocks noChangeAspect="1"/>
          </p:cNvPicPr>
          <p:nvPr/>
        </p:nvPicPr>
        <p:blipFill>
          <a:blip r:embed="rId5"/>
          <a:stretch>
            <a:fillRect/>
          </a:stretch>
        </p:blipFill>
        <p:spPr>
          <a:xfrm>
            <a:off x="8074152" y="1920240"/>
            <a:ext cx="3566160" cy="2005965"/>
          </a:xfrm>
          <a:prstGeom prst="rect">
            <a:avLst/>
          </a:prstGeom>
          <a:ln w="15875">
            <a:solidFill>
              <a:srgbClr val="283044"/>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Round 1: The Laptop Came Last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v1.0 scored 19.5/50 with the blind judge; frontier scored 36 to 40.5.</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19.5</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/50  |  Local v1.0</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Blind judge, anonymized slide sheets, mean of 2 briefs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Frontier Bought Quality With Tokens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Opus max used 21x Opus low's tokens for +4.5 judge points.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71,181</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  |  Opus max</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Exact output tokens per deck, incl. reasoning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What Frontier Did That v1.0 Didn't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The judge's notes became the v1.1 playbook.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sp>
        <p:nvSpPr>
          <p:cNvPr id="9" name="Rounded Rectangle 8"/>
          <p:cNvSpPr/>
          <p:nvPr/>
        </p:nvSpPr>
        <p:spPr>
          <a:xfrm>
            <a:off x="548640" y="1828800"/>
            <a:ext cx="5088636" cy="3429000"/>
          </a:xfrm>
          <a:prstGeom prst="roundRect">
            <a:avLst>
              <a:gd name="adj" fmla="val 3733"/>
            </a:avLst>
          </a:prstGeom>
          <a:solidFill>
            <a:srgbClr val="141824"/>
          </a:solidFill>
          <a:ln w="12700">
            <a:solidFill>
              <a:srgbClr val="2A31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2020824"/>
            <a:ext cx="749808" cy="749808"/>
          </a:xfrm>
          <a:prstGeom prst="ellipse">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12" name="TextBox 11"/>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v1.0 habits</a:t>
            </a:r>
          </a:p>
        </p:txBody>
      </p:sp>
      <p:sp>
        <p:nvSpPr>
          <p:cNvPr id="13" name="TextBox 12"/>
          <p:cNvSpPr txBox="1"/>
          <p:nvPr/>
        </p:nvSpPr>
        <p:spPr>
          <a:xfrm>
            <a:off x="960120" y="312496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4" name="TextBox 13"/>
          <p:cNvSpPr txBox="1"/>
          <p:nvPr/>
        </p:nvSpPr>
        <p:spPr>
          <a:xfrm>
            <a:off x="1417320" y="3017520"/>
            <a:ext cx="3991356" cy="525780"/>
          </a:xfrm>
          <a:prstGeom prst="rect">
            <a:avLst/>
          </a:prstGeom>
          <a:noFill/>
        </p:spPr>
        <p:txBody>
          <a:bodyPr wrap="square" lIns="0" rIns="0" tIns="0" bIns="0" anchor="ctr">
            <a:noAutofit/>
          </a:bodyPr>
          <a:lstStyle/>
          <a:p>
            <a:pPr algn="l"/>
            <a:r>
              <a:rPr sz="1700" i="0">
                <a:solidFill>
                  <a:srgbClr val="AEB6C8"/>
                </a:solidFill>
                <a:latin typeface="Segoe UI"/>
              </a:rPr>
              <a:t>Label titles</a:t>
            </a:r>
          </a:p>
        </p:txBody>
      </p:sp>
      <p:sp>
        <p:nvSpPr>
          <p:cNvPr id="15" name="TextBox 14"/>
          <p:cNvSpPr txBox="1"/>
          <p:nvPr/>
        </p:nvSpPr>
        <p:spPr>
          <a:xfrm>
            <a:off x="960120" y="365074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6" name="TextBox 15"/>
          <p:cNvSpPr txBox="1"/>
          <p:nvPr/>
        </p:nvSpPr>
        <p:spPr>
          <a:xfrm>
            <a:off x="1417320" y="3543300"/>
            <a:ext cx="3991356" cy="525780"/>
          </a:xfrm>
          <a:prstGeom prst="rect">
            <a:avLst/>
          </a:prstGeom>
          <a:noFill/>
        </p:spPr>
        <p:txBody>
          <a:bodyPr wrap="square" lIns="0" rIns="0" tIns="0" bIns="0" anchor="ctr">
            <a:noAutofit/>
          </a:bodyPr>
          <a:lstStyle/>
          <a:p>
            <a:pPr algn="l"/>
            <a:r>
              <a:rPr sz="1700" i="0">
                <a:solidFill>
                  <a:srgbClr val="AEB6C8"/>
                </a:solidFill>
                <a:latin typeface="Segoe UI"/>
              </a:rPr>
              <a:t>Mixed-unit charts</a:t>
            </a:r>
          </a:p>
        </p:txBody>
      </p:sp>
      <p:sp>
        <p:nvSpPr>
          <p:cNvPr id="17" name="TextBox 16"/>
          <p:cNvSpPr txBox="1"/>
          <p:nvPr/>
        </p:nvSpPr>
        <p:spPr>
          <a:xfrm>
            <a:off x="960120" y="417652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8" name="TextBox 17"/>
          <p:cNvSpPr txBox="1"/>
          <p:nvPr/>
        </p:nvSpPr>
        <p:spPr>
          <a:xfrm>
            <a:off x="1417320" y="4069080"/>
            <a:ext cx="3991356" cy="525780"/>
          </a:xfrm>
          <a:prstGeom prst="rect">
            <a:avLst/>
          </a:prstGeom>
          <a:noFill/>
        </p:spPr>
        <p:txBody>
          <a:bodyPr wrap="square" lIns="0" rIns="0" tIns="0" bIns="0" anchor="ctr">
            <a:noAutofit/>
          </a:bodyPr>
          <a:lstStyle/>
          <a:p>
            <a:pPr algn="l"/>
            <a:r>
              <a:rPr sz="1700" i="0">
                <a:solidFill>
                  <a:srgbClr val="AEB6C8"/>
                </a:solidFill>
                <a:latin typeface="Segoe UI"/>
              </a:rPr>
              <a:t>Floating diagram nodes</a:t>
            </a:r>
          </a:p>
        </p:txBody>
      </p:sp>
      <p:sp>
        <p:nvSpPr>
          <p:cNvPr id="19" name="TextBox 18"/>
          <p:cNvSpPr txBox="1"/>
          <p:nvPr/>
        </p:nvSpPr>
        <p:spPr>
          <a:xfrm>
            <a:off x="960120" y="470230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20" name="TextBox 19"/>
          <p:cNvSpPr txBox="1"/>
          <p:nvPr/>
        </p:nvSpPr>
        <p:spPr>
          <a:xfrm>
            <a:off x="1417320" y="4594860"/>
            <a:ext cx="3991356" cy="525780"/>
          </a:xfrm>
          <a:prstGeom prst="rect">
            <a:avLst/>
          </a:prstGeom>
          <a:noFill/>
        </p:spPr>
        <p:txBody>
          <a:bodyPr wrap="square" lIns="0" rIns="0" tIns="0" bIns="0" anchor="ctr">
            <a:noAutofit/>
          </a:bodyPr>
          <a:lstStyle/>
          <a:p>
            <a:pPr algn="l"/>
            <a:r>
              <a:rPr sz="1700" i="0">
                <a:solidFill>
                  <a:srgbClr val="AEB6C8"/>
                </a:solidFill>
                <a:latin typeface="Segoe UI"/>
              </a:rPr>
              <a:t>Back-to-back analogies</a:t>
            </a:r>
          </a:p>
        </p:txBody>
      </p:sp>
      <p:sp>
        <p:nvSpPr>
          <p:cNvPr id="21" name="Rounded Rectangle 20"/>
          <p:cNvSpPr/>
          <p:nvPr/>
        </p:nvSpPr>
        <p:spPr>
          <a:xfrm>
            <a:off x="6551676" y="1828800"/>
            <a:ext cx="5088636" cy="3429000"/>
          </a:xfrm>
          <a:prstGeom prst="roundRect">
            <a:avLst>
              <a:gd name="adj" fmla="val 3733"/>
            </a:avLst>
          </a:prstGeom>
          <a:solidFill>
            <a:srgbClr val="141824"/>
          </a:solidFill>
          <a:ln w="28575">
            <a:solidFill>
              <a:srgbClr val="76B900"/>
            </a:solidFill>
          </a:ln>
          <a:effectLst>
            <a:glow rad="1270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771132" y="2020824"/>
            <a:ext cx="749808" cy="74980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24" name="TextBox 23"/>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Frontier habits</a:t>
            </a:r>
          </a:p>
        </p:txBody>
      </p:sp>
      <p:sp>
        <p:nvSpPr>
          <p:cNvPr id="25" name="TextBox 24"/>
          <p:cNvSpPr txBox="1"/>
          <p:nvPr/>
        </p:nvSpPr>
        <p:spPr>
          <a:xfrm>
            <a:off x="6963156" y="312496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6" name="TextBox 25"/>
          <p:cNvSpPr txBox="1"/>
          <p:nvPr/>
        </p:nvSpPr>
        <p:spPr>
          <a:xfrm>
            <a:off x="7420356" y="3017520"/>
            <a:ext cx="3991356" cy="525780"/>
          </a:xfrm>
          <a:prstGeom prst="rect">
            <a:avLst/>
          </a:prstGeom>
          <a:noFill/>
        </p:spPr>
        <p:txBody>
          <a:bodyPr wrap="square" lIns="0" rIns="0" tIns="0" bIns="0" anchor="ctr">
            <a:noAutofit/>
          </a:bodyPr>
          <a:lstStyle/>
          <a:p>
            <a:pPr algn="l"/>
            <a:r>
              <a:rPr sz="1700" i="0">
                <a:solidFill>
                  <a:srgbClr val="F4F6FA"/>
                </a:solidFill>
                <a:latin typeface="Segoe UI"/>
              </a:rPr>
              <a:t>Insight titles</a:t>
            </a:r>
          </a:p>
        </p:txBody>
      </p:sp>
      <p:sp>
        <p:nvSpPr>
          <p:cNvPr id="27" name="TextBox 26"/>
          <p:cNvSpPr txBox="1"/>
          <p:nvPr/>
        </p:nvSpPr>
        <p:spPr>
          <a:xfrm>
            <a:off x="6963156" y="365074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8" name="TextBox 27"/>
          <p:cNvSpPr txBox="1"/>
          <p:nvPr/>
        </p:nvSpPr>
        <p:spPr>
          <a:xfrm>
            <a:off x="7420356" y="3543300"/>
            <a:ext cx="3991356" cy="525780"/>
          </a:xfrm>
          <a:prstGeom prst="rect">
            <a:avLst/>
          </a:prstGeom>
          <a:noFill/>
        </p:spPr>
        <p:txBody>
          <a:bodyPr wrap="square" lIns="0" rIns="0" tIns="0" bIns="0" anchor="ctr">
            <a:noAutofit/>
          </a:bodyPr>
          <a:lstStyle/>
          <a:p>
            <a:pPr algn="l"/>
            <a:r>
              <a:rPr sz="1700" i="0">
                <a:solidFill>
                  <a:srgbClr val="F4F6FA"/>
                </a:solidFill>
                <a:latin typeface="Segoe UI"/>
              </a:rPr>
              <a:t>Like-for-like charts</a:t>
            </a:r>
          </a:p>
        </p:txBody>
      </p:sp>
      <p:sp>
        <p:nvSpPr>
          <p:cNvPr id="29" name="TextBox 28"/>
          <p:cNvSpPr txBox="1"/>
          <p:nvPr/>
        </p:nvSpPr>
        <p:spPr>
          <a:xfrm>
            <a:off x="6963156" y="417652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30" name="TextBox 29"/>
          <p:cNvSpPr txBox="1"/>
          <p:nvPr/>
        </p:nvSpPr>
        <p:spPr>
          <a:xfrm>
            <a:off x="7420356" y="4069080"/>
            <a:ext cx="3991356" cy="525780"/>
          </a:xfrm>
          <a:prstGeom prst="rect">
            <a:avLst/>
          </a:prstGeom>
          <a:noFill/>
        </p:spPr>
        <p:txBody>
          <a:bodyPr wrap="square" lIns="0" rIns="0" tIns="0" bIns="0" anchor="ctr">
            <a:noAutofit/>
          </a:bodyPr>
          <a:lstStyle/>
          <a:p>
            <a:pPr algn="l"/>
            <a:r>
              <a:rPr sz="1700" i="0">
                <a:solidFill>
                  <a:srgbClr val="F4F6FA"/>
                </a:solidFill>
                <a:latin typeface="Segoe UI"/>
              </a:rPr>
              <a:t>Connected diagrams</a:t>
            </a:r>
          </a:p>
        </p:txBody>
      </p:sp>
      <p:sp>
        <p:nvSpPr>
          <p:cNvPr id="31" name="TextBox 30"/>
          <p:cNvSpPr txBox="1"/>
          <p:nvPr/>
        </p:nvSpPr>
        <p:spPr>
          <a:xfrm>
            <a:off x="6963156" y="470230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32" name="TextBox 31"/>
          <p:cNvSpPr txBox="1"/>
          <p:nvPr/>
        </p:nvSpPr>
        <p:spPr>
          <a:xfrm>
            <a:off x="7420356" y="4594860"/>
            <a:ext cx="3991356" cy="525780"/>
          </a:xfrm>
          <a:prstGeom prst="rect">
            <a:avLst/>
          </a:prstGeom>
          <a:noFill/>
        </p:spPr>
        <p:txBody>
          <a:bodyPr wrap="square" lIns="0" rIns="0" tIns="0" bIns="0" anchor="ctr">
            <a:noAutofit/>
          </a:bodyPr>
          <a:lstStyle/>
          <a:p>
            <a:pPr algn="l"/>
            <a:r>
              <a:rPr sz="1700" i="0">
                <a:solidFill>
                  <a:srgbClr val="F4F6FA"/>
                </a:solidFill>
                <a:latin typeface="Segoe UI"/>
              </a:rPr>
              <a:t>Analogies that map caveats</a:t>
            </a:r>
          </a:p>
        </p:txBody>
      </p:sp>
      <p:sp>
        <p:nvSpPr>
          <p:cNvPr id="33" name="Oval 32"/>
          <p:cNvSpPr/>
          <p:nvPr/>
        </p:nvSpPr>
        <p:spPr>
          <a:xfrm>
            <a:off x="5728716" y="3177540"/>
            <a:ext cx="731520" cy="731520"/>
          </a:xfrm>
          <a:prstGeom prst="ellipse">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07080C"/>
                </a:solidFill>
                <a:latin typeface="Segoe UI Semibold"/>
              </a:rPr>
              <a:t>VS</a:t>
            </a:r>
          </a:p>
        </p:txBody>
      </p:sp>
      <p:sp>
        <p:nvSpPr>
          <p:cNvPr id="35" name="Rounded Rectangle 34"/>
          <p:cNvSpPr/>
          <p:nvPr/>
        </p:nvSpPr>
        <p:spPr>
          <a:xfrm>
            <a:off x="548640" y="5458968"/>
            <a:ext cx="11091672" cy="713232"/>
          </a:xfrm>
          <a:prstGeom prst="roundRect">
            <a:avLst>
              <a:gd name="adj" fmla="val 17948"/>
            </a:avLst>
          </a:prstGeom>
          <a:solidFill>
            <a:srgbClr val="76B900"/>
          </a:solidFill>
          <a:ln>
            <a:noFill/>
          </a:ln>
          <a:effectLst>
            <a:glow rad="1270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07080C"/>
                </a:solidFill>
                <a:latin typeface="Segoe Fluent Icons"/>
              </a:rPr>
              <a:t></a:t>
            </a:r>
          </a:p>
        </p:txBody>
      </p:sp>
      <p:sp>
        <p:nvSpPr>
          <p:cNvPr id="37" name="TextBox 36"/>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07080C"/>
                </a:solidFill>
                <a:latin typeface="Segoe UI Semibold"/>
              </a:rPr>
              <a:t>Distill the habits, not the weights.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Distillation Is Like an Apprenticeship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Same apprentice, better playbook.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Harness v1.1</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Apprentice</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Frontier decks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Master's portfolio</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Blind judge notes</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Studio critique</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Lint rules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Pre-flight checklist</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Weights unchanged</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Same apprentice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v1.1: Draft, Check, Repair</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Lint issues fell from 30 to 24 across both decks before grading.</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sp>
        <p:nvSpPr>
          <p:cNvPr id="9" name="Rounded Rectangle 8"/>
          <p:cNvSpPr/>
          <p:nvPr/>
        </p:nvSpPr>
        <p:spPr>
          <a:xfrm>
            <a:off x="548640" y="2583180"/>
            <a:ext cx="1815998" cy="3291840"/>
          </a:xfrm>
          <a:prstGeom prst="roundRect">
            <a:avLst>
              <a:gd name="adj" fmla="val 7049"/>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99439" y="2125980"/>
            <a:ext cx="914400" cy="914400"/>
          </a:xfrm>
          <a:prstGeom prst="ellipse">
            <a:avLst/>
          </a:prstGeom>
          <a:solidFill>
            <a:srgbClr val="76B900"/>
          </a:solidFill>
          <a:ln>
            <a:noFill/>
          </a:ln>
          <a:effectLst>
            <a:glow rad="1270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27455"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2" name="TextBox 11"/>
          <p:cNvSpPr txBox="1"/>
          <p:nvPr/>
        </p:nvSpPr>
        <p:spPr>
          <a:xfrm>
            <a:off x="731520" y="3150108"/>
            <a:ext cx="1450238" cy="274320"/>
          </a:xfrm>
          <a:prstGeom prst="rect">
            <a:avLst/>
          </a:prstGeom>
          <a:noFill/>
        </p:spPr>
        <p:txBody>
          <a:bodyPr wrap="square" lIns="0" rIns="0" tIns="0" bIns="0" anchor="t">
            <a:noAutofit/>
          </a:bodyPr>
          <a:lstStyle/>
          <a:p>
            <a:pPr algn="ctr"/>
            <a:r>
              <a:rPr sz="1200" i="0">
                <a:solidFill>
                  <a:srgbClr val="76B900"/>
                </a:solidFill>
                <a:latin typeface="Segoe UI Semibold"/>
              </a:rPr>
              <a:t>01</a:t>
            </a:r>
          </a:p>
        </p:txBody>
      </p:sp>
      <p:sp>
        <p:nvSpPr>
          <p:cNvPr id="13" name="TextBox 12"/>
          <p:cNvSpPr txBox="1"/>
          <p:nvPr/>
        </p:nvSpPr>
        <p:spPr>
          <a:xfrm>
            <a:off x="713232"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Deck arc</a:t>
            </a:r>
          </a:p>
        </p:txBody>
      </p:sp>
      <p:sp>
        <p:nvSpPr>
          <p:cNvPr id="14" name="TextBox 13"/>
          <p:cNvSpPr txBox="1"/>
          <p:nvPr/>
        </p:nvSpPr>
        <p:spPr>
          <a:xfrm>
            <a:off x="731520"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Slot-by-slot story</a:t>
            </a:r>
          </a:p>
        </p:txBody>
      </p:sp>
      <p:sp>
        <p:nvSpPr>
          <p:cNvPr id="15" name="Chevron 14"/>
          <p:cNvSpPr/>
          <p:nvPr/>
        </p:nvSpPr>
        <p:spPr>
          <a:xfrm>
            <a:off x="2501798"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867558" y="2583180"/>
            <a:ext cx="1815998" cy="3291840"/>
          </a:xfrm>
          <a:prstGeom prst="roundRect">
            <a:avLst>
              <a:gd name="adj" fmla="val 7049"/>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318358" y="2125980"/>
            <a:ext cx="914400" cy="914400"/>
          </a:xfrm>
          <a:prstGeom prst="ellipse">
            <a:avLst/>
          </a:prstGeom>
          <a:solidFill>
            <a:srgbClr val="3DA9FC"/>
          </a:solidFill>
          <a:ln>
            <a:noFill/>
          </a:ln>
          <a:effectLst>
            <a:glow rad="127000">
              <a:srgbClr val="3DA9FC">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46374"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9" name="TextBox 18"/>
          <p:cNvSpPr txBox="1"/>
          <p:nvPr/>
        </p:nvSpPr>
        <p:spPr>
          <a:xfrm>
            <a:off x="3050438" y="3150108"/>
            <a:ext cx="1450238" cy="274320"/>
          </a:xfrm>
          <a:prstGeom prst="rect">
            <a:avLst/>
          </a:prstGeom>
          <a:noFill/>
        </p:spPr>
        <p:txBody>
          <a:bodyPr wrap="square" lIns="0" rIns="0" tIns="0" bIns="0" anchor="t">
            <a:noAutofit/>
          </a:bodyPr>
          <a:lstStyle/>
          <a:p>
            <a:pPr algn="ctr"/>
            <a:r>
              <a:rPr sz="1200" i="0">
                <a:solidFill>
                  <a:srgbClr val="3DA9FC"/>
                </a:solidFill>
                <a:latin typeface="Segoe UI Semibold"/>
              </a:rPr>
              <a:t>02</a:t>
            </a:r>
          </a:p>
        </p:txBody>
      </p:sp>
      <p:sp>
        <p:nvSpPr>
          <p:cNvPr id="20" name="TextBox 19"/>
          <p:cNvSpPr txBox="1"/>
          <p:nvPr/>
        </p:nvSpPr>
        <p:spPr>
          <a:xfrm>
            <a:off x="3032150"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Analogy bank</a:t>
            </a:r>
          </a:p>
        </p:txBody>
      </p:sp>
      <p:sp>
        <p:nvSpPr>
          <p:cNvPr id="21" name="TextBox 20"/>
          <p:cNvSpPr txBox="1"/>
          <p:nvPr/>
        </p:nvSpPr>
        <p:spPr>
          <a:xfrm>
            <a:off x="3050438"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Caveat-mapped analogies</a:t>
            </a:r>
          </a:p>
        </p:txBody>
      </p:sp>
      <p:sp>
        <p:nvSpPr>
          <p:cNvPr id="22" name="Chevron 21"/>
          <p:cNvSpPr/>
          <p:nvPr/>
        </p:nvSpPr>
        <p:spPr>
          <a:xfrm>
            <a:off x="4820717"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186477" y="2583180"/>
            <a:ext cx="1815998" cy="3291840"/>
          </a:xfrm>
          <a:prstGeom prst="roundRect">
            <a:avLst>
              <a:gd name="adj" fmla="val 7049"/>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37276" y="2125980"/>
            <a:ext cx="914400" cy="914400"/>
          </a:xfrm>
          <a:prstGeom prst="ellipse">
            <a:avLst/>
          </a:prstGeom>
          <a:solidFill>
            <a:srgbClr val="9B6BFF"/>
          </a:solidFill>
          <a:ln>
            <a:noFill/>
          </a:ln>
          <a:effectLst>
            <a:glow rad="1270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26" name="TextBox 25"/>
          <p:cNvSpPr txBox="1"/>
          <p:nvPr/>
        </p:nvSpPr>
        <p:spPr>
          <a:xfrm>
            <a:off x="5369357" y="3150108"/>
            <a:ext cx="1450238" cy="274320"/>
          </a:xfrm>
          <a:prstGeom prst="rect">
            <a:avLst/>
          </a:prstGeom>
          <a:noFill/>
        </p:spPr>
        <p:txBody>
          <a:bodyPr wrap="square" lIns="0" rIns="0" tIns="0" bIns="0" anchor="t">
            <a:noAutofit/>
          </a:bodyPr>
          <a:lstStyle/>
          <a:p>
            <a:pPr algn="ctr"/>
            <a:r>
              <a:rPr sz="1200" i="0">
                <a:solidFill>
                  <a:srgbClr val="9B6BFF"/>
                </a:solidFill>
                <a:latin typeface="Segoe UI Semibold"/>
              </a:rPr>
              <a:t>03</a:t>
            </a:r>
          </a:p>
        </p:txBody>
      </p:sp>
      <p:sp>
        <p:nvSpPr>
          <p:cNvPr id="27" name="TextBox 26"/>
          <p:cNvSpPr txBox="1"/>
          <p:nvPr/>
        </p:nvSpPr>
        <p:spPr>
          <a:xfrm>
            <a:off x="5351069"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JSON draft</a:t>
            </a:r>
          </a:p>
        </p:txBody>
      </p:sp>
      <p:sp>
        <p:nvSpPr>
          <p:cNvPr id="28" name="TextBox 27"/>
          <p:cNvSpPr txBox="1"/>
          <p:nvPr/>
        </p:nvSpPr>
        <p:spPr>
          <a:xfrm>
            <a:off x="5369357"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Local model, JSON mode</a:t>
            </a:r>
          </a:p>
        </p:txBody>
      </p:sp>
      <p:sp>
        <p:nvSpPr>
          <p:cNvPr id="29" name="Chevron 28"/>
          <p:cNvSpPr/>
          <p:nvPr/>
        </p:nvSpPr>
        <p:spPr>
          <a:xfrm>
            <a:off x="7139635"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505395" y="2583180"/>
            <a:ext cx="1815998" cy="3291840"/>
          </a:xfrm>
          <a:prstGeom prst="roundRect">
            <a:avLst>
              <a:gd name="adj" fmla="val 7049"/>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956194" y="2125980"/>
            <a:ext cx="914400" cy="914400"/>
          </a:xfrm>
          <a:prstGeom prst="ellipse">
            <a:avLst/>
          </a:prstGeom>
          <a:solidFill>
            <a:srgbClr val="FFB547"/>
          </a:solidFill>
          <a:ln>
            <a:noFill/>
          </a:ln>
          <a:effectLst>
            <a:glow rad="127000">
              <a:srgbClr val="FFB547">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84210"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33" name="TextBox 32"/>
          <p:cNvSpPr txBox="1"/>
          <p:nvPr/>
        </p:nvSpPr>
        <p:spPr>
          <a:xfrm>
            <a:off x="7688275" y="3150108"/>
            <a:ext cx="1450238" cy="274320"/>
          </a:xfrm>
          <a:prstGeom prst="rect">
            <a:avLst/>
          </a:prstGeom>
          <a:noFill/>
        </p:spPr>
        <p:txBody>
          <a:bodyPr wrap="square" lIns="0" rIns="0" tIns="0" bIns="0" anchor="t">
            <a:noAutofit/>
          </a:bodyPr>
          <a:lstStyle/>
          <a:p>
            <a:pPr algn="ctr"/>
            <a:r>
              <a:rPr sz="1200" i="0">
                <a:solidFill>
                  <a:srgbClr val="FFB547"/>
                </a:solidFill>
                <a:latin typeface="Segoe UI Semibold"/>
              </a:rPr>
              <a:t>04</a:t>
            </a:r>
          </a:p>
        </p:txBody>
      </p:sp>
      <p:sp>
        <p:nvSpPr>
          <p:cNvPr id="34" name="TextBox 33"/>
          <p:cNvSpPr txBox="1"/>
          <p:nvPr/>
        </p:nvSpPr>
        <p:spPr>
          <a:xfrm>
            <a:off x="7669987"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Render + lint</a:t>
            </a:r>
          </a:p>
        </p:txBody>
      </p:sp>
      <p:sp>
        <p:nvSpPr>
          <p:cNvPr id="35" name="TextBox 34"/>
          <p:cNvSpPr txBox="1"/>
          <p:nvPr/>
        </p:nvSpPr>
        <p:spPr>
          <a:xfrm>
            <a:off x="7688275"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Deterministic checks</a:t>
            </a:r>
          </a:p>
        </p:txBody>
      </p:sp>
      <p:sp>
        <p:nvSpPr>
          <p:cNvPr id="36" name="Chevron 35"/>
          <p:cNvSpPr/>
          <p:nvPr/>
        </p:nvSpPr>
        <p:spPr>
          <a:xfrm>
            <a:off x="9458554"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824314" y="2583180"/>
            <a:ext cx="1815998" cy="3291840"/>
          </a:xfrm>
          <a:prstGeom prst="roundRect">
            <a:avLst>
              <a:gd name="adj" fmla="val 7049"/>
            </a:avLst>
          </a:prstGeom>
          <a:solidFill>
            <a:srgbClr val="141824"/>
          </a:solidFill>
          <a:ln w="12700">
            <a:solidFill>
              <a:srgbClr val="8A3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75113" y="2125980"/>
            <a:ext cx="914400" cy="914400"/>
          </a:xfrm>
          <a:prstGeom prst="ellipse">
            <a:avLst/>
          </a:prstGeom>
          <a:solidFill>
            <a:srgbClr val="FF5D8F"/>
          </a:solidFill>
          <a:ln>
            <a:noFill/>
          </a:ln>
          <a:effectLst>
            <a:glow rad="127000">
              <a:srgbClr val="FF5D8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403129"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40" name="TextBox 39"/>
          <p:cNvSpPr txBox="1"/>
          <p:nvPr/>
        </p:nvSpPr>
        <p:spPr>
          <a:xfrm>
            <a:off x="10007194" y="3150108"/>
            <a:ext cx="1450238" cy="274320"/>
          </a:xfrm>
          <a:prstGeom prst="rect">
            <a:avLst/>
          </a:prstGeom>
          <a:noFill/>
        </p:spPr>
        <p:txBody>
          <a:bodyPr wrap="square" lIns="0" rIns="0" tIns="0" bIns="0" anchor="t">
            <a:noAutofit/>
          </a:bodyPr>
          <a:lstStyle/>
          <a:p>
            <a:pPr algn="ctr"/>
            <a:r>
              <a:rPr sz="1200" i="0">
                <a:solidFill>
                  <a:srgbClr val="FF5D8F"/>
                </a:solidFill>
                <a:latin typeface="Segoe UI Semibold"/>
              </a:rPr>
              <a:t>05</a:t>
            </a:r>
          </a:p>
        </p:txBody>
      </p:sp>
      <p:sp>
        <p:nvSpPr>
          <p:cNvPr id="41" name="TextBox 40"/>
          <p:cNvSpPr txBox="1"/>
          <p:nvPr/>
        </p:nvSpPr>
        <p:spPr>
          <a:xfrm>
            <a:off x="9988906"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Targeted repair</a:t>
            </a:r>
          </a:p>
        </p:txBody>
      </p:sp>
      <p:sp>
        <p:nvSpPr>
          <p:cNvPr id="42" name="TextBox 41"/>
          <p:cNvSpPr txBox="1"/>
          <p:nvPr/>
        </p:nvSpPr>
        <p:spPr>
          <a:xfrm>
            <a:off x="10007194"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Keep only improvements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Zava: Judge 18 to 41 of 50</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Same model, same renderer; only the harness changed.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cxnSp>
        <p:nvCxnSpPr>
          <p:cNvPr id="9" name="Connector 8"/>
          <p:cNvCxnSpPr/>
          <p:nvPr/>
        </p:nvCxnSpPr>
        <p:spPr>
          <a:xfrm>
            <a:off x="5792724" y="3680460"/>
            <a:ext cx="603504"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4240" y="5623560"/>
            <a:ext cx="4858756" cy="434340"/>
          </a:xfrm>
          <a:prstGeom prst="rect">
            <a:avLst/>
          </a:prstGeom>
          <a:noFill/>
        </p:spPr>
        <p:txBody>
          <a:bodyPr wrap="square" lIns="0" rIns="0" tIns="0" bIns="0" anchor="t">
            <a:noAutofit/>
          </a:bodyPr>
          <a:lstStyle/>
          <a:p>
            <a:pPr algn="ctr"/>
            <a:r>
              <a:rPr sz="2000" i="0">
                <a:solidFill>
                  <a:srgbClr val="F4F6FA"/>
                </a:solidFill>
                <a:latin typeface="Segoe UI Semibold"/>
              </a:rPr>
              <a:t>v1.0 | 12 slides | judge 18/50</a:t>
            </a:r>
          </a:p>
        </p:txBody>
      </p:sp>
      <p:sp>
        <p:nvSpPr>
          <p:cNvPr id="11" name="TextBox 10"/>
          <p:cNvSpPr txBox="1"/>
          <p:nvPr/>
        </p:nvSpPr>
        <p:spPr>
          <a:xfrm>
            <a:off x="6505956" y="5623560"/>
            <a:ext cx="4858756" cy="434340"/>
          </a:xfrm>
          <a:prstGeom prst="rect">
            <a:avLst/>
          </a:prstGeom>
          <a:noFill/>
        </p:spPr>
        <p:txBody>
          <a:bodyPr wrap="square" lIns="0" rIns="0" tIns="0" bIns="0" anchor="t">
            <a:noAutofit/>
          </a:bodyPr>
          <a:lstStyle/>
          <a:p>
            <a:pPr algn="ctr"/>
            <a:r>
              <a:rPr sz="2000" i="0">
                <a:solidFill>
                  <a:srgbClr val="76B900"/>
                </a:solidFill>
                <a:latin typeface="Segoe UI Semibold"/>
              </a:rPr>
              <a:t>v1.1 | 11 slides | judge 41/50</a:t>
            </a:r>
          </a:p>
        </p:txBody>
      </p:sp>
      <p:pic>
        <p:nvPicPr>
          <p:cNvPr id="12" name="Picture 11" descr="zava-v1.0.png"/>
          <p:cNvPicPr>
            <a:picLocks noChangeAspect="1"/>
          </p:cNvPicPr>
          <p:nvPr/>
        </p:nvPicPr>
        <p:blipFill>
          <a:blip r:embed="rId3"/>
          <a:stretch>
            <a:fillRect/>
          </a:stretch>
        </p:blipFill>
        <p:spPr>
          <a:xfrm>
            <a:off x="824240" y="1828800"/>
            <a:ext cx="4858756" cy="3703320"/>
          </a:xfrm>
          <a:prstGeom prst="rect">
            <a:avLst/>
          </a:prstGeom>
          <a:ln w="15875">
            <a:solidFill>
              <a:srgbClr val="283044"/>
            </a:solidFill>
          </a:ln>
        </p:spPr>
      </p:pic>
      <p:pic>
        <p:nvPicPr>
          <p:cNvPr id="13" name="Picture 12" descr="zava-v1.1.png"/>
          <p:cNvPicPr>
            <a:picLocks noChangeAspect="1"/>
          </p:cNvPicPr>
          <p:nvPr/>
        </p:nvPicPr>
        <p:blipFill>
          <a:blip r:embed="rId4"/>
          <a:stretch>
            <a:fillRect/>
          </a:stretch>
        </p:blipFill>
        <p:spPr>
          <a:xfrm>
            <a:off x="6505956" y="1828800"/>
            <a:ext cx="4858756" cy="3703320"/>
          </a:xfrm>
          <a:prstGeom prst="rect">
            <a:avLst/>
          </a:prstGeom>
          <a:ln w="15875">
            <a:solidFill>
              <a:srgbClr val="283044"/>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Contoso: Judge 21 to 37 of 50</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Exec story: hotel-safe and offline-maps analogies, sponsor-ready ask.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cxnSp>
        <p:nvCxnSpPr>
          <p:cNvPr id="9" name="Connector 8"/>
          <p:cNvCxnSpPr/>
          <p:nvPr/>
        </p:nvCxnSpPr>
        <p:spPr>
          <a:xfrm>
            <a:off x="5792724" y="3680460"/>
            <a:ext cx="603504"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4240" y="5623560"/>
            <a:ext cx="4858756" cy="434340"/>
          </a:xfrm>
          <a:prstGeom prst="rect">
            <a:avLst/>
          </a:prstGeom>
          <a:noFill/>
        </p:spPr>
        <p:txBody>
          <a:bodyPr wrap="square" lIns="0" rIns="0" tIns="0" bIns="0" anchor="t">
            <a:noAutofit/>
          </a:bodyPr>
          <a:lstStyle/>
          <a:p>
            <a:pPr algn="ctr"/>
            <a:r>
              <a:rPr sz="2000" i="0">
                <a:solidFill>
                  <a:srgbClr val="F4F6FA"/>
                </a:solidFill>
                <a:latin typeface="Segoe UI Semibold"/>
              </a:rPr>
              <a:t>v1.0 | 11 slides | judge 21/50</a:t>
            </a:r>
          </a:p>
        </p:txBody>
      </p:sp>
      <p:sp>
        <p:nvSpPr>
          <p:cNvPr id="11" name="TextBox 10"/>
          <p:cNvSpPr txBox="1"/>
          <p:nvPr/>
        </p:nvSpPr>
        <p:spPr>
          <a:xfrm>
            <a:off x="6505956" y="5623560"/>
            <a:ext cx="4858756" cy="434340"/>
          </a:xfrm>
          <a:prstGeom prst="rect">
            <a:avLst/>
          </a:prstGeom>
          <a:noFill/>
        </p:spPr>
        <p:txBody>
          <a:bodyPr wrap="square" lIns="0" rIns="0" tIns="0" bIns="0" anchor="t">
            <a:noAutofit/>
          </a:bodyPr>
          <a:lstStyle/>
          <a:p>
            <a:pPr algn="ctr"/>
            <a:r>
              <a:rPr sz="2000" i="0">
                <a:solidFill>
                  <a:srgbClr val="76B900"/>
                </a:solidFill>
                <a:latin typeface="Segoe UI Semibold"/>
              </a:rPr>
              <a:t>v1.1 | 11 slides | judge 37/50</a:t>
            </a:r>
          </a:p>
        </p:txBody>
      </p:sp>
      <p:pic>
        <p:nvPicPr>
          <p:cNvPr id="12" name="Picture 11" descr="contoso-v1.0.png"/>
          <p:cNvPicPr>
            <a:picLocks noChangeAspect="1"/>
          </p:cNvPicPr>
          <p:nvPr/>
        </p:nvPicPr>
        <p:blipFill>
          <a:blip r:embed="rId3"/>
          <a:stretch>
            <a:fillRect/>
          </a:stretch>
        </p:blipFill>
        <p:spPr>
          <a:xfrm>
            <a:off x="824240" y="1828800"/>
            <a:ext cx="4858756" cy="3703320"/>
          </a:xfrm>
          <a:prstGeom prst="rect">
            <a:avLst/>
          </a:prstGeom>
          <a:ln w="15875">
            <a:solidFill>
              <a:srgbClr val="283044"/>
            </a:solidFill>
          </a:ln>
        </p:spPr>
      </p:pic>
      <p:pic>
        <p:nvPicPr>
          <p:cNvPr id="13" name="Picture 12" descr="contoso-v1.1.png"/>
          <p:cNvPicPr>
            <a:picLocks noChangeAspect="1"/>
          </p:cNvPicPr>
          <p:nvPr/>
        </p:nvPicPr>
        <p:blipFill>
          <a:blip r:embed="rId4"/>
          <a:stretch>
            <a:fillRect/>
          </a:stretch>
        </p:blipFill>
        <p:spPr>
          <a:xfrm>
            <a:off x="6505956" y="1828800"/>
            <a:ext cx="4858756" cy="3703320"/>
          </a:xfrm>
          <a:prstGeom prst="rect">
            <a:avLst/>
          </a:prstGeom>
          <a:ln w="15875">
            <a:solidFill>
              <a:srgbClr val="283044"/>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One Round: D to B</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Quality rose sharply with model weights unchanged.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13</a:t>
            </a:r>
          </a:p>
        </p:txBody>
      </p:sp>
      <p:sp>
        <p:nvSpPr>
          <p:cNvPr id="9" name="Rounded Rectangle 8"/>
          <p:cNvSpPr/>
          <p:nvPr/>
        </p:nvSpPr>
        <p:spPr>
          <a:xfrm>
            <a:off x="548640" y="2217420"/>
            <a:ext cx="2532888" cy="3566160"/>
          </a:xfrm>
          <a:prstGeom prst="roundRect">
            <a:avLst>
              <a:gd name="adj" fmla="val 505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2532888"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1984248" cy="1234440"/>
          </a:xfrm>
          <a:prstGeom prst="rect">
            <a:avLst/>
          </a:prstGeom>
          <a:noFill/>
        </p:spPr>
        <p:txBody>
          <a:bodyPr wrap="square" lIns="0" rIns="0" tIns="0" bIns="0" anchor="ctr">
            <a:noAutofit/>
          </a:bodyPr>
          <a:lstStyle/>
          <a:p>
            <a:pPr algn="l"/>
            <a:r>
              <a:rPr sz="4000" i="0">
                <a:solidFill>
                  <a:srgbClr val="76B900"/>
                </a:solidFill>
                <a:latin typeface="Segoe UI Black"/>
              </a:rPr>
              <a:t>63 → 86</a:t>
            </a:r>
          </a:p>
        </p:txBody>
      </p:sp>
      <p:sp>
        <p:nvSpPr>
          <p:cNvPr id="14" name="TextBox 13"/>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Overall score</a:t>
            </a:r>
          </a:p>
        </p:txBody>
      </p:sp>
      <p:sp>
        <p:nvSpPr>
          <p:cNvPr id="15" name="TextBox 14"/>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rubric + judge</a:t>
            </a:r>
          </a:p>
        </p:txBody>
      </p:sp>
      <p:sp>
        <p:nvSpPr>
          <p:cNvPr id="16" name="Rounded Rectangle 15"/>
          <p:cNvSpPr/>
          <p:nvPr/>
        </p:nvSpPr>
        <p:spPr>
          <a:xfrm>
            <a:off x="3401568" y="2217420"/>
            <a:ext cx="2532888" cy="3566160"/>
          </a:xfrm>
          <a:prstGeom prst="roundRect">
            <a:avLst>
              <a:gd name="adj" fmla="val 505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01568" y="2217420"/>
            <a:ext cx="2532888"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685032"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3DA9FC"/>
                </a:solidFill>
                <a:latin typeface="Segoe UI Black"/>
              </a:rPr>
              <a:t>2.0x</a:t>
            </a:r>
          </a:p>
        </p:txBody>
      </p:sp>
      <p:sp>
        <p:nvSpPr>
          <p:cNvPr id="21" name="TextBox 20"/>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Blind judge: 19.5 → 39 /50</a:t>
            </a:r>
          </a:p>
        </p:txBody>
      </p:sp>
      <p:sp>
        <p:nvSpPr>
          <p:cNvPr id="22" name="TextBox 21"/>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mean of 2 briefs</a:t>
            </a:r>
          </a:p>
        </p:txBody>
      </p:sp>
      <p:sp>
        <p:nvSpPr>
          <p:cNvPr id="23" name="Rounded Rectangle 22"/>
          <p:cNvSpPr/>
          <p:nvPr/>
        </p:nvSpPr>
        <p:spPr>
          <a:xfrm>
            <a:off x="6254496" y="2217420"/>
            <a:ext cx="2532888" cy="3566160"/>
          </a:xfrm>
          <a:prstGeom prst="roundRect">
            <a:avLst>
              <a:gd name="adj" fmla="val 505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54496" y="2217420"/>
            <a:ext cx="2532888"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37960"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6528816" y="3406140"/>
            <a:ext cx="1984248" cy="1234440"/>
          </a:xfrm>
          <a:prstGeom prst="rect">
            <a:avLst/>
          </a:prstGeom>
          <a:noFill/>
        </p:spPr>
        <p:txBody>
          <a:bodyPr wrap="square" lIns="0" rIns="0" tIns="0" bIns="0" anchor="ctr">
            <a:noAutofit/>
          </a:bodyPr>
          <a:lstStyle/>
          <a:p>
            <a:pPr algn="l"/>
            <a:r>
              <a:rPr sz="4000" i="0">
                <a:solidFill>
                  <a:srgbClr val="9B6BFF"/>
                </a:solidFill>
                <a:latin typeface="Segoe UI Black"/>
              </a:rPr>
              <a:t>86 → 93</a:t>
            </a:r>
          </a:p>
        </p:txBody>
      </p:sp>
      <p:sp>
        <p:nvSpPr>
          <p:cNvPr id="28" name="TextBox 27"/>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Auto rubric /100</a:t>
            </a:r>
          </a:p>
        </p:txBody>
      </p:sp>
      <p:sp>
        <p:nvSpPr>
          <p:cNvPr id="29" name="TextBox 28"/>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rubric 1.0.1</a:t>
            </a:r>
          </a:p>
        </p:txBody>
      </p:sp>
      <p:sp>
        <p:nvSpPr>
          <p:cNvPr id="30" name="Rounded Rectangle 29"/>
          <p:cNvSpPr/>
          <p:nvPr/>
        </p:nvSpPr>
        <p:spPr>
          <a:xfrm>
            <a:off x="9107424" y="2217420"/>
            <a:ext cx="2532888" cy="3566160"/>
          </a:xfrm>
          <a:prstGeom prst="roundRect">
            <a:avLst>
              <a:gd name="adj" fmla="val 5054"/>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107424" y="2217420"/>
            <a:ext cx="2532888" cy="82296"/>
          </a:xfrm>
          <a:prstGeom prst="rect">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390888" y="2546604"/>
            <a:ext cx="713232" cy="713232"/>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34" name="TextBox 33"/>
          <p:cNvSpPr txBox="1"/>
          <p:nvPr/>
        </p:nvSpPr>
        <p:spPr>
          <a:xfrm>
            <a:off x="9381744" y="3406140"/>
            <a:ext cx="1984248" cy="1234440"/>
          </a:xfrm>
          <a:prstGeom prst="rect">
            <a:avLst/>
          </a:prstGeom>
          <a:noFill/>
        </p:spPr>
        <p:txBody>
          <a:bodyPr wrap="square" lIns="0" rIns="0" tIns="0" bIns="0" anchor="ctr">
            <a:noAutofit/>
          </a:bodyPr>
          <a:lstStyle/>
          <a:p>
            <a:pPr algn="l"/>
            <a:r>
              <a:rPr sz="6000" i="0">
                <a:solidFill>
                  <a:srgbClr val="FFB547"/>
                </a:solidFill>
                <a:latin typeface="Segoe UI Black"/>
              </a:rPr>
              <a:t>0</a:t>
            </a:r>
          </a:p>
        </p:txBody>
      </p:sp>
      <p:sp>
        <p:nvSpPr>
          <p:cNvPr id="35" name="TextBox 34"/>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Weight updates</a:t>
            </a:r>
          </a:p>
        </p:txBody>
      </p:sp>
      <p:sp>
        <p:nvSpPr>
          <p:cNvPr id="36" name="TextBox 35"/>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prompt + program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Frontier-Band Quality at Laptop Cost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v1.1 judge 39 sits inside the cloud band (36-40.5) at 692x lower cost.</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14</a:t>
            </a:r>
          </a:p>
        </p:txBody>
      </p:sp>
      <p:cxnSp>
        <p:nvCxnSpPr>
          <p:cNvPr id="9" name="Connector 8"/>
          <p:cNvCxnSpPr/>
          <p:nvPr/>
        </p:nvCxnSpPr>
        <p:spPr>
          <a:xfrm>
            <a:off x="1657807" y="5448300"/>
            <a:ext cx="9705213" cy="0"/>
          </a:xfrm>
          <a:prstGeom prst="line">
            <a:avLst/>
          </a:prstGeom>
          <a:ln w="28575">
            <a:solidFill>
              <a:srgbClr val="6F789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657807" y="2263140"/>
            <a:ext cx="0" cy="3185160"/>
          </a:xfrm>
          <a:prstGeom prst="line">
            <a:avLst/>
          </a:prstGeom>
          <a:ln w="28575">
            <a:solidFill>
              <a:srgbClr val="6F789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96211" y="3015996"/>
            <a:ext cx="925870" cy="166859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22880" y="3819525"/>
            <a:ext cx="3745040" cy="0"/>
          </a:xfrm>
          <a:prstGeom prst="line">
            <a:avLst/>
          </a:prstGeom>
          <a:ln w="28575">
            <a:solidFill>
              <a:srgbClr val="FFB54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21171" y="5484495"/>
            <a:ext cx="1109167" cy="304038"/>
          </a:xfrm>
          <a:prstGeom prst="rect">
            <a:avLst/>
          </a:prstGeom>
          <a:noFill/>
        </p:spPr>
        <p:txBody>
          <a:bodyPr wrap="square" lIns="0" rIns="0" tIns="0" bIns="0" anchor="t">
            <a:noAutofit/>
          </a:bodyPr>
          <a:lstStyle/>
          <a:p>
            <a:pPr algn="ctr"/>
            <a:r>
              <a:rPr sz="1400" i="0">
                <a:solidFill>
                  <a:srgbClr val="5A6276"/>
                </a:solidFill>
                <a:latin typeface="Segoe UI"/>
              </a:rPr>
              <a:t>$0.10</a:t>
            </a:r>
          </a:p>
        </p:txBody>
      </p:sp>
      <p:sp>
        <p:nvSpPr>
          <p:cNvPr id="14" name="TextBox 13"/>
          <p:cNvSpPr txBox="1"/>
          <p:nvPr/>
        </p:nvSpPr>
        <p:spPr>
          <a:xfrm>
            <a:off x="3610906" y="5484495"/>
            <a:ext cx="1109167" cy="304038"/>
          </a:xfrm>
          <a:prstGeom prst="rect">
            <a:avLst/>
          </a:prstGeom>
          <a:noFill/>
        </p:spPr>
        <p:txBody>
          <a:bodyPr wrap="square" lIns="0" rIns="0" tIns="0" bIns="0" anchor="t">
            <a:noAutofit/>
          </a:bodyPr>
          <a:lstStyle/>
          <a:p>
            <a:pPr algn="ctr"/>
            <a:r>
              <a:rPr sz="1400" i="0">
                <a:solidFill>
                  <a:srgbClr val="5A6276"/>
                </a:solidFill>
                <a:latin typeface="Segoe UI"/>
              </a:rPr>
              <a:t>$1</a:t>
            </a:r>
          </a:p>
        </p:txBody>
      </p:sp>
      <p:sp>
        <p:nvSpPr>
          <p:cNvPr id="15" name="TextBox 14"/>
          <p:cNvSpPr txBox="1"/>
          <p:nvPr/>
        </p:nvSpPr>
        <p:spPr>
          <a:xfrm>
            <a:off x="5700641" y="5484495"/>
            <a:ext cx="1109167" cy="304038"/>
          </a:xfrm>
          <a:prstGeom prst="rect">
            <a:avLst/>
          </a:prstGeom>
          <a:noFill/>
        </p:spPr>
        <p:txBody>
          <a:bodyPr wrap="square" lIns="0" rIns="0" tIns="0" bIns="0" anchor="t">
            <a:noAutofit/>
          </a:bodyPr>
          <a:lstStyle/>
          <a:p>
            <a:pPr algn="ctr"/>
            <a:r>
              <a:rPr sz="1400" i="0">
                <a:solidFill>
                  <a:srgbClr val="5A6276"/>
                </a:solidFill>
                <a:latin typeface="Segoe UI"/>
              </a:rPr>
              <a:t>$10</a:t>
            </a:r>
          </a:p>
        </p:txBody>
      </p:sp>
      <p:sp>
        <p:nvSpPr>
          <p:cNvPr id="16" name="TextBox 15"/>
          <p:cNvSpPr txBox="1"/>
          <p:nvPr/>
        </p:nvSpPr>
        <p:spPr>
          <a:xfrm>
            <a:off x="7790377" y="5484495"/>
            <a:ext cx="1109167" cy="304038"/>
          </a:xfrm>
          <a:prstGeom prst="rect">
            <a:avLst/>
          </a:prstGeom>
          <a:noFill/>
        </p:spPr>
        <p:txBody>
          <a:bodyPr wrap="square" lIns="0" rIns="0" tIns="0" bIns="0" anchor="t">
            <a:noAutofit/>
          </a:bodyPr>
          <a:lstStyle/>
          <a:p>
            <a:pPr algn="ctr"/>
            <a:r>
              <a:rPr sz="1400" i="0">
                <a:solidFill>
                  <a:srgbClr val="5A6276"/>
                </a:solidFill>
                <a:latin typeface="Segoe UI"/>
              </a:rPr>
              <a:t>$100</a:t>
            </a:r>
          </a:p>
        </p:txBody>
      </p:sp>
      <p:sp>
        <p:nvSpPr>
          <p:cNvPr id="17" name="TextBox 16"/>
          <p:cNvSpPr txBox="1"/>
          <p:nvPr/>
        </p:nvSpPr>
        <p:spPr>
          <a:xfrm>
            <a:off x="9880112" y="5484495"/>
            <a:ext cx="1109167" cy="304038"/>
          </a:xfrm>
          <a:prstGeom prst="rect">
            <a:avLst/>
          </a:prstGeom>
          <a:noFill/>
        </p:spPr>
        <p:txBody>
          <a:bodyPr wrap="square" lIns="0" rIns="0" tIns="0" bIns="0" anchor="t">
            <a:noAutofit/>
          </a:bodyPr>
          <a:lstStyle/>
          <a:p>
            <a:pPr algn="ctr"/>
            <a:r>
              <a:rPr sz="1400" i="0">
                <a:solidFill>
                  <a:srgbClr val="5A6276"/>
                </a:solidFill>
                <a:latin typeface="Segoe UI"/>
              </a:rPr>
              <a:t>$1,000</a:t>
            </a:r>
          </a:p>
        </p:txBody>
      </p:sp>
      <p:sp>
        <p:nvSpPr>
          <p:cNvPr id="18" name="TextBox 17"/>
          <p:cNvSpPr txBox="1"/>
          <p:nvPr/>
        </p:nvSpPr>
        <p:spPr>
          <a:xfrm>
            <a:off x="687286" y="4700270"/>
            <a:ext cx="878091" cy="304038"/>
          </a:xfrm>
          <a:prstGeom prst="rect">
            <a:avLst/>
          </a:prstGeom>
          <a:noFill/>
        </p:spPr>
        <p:txBody>
          <a:bodyPr wrap="square" lIns="0" rIns="0" tIns="0" bIns="0" anchor="t">
            <a:noAutofit/>
          </a:bodyPr>
          <a:lstStyle/>
          <a:p>
            <a:pPr algn="r"/>
            <a:r>
              <a:rPr sz="1400" i="0">
                <a:solidFill>
                  <a:srgbClr val="5A6276"/>
                </a:solidFill>
                <a:latin typeface="Segoe UI"/>
              </a:rPr>
              <a:t>20</a:t>
            </a:r>
          </a:p>
        </p:txBody>
      </p:sp>
      <p:sp>
        <p:nvSpPr>
          <p:cNvPr id="19" name="TextBox 18"/>
          <p:cNvSpPr txBox="1"/>
          <p:nvPr/>
        </p:nvSpPr>
        <p:spPr>
          <a:xfrm>
            <a:off x="687286" y="3566160"/>
            <a:ext cx="878091" cy="304038"/>
          </a:xfrm>
          <a:prstGeom prst="rect">
            <a:avLst/>
          </a:prstGeom>
          <a:noFill/>
        </p:spPr>
        <p:txBody>
          <a:bodyPr wrap="square" lIns="0" rIns="0" tIns="0" bIns="0" anchor="t">
            <a:noAutofit/>
          </a:bodyPr>
          <a:lstStyle/>
          <a:p>
            <a:pPr algn="r"/>
            <a:r>
              <a:rPr sz="1400" i="0">
                <a:solidFill>
                  <a:srgbClr val="5A6276"/>
                </a:solidFill>
                <a:latin typeface="Segoe UI"/>
              </a:rPr>
              <a:t>30</a:t>
            </a:r>
          </a:p>
        </p:txBody>
      </p:sp>
      <p:sp>
        <p:nvSpPr>
          <p:cNvPr id="20" name="TextBox 19"/>
          <p:cNvSpPr txBox="1"/>
          <p:nvPr/>
        </p:nvSpPr>
        <p:spPr>
          <a:xfrm>
            <a:off x="687286" y="2432050"/>
            <a:ext cx="878091" cy="304038"/>
          </a:xfrm>
          <a:prstGeom prst="rect">
            <a:avLst/>
          </a:prstGeom>
          <a:noFill/>
        </p:spPr>
        <p:txBody>
          <a:bodyPr wrap="square" lIns="0" rIns="0" tIns="0" bIns="0" anchor="t">
            <a:noAutofit/>
          </a:bodyPr>
          <a:lstStyle/>
          <a:p>
            <a:pPr algn="r"/>
            <a:r>
              <a:rPr sz="1400" i="0">
                <a:solidFill>
                  <a:srgbClr val="5A6276"/>
                </a:solidFill>
                <a:latin typeface="Segoe UI"/>
              </a:rPr>
              <a:t>40</a:t>
            </a:r>
          </a:p>
        </p:txBody>
      </p:sp>
      <p:sp>
        <p:nvSpPr>
          <p:cNvPr id="21" name="TextBox 20"/>
          <p:cNvSpPr txBox="1"/>
          <p:nvPr/>
        </p:nvSpPr>
        <p:spPr>
          <a:xfrm>
            <a:off x="3691280" y="5774055"/>
            <a:ext cx="5915558" cy="361950"/>
          </a:xfrm>
          <a:prstGeom prst="rect">
            <a:avLst/>
          </a:prstGeom>
          <a:noFill/>
        </p:spPr>
        <p:txBody>
          <a:bodyPr wrap="square" lIns="0" rIns="0" tIns="0" bIns="0" anchor="t">
            <a:noAutofit/>
          </a:bodyPr>
          <a:lstStyle/>
          <a:p>
            <a:pPr algn="ctr"/>
            <a:r>
              <a:rPr sz="1400" i="0">
                <a:solidFill>
                  <a:srgbClr val="5A6276"/>
                </a:solidFill>
                <a:latin typeface="Segoe UI"/>
              </a:rPr>
              <a:t>Cost per 1,000 decks (log scale)</a:t>
            </a:r>
          </a:p>
        </p:txBody>
      </p:sp>
      <p:sp>
        <p:nvSpPr>
          <p:cNvPr id="22" name="TextBox 21"/>
          <p:cNvSpPr txBox="1"/>
          <p:nvPr/>
        </p:nvSpPr>
        <p:spPr>
          <a:xfrm>
            <a:off x="548640" y="1828800"/>
            <a:ext cx="2403196" cy="325755"/>
          </a:xfrm>
          <a:prstGeom prst="rect">
            <a:avLst/>
          </a:prstGeom>
          <a:noFill/>
        </p:spPr>
        <p:txBody>
          <a:bodyPr wrap="square" lIns="0" rIns="0" tIns="0" bIns="0" anchor="t">
            <a:noAutofit/>
          </a:bodyPr>
          <a:lstStyle/>
          <a:p>
            <a:pPr algn="l"/>
            <a:r>
              <a:rPr sz="1400" i="0">
                <a:solidFill>
                  <a:srgbClr val="5A6276"/>
                </a:solidFill>
                <a:latin typeface="Segoe UI"/>
              </a:rPr>
              <a:t>Blind judge /50</a:t>
            </a:r>
          </a:p>
        </p:txBody>
      </p:sp>
      <p:sp>
        <p:nvSpPr>
          <p:cNvPr id="23" name="Rounded Rectangle 22"/>
          <p:cNvSpPr/>
          <p:nvPr/>
        </p:nvSpPr>
        <p:spPr>
          <a:xfrm>
            <a:off x="7660351" y="2230564"/>
            <a:ext cx="3515068" cy="1161860"/>
          </a:xfrm>
          <a:prstGeom prst="roundRect">
            <a:avLst>
              <a:gd name="adj" fmla="val 11018"/>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06566" y="1941004"/>
            <a:ext cx="310896" cy="310896"/>
          </a:xfrm>
          <a:prstGeom prst="ellipse">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91407" y="1868614"/>
            <a:ext cx="924306" cy="304038"/>
          </a:xfrm>
          <a:prstGeom prst="rect">
            <a:avLst/>
          </a:prstGeom>
          <a:noFill/>
        </p:spPr>
        <p:txBody>
          <a:bodyPr wrap="square" lIns="0" rIns="0" tIns="0" bIns="0" anchor="t">
            <a:noAutofit/>
          </a:bodyPr>
          <a:lstStyle/>
          <a:p>
            <a:pPr algn="l"/>
            <a:r>
              <a:rPr sz="1400" i="0">
                <a:solidFill>
                  <a:srgbClr val="5A6276"/>
                </a:solidFill>
                <a:latin typeface="Segoe UI"/>
              </a:rPr>
              <a:t>Opus</a:t>
            </a:r>
          </a:p>
        </p:txBody>
      </p:sp>
      <p:sp>
        <p:nvSpPr>
          <p:cNvPr id="26" name="Oval 25"/>
          <p:cNvSpPr/>
          <p:nvPr/>
        </p:nvSpPr>
        <p:spPr>
          <a:xfrm>
            <a:off x="8954379" y="1941004"/>
            <a:ext cx="310896" cy="310896"/>
          </a:xfrm>
          <a:prstGeom prst="ellipse">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39220" y="1868614"/>
            <a:ext cx="924306" cy="304038"/>
          </a:xfrm>
          <a:prstGeom prst="rect">
            <a:avLst/>
          </a:prstGeom>
          <a:noFill/>
        </p:spPr>
        <p:txBody>
          <a:bodyPr wrap="square" lIns="0" rIns="0" tIns="0" bIns="0" anchor="t">
            <a:noAutofit/>
          </a:bodyPr>
          <a:lstStyle/>
          <a:p>
            <a:pPr algn="l"/>
            <a:r>
              <a:rPr sz="1400" i="0">
                <a:solidFill>
                  <a:srgbClr val="5A6276"/>
                </a:solidFill>
                <a:latin typeface="Segoe UI"/>
              </a:rPr>
              <a:t>Astra</a:t>
            </a:r>
          </a:p>
        </p:txBody>
      </p:sp>
      <p:sp>
        <p:nvSpPr>
          <p:cNvPr id="28" name="Oval 27"/>
          <p:cNvSpPr/>
          <p:nvPr/>
        </p:nvSpPr>
        <p:spPr>
          <a:xfrm>
            <a:off x="7920841" y="2911221"/>
            <a:ext cx="310896" cy="310896"/>
          </a:xfrm>
          <a:prstGeom prst="ellipse">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834714" y="2457577"/>
            <a:ext cx="310896" cy="310896"/>
          </a:xfrm>
          <a:prstGeom prst="ellipse">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0604034" y="2400872"/>
            <a:ext cx="310896" cy="310896"/>
          </a:xfrm>
          <a:prstGeom prst="ellipse">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758147" y="2514282"/>
            <a:ext cx="310896" cy="310896"/>
          </a:xfrm>
          <a:prstGeom prst="ellipse">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430110" y="2570988"/>
            <a:ext cx="310896" cy="310896"/>
          </a:xfrm>
          <a:prstGeom prst="ellipse">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966260" y="2400872"/>
            <a:ext cx="310896" cy="310896"/>
          </a:xfrm>
          <a:prstGeom prst="ellipse">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83059" y="3428619"/>
            <a:ext cx="4069652" cy="325755"/>
          </a:xfrm>
          <a:prstGeom prst="rect">
            <a:avLst/>
          </a:prstGeom>
          <a:noFill/>
        </p:spPr>
        <p:txBody>
          <a:bodyPr wrap="square" lIns="0" rIns="0" tIns="0" bIns="0" anchor="t">
            <a:noAutofit/>
          </a:bodyPr>
          <a:lstStyle/>
          <a:p>
            <a:pPr algn="ctr"/>
            <a:r>
              <a:rPr sz="1400" i="0">
                <a:solidFill>
                  <a:srgbClr val="F4F6FA"/>
                </a:solidFill>
                <a:latin typeface="Segoe UI"/>
              </a:rPr>
              <a:t>Frontier cloud: 6 configs</a:t>
            </a:r>
          </a:p>
        </p:txBody>
      </p:sp>
      <p:sp>
        <p:nvSpPr>
          <p:cNvPr id="35" name="TextBox 34"/>
          <p:cNvSpPr txBox="1"/>
          <p:nvPr/>
        </p:nvSpPr>
        <p:spPr>
          <a:xfrm>
            <a:off x="7383059" y="3718179"/>
            <a:ext cx="4069652" cy="325755"/>
          </a:xfrm>
          <a:prstGeom prst="rect">
            <a:avLst/>
          </a:prstGeom>
          <a:noFill/>
        </p:spPr>
        <p:txBody>
          <a:bodyPr wrap="square" lIns="0" rIns="0" tIns="0" bIns="0" anchor="t">
            <a:noAutofit/>
          </a:bodyPr>
          <a:lstStyle/>
          <a:p>
            <a:pPr algn="ctr"/>
            <a:r>
              <a:rPr sz="1400" i="0">
                <a:solidFill>
                  <a:srgbClr val="5A6276"/>
                </a:solidFill>
                <a:latin typeface="Segoe UI"/>
              </a:rPr>
              <a:t>$74-$1,430 | judge 36-40.5</a:t>
            </a:r>
          </a:p>
        </p:txBody>
      </p:sp>
      <p:sp>
        <p:nvSpPr>
          <p:cNvPr id="36" name="Oval 35"/>
          <p:cNvSpPr/>
          <p:nvPr/>
        </p:nvSpPr>
        <p:spPr>
          <a:xfrm>
            <a:off x="1893722" y="4720323"/>
            <a:ext cx="435254" cy="435254"/>
          </a:xfrm>
          <a:prstGeom prst="ellipse">
            <a:avLst/>
          </a:prstGeom>
          <a:solidFill>
            <a:srgbClr val="5A6276"/>
          </a:solidFill>
          <a:ln>
            <a:noFill/>
          </a:ln>
          <a:effectLst>
            <a:glow rad="101600">
              <a:srgbClr val="5A6276">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434857" y="4576000"/>
            <a:ext cx="3142640" cy="361950"/>
          </a:xfrm>
          <a:prstGeom prst="rect">
            <a:avLst/>
          </a:prstGeom>
          <a:noFill/>
        </p:spPr>
        <p:txBody>
          <a:bodyPr wrap="square" lIns="0" rIns="0" tIns="0" bIns="0" anchor="t">
            <a:noAutofit/>
          </a:bodyPr>
          <a:lstStyle/>
          <a:p>
            <a:pPr algn="l"/>
            <a:r>
              <a:rPr sz="2000" i="0">
                <a:solidFill>
                  <a:srgbClr val="F4F6FA"/>
                </a:solidFill>
                <a:latin typeface="Segoe UI Semibold"/>
              </a:rPr>
              <a:t>Local v1.0</a:t>
            </a:r>
          </a:p>
        </p:txBody>
      </p:sp>
      <p:sp>
        <p:nvSpPr>
          <p:cNvPr id="38" name="TextBox 37"/>
          <p:cNvSpPr txBox="1"/>
          <p:nvPr/>
        </p:nvSpPr>
        <p:spPr>
          <a:xfrm>
            <a:off x="2434857" y="4937950"/>
            <a:ext cx="3327502" cy="325755"/>
          </a:xfrm>
          <a:prstGeom prst="rect">
            <a:avLst/>
          </a:prstGeom>
          <a:noFill/>
        </p:spPr>
        <p:txBody>
          <a:bodyPr wrap="square" lIns="0" rIns="0" tIns="0" bIns="0" anchor="t">
            <a:noAutofit/>
          </a:bodyPr>
          <a:lstStyle/>
          <a:p>
            <a:pPr algn="l"/>
            <a:r>
              <a:rPr sz="1400" i="0">
                <a:solidFill>
                  <a:srgbClr val="5A6276"/>
                </a:solidFill>
                <a:latin typeface="Segoe UI"/>
              </a:rPr>
              <a:t>judge 19.5 | $0.10</a:t>
            </a:r>
          </a:p>
        </p:txBody>
      </p:sp>
      <p:sp>
        <p:nvSpPr>
          <p:cNvPr id="39" name="Oval 38"/>
          <p:cNvSpPr/>
          <p:nvPr/>
        </p:nvSpPr>
        <p:spPr>
          <a:xfrm>
            <a:off x="3143099" y="2508809"/>
            <a:ext cx="435254" cy="435254"/>
          </a:xfrm>
          <a:prstGeom prst="ellipse">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684234" y="2364486"/>
            <a:ext cx="3142640" cy="361950"/>
          </a:xfrm>
          <a:prstGeom prst="rect">
            <a:avLst/>
          </a:prstGeom>
          <a:noFill/>
        </p:spPr>
        <p:txBody>
          <a:bodyPr wrap="square" lIns="0" rIns="0" tIns="0" bIns="0" anchor="t">
            <a:noAutofit/>
          </a:bodyPr>
          <a:lstStyle/>
          <a:p>
            <a:pPr algn="l"/>
            <a:r>
              <a:rPr sz="2000" i="0">
                <a:solidFill>
                  <a:srgbClr val="76B900"/>
                </a:solidFill>
                <a:latin typeface="Segoe UI Semibold"/>
              </a:rPr>
              <a:t>Local v1.1</a:t>
            </a:r>
          </a:p>
        </p:txBody>
      </p:sp>
      <p:sp>
        <p:nvSpPr>
          <p:cNvPr id="41" name="TextBox 40"/>
          <p:cNvSpPr txBox="1"/>
          <p:nvPr/>
        </p:nvSpPr>
        <p:spPr>
          <a:xfrm>
            <a:off x="3684234" y="2726436"/>
            <a:ext cx="3327502" cy="325755"/>
          </a:xfrm>
          <a:prstGeom prst="rect">
            <a:avLst/>
          </a:prstGeom>
          <a:noFill/>
        </p:spPr>
        <p:txBody>
          <a:bodyPr wrap="square" lIns="0" rIns="0" tIns="0" bIns="0" anchor="t">
            <a:noAutofit/>
          </a:bodyPr>
          <a:lstStyle/>
          <a:p>
            <a:pPr algn="l"/>
            <a:r>
              <a:rPr sz="1400" i="0">
                <a:solidFill>
                  <a:srgbClr val="5A6276"/>
                </a:solidFill>
                <a:latin typeface="Segoe UI"/>
              </a:rPr>
              <a:t>judge 39 | $0.41</a:t>
            </a:r>
          </a:p>
        </p:txBody>
      </p:sp>
      <p:sp>
        <p:nvSpPr>
          <p:cNvPr id="42" name="TextBox 41"/>
          <p:cNvSpPr txBox="1"/>
          <p:nvPr/>
        </p:nvSpPr>
        <p:spPr>
          <a:xfrm>
            <a:off x="3915310" y="3891915"/>
            <a:ext cx="3697224" cy="361950"/>
          </a:xfrm>
          <a:prstGeom prst="rect">
            <a:avLst/>
          </a:prstGeom>
          <a:noFill/>
        </p:spPr>
        <p:txBody>
          <a:bodyPr wrap="square" lIns="0" rIns="0" tIns="0" bIns="0" anchor="t">
            <a:noAutofit/>
          </a:bodyPr>
          <a:lstStyle/>
          <a:p>
            <a:pPr algn="l"/>
            <a:r>
              <a:rPr sz="1400" i="0">
                <a:solidFill>
                  <a:srgbClr val="FFB547"/>
                </a:solidFill>
                <a:latin typeface="Segoe UI"/>
              </a:rPr>
              <a:t>692x cheaper than cloud median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Per 1,000 Decks: Less Energy, Zero Water</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Measured local power vs published cloud per-token estimates.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15</a:t>
            </a:r>
          </a:p>
        </p:txBody>
      </p:sp>
      <p:sp>
        <p:nvSpPr>
          <p:cNvPr id="9" name="Rounded Rectangle 8"/>
          <p:cNvSpPr/>
          <p:nvPr/>
        </p:nvSpPr>
        <p:spPr>
          <a:xfrm>
            <a:off x="548640" y="2217420"/>
            <a:ext cx="2532888" cy="3566160"/>
          </a:xfrm>
          <a:prstGeom prst="roundRect">
            <a:avLst>
              <a:gd name="adj" fmla="val 505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2532888"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1984248" cy="1234440"/>
          </a:xfrm>
          <a:prstGeom prst="rect">
            <a:avLst/>
          </a:prstGeom>
          <a:noFill/>
        </p:spPr>
        <p:txBody>
          <a:bodyPr wrap="square" lIns="0" rIns="0" tIns="0" bIns="0" anchor="ctr">
            <a:noAutofit/>
          </a:bodyPr>
          <a:lstStyle/>
          <a:p>
            <a:pPr algn="l"/>
            <a:r>
              <a:rPr sz="3800" i="0">
                <a:solidFill>
                  <a:srgbClr val="76B900"/>
                </a:solidFill>
                <a:latin typeface="Segoe UI Black"/>
              </a:rPr>
              <a:t>3.2 kWh</a:t>
            </a:r>
          </a:p>
        </p:txBody>
      </p:sp>
      <p:sp>
        <p:nvSpPr>
          <p:cNvPr id="14" name="TextBox 13"/>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Local v1.1 energy</a:t>
            </a:r>
          </a:p>
        </p:txBody>
      </p:sp>
      <p:sp>
        <p:nvSpPr>
          <p:cNvPr id="15" name="TextBox 14"/>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nvidia-smi + 10 W</a:t>
            </a:r>
          </a:p>
        </p:txBody>
      </p:sp>
      <p:sp>
        <p:nvSpPr>
          <p:cNvPr id="16" name="Rounded Rectangle 15"/>
          <p:cNvSpPr/>
          <p:nvPr/>
        </p:nvSpPr>
        <p:spPr>
          <a:xfrm>
            <a:off x="3401568" y="2217420"/>
            <a:ext cx="2532888" cy="3566160"/>
          </a:xfrm>
          <a:prstGeom prst="roundRect">
            <a:avLst>
              <a:gd name="adj" fmla="val 505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01568" y="2217420"/>
            <a:ext cx="2532888"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685032"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3675888" y="3406140"/>
            <a:ext cx="1984248" cy="1234440"/>
          </a:xfrm>
          <a:prstGeom prst="rect">
            <a:avLst/>
          </a:prstGeom>
          <a:noFill/>
        </p:spPr>
        <p:txBody>
          <a:bodyPr wrap="square" lIns="0" rIns="0" tIns="0" bIns="0" anchor="ctr">
            <a:noAutofit/>
          </a:bodyPr>
          <a:lstStyle/>
          <a:p>
            <a:pPr algn="l"/>
            <a:r>
              <a:rPr sz="3700" i="0">
                <a:solidFill>
                  <a:srgbClr val="3DA9FC"/>
                </a:solidFill>
                <a:latin typeface="Segoe UI Black"/>
              </a:rPr>
              <a:t>9.4 kWh</a:t>
            </a:r>
          </a:p>
        </p:txBody>
      </p:sp>
      <p:sp>
        <p:nvSpPr>
          <p:cNvPr id="21" name="TextBox 20"/>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Cloud median energy</a:t>
            </a:r>
          </a:p>
        </p:txBody>
      </p:sp>
      <p:sp>
        <p:nvSpPr>
          <p:cNvPr id="22" name="TextBox 21"/>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1.1 Wh per 1k tokens</a:t>
            </a:r>
          </a:p>
        </p:txBody>
      </p:sp>
      <p:sp>
        <p:nvSpPr>
          <p:cNvPr id="23" name="Rounded Rectangle 22"/>
          <p:cNvSpPr/>
          <p:nvPr/>
        </p:nvSpPr>
        <p:spPr>
          <a:xfrm>
            <a:off x="6254496" y="2217420"/>
            <a:ext cx="2532888" cy="3566160"/>
          </a:xfrm>
          <a:prstGeom prst="roundRect">
            <a:avLst>
              <a:gd name="adj" fmla="val 505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54496" y="2217420"/>
            <a:ext cx="2532888"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37960"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6528816" y="3406140"/>
            <a:ext cx="1984248" cy="1234440"/>
          </a:xfrm>
          <a:prstGeom prst="rect">
            <a:avLst/>
          </a:prstGeom>
          <a:noFill/>
        </p:spPr>
        <p:txBody>
          <a:bodyPr wrap="square" lIns="0" rIns="0" tIns="0" bIns="0" anchor="ctr">
            <a:noAutofit/>
          </a:bodyPr>
          <a:lstStyle/>
          <a:p>
            <a:pPr algn="l"/>
            <a:r>
              <a:rPr sz="6000" i="0">
                <a:solidFill>
                  <a:srgbClr val="9B6BFF"/>
                </a:solidFill>
                <a:latin typeface="Segoe UI Black"/>
              </a:rPr>
              <a:t>31 L</a:t>
            </a:r>
          </a:p>
        </p:txBody>
      </p:sp>
      <p:sp>
        <p:nvSpPr>
          <p:cNvPr id="28" name="TextBox 27"/>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Cloud water avoided</a:t>
            </a:r>
          </a:p>
        </p:txBody>
      </p:sp>
      <p:sp>
        <p:nvSpPr>
          <p:cNvPr id="29" name="TextBox 28"/>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3.6 mL per 1k tokens</a:t>
            </a:r>
          </a:p>
        </p:txBody>
      </p:sp>
      <p:sp>
        <p:nvSpPr>
          <p:cNvPr id="30" name="Rounded Rectangle 29"/>
          <p:cNvSpPr/>
          <p:nvPr/>
        </p:nvSpPr>
        <p:spPr>
          <a:xfrm>
            <a:off x="9107424" y="2217420"/>
            <a:ext cx="2532888" cy="3566160"/>
          </a:xfrm>
          <a:prstGeom prst="roundRect">
            <a:avLst>
              <a:gd name="adj" fmla="val 5054"/>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107424" y="2217420"/>
            <a:ext cx="2532888" cy="82296"/>
          </a:xfrm>
          <a:prstGeom prst="rect">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390888" y="2546604"/>
            <a:ext cx="713232" cy="713232"/>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34" name="TextBox 33"/>
          <p:cNvSpPr txBox="1"/>
          <p:nvPr/>
        </p:nvSpPr>
        <p:spPr>
          <a:xfrm>
            <a:off x="9381744" y="3406140"/>
            <a:ext cx="1984248" cy="1234440"/>
          </a:xfrm>
          <a:prstGeom prst="rect">
            <a:avLst/>
          </a:prstGeom>
          <a:noFill/>
        </p:spPr>
        <p:txBody>
          <a:bodyPr wrap="square" lIns="0" rIns="0" tIns="0" bIns="0" anchor="ctr">
            <a:noAutofit/>
          </a:bodyPr>
          <a:lstStyle/>
          <a:p>
            <a:pPr algn="l"/>
            <a:r>
              <a:rPr sz="5100" i="0">
                <a:solidFill>
                  <a:srgbClr val="FFB547"/>
                </a:solidFill>
                <a:latin typeface="Segoe UI Black"/>
              </a:rPr>
              <a:t>2.3 kg</a:t>
            </a:r>
          </a:p>
        </p:txBody>
      </p:sp>
      <p:sp>
        <p:nvSpPr>
          <p:cNvPr id="35" name="TextBox 34"/>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CO2e avoided</a:t>
            </a:r>
          </a:p>
        </p:txBody>
      </p:sp>
      <p:sp>
        <p:nvSpPr>
          <p:cNvPr id="36" name="TextBox 35"/>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0.367 kg per kWh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The Trade-Off: Drafting Time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v1.1 needs 241 s: slower than the 108 s cloud median, faster than Astra max.</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16</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241</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s  |  Local v1.1</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Local: wall-clock. Cloud: API generation seconds.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Self-Grade: Quality Up, Speed Down</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Composite B+ to C+: time is now the gap to close.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17</a:t>
            </a:r>
          </a:p>
        </p:txBody>
      </p:sp>
      <p:sp>
        <p:nvSpPr>
          <p:cNvPr id="9" name="Rounded Rectangle 8"/>
          <p:cNvSpPr/>
          <p:nvPr/>
        </p:nvSpPr>
        <p:spPr>
          <a:xfrm>
            <a:off x="548640" y="2217420"/>
            <a:ext cx="2532888" cy="3566160"/>
          </a:xfrm>
          <a:prstGeom prst="roundRect">
            <a:avLst>
              <a:gd name="adj" fmla="val 505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2532888"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1984248" cy="1234440"/>
          </a:xfrm>
          <a:prstGeom prst="rect">
            <a:avLst/>
          </a:prstGeom>
          <a:noFill/>
        </p:spPr>
        <p:txBody>
          <a:bodyPr wrap="square" lIns="0" rIns="0" tIns="0" bIns="0" anchor="ctr">
            <a:noAutofit/>
          </a:bodyPr>
          <a:lstStyle/>
          <a:p>
            <a:pPr algn="l"/>
            <a:r>
              <a:rPr sz="5300" i="0">
                <a:solidFill>
                  <a:srgbClr val="76B900"/>
                </a:solidFill>
                <a:latin typeface="Segoe UI Black"/>
              </a:rPr>
              <a:t>D → B</a:t>
            </a:r>
          </a:p>
        </p:txBody>
      </p:sp>
      <p:sp>
        <p:nvSpPr>
          <p:cNvPr id="14" name="TextBox 13"/>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Deck grade</a:t>
            </a:r>
          </a:p>
        </p:txBody>
      </p:sp>
      <p:sp>
        <p:nvSpPr>
          <p:cNvPr id="15" name="TextBox 14"/>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overall score</a:t>
            </a:r>
          </a:p>
        </p:txBody>
      </p:sp>
      <p:sp>
        <p:nvSpPr>
          <p:cNvPr id="16" name="Rounded Rectangle 15"/>
          <p:cNvSpPr/>
          <p:nvPr/>
        </p:nvSpPr>
        <p:spPr>
          <a:xfrm>
            <a:off x="3401568" y="2217420"/>
            <a:ext cx="2532888" cy="3566160"/>
          </a:xfrm>
          <a:prstGeom prst="roundRect">
            <a:avLst>
              <a:gd name="adj" fmla="val 505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01568" y="2217420"/>
            <a:ext cx="2532888"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685032"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3DA9FC"/>
                </a:solidFill>
                <a:latin typeface="Segoe UI Black"/>
              </a:rPr>
              <a:t>A+</a:t>
            </a:r>
          </a:p>
        </p:txBody>
      </p:sp>
      <p:sp>
        <p:nvSpPr>
          <p:cNvPr id="21" name="TextBox 20"/>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Cost savings (held)</a:t>
            </a:r>
          </a:p>
        </p:txBody>
      </p:sp>
      <p:sp>
        <p:nvSpPr>
          <p:cNvPr id="22" name="TextBox 21"/>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vs cloud median</a:t>
            </a:r>
          </a:p>
        </p:txBody>
      </p:sp>
      <p:sp>
        <p:nvSpPr>
          <p:cNvPr id="23" name="Rounded Rectangle 22"/>
          <p:cNvSpPr/>
          <p:nvPr/>
        </p:nvSpPr>
        <p:spPr>
          <a:xfrm>
            <a:off x="6254496" y="2217420"/>
            <a:ext cx="2532888" cy="3566160"/>
          </a:xfrm>
          <a:prstGeom prst="roundRect">
            <a:avLst>
              <a:gd name="adj" fmla="val 505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54496" y="2217420"/>
            <a:ext cx="2532888"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37960"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6528816" y="3406140"/>
            <a:ext cx="1984248" cy="1234440"/>
          </a:xfrm>
          <a:prstGeom prst="rect">
            <a:avLst/>
          </a:prstGeom>
          <a:noFill/>
        </p:spPr>
        <p:txBody>
          <a:bodyPr wrap="square" lIns="0" rIns="0" tIns="0" bIns="0" anchor="ctr">
            <a:noAutofit/>
          </a:bodyPr>
          <a:lstStyle/>
          <a:p>
            <a:pPr algn="l"/>
            <a:r>
              <a:rPr sz="5400" i="0">
                <a:solidFill>
                  <a:srgbClr val="9B6BFF"/>
                </a:solidFill>
                <a:latin typeface="Segoe UI Black"/>
              </a:rPr>
              <a:t>A → B</a:t>
            </a:r>
          </a:p>
        </p:txBody>
      </p:sp>
      <p:sp>
        <p:nvSpPr>
          <p:cNvPr id="28" name="TextBox 27"/>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Sustainability</a:t>
            </a:r>
          </a:p>
        </p:txBody>
      </p:sp>
      <p:sp>
        <p:nvSpPr>
          <p:cNvPr id="29" name="TextBox 28"/>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energy + water</a:t>
            </a:r>
          </a:p>
        </p:txBody>
      </p:sp>
      <p:sp>
        <p:nvSpPr>
          <p:cNvPr id="30" name="Rounded Rectangle 29"/>
          <p:cNvSpPr/>
          <p:nvPr/>
        </p:nvSpPr>
        <p:spPr>
          <a:xfrm>
            <a:off x="9107424" y="2217420"/>
            <a:ext cx="2532888" cy="3566160"/>
          </a:xfrm>
          <a:prstGeom prst="roundRect">
            <a:avLst>
              <a:gd name="adj" fmla="val 5054"/>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107424" y="2217420"/>
            <a:ext cx="2532888" cy="82296"/>
          </a:xfrm>
          <a:prstGeom prst="rect">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390888" y="2546604"/>
            <a:ext cx="713232" cy="713232"/>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34" name="TextBox 33"/>
          <p:cNvSpPr txBox="1"/>
          <p:nvPr/>
        </p:nvSpPr>
        <p:spPr>
          <a:xfrm>
            <a:off x="9381744" y="3406140"/>
            <a:ext cx="1984248" cy="1234440"/>
          </a:xfrm>
          <a:prstGeom prst="rect">
            <a:avLst/>
          </a:prstGeom>
          <a:noFill/>
        </p:spPr>
        <p:txBody>
          <a:bodyPr wrap="square" lIns="0" rIns="0" tIns="0" bIns="0" anchor="ctr">
            <a:noAutofit/>
          </a:bodyPr>
          <a:lstStyle/>
          <a:p>
            <a:pPr algn="l"/>
            <a:r>
              <a:rPr sz="4500" i="0">
                <a:solidFill>
                  <a:srgbClr val="FFB547"/>
                </a:solidFill>
                <a:latin typeface="Segoe UI Black"/>
              </a:rPr>
              <a:t>A+ → F</a:t>
            </a:r>
          </a:p>
        </p:txBody>
      </p:sp>
      <p:sp>
        <p:nvSpPr>
          <p:cNvPr id="35" name="TextBox 34"/>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F4F6FA"/>
                </a:solidFill>
                <a:latin typeface="Segoe UI"/>
              </a:rPr>
              <a:t>Time to generate</a:t>
            </a:r>
          </a:p>
        </p:txBody>
      </p:sp>
      <p:sp>
        <p:nvSpPr>
          <p:cNvPr id="36" name="TextBox 35"/>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6F7890"/>
                </a:solidFill>
                <a:latin typeface="Segoe UI"/>
              </a:rPr>
              <a:t>vs cloud median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Next: v1.2 Keeps Quality, Wins Back Time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Every step is measurable with this same benchmark.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Benchmark story</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18</a:t>
            </a:r>
          </a:p>
        </p:txBody>
      </p:sp>
      <p:sp>
        <p:nvSpPr>
          <p:cNvPr id="9" name="Rounded Rectangle 8"/>
          <p:cNvSpPr/>
          <p:nvPr/>
        </p:nvSpPr>
        <p:spPr>
          <a:xfrm>
            <a:off x="548640" y="1828800"/>
            <a:ext cx="2567178" cy="2926080"/>
          </a:xfrm>
          <a:prstGeom prst="roundRect">
            <a:avLst>
              <a:gd name="adj" fmla="val 4986"/>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2384298"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Fix judge flags</a:t>
            </a:r>
          </a:p>
        </p:txBody>
      </p:sp>
      <p:sp>
        <p:nvSpPr>
          <p:cNvPr id="14" name="TextBox 13"/>
          <p:cNvSpPr txBox="1"/>
          <p:nvPr/>
        </p:nvSpPr>
        <p:spPr>
          <a:xfrm>
            <a:off x="822960"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Hedge claims, fix boundaries</a:t>
            </a:r>
          </a:p>
        </p:txBody>
      </p:sp>
      <p:sp>
        <p:nvSpPr>
          <p:cNvPr id="15" name="Rounded Rectangle 14"/>
          <p:cNvSpPr/>
          <p:nvPr/>
        </p:nvSpPr>
        <p:spPr>
          <a:xfrm>
            <a:off x="3390138" y="1828800"/>
            <a:ext cx="2567178" cy="2926080"/>
          </a:xfrm>
          <a:prstGeom prst="roundRect">
            <a:avLst>
              <a:gd name="adj" fmla="val 4986"/>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64458"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6445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5225796"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3664458"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Dedicated GPU slot</a:t>
            </a:r>
          </a:p>
        </p:txBody>
      </p:sp>
      <p:sp>
        <p:nvSpPr>
          <p:cNvPr id="20" name="TextBox 19"/>
          <p:cNvSpPr txBox="1"/>
          <p:nvPr/>
        </p:nvSpPr>
        <p:spPr>
          <a:xfrm>
            <a:off x="3664458"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No shared-server contention</a:t>
            </a:r>
          </a:p>
        </p:txBody>
      </p:sp>
      <p:sp>
        <p:nvSpPr>
          <p:cNvPr id="21" name="Rounded Rectangle 20"/>
          <p:cNvSpPr/>
          <p:nvPr/>
        </p:nvSpPr>
        <p:spPr>
          <a:xfrm>
            <a:off x="6231636" y="1828800"/>
            <a:ext cx="2567178" cy="2926080"/>
          </a:xfrm>
          <a:prstGeom prst="roundRect">
            <a:avLst>
              <a:gd name="adj" fmla="val 4986"/>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05956"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05956"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8067294"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6505956"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Early-stop repair</a:t>
            </a:r>
          </a:p>
        </p:txBody>
      </p:sp>
      <p:sp>
        <p:nvSpPr>
          <p:cNvPr id="26" name="TextBox 25"/>
          <p:cNvSpPr txBox="1"/>
          <p:nvPr/>
        </p:nvSpPr>
        <p:spPr>
          <a:xfrm>
            <a:off x="6505956"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Skip passes that can't win</a:t>
            </a:r>
          </a:p>
        </p:txBody>
      </p:sp>
      <p:sp>
        <p:nvSpPr>
          <p:cNvPr id="27" name="Rounded Rectangle 26"/>
          <p:cNvSpPr/>
          <p:nvPr/>
        </p:nvSpPr>
        <p:spPr>
          <a:xfrm>
            <a:off x="9073134" y="1828800"/>
            <a:ext cx="2567178" cy="2926080"/>
          </a:xfrm>
          <a:prstGeom prst="roundRect">
            <a:avLst>
              <a:gd name="adj" fmla="val 4986"/>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347454" y="2103120"/>
            <a:ext cx="640080" cy="640080"/>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4745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4</a:t>
            </a:r>
          </a:p>
        </p:txBody>
      </p:sp>
      <p:sp>
        <p:nvSpPr>
          <p:cNvPr id="30" name="TextBox 29"/>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FFB547"/>
                </a:solidFill>
                <a:latin typeface="Segoe Fluent Icons"/>
              </a:rPr>
              <a:t></a:t>
            </a:r>
          </a:p>
        </p:txBody>
      </p:sp>
      <p:sp>
        <p:nvSpPr>
          <p:cNvPr id="31" name="TextBox 30"/>
          <p:cNvSpPr txBox="1"/>
          <p:nvPr/>
        </p:nvSpPr>
        <p:spPr>
          <a:xfrm>
            <a:off x="9347454"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Held-out briefs</a:t>
            </a:r>
          </a:p>
        </p:txBody>
      </p:sp>
      <p:sp>
        <p:nvSpPr>
          <p:cNvPr id="32" name="TextBox 31"/>
          <p:cNvSpPr txBox="1"/>
          <p:nvPr/>
        </p:nvSpPr>
        <p:spPr>
          <a:xfrm>
            <a:off x="9347454"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Prove it generalizes</a:t>
            </a:r>
          </a:p>
        </p:txBody>
      </p:sp>
      <p:sp>
        <p:nvSpPr>
          <p:cNvPr id="33" name="Rounded Rectangle 32"/>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35" name="TextBox 34"/>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Run v1.2 on new briefs and re-benchmark.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Laptop Ultra to Teach Laptop Ultra</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