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B1AEA8"/>
            </a:solidFill>
          </c:spPr>
          <c:dPt>
            <c:idx val="4"/>
            <c:spPr>
              <a:solidFill>
                <a:srgbClr val="1F5FBF"/>
              </a:solidFill>
            </c:spPr>
          </c:dPt>
          <c:cat>
            <c:strRef>
              <c:f>Sheet1!$A$2:$A$6</c:f>
              <c:strCache>
                <c:ptCount val="5"/>
                <c:pt idx="0">
                  <c:v>1,200 consultants</c:v>
                </c:pt>
                <c:pt idx="1">
                  <c:v>6 summaries/week</c:v>
                </c:pt>
                <c:pt idx="2">
                  <c:v>5 minutes saved</c:v>
                </c:pt>
                <c:pt idx="3">
                  <c:v>46 weeks/year</c:v>
                </c:pt>
                <c:pt idx="4">
                  <c:v>Total Saved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1200.0</c:v>
                </c:pt>
                <c:pt idx="1">
                  <c:v>6.0</c:v>
                </c:pt>
                <c:pt idx="2">
                  <c:v>5.0</c:v>
                </c:pt>
                <c:pt idx="3">
                  <c:v>46.0</c:v>
                </c:pt>
                <c:pt idx="4">
                  <c:v>27600.0</c:v>
                </c:pt>
              </c:numCache>
            </c:numRef>
          </c:val>
        </c:ser>
        <c:dLbls>
          <c:numFmt formatCode="#,##0&quot; hours&quot;" sourceLinked="0"/>
          <c:txPr>
            <a:bodyPr/>
            <a:lstStyle/>
            <a:p>
              <a:pPr>
                <a:defRPr sz="15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4141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88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41414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Consultants draft summaries using two AI lanes. Main kitchen (Copilot) for general work. Side kitchen (local AI) for sensitive, repeated tasks. Like a chef using both kitchens.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AI runs entirely on the device. 28 open models are pre-installed. The RTX Spark GPU handles processing, with 128 GB of memory for complex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Consultants take notes during interviews. They draft summaries using either Copilot (for general tasks) or local AI (for sensitive, repeated work). Final review and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 AI requires internet and sends data to the cloud. Local AI works offline and keeps data on device. Best for sensitive, repeated drafting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Surface Laptop Ultra has 128 GB of memory. It supports running 28 open models locally, with room for processing and user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hybrid approach. Use Copilot for sensitive low-repetition tasks and high-sensitivity, high-repetition tasks with local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local AI saves 5 minutes per summary, the potential annual time savings are 27,600 hours. This is an estimate to validate during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will test the local AI solution with 10 users for two weeks. Metrics include task time, draft quality, and user experience. Goal is to validate the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AI is not a replacement for Microsoft 365 Copilot. It adds a second lane for sensitive, repeated drafting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propose a 10-user, 2-week pilot with Surface Laptop Ultra. This will validate the use case and inform future decisions on local AI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59536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863840" y="1417320"/>
            <a:ext cx="3566160" cy="3566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0" y="2240280"/>
            <a:ext cx="1920240" cy="1920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74">
                <a:solidFill>
                  <a:srgbClr val="1F5FBF"/>
                </a:solidFill>
                <a:latin typeface="Segoe Fluent Icons"/>
              </a:rPr>
              <a:t></a:t>
            </a:r>
          </a:p>
        </p:txBody>
      </p:sp>
      <p:sp>
        <p:nvSpPr>
          <p:cNvPr id="6" name="Oval 5"/>
          <p:cNvSpPr/>
          <p:nvPr/>
        </p:nvSpPr>
        <p:spPr>
          <a:xfrm>
            <a:off x="7452360" y="12344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35240" y="141732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1F5FBF"/>
                </a:solidFill>
                <a:latin typeface="Segoe Fluent Icons"/>
              </a:rPr>
              <a:t></a:t>
            </a:r>
          </a:p>
        </p:txBody>
      </p:sp>
      <p:sp>
        <p:nvSpPr>
          <p:cNvPr id="8" name="Oval 7"/>
          <p:cNvSpPr/>
          <p:nvPr/>
        </p:nvSpPr>
        <p:spPr>
          <a:xfrm>
            <a:off x="10744200" y="18288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27080" y="20116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3F8F7E"/>
                </a:solidFill>
                <a:latin typeface="Segoe Fluent Icons"/>
              </a:rPr>
              <a:t>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42976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8120" y="448056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B8742F"/>
                </a:solidFill>
                <a:latin typeface="Segoe Fluent Icons"/>
              </a:rPr>
              <a:t></a:t>
            </a:r>
          </a:p>
        </p:txBody>
      </p:sp>
      <p:sp>
        <p:nvSpPr>
          <p:cNvPr id="12" name="Oval 11"/>
          <p:cNvSpPr/>
          <p:nvPr/>
        </p:nvSpPr>
        <p:spPr>
          <a:xfrm>
            <a:off x="10561320" y="43434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4200" y="45262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6B5BD2"/>
                </a:solidFill>
                <a:latin typeface="Segoe Fluent Icons"/>
              </a:rPr>
              <a:t>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F5FBF"/>
                </a:solidFill>
                <a:latin typeface="Segoe UI Semibold"/>
              </a:rPr>
              <a:t>PILOT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41414"/>
                </a:solidFill>
                <a:latin typeface="Segoe UI Semibold"/>
              </a:rPr>
              <a:t>Surface Laptop Ultra with Local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4A4A4A"/>
                </a:solidFill>
                <a:latin typeface="Segoe UI"/>
              </a:rPr>
              <a:t>Hybrid AI for consultants on the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C8780"/>
                </a:solidFill>
                <a:latin typeface="Segoe UI"/>
              </a:rPr>
              <a:t>Surface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Consultant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Like a chef with two kitchens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41414"/>
                </a:solidFill>
                <a:latin typeface="Segoe UI Semibold"/>
              </a:rPr>
              <a:t>Consultant Drafting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41414"/>
                </a:solidFill>
                <a:latin typeface="Segoe UI Semibold"/>
              </a:rPr>
              <a:t>Chef Cooking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C878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Client summaries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529584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Recipes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Microsoft 365 Copilot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480560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Main kitchen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Local AI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431536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Side kitchen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Local AI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AI runs on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32304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66364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0545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Local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0545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28 open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751783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593592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593592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RTX Spark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08576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70001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83991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68172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68172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128 GB 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5832" y="2432304"/>
            <a:ext cx="73152" cy="3136392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12413"/>
            </a:avLst>
          </a:prstGeom>
          <a:solidFill>
            <a:srgbClr val="D7DEEA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 Semibold"/>
              </a:rPr>
              <a:t>On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Consultant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Two AI lanes for two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336194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772412" y="2125980"/>
            <a:ext cx="914400" cy="9144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00428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F5FBF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Client 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Notes taken</a:t>
            </a:r>
          </a:p>
        </p:txBody>
      </p:sp>
      <p:sp>
        <p:nvSpPr>
          <p:cNvPr id="15" name="Chevron 14"/>
          <p:cNvSpPr/>
          <p:nvPr/>
        </p:nvSpPr>
        <p:spPr>
          <a:xfrm>
            <a:off x="4047744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413504" y="2583180"/>
            <a:ext cx="336194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6384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F8F7E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8096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Draft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6384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Copilot or local AI</a:t>
            </a:r>
          </a:p>
        </p:txBody>
      </p:sp>
      <p:sp>
        <p:nvSpPr>
          <p:cNvPr id="22" name="Chevron 21"/>
          <p:cNvSpPr/>
          <p:nvPr/>
        </p:nvSpPr>
        <p:spPr>
          <a:xfrm>
            <a:off x="7912608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278368" y="2583180"/>
            <a:ext cx="336194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502140" y="2125980"/>
            <a:ext cx="914400" cy="91440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30156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1248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B8742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2960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Review &amp; Send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1248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Final edits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Cloud vs Local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Local AI for sensitive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Cloud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Requires internet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Data in 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F5FBF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Local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Works offline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Data stays local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7F5F2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23076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Local AI for sensitive, repeated drafting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Device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128 GB RAM for AI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i="0">
                <a:solidFill>
                  <a:srgbClr val="1F5FBF"/>
                </a:solidFill>
                <a:latin typeface="Segoe UI Light"/>
              </a:rPr>
              <a:t>128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38528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76072" y="3118104"/>
            <a:ext cx="2544747" cy="1033272"/>
          </a:xfrm>
          <a:prstGeom prst="roundRect">
            <a:avLst>
              <a:gd name="adj" fmla="val 8849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238015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Local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238015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30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75683" y="3118104"/>
            <a:ext cx="3411284" cy="1033272"/>
          </a:xfrm>
          <a:prstGeom prst="roundRect">
            <a:avLst>
              <a:gd name="adj" fmla="val 8849"/>
            </a:avLst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257979" y="3172968"/>
            <a:ext cx="324669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7979" y="3685032"/>
            <a:ext cx="324669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40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830" y="3118104"/>
            <a:ext cx="1678210" cy="1033272"/>
          </a:xfrm>
          <a:prstGeom prst="roundRect">
            <a:avLst>
              <a:gd name="adj" fmla="val 8849"/>
            </a:avLst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24126" y="3172968"/>
            <a:ext cx="151361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User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126" y="3685032"/>
            <a:ext cx="151361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20 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4904" y="3118104"/>
            <a:ext cx="3237976" cy="1033272"/>
          </a:xfrm>
          <a:prstGeom prst="roundRect">
            <a:avLst>
              <a:gd name="adj" fmla="val 8849"/>
            </a:avLst>
          </a:prstGeom>
          <a:noFill/>
          <a:ln w="12700">
            <a:solidFill>
              <a:srgbClr val="8C87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84632" y="3337560"/>
            <a:ext cx="3018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Headroom 38.0 GB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21558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72918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32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45836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64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7394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8754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96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640312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091672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128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4">
                <a:solidFill>
                  <a:srgbClr val="1F5FBF"/>
                </a:solidFill>
                <a:latin typeface="Segoe Fluent Icons"/>
              </a:rPr>
              <a:t>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62356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Surface Laptop Ultra with RTX Spark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AI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Hybrid AI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4A4A4A"/>
                </a:solidFill>
                <a:latin typeface="Segoe UI"/>
              </a:rPr>
              <a:t>Sensitivity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4A4A4A"/>
                </a:solidFill>
                <a:latin typeface="Segoe UI"/>
              </a:rPr>
              <a:t>Repetition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1F5FBF"/>
                </a:solidFill>
                <a:latin typeface="Segoe Fluent Icons"/>
              </a:rPr>
              <a:t>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High Sensitivity, Low Repetition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Use 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FFFF"/>
                </a:solidFill>
                <a:latin typeface="Segoe Fluent Icons"/>
              </a:rPr>
              <a:t>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High Sensitivity, High Repetition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"/>
              </a:rPr>
              <a:t>Use Local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B8742F"/>
                </a:solidFill>
                <a:latin typeface="Segoe Fluent Icons"/>
              </a:rPr>
              <a:t>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Low Sensitivity, Low Repetition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Use Copilot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6B5BD2"/>
                </a:solidFill>
                <a:latin typeface="Segoe Fluent Icons"/>
              </a:rPr>
              <a:t>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Low Sensitivity, High Repetition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Use Copilot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Time Savings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Potential 27,600 hours saved annually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1F5FBF"/>
                </a:solidFill>
                <a:latin typeface="Segoe UI Light"/>
              </a:rPr>
              <a:t>27,600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4A4A4A"/>
                </a:solidFill>
                <a:latin typeface="Segoe UI"/>
              </a:rPr>
              <a:t>hours  |  Total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Estimate based on 5 min per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Pilot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10 users for 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697224" cy="1447800"/>
          </a:xfrm>
          <a:prstGeom prst="roundRect">
            <a:avLst>
              <a:gd name="adj" fmla="val 11368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408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385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Device: Surface Laptop Ultra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0170" y="1828800"/>
            <a:ext cx="3697224" cy="1447800"/>
          </a:xfrm>
          <a:prstGeom prst="roundRect">
            <a:avLst>
              <a:gd name="adj" fmla="val 11368"/>
            </a:avLst>
          </a:prstGeom>
          <a:solidFill>
            <a:srgbClr val="3F8F7E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2561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7410" y="19385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Models: 28 open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91700" y="1828800"/>
            <a:ext cx="1848612" cy="1447800"/>
          </a:xfrm>
          <a:prstGeom prst="roundRect">
            <a:avLst>
              <a:gd name="adj" fmla="val 11368"/>
            </a:avLst>
          </a:prstGeom>
          <a:solidFill>
            <a:srgbClr val="B8742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4714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8940" y="1938528"/>
            <a:ext cx="979932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Pilot: 10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00500"/>
            <a:ext cx="3697224" cy="1447800"/>
          </a:xfrm>
          <a:prstGeom prst="roundRect">
            <a:avLst>
              <a:gd name="adj" fmla="val 11368"/>
            </a:avLst>
          </a:prstGeom>
          <a:solidFill>
            <a:srgbClr val="6B5BD2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4088" y="44729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102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Duration: 2 weeks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70170" y="4000500"/>
            <a:ext cx="3697224" cy="1447800"/>
          </a:xfrm>
          <a:prstGeom prst="roundRect">
            <a:avLst>
              <a:gd name="adj" fmla="val 11368"/>
            </a:avLst>
          </a:prstGeom>
          <a:solidFill>
            <a:srgbClr val="C2416B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25618" y="44729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7410" y="41102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Metrics: Time, Quality, 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91700" y="4000500"/>
            <a:ext cx="1848612" cy="1447800"/>
          </a:xfrm>
          <a:prstGeom prst="roundRect">
            <a:avLst>
              <a:gd name="adj" fmla="val 11368"/>
            </a:avLst>
          </a:prstGeom>
          <a:solidFill>
            <a:srgbClr val="A19D97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47148" y="44729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8940" y="4110228"/>
            <a:ext cx="979932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Goal: Validate use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Local AI adds value without replacing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FFFFFF"/>
                </a:solidFill>
                <a:latin typeface="Segoe Fluent Icons"/>
              </a:rPr>
              <a:t>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141414"/>
                </a:solidFill>
                <a:latin typeface="Segoe UI Semibold"/>
              </a:rPr>
              <a:t>Local AI enhances workflows, not replaces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4A4A4A"/>
                </a:solidFill>
                <a:latin typeface="Segoe UI"/>
              </a:rPr>
              <a:t>Hybrid approach for sensitive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Approve the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08676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5796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F5FBF"/>
                </a:solidFill>
                <a:latin typeface="Segoe Fluent Icons"/>
              </a:rPr>
              <a:t>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Review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4860036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10-user, 2-week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828800"/>
            <a:ext cx="5408676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505956" y="2103120"/>
            <a:ext cx="640080" cy="64008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05956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F8F7E"/>
                </a:solidFill>
                <a:latin typeface="Segoe Fluent Icons"/>
              </a:rPr>
              <a:t>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956" y="28803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Confirm device specs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956" y="3657600"/>
            <a:ext cx="4860036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Surface Laptop Ultra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4399"/>
            </a:avLst>
          </a:prstGeom>
          <a:gradFill rotWithShape="1">
            <a:gsLst>
              <a:gs pos="0">
                <a:srgbClr val="1F5FBF"/>
              </a:gs>
              <a:gs pos="100000">
                <a:srgbClr val="327C9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Approve the pilot to validate local AI for consultants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for Traveling Consultants</dc:title>
  <dc:subject/>
  <dc:creator>Offline PPTX Forge</dc:creator>
  <cp:keywords/>
  <dc:description>Generated offline; template=surface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