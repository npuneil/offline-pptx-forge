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3B3B3"/>
            </a:solidFill>
          </c:spPr>
          <c:dPt>
            <c:idx val="4"/>
            <c:spPr>
              <a:solidFill>
                <a:srgbClr val="0078D4"/>
              </a:solidFill>
            </c:spPr>
          </c:dPt>
          <c:cat>
            <c:strRef>
              <c:f>Sheet1!$A$2:$A$6</c:f>
              <c:strCache>
                <c:ptCount val="5"/>
                <c:pt idx="0">
                  <c:v>1,200 consultants</c:v>
                </c:pt>
                <c:pt idx="1">
                  <c:v>6 summaries/week</c:v>
                </c:pt>
                <c:pt idx="2">
                  <c:v>5 minutes saved</c:v>
                </c:pt>
                <c:pt idx="3">
                  <c:v>46 weeks/year</c:v>
                </c:pt>
                <c:pt idx="4">
                  <c:v>Total Saved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1200.0</c:v>
                </c:pt>
                <c:pt idx="1">
                  <c:v>6.0</c:v>
                </c:pt>
                <c:pt idx="2">
                  <c:v>5.0</c:v>
                </c:pt>
                <c:pt idx="3">
                  <c:v>46.0</c:v>
                </c:pt>
                <c:pt idx="4">
                  <c:v>27600.0</c:v>
                </c:pt>
              </c:numCache>
            </c:numRef>
          </c:val>
        </c:ser>
        <c:dLbls>
          <c:numFmt formatCode="#,##0&quot; hours&quot;" sourceLinked="0"/>
          <c:txPr>
            <a:bodyPr/>
            <a:lstStyle/>
            <a:p>
              <a:pPr>
                <a:defRPr sz="1500" b="1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B1B1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88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B1B1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draft summaries using two AI lanes. Main kitchen (Copilot) for general work. Side kitchen (local AI) for sensitive, repeated tasks. Like a chef using both kitchens.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runs entirely on the device. 28 open models are pre-installed. The RTX Spark GPU handles processing, with 128 GB of memory for complex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Consultants take notes during interviews. They draft summaries using either Copilot (for general tasks) or local AI (for sensitive, repeated work). Final review and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AI requires internet and sends data to the cloud. Local AI works offline and keeps data on device. Best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has 128 GB of memory. It supports running 28 open models locally, with room for processing and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hybrid approach. Use Copilot for sensitive low-repetition tasks and high-sensitivity, high-repetition tasks with local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local AI saves 5 minutes per summary, the potential annual time savings are 27,600 hours. This is an estimate to validate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will test the local AI solution with 10 users for two weeks. Metrics include task time, draft quality, and user experience. Goal is to validate the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AI is not a replacement for Microsoft 365 Copilot. It adds a second lane for sensitive, repeated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10-user, 2-week pilot with Surface Laptop Ultra. This will validate the use case and inform future decisions on local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55448" cy="15544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5303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i="0">
                <a:solidFill>
                  <a:srgbClr val="737373"/>
                </a:solidFill>
                <a:latin typeface="Segoe UI Semibold"/>
              </a:rPr>
              <a:t>Microsoft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00200"/>
            <a:ext cx="1600200" cy="1600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01050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9" name="Rectangle 8"/>
          <p:cNvSpPr/>
          <p:nvPr/>
        </p:nvSpPr>
        <p:spPr>
          <a:xfrm>
            <a:off x="9747504" y="1600200"/>
            <a:ext cx="1600200" cy="1600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7554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46704"/>
            <a:ext cx="1600200" cy="1600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01050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3346704"/>
            <a:ext cx="1600200" cy="1600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7554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PILOT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B1B1B"/>
                </a:solidFill>
                <a:latin typeface="Segoe UI Semibold"/>
              </a:rPr>
              <a:t>Surface Laptop Ultra with Local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505050"/>
                </a:solidFill>
                <a:latin typeface="Segoe UI"/>
              </a:rPr>
              <a:t>Hybrid AI for consultants on the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A8A8A"/>
                </a:solidFill>
                <a:latin typeface="Segoe UI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Consultant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a chef with two kitchens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Consultant Drafting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Chef Cooking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Client summaries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Recipes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Main kitchen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Local AI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Side kitchen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Local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AI runs on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Local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28 open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RTX Spark 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128 GB 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4137"/>
            </a:avLst>
          </a:prstGeom>
          <a:solidFill>
            <a:srgbClr val="D9EB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 Semibold"/>
              </a:rPr>
              <a:t>On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Consultant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Two AI lanes for two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3180"/>
            <a:ext cx="3361944" cy="3291840"/>
          </a:xfrm>
          <a:prstGeom prst="roundRect">
            <a:avLst>
              <a:gd name="adj" fmla="val 16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772412" y="21259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0042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0078D4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Client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Notes taken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7744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413504" y="2583180"/>
            <a:ext cx="3361944" cy="3291840"/>
          </a:xfrm>
          <a:prstGeom prst="roundRect">
            <a:avLst>
              <a:gd name="adj" fmla="val 16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6384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07C10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Draft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6384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Copilot or local AI</a:t>
            </a:r>
          </a:p>
        </p:txBody>
      </p:sp>
      <p:sp>
        <p:nvSpPr>
          <p:cNvPr id="23" name="Chevron 22"/>
          <p:cNvSpPr/>
          <p:nvPr/>
        </p:nvSpPr>
        <p:spPr>
          <a:xfrm>
            <a:off x="7912608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278368" y="2583180"/>
            <a:ext cx="3361944" cy="3291840"/>
          </a:xfrm>
          <a:prstGeom prst="roundRect">
            <a:avLst>
              <a:gd name="adj" fmla="val 16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502140" y="2125980"/>
            <a:ext cx="914400" cy="91440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3015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1248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D83B01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960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Review &amp; Send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1248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Final 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Cloud vs Local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Local AI for sensitive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Cloud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Requires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Data in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28575">
            <a:solidFill>
              <a:srgbClr val="0078D4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Local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Works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Data stays local</a:t>
            </a:r>
          </a:p>
        </p:txBody>
      </p:sp>
      <p:sp>
        <p:nvSpPr>
          <p:cNvPr id="26" name="Oval 25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Local AI for sensitive, repeated drafting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Device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128 GB RAM for AI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0078D4"/>
                </a:solidFill>
                <a:latin typeface="Segoe UI Semibold"/>
              </a:rPr>
              <a:t>128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76072" y="3118104"/>
            <a:ext cx="2544747" cy="1033272"/>
          </a:xfrm>
          <a:prstGeom prst="roundRect">
            <a:avLst>
              <a:gd name="adj" fmla="val 8849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3172968"/>
            <a:ext cx="238015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Local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85032"/>
            <a:ext cx="23801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30 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75683" y="3118104"/>
            <a:ext cx="3411284" cy="1033272"/>
          </a:xfrm>
          <a:prstGeom prst="roundRect">
            <a:avLst>
              <a:gd name="adj" fmla="val 8849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57979" y="3172968"/>
            <a:ext cx="32466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7979" y="3685032"/>
            <a:ext cx="324669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40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830" y="3118104"/>
            <a:ext cx="1678210" cy="1033272"/>
          </a:xfrm>
          <a:prstGeom prst="roundRect">
            <a:avLst>
              <a:gd name="adj" fmla="val 8849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24126" y="3172968"/>
            <a:ext cx="151361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User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126" y="3685032"/>
            <a:ext cx="151361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"/>
              </a:rPr>
              <a:t>20 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4904" y="3118104"/>
            <a:ext cx="3237976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84632" y="3337560"/>
            <a:ext cx="3018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Headroom 38.0 GB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32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64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96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8A8A8A"/>
                </a:solidFill>
                <a:latin typeface="Segoe UI"/>
              </a:rPr>
              <a:t>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0078D4"/>
                </a:solidFill>
                <a:latin typeface="Segoe Fluent Icons"/>
              </a:rPr>
              <a:t>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Surface Laptop Ultra with RTX 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AI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Hybrid AI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505050"/>
                </a:solidFill>
                <a:latin typeface="Segoe UI"/>
              </a:rPr>
              <a:t>Sensitivity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505050"/>
                </a:solidFill>
                <a:latin typeface="Segoe UI"/>
              </a:rPr>
              <a:t>Repetition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078D4"/>
                </a:solidFill>
                <a:latin typeface="Segoe Fluent Icons"/>
              </a:rPr>
              <a:t>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High Sensitivity, Low Repetition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Copilot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High Sensitivity, High Repetition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Use Local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D83B01"/>
                </a:solidFill>
                <a:latin typeface="Segoe Fluent Icons"/>
              </a:rPr>
              <a:t>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Low Sensitivity, Low Repetition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Copilot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900"/>
                </a:solidFill>
                <a:latin typeface="Segoe Fluent Icons"/>
              </a:rPr>
              <a:t>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Low Sensitivity, High Repetition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Time Savings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Potential 27,600 hours saved annually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14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0078D4"/>
                </a:solidFill>
                <a:latin typeface="Segoe UI Semibold"/>
              </a:rPr>
              <a:t>27,600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05050"/>
                </a:solidFill>
                <a:latin typeface="Segoe UI"/>
              </a:rPr>
              <a:t>hours  |  Total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Estimate based on 5 min per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10 users for 2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97224" cy="1447800"/>
          </a:xfrm>
          <a:prstGeom prst="roundRect">
            <a:avLst>
              <a:gd name="adj" fmla="val 3789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Device: Surface Laptop Ultra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0170" y="1828800"/>
            <a:ext cx="3697224" cy="1447800"/>
          </a:xfrm>
          <a:prstGeom prst="roundRect">
            <a:avLst>
              <a:gd name="adj" fmla="val 3789"/>
            </a:avLst>
          </a:prstGeom>
          <a:solidFill>
            <a:srgbClr val="107C1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2561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741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Models: 28 open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1700" y="1828800"/>
            <a:ext cx="1848612" cy="1447800"/>
          </a:xfrm>
          <a:prstGeom prst="roundRect">
            <a:avLst>
              <a:gd name="adj" fmla="val 3789"/>
            </a:avLst>
          </a:prstGeom>
          <a:solidFill>
            <a:srgbClr val="D83B0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94714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8940" y="19385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Pilot: 10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00500"/>
            <a:ext cx="3697224" cy="1447800"/>
          </a:xfrm>
          <a:prstGeom prst="roundRect">
            <a:avLst>
              <a:gd name="adj" fmla="val 3789"/>
            </a:avLst>
          </a:prstGeom>
          <a:solidFill>
            <a:srgbClr val="FFB90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408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Duration: 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0170" y="4000500"/>
            <a:ext cx="3697224" cy="1447800"/>
          </a:xfrm>
          <a:prstGeom prst="roundRect">
            <a:avLst>
              <a:gd name="adj" fmla="val 3789"/>
            </a:avLst>
          </a:prstGeom>
          <a:solidFill>
            <a:srgbClr val="5C2D9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2561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7410" y="41102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Metrics: Time, Quality, 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91700" y="4000500"/>
            <a:ext cx="1848612" cy="1447800"/>
          </a:xfrm>
          <a:prstGeom prst="roundRect">
            <a:avLst>
              <a:gd name="adj" fmla="val 3789"/>
            </a:avLst>
          </a:prstGeom>
          <a:solidFill>
            <a:srgbClr val="A1A1A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947148" y="44729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8940" y="41102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Goal: Validate use 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Local AI adds value without replacing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1B1B1B"/>
                </a:solidFill>
                <a:latin typeface="Segoe UI Semibold"/>
              </a:rPr>
              <a:t>Local AI enhances workflows, not replaces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505050"/>
                </a:solidFill>
                <a:latin typeface="Segoe UI"/>
              </a:rPr>
              <a:t>Hybrid approach for sensitive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Approve the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408676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5796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0078D4"/>
                </a:solidFill>
                <a:latin typeface="Segoe Fluent Icons"/>
              </a:rPr>
              <a:t>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Review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10-user, 2-week 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1828800"/>
            <a:ext cx="5408676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05956" y="210312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59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07C10"/>
                </a:solidFill>
                <a:latin typeface="Segoe Fluent Icons"/>
              </a:rPr>
              <a:t>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6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Confirm device specs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956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Surface Laptop Ultra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the pilot to validate local AI for consultants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for Traveling Consultants</dc:title>
  <dc:subject/>
  <dc:creator>Offline PPTX Forge</dc:creator>
  <cp:keywords/>
  <dc:description>Generated offline; template=microsoft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