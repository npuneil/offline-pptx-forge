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4"/>
            <c:spPr>
              <a:solidFill>
                <a:srgbClr val="76B900"/>
              </a:solidFill>
            </c:spPr>
          </c:dPt>
          <c:cat>
            <c:strRef>
              <c:f>Sheet1!$A$2:$A$6</c:f>
              <c:strCache>
                <c:ptCount val="5"/>
                <c:pt idx="0">
                  <c:v>1,200 consultants</c:v>
                </c:pt>
                <c:pt idx="1">
                  <c:v>6 summaries/week</c:v>
                </c:pt>
                <c:pt idx="2">
                  <c:v>5 minutes saved</c:v>
                </c:pt>
                <c:pt idx="3">
                  <c:v>46 weeks/year</c:v>
                </c:pt>
                <c:pt idx="4">
                  <c:v>Total Saved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1200.0</c:v>
                </c:pt>
                <c:pt idx="1">
                  <c:v>6.0</c:v>
                </c:pt>
                <c:pt idx="2">
                  <c:v>5.0</c:v>
                </c:pt>
                <c:pt idx="3">
                  <c:v>46.0</c:v>
                </c:pt>
                <c:pt idx="4">
                  <c:v>27600.0</c:v>
                </c:pt>
              </c:numCache>
            </c:numRef>
          </c:val>
        </c:ser>
        <c:dLbls>
          <c:numFmt formatCode="#,##0&quot; hour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8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draft summaries using two AI lanes. Main kitchen (Copilot) for general work. Side kitchen (local AI) for sensitive, repeated tasks. Like a chef using both kitchens.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runs entirely on the device. 28 open models are pre-installed. The RTX Spark GPU handles processing, with 128 GB of memory for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take notes during interviews. They draft summaries using either Copilot (for general tasks) or local AI (for sensitive, repeated work). Final review and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AI requires internet and sends data to the cloud. Local AI works offline and keeps data on device. Best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has 128 GB of memory. It supports running 28 open models locally, with room for processing and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hybrid approach. Use Copilot for sensitive low-repetition tasks and high-sensitivity, high-repetition tasks with local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local AI saves 5 minutes per summary, the potential annual time savings are 27,600 hours. This is an estimate to validate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will test the local AI solution with 10 users for two weeks. Metrics include task time, draft quality, and user experience. Goal is to validate the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is not a replacement for Microsoft 365 Copilot. It adds a second lane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10-user, 2-week pilot with Surface Laptop Ultra. This will validate the use case and inform future decisions on local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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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PILOT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Surface Laptop Ultra with Local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Hybrid AI for consultants on the 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Consultant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Like a chef with two kitchens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Consultant Drafting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Chef Cooking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Client summaries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Recipes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Main kitchen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Local 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Side kitchen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Local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AI runs on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Local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28 open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RTX Spark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128 GB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On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Consultant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Two AI lanes for two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772412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0042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Client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Notes taken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404774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413504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8096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Draft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6384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Copilot or local AI</a:t>
            </a:r>
          </a:p>
        </p:txBody>
      </p:sp>
      <p:sp>
        <p:nvSpPr>
          <p:cNvPr id="22" name="Chevron 21"/>
          <p:cNvSpPr/>
          <p:nvPr/>
        </p:nvSpPr>
        <p:spPr>
          <a:xfrm>
            <a:off x="791260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278368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502140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3015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248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2960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Review &amp; Send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1248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Final 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Cloud vs Local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for sensitive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Cloud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Requires 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Data in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Works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Data stays local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Local AI for sensitive, repeated drafting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Device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128 GB RAM for AI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76B900"/>
                </a:solidFill>
                <a:latin typeface="Segoe UI Black"/>
              </a:rPr>
              <a:t>128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2544747" cy="1033272"/>
          </a:xfrm>
          <a:prstGeom prst="roundRect">
            <a:avLst>
              <a:gd name="adj" fmla="val 8849"/>
            </a:avLst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238015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Local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3801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30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5683" y="3118104"/>
            <a:ext cx="3411284" cy="1033272"/>
          </a:xfrm>
          <a:prstGeom prst="roundRect">
            <a:avLst>
              <a:gd name="adj" fmla="val 8849"/>
            </a:avLst>
          </a:prstGeom>
          <a:solidFill>
            <a:srgbClr val="3DA9FC"/>
          </a:solidFill>
          <a:ln>
            <a:noFill/>
          </a:ln>
          <a:effectLst>
            <a:glow rad="762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57979" y="3172968"/>
            <a:ext cx="32466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7979" y="3685032"/>
            <a:ext cx="324669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40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830" y="3118104"/>
            <a:ext cx="1678210" cy="1033272"/>
          </a:xfrm>
          <a:prstGeom prst="roundRect">
            <a:avLst>
              <a:gd name="adj" fmla="val 8849"/>
            </a:avLst>
          </a:prstGeom>
          <a:solidFill>
            <a:srgbClr val="9B6BFF"/>
          </a:solidFill>
          <a:ln>
            <a:noFill/>
          </a:ln>
          <a:effectLst>
            <a:glow rad="762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4126" y="3172968"/>
            <a:ext cx="151361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User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126" y="3685032"/>
            <a:ext cx="151361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20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4904" y="3118104"/>
            <a:ext cx="3237976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6F78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4632" y="3337560"/>
            <a:ext cx="3018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Headroom 38.0 GB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32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64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96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76B900"/>
                </a:solidFill>
                <a:latin typeface="Segoe Fluent Icons"/>
              </a:rPr>
              <a:t>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Surface Laptop Ultra with RTX 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AI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Hybrid AI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Sensitivity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Repetition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High Sensitivity, Low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High Sensitivity, High 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Use Local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Low Sensitivity, Low Repetition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Copilot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547"/>
                </a:solidFill>
                <a:latin typeface="Segoe Fluent Icons"/>
              </a:rPr>
              <a:t>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Low Sensitivity, High Repetition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Time Savings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Potential 27,600 hours saved annually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27,600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hours  |  Total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Estimate based on 5 min per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10 users for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Device: Surface Laptop Ultra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0170" y="18288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561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741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Models: 28 open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1700" y="1828800"/>
            <a:ext cx="1848612" cy="1447800"/>
          </a:xfrm>
          <a:prstGeom prst="roundRect">
            <a:avLst>
              <a:gd name="adj" fmla="val 8842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4714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8940" y="19385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Pilot: 10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005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408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Duration: 2 weeks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70170" y="40005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FF5D8F"/>
          </a:solidFill>
          <a:ln>
            <a:noFill/>
          </a:ln>
          <a:effectLst>
            <a:glow rad="101600">
              <a:srgbClr val="FF5D8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2561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741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Metrics: Time, Quality, 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91700" y="4000500"/>
            <a:ext cx="1848612" cy="1447800"/>
          </a:xfrm>
          <a:prstGeom prst="roundRect">
            <a:avLst>
              <a:gd name="adj" fmla="val 8842"/>
            </a:avLst>
          </a:prstGeom>
          <a:solidFill>
            <a:srgbClr val="5A6276"/>
          </a:solidFill>
          <a:ln>
            <a:noFill/>
          </a:ln>
          <a:effectLst>
            <a:glow rad="101600">
              <a:srgbClr val="5A6276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4714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8940" y="41102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Goal: Validate use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adds value without replacing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Local AI enhances workflows, not replaces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AEB6C8"/>
                </a:solidFill>
                <a:latin typeface="Segoe UI"/>
              </a:rPr>
              <a:t>Hybrid approach for sensitive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Approve 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Contoso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08676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5796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Review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10-user, 2-week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28800"/>
            <a:ext cx="5408676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05956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059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6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Confirm device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6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Surface Laptop Ultra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the pilot to validate local AI for consultants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for Traveling Consultants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