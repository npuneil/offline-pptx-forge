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cat>
            <c:strRef>
              <c:f>Sheet1!$A$2:$A$3</c:f>
              <c:strCache>
                <c:ptCount val="2"/>
                <c:pt idx="0">
                  <c:v>Models</c:v>
                </c:pt>
                <c:pt idx="1">
                  <c:v>Disk Space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28.0</c:v>
                </c:pt>
                <c:pt idx="1">
                  <c:v>315.0</c:v>
                </c:pt>
              </c:numCache>
            </c:numRef>
          </c:val>
        </c:ser>
        <c:dLbls>
          <c:numFmt formatCode="#,##0&quot; GiB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9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device uses NVIDIA RTX Spark N1X with 20 CPU cores. GPU memory is distinct from system RAM. Never add them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memory (64,000 MiB) is distinct from system RAM (128 GB). Never combine these views. This is a critical distinction for local AI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runtimes support CUDA on this device. This allows for efficient local model inference using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device hosts 28 open models, totaling 315 GiB on disk. These are all local and accessible without cloud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Throughput numbers are from Local-AI-Bench on a shared machine. Qwen3-Coder 30B achieves 140 tokens/s across 4 streams, and 72/s single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MoE models activate only a few experts per token, making them decode several times faster than dense models of similar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sizing bands are planning estimates. S-band models are lightweight, XL-band are for heavy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runs code generation and retrieval over internal engineering documents locally, without cloud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Sensitive and frequent tasks (code, internal docs) route to the local lane. Heavier reasoning can go to cloud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was generated on the Surface Laptop Ultra using Qwen3-Coder 30B through llama.cpp, with no cloud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Zava invites 10 developers for a 2-week pilot to measure acceptance rate, latency, and developer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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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TECHNICAL DEEP 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Running Local AI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Hardware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NVIDIA RTX Spark N1X with 20 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RTX Spark N1X + 20 CPU 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GPU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64,000 MiB visible to CUDA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System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128 GB installed, 64 GB visible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Closest to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Memory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VRAM and RAM are separate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GPU Memory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Car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GPU memory is like a car's trunk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Only holds what the GPU needs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System RAM is like the car's cabin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Holds everything else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You can't mix them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Trunk and cabin are separate spaces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Local Runtimes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llama.cpp and Foundry Local support CUDA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5294376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738628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6664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496519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llama.cpp build 11573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4928616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Native ARM64 with CUDA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0176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345936" y="2583180"/>
            <a:ext cx="5294376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535924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6394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150108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51860"/>
            <a:ext cx="496519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Foundry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366260"/>
            <a:ext cx="4928616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CUDA execution provider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Model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28 open models, 315 GiB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GiB  | 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Local model disk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Tokens per second like a typing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Token Throughput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Typing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140 tokens/s across 4 streams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Like typing 140 words per second with 4 fingers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72 tokens/s single stream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Like typing 72 words per second with one finger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MoE models decode faster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Like using shortcuts to type faster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MoE vs Dense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MoE models activate fewer experts per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Dense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All parameters 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Slower decode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MoE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Only few experts per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Faster decode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MoE models are faster for decoding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Model Sizing Bands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Bands help estimate model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Small to Large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76B900"/>
                </a:solidFill>
                <a:latin typeface="Segoe Fluent Icons"/>
              </a:rPr>
              <a:t>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S (1-4B)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Lightweight, fast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M (7-8B)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Balanced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L (14-20B)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Powerful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547"/>
                </a:solidFill>
                <a:latin typeface="Segoe Fluent Icons"/>
              </a:rPr>
              <a:t>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XL (24-32B)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Heavy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Code Generation &amp;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code gen and internal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F4F6FA"/>
                </a:solidFill>
                <a:latin typeface="Segoe UI Semibold"/>
              </a:rPr>
              <a:t>Local AI handles code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AEB6C8"/>
                </a:solidFill>
                <a:latin typeface="Segoe UI"/>
              </a:rPr>
              <a:t>And retrieval over internal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Hybrid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Sensitive tasks stay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94476" y="2240280"/>
            <a:ext cx="0" cy="176022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4476" y="4000500"/>
            <a:ext cx="4174236" cy="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6" y="4000500"/>
            <a:ext cx="0" cy="176022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920240" y="4000500"/>
            <a:ext cx="4174236" cy="0"/>
          </a:xfrm>
          <a:prstGeom prst="line">
            <a:avLst/>
          </a:prstGeom>
          <a:ln w="22225">
            <a:solidFill>
              <a:srgbClr val="4469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910328" y="2816352"/>
            <a:ext cx="2368296" cy="2368296"/>
          </a:xfrm>
          <a:prstGeom prst="ellipse">
            <a:avLst/>
          </a:prstGeom>
          <a:solidFill>
            <a:srgbClr val="76B9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111496" y="3017520"/>
            <a:ext cx="1965960" cy="196596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10428" y="3287268"/>
            <a:ext cx="768096" cy="7680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749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4073652"/>
            <a:ext cx="16002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07080C"/>
                </a:solidFill>
                <a:latin typeface="Segoe UI Semibold"/>
              </a:rPr>
              <a:t>Local Lane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37176" y="186537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2D6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910328" y="1938528"/>
            <a:ext cx="603504" cy="603504"/>
          </a:xfrm>
          <a:prstGeom prst="ellipse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94819" y="202301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192024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Code 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1412" y="362559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654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084564" y="3698748"/>
            <a:ext cx="603504" cy="603504"/>
          </a:xfrm>
          <a:prstGeom prst="ellipse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69055" y="378323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9508" y="368046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Internal Docs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37176" y="538581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A1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910328" y="5458968"/>
            <a:ext cx="603504" cy="603504"/>
          </a:xfrm>
          <a:prstGeom prst="ellipse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94819" y="554345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544068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Frequent Tasks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" y="3625596"/>
            <a:ext cx="2514600" cy="74980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2700">
            <a:solidFill>
              <a:srgbClr val="A141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36092" y="3698748"/>
            <a:ext cx="603504" cy="603504"/>
          </a:xfrm>
          <a:prstGeom prst="ellipse">
            <a:avLst/>
          </a:prstGeom>
          <a:solidFill>
            <a:srgbClr val="F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0583" y="3783239"/>
            <a:ext cx="434523" cy="4345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121">
                <a:solidFill>
                  <a:srgbClr val="07080C"/>
                </a:solidFill>
                <a:latin typeface="Segoe Fluent Icons"/>
              </a:rPr>
              <a:t>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1036" y="3680460"/>
            <a:ext cx="163677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 Semibold"/>
              </a:rPr>
              <a:t>Sensitive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Made on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This deck was generated locally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545836" cy="2171700"/>
          </a:xfrm>
          <a:prstGeom prst="roundRect">
            <a:avLst>
              <a:gd name="adj" fmla="val 5894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" y="266319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38528"/>
            <a:ext cx="4677156" cy="19522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4476" y="1828800"/>
            <a:ext cx="5545836" cy="2171700"/>
          </a:xfrm>
          <a:prstGeom prst="roundRect">
            <a:avLst>
              <a:gd name="adj" fmla="val 5894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49924" y="266319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1716" y="1938528"/>
            <a:ext cx="4677156" cy="19522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Qwen3-Coder 30B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0500"/>
            <a:ext cx="5545836" cy="2171700"/>
          </a:xfrm>
          <a:prstGeom prst="roundRect">
            <a:avLst>
              <a:gd name="adj" fmla="val 5894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4088" y="483489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110228"/>
            <a:ext cx="4677156" cy="19522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llama.cpp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4476" y="4000500"/>
            <a:ext cx="5545836" cy="2171700"/>
          </a:xfrm>
          <a:prstGeom prst="roundRect">
            <a:avLst>
              <a:gd name="adj" fmla="val 5894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49924" y="483489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1716" y="4110228"/>
            <a:ext cx="4677156" cy="19522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Generated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10 developers for 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08676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5796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Join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10 developers, 2 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28800"/>
            <a:ext cx="5408676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505956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05956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956" y="2880360"/>
            <a:ext cx="486003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Measure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956" y="3657600"/>
            <a:ext cx="4860036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Latency &amp; experience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Ready to test local AI?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on Surface Laptop Ultra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