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Series</c:v>
                </c:pt>
              </c:strCache>
            </c:strRef>
          </c:tx>
          <c:spPr>
            <a:solidFill>
              <a:srgbClr val="4B5162"/>
            </a:solidFill>
          </c:spPr>
          <c:dPt>
            <c:idx val="0"/>
            <c:spPr>
              <a:solidFill>
                <a:srgbClr val="76B900"/>
              </a:solidFill>
            </c:spPr>
          </c:dPt>
          <c:cat>
            <c:strRef>
              <c:f>Sheet1!$A$2:$A$4</c:f>
              <c:strCache>
                <c:ptCount val="3"/>
                <c:pt idx="0">
                  <c:v>Qwen3-Coder 30B</c:v>
                </c:pt>
                <c:pt idx="1">
                  <c:v>Gemma 4 26B</c:v>
                </c:pt>
                <c:pt idx="2">
                  <c:v>Qwen3.6 27B</c:v>
                </c:pt>
              </c:strCache>
            </c:strRef>
          </c:cat>
          <c:val>
            <c:numRef>
              <c:f>Sheet1!$B$2:$B$4</c:f>
              <c:numCache>
                <c:formatCode>General</c:formatCode>
                <c:ptCount val="3"/>
                <c:pt idx="0">
                  <c:v>86.0</c:v>
                </c:pt>
                <c:pt idx="1">
                  <c:v>72.0</c:v>
                </c:pt>
                <c:pt idx="2">
                  <c:v>13.0</c:v>
                </c:pt>
              </c:numCache>
            </c:numRef>
          </c:val>
        </c:ser>
        <c:dLbls>
          <c:numFmt formatCode="#,##0&quot; tokens/s&quot;" sourceLinked="0"/>
          <c:txPr>
            <a:bodyPr/>
            <a:lstStyle/>
            <a:p>
              <a:pPr>
                <a:defRPr sz="1500" b="1">
                  <a:solidFill>
                    <a:srgbClr val="F4F6FA"/>
                  </a:solidFill>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axMin"/>
        </c:scaling>
        <c:delete val="0"/>
        <c:axPos val="l"/>
        <c:majorTickMark val="out"/>
        <c:minorTickMark val="none"/>
        <c:tickLblPos val="nextTo"/>
        <c:spPr>
          <a:ln>
            <a:noFill/>
          </a:ln>
        </c:spPr>
        <c:txPr>
          <a:bodyPr/>
          <a:lstStyle/>
          <a:p>
            <a:pPr>
              <a:defRPr sz="1500">
                <a:solidFill>
                  <a:srgbClr val="F4F6FA"/>
                </a:solidFill>
              </a:defRPr>
            </a:pPr>
          </a:p>
        </c:txPr>
        <c:crossAx val="-2113994440"/>
        <c:crosses val="autoZero"/>
        <c:auto val="1"/>
        <c:lblAlgn val="ctr"/>
        <c:lblOffset val="100"/>
        <c:noMultiLvlLbl val="0"/>
      </c:catAx>
      <c:valAx>
        <c:axId val="-2113994440"/>
        <c:scaling>
          <c:max val="111.8"/>
          <c:min val="0.0"/>
        </c:scaling>
        <c:delete/>
        <c:axPos val="b"/>
        <c:majorTickMark val="out"/>
        <c:minorTickMark val="none"/>
        <c:tickLblPos val="nextTo"/>
        <c:crossAx val="-2068027336"/>
        <c:crosses val="autoZero"/>
      </c:valAx>
    </c:plotArea>
    <c:dispBlanksAs val="gap"/>
  </c:chart>
  <c:txPr>
    <a:bodyPr/>
    <a:lstStyle/>
    <a:p>
      <a:pPr>
        <a:defRPr sz="1500">
          <a:solidFill>
            <a:srgbClr val="F4F6FA"/>
          </a:solidFill>
          <a:latin typeface="Segoe U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deck was generated on this Surface Laptop Ultra by Qwen3-Coder 30B through llama.cpp, with no cloud calls. For Zava's approximately 150 developers and architects, the opportunity is local code assistance and retrieval over sensitive engineering documents, while retaining a controlled cloud option for the heaviest tasks.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hardware is Surface Laptop Ultra with NVIDIA RTX Spark N1X. Installed runtimes are llama.cpp build 11573, native ARM64 with CUDA, and Foundry Local with the CUDA execution provider. The catalog contains 28 open models occupying 315 GiB on disk. Developer workflows shown here are the proposed integration layer, not a claim that every integration is already deployed.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distinct reporting views: installed memory, memory visible to Windows, and the GPU memory budget reported by nvidia-smi. Never add them together. System RAM is not dedicated VRAM. Model files, runtime allocations and working context must be evaluated against observed availability rather than an invented combined capacity.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Qwen3-Coder 30B is an MoE model with about 3B active parameters. The installed Q4_K_M file is 17.3 GiB; file size is not total runtime memory. Sparse expert activation can accelerate decode relative to similarly sized dense models. The workshop analogy explains computation, not accuracy or guaranteed speed.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Local-AI-Bench measured these approximate single-stream decode rates on this shared device in October 2026. Qwen3-Coder 30B also measured about 0.13 seconds to first token. Dense Qwen3.6 27B measured about 13 tokens/s. These observations illustrate the MoE-versus-dense compute distinction; they are neither guaranteed specifications nor comparisons against other devices or measures of answer quality.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Qwen3-Coder measured about 140 tokens/s aggregate across 4 concurrent streams; Gemma measured about 245 across 8. These totals come from Local-AI-Bench on this shared device in October 2026. Different concurrency levels are not a controlled model comparison. Aggregate rates are not per-user rates and do not establish pilot capacity or latency guarantees.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 denotes billions of parameters. These bands are planning estimates, not accuracy tiers or memory guarantees. Evaluate quantization, active computation, context needs and available memory alongside task acceptance and latency. Larger parameter counts do not establish better answers. Select pilot candidates using representative Zava coding and retrieval tasks.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proposed RAG design treats internal engineering documents as a controlled reference library. Retrieval supplies relevant, authorized excerpts to the local model; it does not imply retraining on every document. Citations make checking easier but do not guarantee correctness. Document permissions, retrieval relevance and citation fidelity require pilot validation.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Proposed application layer: IDE/chat calls a local API. Code generation uses a local model directly. RAG chunks and embeds approved internal documents locally, retrieves permission-filtered context, and requests cited answers. llama.cpp ARM64 CUDA or Foundry Local's CUDA execution provider runs inference. Validate retrieval access controls and citations during the pilot.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proposed router checks sensitivity before complexity. Sensitive code and internal-document context remain local. Heaviest reasoning is cloud-eligible only when its input is approved for egress; otherwise retain it locally. Routing, authentication and outbound controls must be verified in the pilot. Local inference is not an air-gap or certification claim.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Agree representative coding, internal-document retrieval and routing tasks before the pilot. Define acceptance consistently and record model, runtime, context and concurrency for latency observations. Collect developer feedback alongside results. Validate permission filtering, citations and outbound policy. Agree decision criteria before testing rather than inventing success thresholds from benchmark throughput.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Authorize 10 developers for 2 weeks, or 14 days. Confirm a platform owner, approved internal documents and representative coding tasks. Measure acceptance rate, latency and developer experience, with routing and data-handling checks. Use the results to decide whether and where local AI belongs in Zava's developer platform; do not extrapolate shared-machine throughput into a service guarantee.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gradFill rotWithShape="1">
          <a:gsLst>
            <a:gs pos="0">
              <a:srgbClr val="07080C"/>
            </a:gs>
            <a:gs pos="100000">
              <a:srgbClr val="121521"/>
            </a:gs>
          </a:gsLst>
          <a:lin scaled="0" ang="13500000"/>
        </a:gradFill>
        <a:effectLst/>
      </p:bgPr>
    </p:bg>
    <p:spTree>
      <p:nvGrpSpPr>
        <p:cNvPr id="1" name=""/>
        <p:cNvGrpSpPr/>
        <p:nvPr/>
      </p:nvGrpSpPr>
      <p:grpSpPr/>
      <p:sp>
        <p:nvSpPr>
          <p:cNvPr id="2" name="Oval 1"/>
          <p:cNvSpPr/>
          <p:nvPr/>
        </p:nvSpPr>
        <p:spPr>
          <a:xfrm>
            <a:off x="6217920" y="-2743200"/>
            <a:ext cx="6400800" cy="6400800"/>
          </a:xfrm>
          <a:prstGeom prst="ellipse">
            <a:avLst/>
          </a:prstGeom>
          <a:solidFill>
            <a:srgbClr val="76B900">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229600" y="-1371600"/>
            <a:ext cx="4114800" cy="4114800"/>
          </a:xfrm>
          <a:prstGeom prst="ellipse">
            <a:avLst/>
          </a:prstGeom>
          <a:solidFill>
            <a:srgbClr val="3DA9FC">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7315200" y="1234440"/>
            <a:ext cx="4297680" cy="4297680"/>
          </a:xfrm>
          <a:prstGeom prst="ellipse">
            <a:avLst/>
          </a:prstGeom>
          <a:noFill/>
          <a:ln w="15875">
            <a:solidFill>
              <a:srgbClr val="76B900"/>
            </a:solidFill>
          </a:ln>
          <a:effectLst>
            <a:glow rad="101600">
              <a:srgbClr val="76B900">
                <a:alpha val="3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772400" y="1691640"/>
            <a:ext cx="3383280" cy="3383280"/>
          </a:xfrm>
          <a:prstGeom prst="ellipse">
            <a:avLst/>
          </a:prstGeom>
          <a:noFill/>
          <a:ln w="22225">
            <a:solidFill>
              <a:srgbClr val="3DA9FC"/>
            </a:solidFill>
          </a:ln>
          <a:effectLst>
            <a:glow rad="101600">
              <a:srgbClr val="3DA9FC">
                <a:alpha val="3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8229600" y="2148840"/>
            <a:ext cx="2468880" cy="2468880"/>
          </a:xfrm>
          <a:prstGeom prst="ellipse">
            <a:avLst/>
          </a:prstGeom>
          <a:noFill/>
          <a:ln w="28575">
            <a:solidFill>
              <a:srgbClr val="9B6BFF"/>
            </a:solidFill>
          </a:ln>
          <a:effectLst>
            <a:glow rad="101600">
              <a:srgbClr val="9B6BFF">
                <a:alpha val="3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8595360" y="2514600"/>
            <a:ext cx="1737360" cy="1737360"/>
          </a:xfrm>
          <a:prstGeom prst="ellipse">
            <a:avLst/>
          </a:prstGeom>
          <a:solidFill>
            <a:srgbClr val="141824"/>
          </a:solidFill>
          <a:ln>
            <a:noFill/>
          </a:ln>
          <a:effectLst>
            <a:glow rad="304800">
              <a:srgbClr val="76B900">
                <a:alpha val="4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42248" y="2743200"/>
            <a:ext cx="1243584" cy="1243584"/>
          </a:xfrm>
          <a:prstGeom prst="rect">
            <a:avLst/>
          </a:prstGeom>
          <a:noFill/>
        </p:spPr>
        <p:txBody>
          <a:bodyPr wrap="none" lIns="0" rIns="0" tIns="0" bIns="0" anchor="ctr">
            <a:spAutoFit/>
          </a:bodyPr>
          <a:lstStyle/>
          <a:p>
            <a:pPr algn="ctr"/>
            <a:r>
              <a:rPr sz="6071">
                <a:solidFill>
                  <a:srgbClr val="76B900"/>
                </a:solidFill>
                <a:latin typeface="Segoe Fluent Icons"/>
              </a:rPr>
              <a:t></a:t>
            </a:r>
          </a:p>
        </p:txBody>
      </p:sp>
      <p:sp>
        <p:nvSpPr>
          <p:cNvPr id="9" name="Oval 8"/>
          <p:cNvSpPr/>
          <p:nvPr/>
        </p:nvSpPr>
        <p:spPr>
          <a:xfrm>
            <a:off x="6967728" y="3035808"/>
            <a:ext cx="694944" cy="694944"/>
          </a:xfrm>
          <a:prstGeom prst="ellipse">
            <a:avLst/>
          </a:prstGeom>
          <a:solidFill>
            <a:srgbClr val="141824"/>
          </a:solidFill>
          <a:ln w="19050">
            <a:solidFill>
              <a:srgbClr val="76B9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104888" y="3172968"/>
            <a:ext cx="420624" cy="420624"/>
          </a:xfrm>
          <a:prstGeom prst="rect">
            <a:avLst/>
          </a:prstGeom>
          <a:noFill/>
        </p:spPr>
        <p:txBody>
          <a:bodyPr wrap="none" lIns="0" rIns="0" tIns="0" bIns="0" anchor="ctr">
            <a:spAutoFit/>
          </a:bodyPr>
          <a:lstStyle/>
          <a:p>
            <a:pPr algn="ctr"/>
            <a:r>
              <a:rPr sz="2053">
                <a:solidFill>
                  <a:srgbClr val="76B900"/>
                </a:solidFill>
                <a:latin typeface="Segoe Fluent Icons"/>
              </a:rPr>
              <a:t></a:t>
            </a:r>
          </a:p>
        </p:txBody>
      </p:sp>
      <p:sp>
        <p:nvSpPr>
          <p:cNvPr id="11" name="Oval 10"/>
          <p:cNvSpPr/>
          <p:nvPr/>
        </p:nvSpPr>
        <p:spPr>
          <a:xfrm>
            <a:off x="11265408" y="3035808"/>
            <a:ext cx="694944" cy="694944"/>
          </a:xfrm>
          <a:prstGeom prst="ellipse">
            <a:avLst/>
          </a:prstGeom>
          <a:solidFill>
            <a:srgbClr val="141824"/>
          </a:solidFill>
          <a:ln w="19050">
            <a:solidFill>
              <a:srgbClr val="3DA9F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1402568" y="3172968"/>
            <a:ext cx="420624" cy="420624"/>
          </a:xfrm>
          <a:prstGeom prst="rect">
            <a:avLst/>
          </a:prstGeom>
          <a:noFill/>
        </p:spPr>
        <p:txBody>
          <a:bodyPr wrap="none" lIns="0" rIns="0" tIns="0" bIns="0" anchor="ctr">
            <a:spAutoFit/>
          </a:bodyPr>
          <a:lstStyle/>
          <a:p>
            <a:pPr algn="ctr"/>
            <a:r>
              <a:rPr sz="2053">
                <a:solidFill>
                  <a:srgbClr val="3DA9FC"/>
                </a:solidFill>
                <a:latin typeface="Segoe Fluent Icons"/>
              </a:rPr>
              <a:t></a:t>
            </a:r>
          </a:p>
        </p:txBody>
      </p:sp>
      <p:sp>
        <p:nvSpPr>
          <p:cNvPr id="13" name="Oval 12"/>
          <p:cNvSpPr/>
          <p:nvPr/>
        </p:nvSpPr>
        <p:spPr>
          <a:xfrm>
            <a:off x="9116568" y="886968"/>
            <a:ext cx="694944" cy="694944"/>
          </a:xfrm>
          <a:prstGeom prst="ellipse">
            <a:avLst/>
          </a:prstGeom>
          <a:solidFill>
            <a:srgbClr val="141824"/>
          </a:solidFill>
          <a:ln w="19050">
            <a:solidFill>
              <a:srgbClr val="9B6B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253728" y="1024128"/>
            <a:ext cx="420624" cy="420624"/>
          </a:xfrm>
          <a:prstGeom prst="rect">
            <a:avLst/>
          </a:prstGeom>
          <a:noFill/>
        </p:spPr>
        <p:txBody>
          <a:bodyPr wrap="none" lIns="0" rIns="0" tIns="0" bIns="0" anchor="ctr">
            <a:spAutoFit/>
          </a:bodyPr>
          <a:lstStyle/>
          <a:p>
            <a:pPr algn="ctr"/>
            <a:r>
              <a:rPr sz="2053">
                <a:solidFill>
                  <a:srgbClr val="9B6BFF"/>
                </a:solidFill>
                <a:latin typeface="Segoe Fluent Icons"/>
              </a:rPr>
              <a:t></a:t>
            </a:r>
          </a:p>
        </p:txBody>
      </p:sp>
      <p:sp>
        <p:nvSpPr>
          <p:cNvPr id="15" name="Oval 14"/>
          <p:cNvSpPr/>
          <p:nvPr/>
        </p:nvSpPr>
        <p:spPr>
          <a:xfrm>
            <a:off x="9116568" y="5184648"/>
            <a:ext cx="694944" cy="694944"/>
          </a:xfrm>
          <a:prstGeom prst="ellipse">
            <a:avLst/>
          </a:prstGeom>
          <a:solidFill>
            <a:srgbClr val="141824"/>
          </a:solidFill>
          <a:ln w="19050">
            <a:solidFill>
              <a:srgbClr val="FFB54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253728" y="5321808"/>
            <a:ext cx="420624" cy="420624"/>
          </a:xfrm>
          <a:prstGeom prst="rect">
            <a:avLst/>
          </a:prstGeom>
          <a:noFill/>
        </p:spPr>
        <p:txBody>
          <a:bodyPr wrap="none" lIns="0" rIns="0" tIns="0" bIns="0" anchor="ctr">
            <a:spAutoFit/>
          </a:bodyPr>
          <a:lstStyle/>
          <a:p>
            <a:pPr algn="ctr"/>
            <a:r>
              <a:rPr sz="2053">
                <a:solidFill>
                  <a:srgbClr val="FFB547"/>
                </a:solidFill>
                <a:latin typeface="Segoe Fluent Icons"/>
              </a:rPr>
              <a:t></a:t>
            </a:r>
          </a:p>
        </p:txBody>
      </p:sp>
      <p:sp>
        <p:nvSpPr>
          <p:cNvPr id="17" name="TextBox 16"/>
          <p:cNvSpPr txBox="1"/>
          <p:nvPr/>
        </p:nvSpPr>
        <p:spPr>
          <a:xfrm>
            <a:off x="640080" y="1691640"/>
            <a:ext cx="6766560" cy="411480"/>
          </a:xfrm>
          <a:prstGeom prst="rect">
            <a:avLst/>
          </a:prstGeom>
          <a:noFill/>
        </p:spPr>
        <p:txBody>
          <a:bodyPr wrap="square" lIns="0" rIns="0" tIns="0" bIns="0" anchor="t">
            <a:noAutofit/>
          </a:bodyPr>
          <a:lstStyle/>
          <a:p>
            <a:pPr algn="l"/>
            <a:r>
              <a:rPr sz="1500" i="0">
                <a:solidFill>
                  <a:srgbClr val="76B900"/>
                </a:solidFill>
                <a:latin typeface="Segoe UI Semibold"/>
              </a:rPr>
              <a:t>ZAVA ENGINEERING</a:t>
            </a:r>
          </a:p>
        </p:txBody>
      </p:sp>
      <p:sp>
        <p:nvSpPr>
          <p:cNvPr id="18" name="TextBox 17"/>
          <p:cNvSpPr txBox="1"/>
          <p:nvPr/>
        </p:nvSpPr>
        <p:spPr>
          <a:xfrm>
            <a:off x="640080" y="2148840"/>
            <a:ext cx="6400800" cy="2194560"/>
          </a:xfrm>
          <a:prstGeom prst="rect">
            <a:avLst/>
          </a:prstGeom>
          <a:noFill/>
        </p:spPr>
        <p:txBody>
          <a:bodyPr wrap="square" lIns="0" rIns="0" tIns="0" bIns="0" anchor="t">
            <a:noAutofit/>
          </a:bodyPr>
          <a:lstStyle/>
          <a:p>
            <a:pPr algn="l"/>
            <a:r>
              <a:rPr sz="5000" i="0">
                <a:solidFill>
                  <a:srgbClr val="F4F6FA"/>
                </a:solidFill>
                <a:latin typeface="Segoe UI Semibold"/>
              </a:rPr>
              <a:t>Local AI, Built On This Device</a:t>
            </a:r>
          </a:p>
        </p:txBody>
      </p:sp>
      <p:sp>
        <p:nvSpPr>
          <p:cNvPr id="19" name="TextBox 18"/>
          <p:cNvSpPr txBox="1"/>
          <p:nvPr/>
        </p:nvSpPr>
        <p:spPr>
          <a:xfrm>
            <a:off x="640080" y="4434840"/>
            <a:ext cx="6583680" cy="914400"/>
          </a:xfrm>
          <a:prstGeom prst="rect">
            <a:avLst/>
          </a:prstGeom>
          <a:noFill/>
        </p:spPr>
        <p:txBody>
          <a:bodyPr wrap="square" lIns="0" rIns="0" tIns="0" bIns="0" anchor="t">
            <a:noAutofit/>
          </a:bodyPr>
          <a:lstStyle/>
          <a:p>
            <a:pPr algn="l"/>
            <a:r>
              <a:rPr sz="2000" i="0">
                <a:solidFill>
                  <a:srgbClr val="AEB6C8"/>
                </a:solidFill>
                <a:latin typeface="Segoe UI"/>
              </a:rPr>
              <a:t>Surface Laptop Ultra with NVIDIA RTX Spark</a:t>
            </a:r>
          </a:p>
        </p:txBody>
      </p:sp>
      <p:sp>
        <p:nvSpPr>
          <p:cNvPr id="20" name="TextBox 19"/>
          <p:cNvSpPr txBox="1"/>
          <p:nvPr/>
        </p:nvSpPr>
        <p:spPr>
          <a:xfrm>
            <a:off x="640080" y="6035040"/>
            <a:ext cx="6400800" cy="320040"/>
          </a:xfrm>
          <a:prstGeom prst="rect">
            <a:avLst/>
          </a:prstGeom>
          <a:noFill/>
        </p:spPr>
        <p:txBody>
          <a:bodyPr wrap="square" lIns="0" rIns="0" tIns="0" bIns="0" anchor="t">
            <a:noAutofit/>
          </a:bodyPr>
          <a:lstStyle/>
          <a:p>
            <a:pPr algn="l"/>
            <a:r>
              <a:rPr sz="1200" i="0">
                <a:solidFill>
                  <a:srgbClr val="6F7890"/>
                </a:solidFill>
                <a:latin typeface="Segoe UI"/>
              </a:rPr>
              <a:t>Surface Laptop Ultra  |  NVIDIA RTX Spark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gradFill rotWithShape="1">
          <a:gsLst>
            <a:gs pos="0">
              <a:srgbClr val="07080C"/>
            </a:gs>
            <a:gs pos="100000">
              <a:srgbClr val="121521"/>
            </a:gs>
          </a:gsLst>
          <a:lin scaled="0" ang="13500000"/>
        </a:gradFill>
        <a:effectLst/>
      </p:bgPr>
    </p:bg>
    <p:spTree>
      <p:nvGrpSpPr>
        <p:cNvPr id="1" name=""/>
        <p:cNvGrpSpPr/>
        <p:nvPr/>
      </p:nvGrpSpPr>
      <p:grpSpPr/>
      <p:sp>
        <p:nvSpPr>
          <p:cNvPr id="2" name="Oval 1"/>
          <p:cNvSpPr/>
          <p:nvPr/>
        </p:nvSpPr>
        <p:spPr>
          <a:xfrm>
            <a:off x="8961120" y="-2743200"/>
            <a:ext cx="6400800" cy="6400800"/>
          </a:xfrm>
          <a:prstGeom prst="ellipse">
            <a:avLst/>
          </a:prstGeom>
          <a:solidFill>
            <a:srgbClr val="76B900">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0241280" y="-1371600"/>
            <a:ext cx="4114800" cy="4114800"/>
          </a:xfrm>
          <a:prstGeom prst="ellipse">
            <a:avLst/>
          </a:prstGeom>
          <a:solidFill>
            <a:srgbClr val="3DA9FC">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292608"/>
            <a:ext cx="685800" cy="54864"/>
          </a:xfrm>
          <a:prstGeom prst="rect">
            <a:avLst/>
          </a:prstGeom>
          <a:solidFill>
            <a:srgbClr val="76B900"/>
          </a:solidFill>
          <a:ln>
            <a:noFill/>
          </a:ln>
          <a:effectLst>
            <a:glow rad="76200">
              <a:srgbClr val="76B900">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F4F6FA"/>
                </a:solidFill>
                <a:latin typeface="Segoe UI Semibold"/>
              </a:rPr>
              <a:t>Hardware Meets Native Developer Runtimes</a:t>
            </a:r>
          </a:p>
        </p:txBody>
      </p:sp>
      <p:sp>
        <p:nvSpPr>
          <p:cNvPr id="6" name="TextBox 5"/>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AEB6C8"/>
                </a:solidFill>
                <a:latin typeface="Segoe UI"/>
              </a:rPr>
              <a:t>Native CUDA runtimes connect developer workflows to a substantial local model catalog.</a:t>
            </a:r>
          </a:p>
        </p:txBody>
      </p:sp>
      <p:sp>
        <p:nvSpPr>
          <p:cNvPr id="7" name="TextBox 6"/>
          <p:cNvSpPr txBox="1"/>
          <p:nvPr/>
        </p:nvSpPr>
        <p:spPr>
          <a:xfrm>
            <a:off x="548640" y="6419088"/>
            <a:ext cx="7315200" cy="274320"/>
          </a:xfrm>
          <a:prstGeom prst="rect">
            <a:avLst/>
          </a:prstGeom>
          <a:noFill/>
        </p:spPr>
        <p:txBody>
          <a:bodyPr wrap="square" lIns="0" rIns="0" tIns="0" bIns="0" anchor="t">
            <a:noAutofit/>
          </a:bodyPr>
          <a:lstStyle/>
          <a:p>
            <a:pPr algn="l"/>
            <a:r>
              <a:rPr sz="1000" i="0">
                <a:solidFill>
                  <a:srgbClr val="6F7890"/>
                </a:solidFill>
                <a:latin typeface="Segoe UI"/>
              </a:rPr>
              <a:t>Surface Laptop Ultra  |  NVIDIA RTX Spark  |  Zava</a:t>
            </a:r>
          </a:p>
        </p:txBody>
      </p:sp>
      <p:sp>
        <p:nvSpPr>
          <p:cNvPr id="8" name="TextBox 7"/>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6F7890"/>
                </a:solidFill>
                <a:latin typeface="Segoe UI"/>
              </a:rPr>
              <a:t>2</a:t>
            </a:r>
          </a:p>
        </p:txBody>
      </p:sp>
      <p:sp>
        <p:nvSpPr>
          <p:cNvPr id="9" name="Rounded Rectangle 8"/>
          <p:cNvSpPr/>
          <p:nvPr/>
        </p:nvSpPr>
        <p:spPr>
          <a:xfrm>
            <a:off x="548640" y="1888236"/>
            <a:ext cx="9262872" cy="960120"/>
          </a:xfrm>
          <a:prstGeom prst="roundRect">
            <a:avLst>
              <a:gd name="adj" fmla="val 13333"/>
            </a:avLst>
          </a:prstGeom>
          <a:solidFill>
            <a:srgbClr val="141824"/>
          </a:solidFill>
          <a:ln w="12700">
            <a:solidFill>
              <a:srgbClr val="4060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ounded Rectangle 9"/>
          <p:cNvSpPr/>
          <p:nvPr/>
        </p:nvSpPr>
        <p:spPr>
          <a:xfrm>
            <a:off x="640080" y="1979676"/>
            <a:ext cx="777240" cy="777240"/>
          </a:xfrm>
          <a:prstGeom prst="roundRect">
            <a:avLst>
              <a:gd name="adj" fmla="val 14117"/>
            </a:avLst>
          </a:prstGeom>
          <a:solidFill>
            <a:srgbClr val="76B900"/>
          </a:solidFill>
          <a:ln>
            <a:noFill/>
          </a:ln>
          <a:effectLst>
            <a:glow rad="101600">
              <a:srgbClr val="76B900">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9983" y="2119579"/>
            <a:ext cx="497434" cy="497434"/>
          </a:xfrm>
          <a:prstGeom prst="rect">
            <a:avLst/>
          </a:prstGeom>
          <a:noFill/>
        </p:spPr>
        <p:txBody>
          <a:bodyPr wrap="none" lIns="0" rIns="0" tIns="0" bIns="0" anchor="ctr">
            <a:spAutoFit/>
          </a:bodyPr>
          <a:lstStyle/>
          <a:p>
            <a:pPr algn="ctr"/>
            <a:r>
              <a:rPr sz="2428">
                <a:solidFill>
                  <a:srgbClr val="07080C"/>
                </a:solidFill>
                <a:latin typeface="Segoe Fluent Icons"/>
              </a:rPr>
              <a:t></a:t>
            </a:r>
          </a:p>
        </p:txBody>
      </p:sp>
      <p:sp>
        <p:nvSpPr>
          <p:cNvPr id="12" name="TextBox 11"/>
          <p:cNvSpPr txBox="1"/>
          <p:nvPr/>
        </p:nvSpPr>
        <p:spPr>
          <a:xfrm>
            <a:off x="1618488" y="1961388"/>
            <a:ext cx="3017520" cy="813816"/>
          </a:xfrm>
          <a:prstGeom prst="rect">
            <a:avLst/>
          </a:prstGeom>
          <a:noFill/>
        </p:spPr>
        <p:txBody>
          <a:bodyPr wrap="square" lIns="0" rIns="0" tIns="0" bIns="0" anchor="ctr">
            <a:noAutofit/>
          </a:bodyPr>
          <a:lstStyle/>
          <a:p>
            <a:pPr algn="l"/>
            <a:r>
              <a:rPr sz="2100" i="0">
                <a:solidFill>
                  <a:srgbClr val="F4F6FA"/>
                </a:solidFill>
                <a:latin typeface="Segoe UI Semibold"/>
              </a:rPr>
              <a:t>Developer workflows</a:t>
            </a:r>
          </a:p>
        </p:txBody>
      </p:sp>
      <p:sp>
        <p:nvSpPr>
          <p:cNvPr id="13" name="TextBox 12"/>
          <p:cNvSpPr txBox="1"/>
          <p:nvPr/>
        </p:nvSpPr>
        <p:spPr>
          <a:xfrm>
            <a:off x="4773168" y="1961388"/>
            <a:ext cx="4855464" cy="813816"/>
          </a:xfrm>
          <a:prstGeom prst="rect">
            <a:avLst/>
          </a:prstGeom>
          <a:noFill/>
        </p:spPr>
        <p:txBody>
          <a:bodyPr wrap="square" lIns="0" rIns="0" tIns="0" bIns="0" anchor="ctr">
            <a:noAutofit/>
          </a:bodyPr>
          <a:lstStyle/>
          <a:p>
            <a:pPr algn="l"/>
            <a:r>
              <a:rPr sz="1600" i="0">
                <a:solidFill>
                  <a:srgbClr val="AEB6C8"/>
                </a:solidFill>
                <a:latin typeface="Segoe UI"/>
              </a:rPr>
              <a:t>Code generation, internal RAG and hybrid routing</a:t>
            </a:r>
          </a:p>
        </p:txBody>
      </p:sp>
      <p:sp>
        <p:nvSpPr>
          <p:cNvPr id="14" name="Rounded Rectangle 13"/>
          <p:cNvSpPr/>
          <p:nvPr/>
        </p:nvSpPr>
        <p:spPr>
          <a:xfrm>
            <a:off x="548640" y="2976372"/>
            <a:ext cx="9262872" cy="960120"/>
          </a:xfrm>
          <a:prstGeom prst="roundRect">
            <a:avLst>
              <a:gd name="adj" fmla="val 13333"/>
            </a:avLst>
          </a:prstGeom>
          <a:solidFill>
            <a:srgbClr val="141824"/>
          </a:solidFill>
          <a:ln w="12700">
            <a:solidFill>
              <a:srgbClr val="26598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ounded Rectangle 14"/>
          <p:cNvSpPr/>
          <p:nvPr/>
        </p:nvSpPr>
        <p:spPr>
          <a:xfrm>
            <a:off x="640080" y="3067812"/>
            <a:ext cx="777240" cy="777240"/>
          </a:xfrm>
          <a:prstGeom prst="roundRect">
            <a:avLst>
              <a:gd name="adj" fmla="val 14117"/>
            </a:avLst>
          </a:prstGeom>
          <a:solidFill>
            <a:srgbClr val="3DA9FC"/>
          </a:solidFill>
          <a:ln>
            <a:noFill/>
          </a:ln>
          <a:effectLst>
            <a:glow rad="101600">
              <a:srgbClr val="3DA9FC">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79983" y="3207715"/>
            <a:ext cx="497434" cy="497434"/>
          </a:xfrm>
          <a:prstGeom prst="rect">
            <a:avLst/>
          </a:prstGeom>
          <a:noFill/>
        </p:spPr>
        <p:txBody>
          <a:bodyPr wrap="none" lIns="0" rIns="0" tIns="0" bIns="0" anchor="ctr">
            <a:spAutoFit/>
          </a:bodyPr>
          <a:lstStyle/>
          <a:p>
            <a:pPr algn="ctr"/>
            <a:r>
              <a:rPr sz="2428">
                <a:solidFill>
                  <a:srgbClr val="07080C"/>
                </a:solidFill>
                <a:latin typeface="Segoe Fluent Icons"/>
              </a:rPr>
              <a:t></a:t>
            </a:r>
          </a:p>
        </p:txBody>
      </p:sp>
      <p:sp>
        <p:nvSpPr>
          <p:cNvPr id="17" name="TextBox 16"/>
          <p:cNvSpPr txBox="1"/>
          <p:nvPr/>
        </p:nvSpPr>
        <p:spPr>
          <a:xfrm>
            <a:off x="1618488" y="3049524"/>
            <a:ext cx="3017520" cy="813816"/>
          </a:xfrm>
          <a:prstGeom prst="rect">
            <a:avLst/>
          </a:prstGeom>
          <a:noFill/>
        </p:spPr>
        <p:txBody>
          <a:bodyPr wrap="square" lIns="0" rIns="0" tIns="0" bIns="0" anchor="ctr">
            <a:noAutofit/>
          </a:bodyPr>
          <a:lstStyle/>
          <a:p>
            <a:pPr algn="l"/>
            <a:r>
              <a:rPr sz="2100" i="0">
                <a:solidFill>
                  <a:srgbClr val="F4F6FA"/>
                </a:solidFill>
                <a:latin typeface="Segoe UI Semibold"/>
              </a:rPr>
              <a:t>Local model catalog</a:t>
            </a:r>
          </a:p>
        </p:txBody>
      </p:sp>
      <p:sp>
        <p:nvSpPr>
          <p:cNvPr id="18" name="TextBox 17"/>
          <p:cNvSpPr txBox="1"/>
          <p:nvPr/>
        </p:nvSpPr>
        <p:spPr>
          <a:xfrm>
            <a:off x="4773168" y="3049524"/>
            <a:ext cx="4855464" cy="813816"/>
          </a:xfrm>
          <a:prstGeom prst="rect">
            <a:avLst/>
          </a:prstGeom>
          <a:noFill/>
        </p:spPr>
        <p:txBody>
          <a:bodyPr wrap="square" lIns="0" rIns="0" tIns="0" bIns="0" anchor="ctr">
            <a:noAutofit/>
          </a:bodyPr>
          <a:lstStyle/>
          <a:p>
            <a:pPr algn="l"/>
            <a:r>
              <a:rPr sz="1600" i="0">
                <a:solidFill>
                  <a:srgbClr val="AEB6C8"/>
                </a:solidFill>
                <a:latin typeface="Segoe UI"/>
              </a:rPr>
              <a:t>28 open models; 315 GiB on disk</a:t>
            </a:r>
          </a:p>
        </p:txBody>
      </p:sp>
      <p:sp>
        <p:nvSpPr>
          <p:cNvPr id="19" name="Rounded Rectangle 18"/>
          <p:cNvSpPr/>
          <p:nvPr/>
        </p:nvSpPr>
        <p:spPr>
          <a:xfrm>
            <a:off x="548640" y="4064508"/>
            <a:ext cx="9262872" cy="960120"/>
          </a:xfrm>
          <a:prstGeom prst="roundRect">
            <a:avLst>
              <a:gd name="adj" fmla="val 13333"/>
            </a:avLst>
          </a:prstGeom>
          <a:solidFill>
            <a:srgbClr val="141824"/>
          </a:solidFill>
          <a:ln w="12700">
            <a:solidFill>
              <a:srgbClr val="513D8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640080" y="4155948"/>
            <a:ext cx="777240" cy="777240"/>
          </a:xfrm>
          <a:prstGeom prst="roundRect">
            <a:avLst>
              <a:gd name="adj" fmla="val 14117"/>
            </a:avLst>
          </a:prstGeom>
          <a:solidFill>
            <a:srgbClr val="9B6BFF"/>
          </a:solidFill>
          <a:ln>
            <a:noFill/>
          </a:ln>
          <a:effectLst>
            <a:glow rad="101600">
              <a:srgbClr val="9B6BFF">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79983" y="4295851"/>
            <a:ext cx="497434" cy="497434"/>
          </a:xfrm>
          <a:prstGeom prst="rect">
            <a:avLst/>
          </a:prstGeom>
          <a:noFill/>
        </p:spPr>
        <p:txBody>
          <a:bodyPr wrap="none" lIns="0" rIns="0" tIns="0" bIns="0" anchor="ctr">
            <a:spAutoFit/>
          </a:bodyPr>
          <a:lstStyle/>
          <a:p>
            <a:pPr algn="ctr"/>
            <a:r>
              <a:rPr sz="2428">
                <a:solidFill>
                  <a:srgbClr val="07080C"/>
                </a:solidFill>
                <a:latin typeface="Segoe Fluent Icons"/>
              </a:rPr>
              <a:t></a:t>
            </a:r>
          </a:p>
        </p:txBody>
      </p:sp>
      <p:sp>
        <p:nvSpPr>
          <p:cNvPr id="22" name="TextBox 21"/>
          <p:cNvSpPr txBox="1"/>
          <p:nvPr/>
        </p:nvSpPr>
        <p:spPr>
          <a:xfrm>
            <a:off x="1618488" y="4137660"/>
            <a:ext cx="3017520" cy="813816"/>
          </a:xfrm>
          <a:prstGeom prst="rect">
            <a:avLst/>
          </a:prstGeom>
          <a:noFill/>
        </p:spPr>
        <p:txBody>
          <a:bodyPr wrap="square" lIns="0" rIns="0" tIns="0" bIns="0" anchor="ctr">
            <a:noAutofit/>
          </a:bodyPr>
          <a:lstStyle/>
          <a:p>
            <a:pPr algn="l"/>
            <a:r>
              <a:rPr sz="2100" i="0">
                <a:solidFill>
                  <a:srgbClr val="F4F6FA"/>
                </a:solidFill>
                <a:latin typeface="Segoe UI Semibold"/>
              </a:rPr>
              <a:t>Native CUDA runtimes</a:t>
            </a:r>
          </a:p>
        </p:txBody>
      </p:sp>
      <p:sp>
        <p:nvSpPr>
          <p:cNvPr id="23" name="TextBox 22"/>
          <p:cNvSpPr txBox="1"/>
          <p:nvPr/>
        </p:nvSpPr>
        <p:spPr>
          <a:xfrm>
            <a:off x="4773168" y="4137660"/>
            <a:ext cx="4855464" cy="813816"/>
          </a:xfrm>
          <a:prstGeom prst="rect">
            <a:avLst/>
          </a:prstGeom>
          <a:noFill/>
        </p:spPr>
        <p:txBody>
          <a:bodyPr wrap="square" lIns="0" rIns="0" tIns="0" bIns="0" anchor="ctr">
            <a:noAutofit/>
          </a:bodyPr>
          <a:lstStyle/>
          <a:p>
            <a:pPr algn="l"/>
            <a:r>
              <a:rPr sz="1600" i="0">
                <a:solidFill>
                  <a:srgbClr val="AEB6C8"/>
                </a:solidFill>
                <a:latin typeface="Segoe UI"/>
              </a:rPr>
              <a:t>llama.cpp ARM64 CUDA; Foundry Local CUDA execution provider</a:t>
            </a:r>
          </a:p>
        </p:txBody>
      </p:sp>
      <p:sp>
        <p:nvSpPr>
          <p:cNvPr id="24" name="Rounded Rectangle 23"/>
          <p:cNvSpPr/>
          <p:nvPr/>
        </p:nvSpPr>
        <p:spPr>
          <a:xfrm>
            <a:off x="548640" y="5152644"/>
            <a:ext cx="9262872" cy="960120"/>
          </a:xfrm>
          <a:prstGeom prst="roundRect">
            <a:avLst>
              <a:gd name="adj" fmla="val 13333"/>
            </a:avLst>
          </a:prstGeom>
          <a:solidFill>
            <a:srgbClr val="141824"/>
          </a:solidFill>
          <a:ln w="12700">
            <a:solidFill>
              <a:srgbClr val="7E5F3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640080" y="5244084"/>
            <a:ext cx="777240" cy="777240"/>
          </a:xfrm>
          <a:prstGeom prst="roundRect">
            <a:avLst>
              <a:gd name="adj" fmla="val 14117"/>
            </a:avLst>
          </a:prstGeom>
          <a:solidFill>
            <a:srgbClr val="FFB547"/>
          </a:solidFill>
          <a:ln>
            <a:noFill/>
          </a:ln>
          <a:effectLst>
            <a:glow rad="101600">
              <a:srgbClr val="FFB547">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79983" y="5383987"/>
            <a:ext cx="497434" cy="497434"/>
          </a:xfrm>
          <a:prstGeom prst="rect">
            <a:avLst/>
          </a:prstGeom>
          <a:noFill/>
        </p:spPr>
        <p:txBody>
          <a:bodyPr wrap="none" lIns="0" rIns="0" tIns="0" bIns="0" anchor="ctr">
            <a:spAutoFit/>
          </a:bodyPr>
          <a:lstStyle/>
          <a:p>
            <a:pPr algn="ctr"/>
            <a:r>
              <a:rPr sz="2428">
                <a:solidFill>
                  <a:srgbClr val="07080C"/>
                </a:solidFill>
                <a:latin typeface="Segoe Fluent Icons"/>
              </a:rPr>
              <a:t></a:t>
            </a:r>
          </a:p>
        </p:txBody>
      </p:sp>
      <p:sp>
        <p:nvSpPr>
          <p:cNvPr id="27" name="TextBox 26"/>
          <p:cNvSpPr txBox="1"/>
          <p:nvPr/>
        </p:nvSpPr>
        <p:spPr>
          <a:xfrm>
            <a:off x="1618488" y="5225796"/>
            <a:ext cx="3017520" cy="813816"/>
          </a:xfrm>
          <a:prstGeom prst="rect">
            <a:avLst/>
          </a:prstGeom>
          <a:noFill/>
        </p:spPr>
        <p:txBody>
          <a:bodyPr wrap="square" lIns="0" rIns="0" tIns="0" bIns="0" anchor="ctr">
            <a:noAutofit/>
          </a:bodyPr>
          <a:lstStyle/>
          <a:p>
            <a:pPr algn="l"/>
            <a:r>
              <a:rPr sz="2100" i="0">
                <a:solidFill>
                  <a:srgbClr val="F4F6FA"/>
                </a:solidFill>
                <a:latin typeface="Segoe UI Semibold"/>
              </a:rPr>
              <a:t>RTX Spark N1X</a:t>
            </a:r>
          </a:p>
        </p:txBody>
      </p:sp>
      <p:sp>
        <p:nvSpPr>
          <p:cNvPr id="28" name="TextBox 27"/>
          <p:cNvSpPr txBox="1"/>
          <p:nvPr/>
        </p:nvSpPr>
        <p:spPr>
          <a:xfrm>
            <a:off x="4773168" y="5225796"/>
            <a:ext cx="4855464" cy="813816"/>
          </a:xfrm>
          <a:prstGeom prst="rect">
            <a:avLst/>
          </a:prstGeom>
          <a:noFill/>
        </p:spPr>
        <p:txBody>
          <a:bodyPr wrap="square" lIns="0" rIns="0" tIns="0" bIns="0" anchor="ctr">
            <a:noAutofit/>
          </a:bodyPr>
          <a:lstStyle/>
          <a:p>
            <a:pPr algn="l"/>
            <a:r>
              <a:rPr sz="1600" i="0">
                <a:solidFill>
                  <a:srgbClr val="AEB6C8"/>
                </a:solidFill>
                <a:latin typeface="Segoe UI"/>
              </a:rPr>
              <a:t>Blackwell RTX GPU; 20 CPU cores</a:t>
            </a:r>
          </a:p>
        </p:txBody>
      </p:sp>
      <p:sp>
        <p:nvSpPr>
          <p:cNvPr id="29" name="Rectangle 28"/>
          <p:cNvSpPr/>
          <p:nvPr/>
        </p:nvSpPr>
        <p:spPr>
          <a:xfrm>
            <a:off x="10085832" y="1888236"/>
            <a:ext cx="73152" cy="4224528"/>
          </a:xfrm>
          <a:prstGeom prst="rect">
            <a:avLst/>
          </a:prstGeom>
          <a:solidFill>
            <a:srgbClr val="76B900"/>
          </a:solidFill>
          <a:ln>
            <a:noFill/>
          </a:ln>
          <a:effectLst>
            <a:glow rad="127000">
              <a:srgbClr val="76B900">
                <a:alpha val="5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ounded Rectangle 29"/>
          <p:cNvSpPr/>
          <p:nvPr/>
        </p:nvSpPr>
        <p:spPr>
          <a:xfrm>
            <a:off x="10314432" y="3314700"/>
            <a:ext cx="1325880" cy="1371600"/>
          </a:xfrm>
          <a:prstGeom prst="roundRect">
            <a:avLst>
              <a:gd name="adj" fmla="val 9655"/>
            </a:avLst>
          </a:prstGeom>
          <a:solidFill>
            <a:srgbClr val="233409"/>
          </a:solidFill>
          <a:ln w="15875">
            <a:solidFill>
              <a:srgbClr val="76B9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10387584" y="3360420"/>
            <a:ext cx="1179576" cy="1280160"/>
          </a:xfrm>
          <a:prstGeom prst="rect">
            <a:avLst/>
          </a:prstGeom>
          <a:noFill/>
        </p:spPr>
        <p:txBody>
          <a:bodyPr wrap="square" lIns="0" rIns="0" tIns="0" bIns="0" anchor="ctr">
            <a:noAutofit/>
          </a:bodyPr>
          <a:lstStyle/>
          <a:p>
            <a:pPr algn="ctr"/>
            <a:r>
              <a:rPr sz="1700" i="0">
                <a:solidFill>
                  <a:srgbClr val="F4F6FA"/>
                </a:solidFill>
                <a:latin typeface="Segoe UI Semibold"/>
              </a:rPr>
              <a:t>Developer to silicon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gradFill rotWithShape="1">
          <a:gsLst>
            <a:gs pos="0">
              <a:srgbClr val="07080C"/>
            </a:gs>
            <a:gs pos="100000">
              <a:srgbClr val="121521"/>
            </a:gs>
          </a:gsLst>
          <a:lin scaled="0" ang="13500000"/>
        </a:gradFill>
        <a:effectLst/>
      </p:bgPr>
    </p:bg>
    <p:spTree>
      <p:nvGrpSpPr>
        <p:cNvPr id="1" name=""/>
        <p:cNvGrpSpPr/>
        <p:nvPr/>
      </p:nvGrpSpPr>
      <p:grpSpPr/>
      <p:sp>
        <p:nvSpPr>
          <p:cNvPr id="2" name="Oval 1"/>
          <p:cNvSpPr/>
          <p:nvPr/>
        </p:nvSpPr>
        <p:spPr>
          <a:xfrm>
            <a:off x="8961120" y="-2743200"/>
            <a:ext cx="6400800" cy="6400800"/>
          </a:xfrm>
          <a:prstGeom prst="ellipse">
            <a:avLst/>
          </a:prstGeom>
          <a:solidFill>
            <a:srgbClr val="76B900">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0241280" y="-1371600"/>
            <a:ext cx="4114800" cy="4114800"/>
          </a:xfrm>
          <a:prstGeom prst="ellipse">
            <a:avLst/>
          </a:prstGeom>
          <a:solidFill>
            <a:srgbClr val="3DA9FC">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292608"/>
            <a:ext cx="685800" cy="54864"/>
          </a:xfrm>
          <a:prstGeom prst="rect">
            <a:avLst/>
          </a:prstGeom>
          <a:solidFill>
            <a:srgbClr val="76B900"/>
          </a:solidFill>
          <a:ln>
            <a:noFill/>
          </a:ln>
          <a:effectLst>
            <a:glow rad="76200">
              <a:srgbClr val="76B900">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F4F6FA"/>
                </a:solidFill>
                <a:latin typeface="Segoe UI Semibold"/>
              </a:rPr>
              <a:t>Memory Views Are Not Additive</a:t>
            </a:r>
          </a:p>
        </p:txBody>
      </p:sp>
      <p:sp>
        <p:nvSpPr>
          <p:cNvPr id="6" name="TextBox 5"/>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AEB6C8"/>
                </a:solidFill>
                <a:latin typeface="Segoe UI"/>
              </a:rPr>
              <a:t>Installed memory, Windows visibility and GPU budget are distinct views, not extra pools.</a:t>
            </a:r>
          </a:p>
        </p:txBody>
      </p:sp>
      <p:sp>
        <p:nvSpPr>
          <p:cNvPr id="7" name="TextBox 6"/>
          <p:cNvSpPr txBox="1"/>
          <p:nvPr/>
        </p:nvSpPr>
        <p:spPr>
          <a:xfrm>
            <a:off x="548640" y="6419088"/>
            <a:ext cx="7315200" cy="274320"/>
          </a:xfrm>
          <a:prstGeom prst="rect">
            <a:avLst/>
          </a:prstGeom>
          <a:noFill/>
        </p:spPr>
        <p:txBody>
          <a:bodyPr wrap="square" lIns="0" rIns="0" tIns="0" bIns="0" anchor="t">
            <a:noAutofit/>
          </a:bodyPr>
          <a:lstStyle/>
          <a:p>
            <a:pPr algn="l"/>
            <a:r>
              <a:rPr sz="1000" i="0">
                <a:solidFill>
                  <a:srgbClr val="6F7890"/>
                </a:solidFill>
                <a:latin typeface="Segoe UI"/>
              </a:rPr>
              <a:t>Surface Laptop Ultra  |  NVIDIA RTX Spark  |  Zava</a:t>
            </a:r>
          </a:p>
        </p:txBody>
      </p:sp>
      <p:sp>
        <p:nvSpPr>
          <p:cNvPr id="8" name="TextBox 7"/>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6F7890"/>
                </a:solidFill>
                <a:latin typeface="Segoe UI"/>
              </a:rPr>
              <a:t>3</a:t>
            </a:r>
          </a:p>
        </p:txBody>
      </p:sp>
      <p:sp>
        <p:nvSpPr>
          <p:cNvPr id="9" name="Rounded Rectangle 8"/>
          <p:cNvSpPr/>
          <p:nvPr/>
        </p:nvSpPr>
        <p:spPr>
          <a:xfrm>
            <a:off x="548640" y="2217420"/>
            <a:ext cx="3483864" cy="3566160"/>
          </a:xfrm>
          <a:prstGeom prst="roundRect">
            <a:avLst>
              <a:gd name="adj" fmla="val 3674"/>
            </a:avLst>
          </a:prstGeom>
          <a:solidFill>
            <a:srgbClr val="141824"/>
          </a:solidFill>
          <a:ln w="12700">
            <a:solidFill>
              <a:srgbClr val="45681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48640" y="2217420"/>
            <a:ext cx="3483864" cy="82296"/>
          </a:xfrm>
          <a:prstGeom prst="rect">
            <a:avLst/>
          </a:prstGeom>
          <a:solidFill>
            <a:srgbClr val="76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832104" y="2546604"/>
            <a:ext cx="713232" cy="713232"/>
          </a:xfrm>
          <a:prstGeom prst="ellipse">
            <a:avLst/>
          </a:prstGeom>
          <a:solidFill>
            <a:srgbClr val="76B900"/>
          </a:solidFill>
          <a:ln>
            <a:noFill/>
          </a:ln>
          <a:effectLst>
            <a:glow rad="101600">
              <a:srgbClr val="76B900">
                <a:alpha val="4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31956" y="2646456"/>
            <a:ext cx="513527" cy="513527"/>
          </a:xfrm>
          <a:prstGeom prst="rect">
            <a:avLst/>
          </a:prstGeom>
          <a:noFill/>
        </p:spPr>
        <p:txBody>
          <a:bodyPr wrap="none" lIns="0" rIns="0" tIns="0" bIns="0" anchor="ctr">
            <a:spAutoFit/>
          </a:bodyPr>
          <a:lstStyle/>
          <a:p>
            <a:pPr algn="ctr"/>
            <a:r>
              <a:rPr sz="2506">
                <a:solidFill>
                  <a:srgbClr val="07080C"/>
                </a:solidFill>
                <a:latin typeface="Segoe Fluent Icons"/>
              </a:rPr>
              <a:t></a:t>
            </a:r>
          </a:p>
        </p:txBody>
      </p:sp>
      <p:sp>
        <p:nvSpPr>
          <p:cNvPr id="13" name="TextBox 12"/>
          <p:cNvSpPr txBox="1"/>
          <p:nvPr/>
        </p:nvSpPr>
        <p:spPr>
          <a:xfrm>
            <a:off x="822960" y="3406140"/>
            <a:ext cx="2935224" cy="1234440"/>
          </a:xfrm>
          <a:prstGeom prst="rect">
            <a:avLst/>
          </a:prstGeom>
          <a:noFill/>
        </p:spPr>
        <p:txBody>
          <a:bodyPr wrap="square" lIns="0" rIns="0" tIns="0" bIns="0" anchor="ctr">
            <a:noAutofit/>
          </a:bodyPr>
          <a:lstStyle/>
          <a:p>
            <a:pPr algn="l"/>
            <a:r>
              <a:rPr sz="6000" i="0">
                <a:solidFill>
                  <a:srgbClr val="76B900"/>
                </a:solidFill>
                <a:latin typeface="Segoe UI Black"/>
              </a:rPr>
              <a:t>128 GB</a:t>
            </a:r>
          </a:p>
        </p:txBody>
      </p:sp>
      <p:sp>
        <p:nvSpPr>
          <p:cNvPr id="14" name="TextBox 13"/>
          <p:cNvSpPr txBox="1"/>
          <p:nvPr/>
        </p:nvSpPr>
        <p:spPr>
          <a:xfrm>
            <a:off x="822960" y="4640580"/>
            <a:ext cx="2935224" cy="731520"/>
          </a:xfrm>
          <a:prstGeom prst="rect">
            <a:avLst/>
          </a:prstGeom>
          <a:noFill/>
        </p:spPr>
        <p:txBody>
          <a:bodyPr wrap="square" lIns="0" rIns="0" tIns="0" bIns="0" anchor="t">
            <a:noAutofit/>
          </a:bodyPr>
          <a:lstStyle/>
          <a:p>
            <a:pPr algn="l"/>
            <a:r>
              <a:rPr sz="1700" i="0">
                <a:solidFill>
                  <a:srgbClr val="F4F6FA"/>
                </a:solidFill>
                <a:latin typeface="Segoe UI"/>
              </a:rPr>
              <a:t>Installed memory</a:t>
            </a:r>
          </a:p>
        </p:txBody>
      </p:sp>
      <p:sp>
        <p:nvSpPr>
          <p:cNvPr id="15" name="TextBox 14"/>
          <p:cNvSpPr txBox="1"/>
          <p:nvPr/>
        </p:nvSpPr>
        <p:spPr>
          <a:xfrm>
            <a:off x="822960" y="5372100"/>
            <a:ext cx="2935224" cy="320040"/>
          </a:xfrm>
          <a:prstGeom prst="rect">
            <a:avLst/>
          </a:prstGeom>
          <a:noFill/>
        </p:spPr>
        <p:txBody>
          <a:bodyPr wrap="square" lIns="0" rIns="0" tIns="0" bIns="0" anchor="t">
            <a:noAutofit/>
          </a:bodyPr>
          <a:lstStyle/>
          <a:p>
            <a:pPr algn="l"/>
            <a:r>
              <a:rPr sz="1000" i="0">
                <a:solidFill>
                  <a:srgbClr val="6F7890"/>
                </a:solidFill>
                <a:latin typeface="Segoe UI"/>
              </a:rPr>
              <a:t>Brief: installed memory</a:t>
            </a:r>
          </a:p>
        </p:txBody>
      </p:sp>
      <p:sp>
        <p:nvSpPr>
          <p:cNvPr id="16" name="Rounded Rectangle 15"/>
          <p:cNvSpPr/>
          <p:nvPr/>
        </p:nvSpPr>
        <p:spPr>
          <a:xfrm>
            <a:off x="4352544" y="2217420"/>
            <a:ext cx="3483864" cy="3566160"/>
          </a:xfrm>
          <a:prstGeom prst="roundRect">
            <a:avLst>
              <a:gd name="adj" fmla="val 3674"/>
            </a:avLst>
          </a:prstGeom>
          <a:solidFill>
            <a:srgbClr val="141824"/>
          </a:solidFill>
          <a:ln w="12700">
            <a:solidFill>
              <a:srgbClr val="28609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4352544" y="2217420"/>
            <a:ext cx="3483864" cy="82296"/>
          </a:xfrm>
          <a:prstGeom prst="rect">
            <a:avLst/>
          </a:prstGeom>
          <a:solidFill>
            <a:srgbClr val="3DA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4636008" y="2546604"/>
            <a:ext cx="713232" cy="713232"/>
          </a:xfrm>
          <a:prstGeom prst="ellipse">
            <a:avLst/>
          </a:prstGeom>
          <a:solidFill>
            <a:srgbClr val="3DA9FC"/>
          </a:solidFill>
          <a:ln>
            <a:noFill/>
          </a:ln>
          <a:effectLst>
            <a:glow rad="101600">
              <a:srgbClr val="3DA9FC">
                <a:alpha val="4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735860" y="2646456"/>
            <a:ext cx="513527" cy="513527"/>
          </a:xfrm>
          <a:prstGeom prst="rect">
            <a:avLst/>
          </a:prstGeom>
          <a:noFill/>
        </p:spPr>
        <p:txBody>
          <a:bodyPr wrap="none" lIns="0" rIns="0" tIns="0" bIns="0" anchor="ctr">
            <a:spAutoFit/>
          </a:bodyPr>
          <a:lstStyle/>
          <a:p>
            <a:pPr algn="ctr"/>
            <a:r>
              <a:rPr sz="2506">
                <a:solidFill>
                  <a:srgbClr val="07080C"/>
                </a:solidFill>
                <a:latin typeface="Segoe Fluent Icons"/>
              </a:rPr>
              <a:t></a:t>
            </a:r>
          </a:p>
        </p:txBody>
      </p:sp>
      <p:sp>
        <p:nvSpPr>
          <p:cNvPr id="20" name="TextBox 19"/>
          <p:cNvSpPr txBox="1"/>
          <p:nvPr/>
        </p:nvSpPr>
        <p:spPr>
          <a:xfrm>
            <a:off x="4626864" y="3406140"/>
            <a:ext cx="2935224" cy="1234440"/>
          </a:xfrm>
          <a:prstGeom prst="rect">
            <a:avLst/>
          </a:prstGeom>
          <a:noFill/>
        </p:spPr>
        <p:txBody>
          <a:bodyPr wrap="square" lIns="0" rIns="0" tIns="0" bIns="0" anchor="ctr">
            <a:noAutofit/>
          </a:bodyPr>
          <a:lstStyle/>
          <a:p>
            <a:pPr algn="l"/>
            <a:r>
              <a:rPr sz="3700" i="0">
                <a:solidFill>
                  <a:srgbClr val="3DA9FC"/>
                </a:solidFill>
                <a:latin typeface="Segoe UI Black"/>
              </a:rPr>
              <a:t>About 64 GB</a:t>
            </a:r>
          </a:p>
        </p:txBody>
      </p:sp>
      <p:sp>
        <p:nvSpPr>
          <p:cNvPr id="21" name="TextBox 20"/>
          <p:cNvSpPr txBox="1"/>
          <p:nvPr/>
        </p:nvSpPr>
        <p:spPr>
          <a:xfrm>
            <a:off x="4626864" y="4640580"/>
            <a:ext cx="2935224" cy="731520"/>
          </a:xfrm>
          <a:prstGeom prst="rect">
            <a:avLst/>
          </a:prstGeom>
          <a:noFill/>
        </p:spPr>
        <p:txBody>
          <a:bodyPr wrap="square" lIns="0" rIns="0" tIns="0" bIns="0" anchor="t">
            <a:noAutofit/>
          </a:bodyPr>
          <a:lstStyle/>
          <a:p>
            <a:pPr algn="l"/>
            <a:r>
              <a:rPr sz="1700" i="0">
                <a:solidFill>
                  <a:srgbClr val="F4F6FA"/>
                </a:solidFill>
                <a:latin typeface="Segoe UI"/>
              </a:rPr>
              <a:t>Windows visible</a:t>
            </a:r>
          </a:p>
        </p:txBody>
      </p:sp>
      <p:sp>
        <p:nvSpPr>
          <p:cNvPr id="22" name="TextBox 21"/>
          <p:cNvSpPr txBox="1"/>
          <p:nvPr/>
        </p:nvSpPr>
        <p:spPr>
          <a:xfrm>
            <a:off x="4626864" y="5372100"/>
            <a:ext cx="2935224" cy="320040"/>
          </a:xfrm>
          <a:prstGeom prst="rect">
            <a:avLst/>
          </a:prstGeom>
          <a:noFill/>
        </p:spPr>
        <p:txBody>
          <a:bodyPr wrap="square" lIns="0" rIns="0" tIns="0" bIns="0" anchor="t">
            <a:noAutofit/>
          </a:bodyPr>
          <a:lstStyle/>
          <a:p>
            <a:pPr algn="l"/>
            <a:r>
              <a:rPr sz="1000" i="0">
                <a:solidFill>
                  <a:srgbClr val="6F7890"/>
                </a:solidFill>
                <a:latin typeface="Segoe UI"/>
              </a:rPr>
              <a:t>Brief: Windows visibility</a:t>
            </a:r>
          </a:p>
        </p:txBody>
      </p:sp>
      <p:sp>
        <p:nvSpPr>
          <p:cNvPr id="23" name="Rounded Rectangle 22"/>
          <p:cNvSpPr/>
          <p:nvPr/>
        </p:nvSpPr>
        <p:spPr>
          <a:xfrm>
            <a:off x="8156448" y="2217420"/>
            <a:ext cx="3483864" cy="3566160"/>
          </a:xfrm>
          <a:prstGeom prst="roundRect">
            <a:avLst>
              <a:gd name="adj" fmla="val 3674"/>
            </a:avLst>
          </a:prstGeom>
          <a:solidFill>
            <a:srgbClr val="141824"/>
          </a:solidFill>
          <a:ln w="12700">
            <a:solidFill>
              <a:srgbClr val="58429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8156448" y="2217420"/>
            <a:ext cx="3483864" cy="82296"/>
          </a:xfrm>
          <a:prstGeom prst="rect">
            <a:avLst/>
          </a:prstGeom>
          <a:solidFill>
            <a:srgbClr val="9B6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8439912" y="2546604"/>
            <a:ext cx="713232" cy="713232"/>
          </a:xfrm>
          <a:prstGeom prst="ellipse">
            <a:avLst/>
          </a:prstGeom>
          <a:solidFill>
            <a:srgbClr val="9B6BFF"/>
          </a:solidFill>
          <a:ln>
            <a:noFill/>
          </a:ln>
          <a:effectLst>
            <a:glow rad="101600">
              <a:srgbClr val="9B6BFF">
                <a:alpha val="4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539764" y="2646456"/>
            <a:ext cx="513527" cy="513527"/>
          </a:xfrm>
          <a:prstGeom prst="rect">
            <a:avLst/>
          </a:prstGeom>
          <a:noFill/>
        </p:spPr>
        <p:txBody>
          <a:bodyPr wrap="none" lIns="0" rIns="0" tIns="0" bIns="0" anchor="ctr">
            <a:spAutoFit/>
          </a:bodyPr>
          <a:lstStyle/>
          <a:p>
            <a:pPr algn="ctr"/>
            <a:r>
              <a:rPr sz="2506">
                <a:solidFill>
                  <a:srgbClr val="07080C"/>
                </a:solidFill>
                <a:latin typeface="Segoe Fluent Icons"/>
              </a:rPr>
              <a:t></a:t>
            </a:r>
          </a:p>
        </p:txBody>
      </p:sp>
      <p:sp>
        <p:nvSpPr>
          <p:cNvPr id="27" name="TextBox 26"/>
          <p:cNvSpPr txBox="1"/>
          <p:nvPr/>
        </p:nvSpPr>
        <p:spPr>
          <a:xfrm>
            <a:off x="8430768" y="3406140"/>
            <a:ext cx="2935224" cy="1234440"/>
          </a:xfrm>
          <a:prstGeom prst="rect">
            <a:avLst/>
          </a:prstGeom>
          <a:noFill/>
        </p:spPr>
        <p:txBody>
          <a:bodyPr wrap="square" lIns="0" rIns="0" tIns="0" bIns="0" anchor="ctr">
            <a:noAutofit/>
          </a:bodyPr>
          <a:lstStyle/>
          <a:p>
            <a:pPr algn="l"/>
            <a:r>
              <a:rPr sz="4000" i="0">
                <a:solidFill>
                  <a:srgbClr val="9B6BFF"/>
                </a:solidFill>
                <a:latin typeface="Segoe UI Black"/>
              </a:rPr>
              <a:t>64,000 MiB</a:t>
            </a:r>
          </a:p>
        </p:txBody>
      </p:sp>
      <p:sp>
        <p:nvSpPr>
          <p:cNvPr id="28" name="TextBox 27"/>
          <p:cNvSpPr txBox="1"/>
          <p:nvPr/>
        </p:nvSpPr>
        <p:spPr>
          <a:xfrm>
            <a:off x="8430768" y="4640580"/>
            <a:ext cx="2935224" cy="731520"/>
          </a:xfrm>
          <a:prstGeom prst="rect">
            <a:avLst/>
          </a:prstGeom>
          <a:noFill/>
        </p:spPr>
        <p:txBody>
          <a:bodyPr wrap="square" lIns="0" rIns="0" tIns="0" bIns="0" anchor="t">
            <a:noAutofit/>
          </a:bodyPr>
          <a:lstStyle/>
          <a:p>
            <a:pPr algn="l"/>
            <a:r>
              <a:rPr sz="1700" i="0">
                <a:solidFill>
                  <a:srgbClr val="F4F6FA"/>
                </a:solidFill>
                <a:latin typeface="Segoe UI"/>
              </a:rPr>
              <a:t>GPU memory budget</a:t>
            </a:r>
          </a:p>
        </p:txBody>
      </p:sp>
      <p:sp>
        <p:nvSpPr>
          <p:cNvPr id="29" name="TextBox 28"/>
          <p:cNvSpPr txBox="1"/>
          <p:nvPr/>
        </p:nvSpPr>
        <p:spPr>
          <a:xfrm>
            <a:off x="8430768" y="5372100"/>
            <a:ext cx="2935224" cy="320040"/>
          </a:xfrm>
          <a:prstGeom prst="rect">
            <a:avLst/>
          </a:prstGeom>
          <a:noFill/>
        </p:spPr>
        <p:txBody>
          <a:bodyPr wrap="square" lIns="0" rIns="0" tIns="0" bIns="0" anchor="t">
            <a:noAutofit/>
          </a:bodyPr>
          <a:lstStyle/>
          <a:p>
            <a:pPr algn="l"/>
            <a:r>
              <a:rPr sz="1000" i="0">
                <a:solidFill>
                  <a:srgbClr val="6F7890"/>
                </a:solidFill>
                <a:latin typeface="Segoe UI"/>
              </a:rPr>
              <a:t>nvidia-smi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gradFill rotWithShape="1">
          <a:gsLst>
            <a:gs pos="0">
              <a:srgbClr val="07080C"/>
            </a:gs>
            <a:gs pos="100000">
              <a:srgbClr val="121521"/>
            </a:gs>
          </a:gsLst>
          <a:lin scaled="0" ang="13500000"/>
        </a:gradFill>
        <a:effectLst/>
      </p:bgPr>
    </p:bg>
    <p:spTree>
      <p:nvGrpSpPr>
        <p:cNvPr id="1" name=""/>
        <p:cNvGrpSpPr/>
        <p:nvPr/>
      </p:nvGrpSpPr>
      <p:grpSpPr/>
      <p:sp>
        <p:nvSpPr>
          <p:cNvPr id="2" name="Oval 1"/>
          <p:cNvSpPr/>
          <p:nvPr/>
        </p:nvSpPr>
        <p:spPr>
          <a:xfrm>
            <a:off x="8961120" y="-2743200"/>
            <a:ext cx="6400800" cy="6400800"/>
          </a:xfrm>
          <a:prstGeom prst="ellipse">
            <a:avLst/>
          </a:prstGeom>
          <a:solidFill>
            <a:srgbClr val="76B900">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0241280" y="-1371600"/>
            <a:ext cx="4114800" cy="4114800"/>
          </a:xfrm>
          <a:prstGeom prst="ellipse">
            <a:avLst/>
          </a:prstGeom>
          <a:solidFill>
            <a:srgbClr val="3DA9FC">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292608"/>
            <a:ext cx="685800" cy="54864"/>
          </a:xfrm>
          <a:prstGeom prst="rect">
            <a:avLst/>
          </a:prstGeom>
          <a:solidFill>
            <a:srgbClr val="76B900"/>
          </a:solidFill>
          <a:ln>
            <a:noFill/>
          </a:ln>
          <a:effectLst>
            <a:glow rad="76200">
              <a:srgbClr val="76B900">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F4F6FA"/>
                </a:solidFill>
                <a:latin typeface="Segoe UI Semibold"/>
              </a:rPr>
              <a:t>MoE Is An Expert Workshop</a:t>
            </a:r>
          </a:p>
        </p:txBody>
      </p:sp>
      <p:sp>
        <p:nvSpPr>
          <p:cNvPr id="6" name="TextBox 5"/>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AEB6C8"/>
                </a:solidFill>
                <a:latin typeface="Segoe UI"/>
              </a:rPr>
              <a:t>Selected experts work on each token; total parameters do not equal active computation.</a:t>
            </a:r>
          </a:p>
        </p:txBody>
      </p:sp>
      <p:sp>
        <p:nvSpPr>
          <p:cNvPr id="7" name="TextBox 6"/>
          <p:cNvSpPr txBox="1"/>
          <p:nvPr/>
        </p:nvSpPr>
        <p:spPr>
          <a:xfrm>
            <a:off x="548640" y="6419088"/>
            <a:ext cx="7315200" cy="274320"/>
          </a:xfrm>
          <a:prstGeom prst="rect">
            <a:avLst/>
          </a:prstGeom>
          <a:noFill/>
        </p:spPr>
        <p:txBody>
          <a:bodyPr wrap="square" lIns="0" rIns="0" tIns="0" bIns="0" anchor="t">
            <a:noAutofit/>
          </a:bodyPr>
          <a:lstStyle/>
          <a:p>
            <a:pPr algn="l"/>
            <a:r>
              <a:rPr sz="1000" i="0">
                <a:solidFill>
                  <a:srgbClr val="6F7890"/>
                </a:solidFill>
                <a:latin typeface="Segoe UI"/>
              </a:rPr>
              <a:t>Surface Laptop Ultra  |  NVIDIA RTX Spark  |  Zava</a:t>
            </a:r>
          </a:p>
        </p:txBody>
      </p:sp>
      <p:sp>
        <p:nvSpPr>
          <p:cNvPr id="8" name="TextBox 7"/>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6F7890"/>
                </a:solidFill>
                <a:latin typeface="Segoe UI"/>
              </a:rPr>
              <a:t>4</a:t>
            </a:r>
          </a:p>
        </p:txBody>
      </p:sp>
      <p:sp>
        <p:nvSpPr>
          <p:cNvPr id="9" name="Oval 8"/>
          <p:cNvSpPr/>
          <p:nvPr/>
        </p:nvSpPr>
        <p:spPr>
          <a:xfrm>
            <a:off x="617220" y="1851660"/>
            <a:ext cx="960120" cy="960120"/>
          </a:xfrm>
          <a:prstGeom prst="ellipse">
            <a:avLst/>
          </a:prstGeom>
          <a:solidFill>
            <a:srgbClr val="76B900"/>
          </a:solidFill>
          <a:ln>
            <a:noFill/>
          </a:ln>
          <a:effectLst>
            <a:glow rad="152400">
              <a:srgbClr val="76B900">
                <a:alpha val="4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51637" y="1986077"/>
            <a:ext cx="691286" cy="691286"/>
          </a:xfrm>
          <a:prstGeom prst="rect">
            <a:avLst/>
          </a:prstGeom>
          <a:noFill/>
        </p:spPr>
        <p:txBody>
          <a:bodyPr wrap="none" lIns="0" rIns="0" tIns="0" bIns="0" anchor="ctr">
            <a:spAutoFit/>
          </a:bodyPr>
          <a:lstStyle/>
          <a:p>
            <a:pPr algn="ctr"/>
            <a:r>
              <a:rPr sz="3374">
                <a:solidFill>
                  <a:srgbClr val="07080C"/>
                </a:solidFill>
                <a:latin typeface="Segoe Fluent Icons"/>
              </a:rPr>
              <a:t></a:t>
            </a:r>
          </a:p>
        </p:txBody>
      </p:sp>
      <p:sp>
        <p:nvSpPr>
          <p:cNvPr id="11" name="TextBox 10"/>
          <p:cNvSpPr txBox="1"/>
          <p:nvPr/>
        </p:nvSpPr>
        <p:spPr>
          <a:xfrm>
            <a:off x="1737360" y="1920240"/>
            <a:ext cx="3625596" cy="822960"/>
          </a:xfrm>
          <a:prstGeom prst="rect">
            <a:avLst/>
          </a:prstGeom>
          <a:noFill/>
        </p:spPr>
        <p:txBody>
          <a:bodyPr wrap="square" lIns="0" rIns="0" tIns="0" bIns="0" anchor="ctr">
            <a:noAutofit/>
          </a:bodyPr>
          <a:lstStyle/>
          <a:p>
            <a:pPr algn="l"/>
            <a:r>
              <a:rPr sz="2400" i="0">
                <a:solidFill>
                  <a:srgbClr val="F4F6FA"/>
                </a:solidFill>
                <a:latin typeface="Segoe UI Semibold"/>
              </a:rPr>
              <a:t>Mixture of experts</a:t>
            </a:r>
          </a:p>
        </p:txBody>
      </p:sp>
      <p:sp>
        <p:nvSpPr>
          <p:cNvPr id="12" name="Oval 11"/>
          <p:cNvSpPr/>
          <p:nvPr/>
        </p:nvSpPr>
        <p:spPr>
          <a:xfrm>
            <a:off x="10611612" y="1851660"/>
            <a:ext cx="960120" cy="960120"/>
          </a:xfrm>
          <a:prstGeom prst="ellipse">
            <a:avLst/>
          </a:prstGeom>
          <a:solidFill>
            <a:srgbClr val="9B6BFF"/>
          </a:solidFill>
          <a:ln>
            <a:noFill/>
          </a:ln>
          <a:effectLst>
            <a:glow rad="152400">
              <a:srgbClr val="9B6BFF">
                <a:alpha val="4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0746029" y="1986077"/>
            <a:ext cx="691286" cy="691286"/>
          </a:xfrm>
          <a:prstGeom prst="rect">
            <a:avLst/>
          </a:prstGeom>
          <a:noFill/>
        </p:spPr>
        <p:txBody>
          <a:bodyPr wrap="none" lIns="0" rIns="0" tIns="0" bIns="0" anchor="ctr">
            <a:spAutoFit/>
          </a:bodyPr>
          <a:lstStyle/>
          <a:p>
            <a:pPr algn="ctr"/>
            <a:r>
              <a:rPr sz="3374">
                <a:solidFill>
                  <a:srgbClr val="07080C"/>
                </a:solidFill>
                <a:latin typeface="Segoe Fluent Icons"/>
              </a:rPr>
              <a:t></a:t>
            </a:r>
          </a:p>
        </p:txBody>
      </p:sp>
      <p:sp>
        <p:nvSpPr>
          <p:cNvPr id="14" name="TextBox 13"/>
          <p:cNvSpPr txBox="1"/>
          <p:nvPr/>
        </p:nvSpPr>
        <p:spPr>
          <a:xfrm>
            <a:off x="6780276" y="1920240"/>
            <a:ext cx="3625596" cy="822960"/>
          </a:xfrm>
          <a:prstGeom prst="rect">
            <a:avLst/>
          </a:prstGeom>
          <a:noFill/>
        </p:spPr>
        <p:txBody>
          <a:bodyPr wrap="square" lIns="0" rIns="0" tIns="0" bIns="0" anchor="ctr">
            <a:noAutofit/>
          </a:bodyPr>
          <a:lstStyle/>
          <a:p>
            <a:pPr algn="r"/>
            <a:r>
              <a:rPr sz="2400" i="0">
                <a:solidFill>
                  <a:srgbClr val="F4F6FA"/>
                </a:solidFill>
                <a:latin typeface="Segoe UI Semibold"/>
              </a:rPr>
              <a:t>Specialist workshop</a:t>
            </a:r>
          </a:p>
        </p:txBody>
      </p:sp>
      <p:sp>
        <p:nvSpPr>
          <p:cNvPr id="15" name="TextBox 14"/>
          <p:cNvSpPr txBox="1"/>
          <p:nvPr/>
        </p:nvSpPr>
        <p:spPr>
          <a:xfrm>
            <a:off x="5408676" y="2057400"/>
            <a:ext cx="1371600" cy="548640"/>
          </a:xfrm>
          <a:prstGeom prst="rect">
            <a:avLst/>
          </a:prstGeom>
          <a:noFill/>
        </p:spPr>
        <p:txBody>
          <a:bodyPr wrap="square" lIns="0" rIns="0" tIns="0" bIns="0" anchor="ctr">
            <a:noAutofit/>
          </a:bodyPr>
          <a:lstStyle/>
          <a:p>
            <a:pPr algn="ctr"/>
            <a:r>
              <a:rPr sz="1600" i="1">
                <a:solidFill>
                  <a:srgbClr val="6F7890"/>
                </a:solidFill>
                <a:latin typeface="Segoe UI"/>
              </a:rPr>
              <a:t>is like</a:t>
            </a:r>
          </a:p>
        </p:txBody>
      </p:sp>
      <p:sp>
        <p:nvSpPr>
          <p:cNvPr id="16" name="Rounded Rectangle 15"/>
          <p:cNvSpPr/>
          <p:nvPr/>
        </p:nvSpPr>
        <p:spPr>
          <a:xfrm>
            <a:off x="548640" y="3108960"/>
            <a:ext cx="4860036" cy="683514"/>
          </a:xfrm>
          <a:prstGeom prst="roundRect">
            <a:avLst>
              <a:gd name="adj" fmla="val 50000"/>
            </a:avLst>
          </a:prstGeom>
          <a:solidFill>
            <a:srgbClr val="141824"/>
          </a:solidFill>
          <a:ln w="15875">
            <a:solidFill>
              <a:srgbClr val="76B9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22960" y="3145536"/>
            <a:ext cx="4311396" cy="610362"/>
          </a:xfrm>
          <a:prstGeom prst="rect">
            <a:avLst/>
          </a:prstGeom>
          <a:noFill/>
        </p:spPr>
        <p:txBody>
          <a:bodyPr wrap="square" lIns="0" rIns="0" tIns="0" bIns="0" anchor="ctr">
            <a:noAutofit/>
          </a:bodyPr>
          <a:lstStyle/>
          <a:p>
            <a:pPr algn="ctr"/>
            <a:r>
              <a:rPr sz="1700" i="0">
                <a:solidFill>
                  <a:srgbClr val="F4F6FA"/>
                </a:solidFill>
                <a:latin typeface="Segoe UI"/>
              </a:rPr>
              <a:t>Expert selection</a:t>
            </a:r>
          </a:p>
        </p:txBody>
      </p:sp>
      <p:cxnSp>
        <p:nvCxnSpPr>
          <p:cNvPr id="18" name="Connector 17"/>
          <p:cNvCxnSpPr/>
          <p:nvPr/>
        </p:nvCxnSpPr>
        <p:spPr>
          <a:xfrm>
            <a:off x="5481828" y="3450717"/>
            <a:ext cx="1225296" cy="0"/>
          </a:xfrm>
          <a:prstGeom prst="line">
            <a:avLst/>
          </a:prstGeom>
          <a:ln w="25400">
            <a:solidFill>
              <a:srgbClr val="6F7890"/>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780276" y="3108960"/>
            <a:ext cx="4860036" cy="683514"/>
          </a:xfrm>
          <a:prstGeom prst="roundRect">
            <a:avLst>
              <a:gd name="adj" fmla="val 50000"/>
            </a:avLst>
          </a:prstGeom>
          <a:solidFill>
            <a:srgbClr val="141824"/>
          </a:solidFill>
          <a:ln w="15875">
            <a:solidFill>
              <a:srgbClr val="9B6B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054596" y="3145536"/>
            <a:ext cx="4311396" cy="610362"/>
          </a:xfrm>
          <a:prstGeom prst="rect">
            <a:avLst/>
          </a:prstGeom>
          <a:noFill/>
        </p:spPr>
        <p:txBody>
          <a:bodyPr wrap="square" lIns="0" rIns="0" tIns="0" bIns="0" anchor="ctr">
            <a:noAutofit/>
          </a:bodyPr>
          <a:lstStyle/>
          <a:p>
            <a:pPr algn="ctr"/>
            <a:r>
              <a:rPr sz="1700" i="0">
                <a:solidFill>
                  <a:srgbClr val="F4F6FA"/>
                </a:solidFill>
                <a:latin typeface="Segoe UI"/>
              </a:rPr>
              <a:t>Job dispatch</a:t>
            </a:r>
          </a:p>
        </p:txBody>
      </p:sp>
      <p:sp>
        <p:nvSpPr>
          <p:cNvPr id="21" name="Rounded Rectangle 20"/>
          <p:cNvSpPr/>
          <p:nvPr/>
        </p:nvSpPr>
        <p:spPr>
          <a:xfrm>
            <a:off x="548640" y="3902202"/>
            <a:ext cx="4860036" cy="683514"/>
          </a:xfrm>
          <a:prstGeom prst="roundRect">
            <a:avLst>
              <a:gd name="adj" fmla="val 50000"/>
            </a:avLst>
          </a:prstGeom>
          <a:solidFill>
            <a:srgbClr val="141824"/>
          </a:solidFill>
          <a:ln w="15875">
            <a:solidFill>
              <a:srgbClr val="76B9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22960" y="3938778"/>
            <a:ext cx="4311396" cy="610362"/>
          </a:xfrm>
          <a:prstGeom prst="rect">
            <a:avLst/>
          </a:prstGeom>
          <a:noFill/>
        </p:spPr>
        <p:txBody>
          <a:bodyPr wrap="square" lIns="0" rIns="0" tIns="0" bIns="0" anchor="ctr">
            <a:noAutofit/>
          </a:bodyPr>
          <a:lstStyle/>
          <a:p>
            <a:pPr algn="ctr"/>
            <a:r>
              <a:rPr sz="1700" i="0">
                <a:solidFill>
                  <a:srgbClr val="F4F6FA"/>
                </a:solidFill>
                <a:latin typeface="Segoe UI"/>
              </a:rPr>
              <a:t>Active parameters</a:t>
            </a:r>
          </a:p>
        </p:txBody>
      </p:sp>
      <p:cxnSp>
        <p:nvCxnSpPr>
          <p:cNvPr id="23" name="Connector 22"/>
          <p:cNvCxnSpPr/>
          <p:nvPr/>
        </p:nvCxnSpPr>
        <p:spPr>
          <a:xfrm>
            <a:off x="5481828" y="4243959"/>
            <a:ext cx="1225296" cy="0"/>
          </a:xfrm>
          <a:prstGeom prst="line">
            <a:avLst/>
          </a:prstGeom>
          <a:ln w="25400">
            <a:solidFill>
              <a:srgbClr val="6F7890"/>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780276" y="3902202"/>
            <a:ext cx="4860036" cy="683514"/>
          </a:xfrm>
          <a:prstGeom prst="roundRect">
            <a:avLst>
              <a:gd name="adj" fmla="val 50000"/>
            </a:avLst>
          </a:prstGeom>
          <a:solidFill>
            <a:srgbClr val="141824"/>
          </a:solidFill>
          <a:ln w="15875">
            <a:solidFill>
              <a:srgbClr val="9B6B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054596" y="3938778"/>
            <a:ext cx="4311396" cy="610362"/>
          </a:xfrm>
          <a:prstGeom prst="rect">
            <a:avLst/>
          </a:prstGeom>
          <a:noFill/>
        </p:spPr>
        <p:txBody>
          <a:bodyPr wrap="square" lIns="0" rIns="0" tIns="0" bIns="0" anchor="ctr">
            <a:noAutofit/>
          </a:bodyPr>
          <a:lstStyle/>
          <a:p>
            <a:pPr algn="ctr"/>
            <a:r>
              <a:rPr sz="1700" i="0">
                <a:solidFill>
                  <a:srgbClr val="F4F6FA"/>
                </a:solidFill>
                <a:latin typeface="Segoe UI"/>
              </a:rPr>
              <a:t>Assigned specialists</a:t>
            </a:r>
          </a:p>
        </p:txBody>
      </p:sp>
      <p:sp>
        <p:nvSpPr>
          <p:cNvPr id="26" name="Rounded Rectangle 25"/>
          <p:cNvSpPr/>
          <p:nvPr/>
        </p:nvSpPr>
        <p:spPr>
          <a:xfrm>
            <a:off x="548640" y="4695444"/>
            <a:ext cx="4860036" cy="683514"/>
          </a:xfrm>
          <a:prstGeom prst="roundRect">
            <a:avLst>
              <a:gd name="adj" fmla="val 50000"/>
            </a:avLst>
          </a:prstGeom>
          <a:solidFill>
            <a:srgbClr val="141824"/>
          </a:solidFill>
          <a:ln w="15875">
            <a:solidFill>
              <a:srgbClr val="76B9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22960" y="4732020"/>
            <a:ext cx="4311396" cy="610362"/>
          </a:xfrm>
          <a:prstGeom prst="rect">
            <a:avLst/>
          </a:prstGeom>
          <a:noFill/>
        </p:spPr>
        <p:txBody>
          <a:bodyPr wrap="square" lIns="0" rIns="0" tIns="0" bIns="0" anchor="ctr">
            <a:noAutofit/>
          </a:bodyPr>
          <a:lstStyle/>
          <a:p>
            <a:pPr algn="ctr"/>
            <a:r>
              <a:rPr sz="1700" i="0">
                <a:solidFill>
                  <a:srgbClr val="F4F6FA"/>
                </a:solidFill>
                <a:latin typeface="Segoe UI"/>
              </a:rPr>
              <a:t>Total parameters</a:t>
            </a:r>
          </a:p>
        </p:txBody>
      </p:sp>
      <p:cxnSp>
        <p:nvCxnSpPr>
          <p:cNvPr id="28" name="Connector 27"/>
          <p:cNvCxnSpPr/>
          <p:nvPr/>
        </p:nvCxnSpPr>
        <p:spPr>
          <a:xfrm>
            <a:off x="5481828" y="5037201"/>
            <a:ext cx="1225296" cy="0"/>
          </a:xfrm>
          <a:prstGeom prst="line">
            <a:avLst/>
          </a:prstGeom>
          <a:ln w="25400">
            <a:solidFill>
              <a:srgbClr val="6F7890"/>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6780276" y="4695444"/>
            <a:ext cx="4860036" cy="683514"/>
          </a:xfrm>
          <a:prstGeom prst="roundRect">
            <a:avLst>
              <a:gd name="adj" fmla="val 50000"/>
            </a:avLst>
          </a:prstGeom>
          <a:solidFill>
            <a:srgbClr val="141824"/>
          </a:solidFill>
          <a:ln w="15875">
            <a:solidFill>
              <a:srgbClr val="9B6B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7054596" y="4732020"/>
            <a:ext cx="4311396" cy="610362"/>
          </a:xfrm>
          <a:prstGeom prst="rect">
            <a:avLst/>
          </a:prstGeom>
          <a:noFill/>
        </p:spPr>
        <p:txBody>
          <a:bodyPr wrap="square" lIns="0" rIns="0" tIns="0" bIns="0" anchor="ctr">
            <a:noAutofit/>
          </a:bodyPr>
          <a:lstStyle/>
          <a:p>
            <a:pPr algn="ctr"/>
            <a:r>
              <a:rPr sz="1700" i="0">
                <a:solidFill>
                  <a:srgbClr val="F4F6FA"/>
                </a:solidFill>
                <a:latin typeface="Segoe UI"/>
              </a:rPr>
              <a:t>Available workshop staff</a:t>
            </a:r>
          </a:p>
        </p:txBody>
      </p:sp>
      <p:sp>
        <p:nvSpPr>
          <p:cNvPr id="31" name="Rounded Rectangle 30"/>
          <p:cNvSpPr/>
          <p:nvPr/>
        </p:nvSpPr>
        <p:spPr>
          <a:xfrm>
            <a:off x="548640" y="5488686"/>
            <a:ext cx="4860036" cy="683514"/>
          </a:xfrm>
          <a:prstGeom prst="roundRect">
            <a:avLst>
              <a:gd name="adj" fmla="val 50000"/>
            </a:avLst>
          </a:prstGeom>
          <a:solidFill>
            <a:srgbClr val="141824"/>
          </a:solidFill>
          <a:ln w="15875">
            <a:solidFill>
              <a:srgbClr val="76B9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822960" y="5525262"/>
            <a:ext cx="4311396" cy="610362"/>
          </a:xfrm>
          <a:prstGeom prst="rect">
            <a:avLst/>
          </a:prstGeom>
          <a:noFill/>
        </p:spPr>
        <p:txBody>
          <a:bodyPr wrap="square" lIns="0" rIns="0" tIns="0" bIns="0" anchor="ctr">
            <a:noAutofit/>
          </a:bodyPr>
          <a:lstStyle/>
          <a:p>
            <a:pPr algn="ctr"/>
            <a:r>
              <a:rPr sz="1700" i="0">
                <a:solidFill>
                  <a:srgbClr val="F4F6FA"/>
                </a:solidFill>
                <a:latin typeface="Segoe UI"/>
              </a:rPr>
              <a:t>Dense computation</a:t>
            </a:r>
          </a:p>
        </p:txBody>
      </p:sp>
      <p:cxnSp>
        <p:nvCxnSpPr>
          <p:cNvPr id="33" name="Connector 32"/>
          <p:cNvCxnSpPr/>
          <p:nvPr/>
        </p:nvCxnSpPr>
        <p:spPr>
          <a:xfrm>
            <a:off x="5481828" y="5830443"/>
            <a:ext cx="1225296" cy="0"/>
          </a:xfrm>
          <a:prstGeom prst="line">
            <a:avLst/>
          </a:prstGeom>
          <a:ln w="25400">
            <a:solidFill>
              <a:srgbClr val="6F7890"/>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6780276" y="5488686"/>
            <a:ext cx="4860036" cy="683514"/>
          </a:xfrm>
          <a:prstGeom prst="roundRect">
            <a:avLst>
              <a:gd name="adj" fmla="val 50000"/>
            </a:avLst>
          </a:prstGeom>
          <a:solidFill>
            <a:srgbClr val="141824"/>
          </a:solidFill>
          <a:ln w="15875">
            <a:solidFill>
              <a:srgbClr val="9B6B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7054596" y="5525262"/>
            <a:ext cx="4311396" cy="610362"/>
          </a:xfrm>
          <a:prstGeom prst="rect">
            <a:avLst/>
          </a:prstGeom>
          <a:noFill/>
        </p:spPr>
        <p:txBody>
          <a:bodyPr wrap="square" lIns="0" rIns="0" tIns="0" bIns="0" anchor="ctr">
            <a:noAutofit/>
          </a:bodyPr>
          <a:lstStyle/>
          <a:p>
            <a:pPr algn="ctr"/>
            <a:r>
              <a:rPr sz="1700" i="0">
                <a:solidFill>
                  <a:srgbClr val="F4F6FA"/>
                </a:solidFill>
                <a:latin typeface="Segoe UI"/>
              </a:rPr>
              <a:t>Whole crew working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gradFill rotWithShape="1">
          <a:gsLst>
            <a:gs pos="0">
              <a:srgbClr val="07080C"/>
            </a:gs>
            <a:gs pos="100000">
              <a:srgbClr val="121521"/>
            </a:gs>
          </a:gsLst>
          <a:lin scaled="0" ang="13500000"/>
        </a:gradFill>
        <a:effectLst/>
      </p:bgPr>
    </p:bg>
    <p:spTree>
      <p:nvGrpSpPr>
        <p:cNvPr id="1" name=""/>
        <p:cNvGrpSpPr/>
        <p:nvPr/>
      </p:nvGrpSpPr>
      <p:grpSpPr/>
      <p:sp>
        <p:nvSpPr>
          <p:cNvPr id="2" name="Oval 1"/>
          <p:cNvSpPr/>
          <p:nvPr/>
        </p:nvSpPr>
        <p:spPr>
          <a:xfrm>
            <a:off x="8961120" y="-2743200"/>
            <a:ext cx="6400800" cy="6400800"/>
          </a:xfrm>
          <a:prstGeom prst="ellipse">
            <a:avLst/>
          </a:prstGeom>
          <a:solidFill>
            <a:srgbClr val="76B900">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0241280" y="-1371600"/>
            <a:ext cx="4114800" cy="4114800"/>
          </a:xfrm>
          <a:prstGeom prst="ellipse">
            <a:avLst/>
          </a:prstGeom>
          <a:solidFill>
            <a:srgbClr val="3DA9FC">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292608"/>
            <a:ext cx="685800" cy="54864"/>
          </a:xfrm>
          <a:prstGeom prst="rect">
            <a:avLst/>
          </a:prstGeom>
          <a:solidFill>
            <a:srgbClr val="76B900"/>
          </a:solidFill>
          <a:ln>
            <a:noFill/>
          </a:ln>
          <a:effectLst>
            <a:glow rad="76200">
              <a:srgbClr val="76B900">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F4F6FA"/>
                </a:solidFill>
                <a:latin typeface="Segoe UI Semibold"/>
              </a:rPr>
              <a:t>Single-Stream Decode: Measured, Not Guaranteed</a:t>
            </a:r>
          </a:p>
        </p:txBody>
      </p:sp>
      <p:sp>
        <p:nvSpPr>
          <p:cNvPr id="6" name="TextBox 5"/>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AEB6C8"/>
                </a:solidFill>
                <a:latin typeface="Segoe UI"/>
              </a:rPr>
              <a:t>Observed decode rates differ sharply; parameter count alone cannot predict interactive speed.</a:t>
            </a:r>
          </a:p>
        </p:txBody>
      </p:sp>
      <p:sp>
        <p:nvSpPr>
          <p:cNvPr id="7" name="TextBox 6"/>
          <p:cNvSpPr txBox="1"/>
          <p:nvPr/>
        </p:nvSpPr>
        <p:spPr>
          <a:xfrm>
            <a:off x="548640" y="6419088"/>
            <a:ext cx="7315200" cy="274320"/>
          </a:xfrm>
          <a:prstGeom prst="rect">
            <a:avLst/>
          </a:prstGeom>
          <a:noFill/>
        </p:spPr>
        <p:txBody>
          <a:bodyPr wrap="square" lIns="0" rIns="0" tIns="0" bIns="0" anchor="t">
            <a:noAutofit/>
          </a:bodyPr>
          <a:lstStyle/>
          <a:p>
            <a:pPr algn="l"/>
            <a:r>
              <a:rPr sz="1000" i="0">
                <a:solidFill>
                  <a:srgbClr val="6F7890"/>
                </a:solidFill>
                <a:latin typeface="Segoe UI"/>
              </a:rPr>
              <a:t>Surface Laptop Ultra  |  NVIDIA RTX Spark  |  Zava</a:t>
            </a:r>
          </a:p>
        </p:txBody>
      </p:sp>
      <p:sp>
        <p:nvSpPr>
          <p:cNvPr id="8" name="TextBox 7"/>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6F7890"/>
                </a:solidFill>
                <a:latin typeface="Segoe UI"/>
              </a:rPr>
              <a:t>5</a:t>
            </a:r>
          </a:p>
        </p:txBody>
      </p:sp>
      <p:graphicFrame>
        <p:nvGraphicFramePr>
          <p:cNvPr id="9" name="Chart 8"/>
          <p:cNvGraphicFramePr>
            <a:graphicFrameLocks noGrp="1"/>
          </p:cNvGraphicFramePr>
          <p:nvPr/>
        </p:nvGraphicFramePr>
        <p:xfrm>
          <a:off x="548640" y="1828800"/>
          <a:ext cx="7098670" cy="4343400"/>
        </p:xfrm>
        <a:graphic>
          <a:graphicData uri="http://schemas.openxmlformats.org/drawingml/2006/chart">
            <c:chart xmlns:c="http://schemas.openxmlformats.org/drawingml/2006/chart" r:id="rId2"/>
          </a:graphicData>
        </a:graphic>
      </p:graphicFrame>
      <p:sp>
        <p:nvSpPr>
          <p:cNvPr id="10" name="Rounded Rectangle 9"/>
          <p:cNvSpPr/>
          <p:nvPr/>
        </p:nvSpPr>
        <p:spPr>
          <a:xfrm>
            <a:off x="7921630" y="2011680"/>
            <a:ext cx="3718682" cy="3977640"/>
          </a:xfrm>
          <a:prstGeom prst="roundRect">
            <a:avLst>
              <a:gd name="adj" fmla="val 3442"/>
            </a:avLst>
          </a:prstGeom>
          <a:solidFill>
            <a:srgbClr val="141824"/>
          </a:solidFill>
          <a:ln w="12700">
            <a:solidFill>
              <a:srgbClr val="45681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8173090" y="2308860"/>
            <a:ext cx="777240" cy="777240"/>
          </a:xfrm>
          <a:prstGeom prst="ellipse">
            <a:avLst/>
          </a:prstGeom>
          <a:solidFill>
            <a:srgbClr val="76B900"/>
          </a:solidFill>
          <a:ln>
            <a:noFill/>
          </a:ln>
          <a:effectLst>
            <a:glow rad="127000">
              <a:srgbClr val="76B900">
                <a:alpha val="4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281904" y="2417674"/>
            <a:ext cx="559613" cy="559613"/>
          </a:xfrm>
          <a:prstGeom prst="rect">
            <a:avLst/>
          </a:prstGeom>
          <a:noFill/>
        </p:spPr>
        <p:txBody>
          <a:bodyPr wrap="none" lIns="0" rIns="0" tIns="0" bIns="0" anchor="ctr">
            <a:spAutoFit/>
          </a:bodyPr>
          <a:lstStyle/>
          <a:p>
            <a:pPr algn="ctr"/>
            <a:r>
              <a:rPr sz="2731">
                <a:solidFill>
                  <a:srgbClr val="07080C"/>
                </a:solidFill>
                <a:latin typeface="Segoe Fluent Icons"/>
              </a:rPr>
              <a:t></a:t>
            </a:r>
          </a:p>
        </p:txBody>
      </p:sp>
      <p:sp>
        <p:nvSpPr>
          <p:cNvPr id="13" name="TextBox 12"/>
          <p:cNvSpPr txBox="1"/>
          <p:nvPr/>
        </p:nvSpPr>
        <p:spPr>
          <a:xfrm>
            <a:off x="8241670" y="3246120"/>
            <a:ext cx="3078602" cy="1005840"/>
          </a:xfrm>
          <a:prstGeom prst="rect">
            <a:avLst/>
          </a:prstGeom>
          <a:noFill/>
        </p:spPr>
        <p:txBody>
          <a:bodyPr wrap="square" lIns="0" rIns="0" tIns="0" bIns="0" anchor="t">
            <a:noAutofit/>
          </a:bodyPr>
          <a:lstStyle/>
          <a:p>
            <a:pPr algn="l"/>
            <a:r>
              <a:rPr sz="5400" i="0">
                <a:solidFill>
                  <a:srgbClr val="76B900"/>
                </a:solidFill>
                <a:latin typeface="Segoe UI Black"/>
              </a:rPr>
              <a:t>86</a:t>
            </a:r>
          </a:p>
        </p:txBody>
      </p:sp>
      <p:sp>
        <p:nvSpPr>
          <p:cNvPr id="14" name="TextBox 13"/>
          <p:cNvSpPr txBox="1"/>
          <p:nvPr/>
        </p:nvSpPr>
        <p:spPr>
          <a:xfrm>
            <a:off x="8241670" y="4206240"/>
            <a:ext cx="3078602" cy="365760"/>
          </a:xfrm>
          <a:prstGeom prst="rect">
            <a:avLst/>
          </a:prstGeom>
          <a:noFill/>
        </p:spPr>
        <p:txBody>
          <a:bodyPr wrap="square" lIns="0" rIns="0" tIns="0" bIns="0" anchor="t">
            <a:noAutofit/>
          </a:bodyPr>
          <a:lstStyle/>
          <a:p>
            <a:pPr algn="l"/>
            <a:r>
              <a:rPr sz="1400" i="0">
                <a:solidFill>
                  <a:srgbClr val="AEB6C8"/>
                </a:solidFill>
                <a:latin typeface="Segoe UI"/>
              </a:rPr>
              <a:t>tokens/s  |  Qwen3-Coder 30B</a:t>
            </a:r>
          </a:p>
        </p:txBody>
      </p:sp>
      <p:sp>
        <p:nvSpPr>
          <p:cNvPr id="15" name="TextBox 14"/>
          <p:cNvSpPr txBox="1"/>
          <p:nvPr/>
        </p:nvSpPr>
        <p:spPr>
          <a:xfrm>
            <a:off x="8241670" y="4663440"/>
            <a:ext cx="3078602" cy="1188720"/>
          </a:xfrm>
          <a:prstGeom prst="rect">
            <a:avLst/>
          </a:prstGeom>
          <a:noFill/>
        </p:spPr>
        <p:txBody>
          <a:bodyPr wrap="square" lIns="0" rIns="0" tIns="0" bIns="0" anchor="t">
            <a:noAutofit/>
          </a:bodyPr>
          <a:lstStyle/>
          <a:p>
            <a:pPr algn="l"/>
            <a:r>
              <a:rPr sz="1500" i="0">
                <a:solidFill>
                  <a:srgbClr val="F4F6FA"/>
                </a:solidFill>
                <a:latin typeface="Segoe UI"/>
              </a:rPr>
              <a:t>Approximate · Local-AI-Bench · October 2026 · shared machine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gradFill rotWithShape="1">
          <a:gsLst>
            <a:gs pos="0">
              <a:srgbClr val="07080C"/>
            </a:gs>
            <a:gs pos="100000">
              <a:srgbClr val="121521"/>
            </a:gs>
          </a:gsLst>
          <a:lin scaled="0" ang="13500000"/>
        </a:gradFill>
        <a:effectLst/>
      </p:bgPr>
    </p:bg>
    <p:spTree>
      <p:nvGrpSpPr>
        <p:cNvPr id="1" name=""/>
        <p:cNvGrpSpPr/>
        <p:nvPr/>
      </p:nvGrpSpPr>
      <p:grpSpPr/>
      <p:sp>
        <p:nvSpPr>
          <p:cNvPr id="2" name="Oval 1"/>
          <p:cNvSpPr/>
          <p:nvPr/>
        </p:nvSpPr>
        <p:spPr>
          <a:xfrm>
            <a:off x="8961120" y="-2743200"/>
            <a:ext cx="6400800" cy="6400800"/>
          </a:xfrm>
          <a:prstGeom prst="ellipse">
            <a:avLst/>
          </a:prstGeom>
          <a:solidFill>
            <a:srgbClr val="76B900">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0241280" y="-1371600"/>
            <a:ext cx="4114800" cy="4114800"/>
          </a:xfrm>
          <a:prstGeom prst="ellipse">
            <a:avLst/>
          </a:prstGeom>
          <a:solidFill>
            <a:srgbClr val="3DA9FC">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292608"/>
            <a:ext cx="685800" cy="54864"/>
          </a:xfrm>
          <a:prstGeom prst="rect">
            <a:avLst/>
          </a:prstGeom>
          <a:solidFill>
            <a:srgbClr val="76B900"/>
          </a:solidFill>
          <a:ln>
            <a:noFill/>
          </a:ln>
          <a:effectLst>
            <a:glow rad="76200">
              <a:srgbClr val="76B900">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F4F6FA"/>
                </a:solidFill>
                <a:latin typeface="Segoe UI Semibold"/>
              </a:rPr>
              <a:t>Aggregate Throughput Is Not Per-User Speed</a:t>
            </a:r>
          </a:p>
        </p:txBody>
      </p:sp>
      <p:sp>
        <p:nvSpPr>
          <p:cNvPr id="6" name="TextBox 5"/>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AEB6C8"/>
                </a:solidFill>
                <a:latin typeface="Segoe UI"/>
              </a:rPr>
              <a:t>Concurrent throughput describes total work; each developer's latency still needs validation.</a:t>
            </a:r>
          </a:p>
        </p:txBody>
      </p:sp>
      <p:sp>
        <p:nvSpPr>
          <p:cNvPr id="7" name="TextBox 6"/>
          <p:cNvSpPr txBox="1"/>
          <p:nvPr/>
        </p:nvSpPr>
        <p:spPr>
          <a:xfrm>
            <a:off x="548640" y="6419088"/>
            <a:ext cx="7315200" cy="274320"/>
          </a:xfrm>
          <a:prstGeom prst="rect">
            <a:avLst/>
          </a:prstGeom>
          <a:noFill/>
        </p:spPr>
        <p:txBody>
          <a:bodyPr wrap="square" lIns="0" rIns="0" tIns="0" bIns="0" anchor="t">
            <a:noAutofit/>
          </a:bodyPr>
          <a:lstStyle/>
          <a:p>
            <a:pPr algn="l"/>
            <a:r>
              <a:rPr sz="1000" i="0">
                <a:solidFill>
                  <a:srgbClr val="6F7890"/>
                </a:solidFill>
                <a:latin typeface="Segoe UI"/>
              </a:rPr>
              <a:t>Surface Laptop Ultra  |  NVIDIA RTX Spark  |  Zava</a:t>
            </a:r>
          </a:p>
        </p:txBody>
      </p:sp>
      <p:sp>
        <p:nvSpPr>
          <p:cNvPr id="8" name="TextBox 7"/>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6F7890"/>
                </a:solidFill>
                <a:latin typeface="Segoe UI"/>
              </a:rPr>
              <a:t>6</a:t>
            </a:r>
          </a:p>
        </p:txBody>
      </p:sp>
      <p:sp>
        <p:nvSpPr>
          <p:cNvPr id="9" name="Rounded Rectangle 8"/>
          <p:cNvSpPr/>
          <p:nvPr/>
        </p:nvSpPr>
        <p:spPr>
          <a:xfrm>
            <a:off x="548640" y="2217420"/>
            <a:ext cx="5385816" cy="3566160"/>
          </a:xfrm>
          <a:prstGeom prst="roundRect">
            <a:avLst>
              <a:gd name="adj" fmla="val 3589"/>
            </a:avLst>
          </a:prstGeom>
          <a:solidFill>
            <a:srgbClr val="141824"/>
          </a:solidFill>
          <a:ln w="12700">
            <a:solidFill>
              <a:srgbClr val="45681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48640" y="2217420"/>
            <a:ext cx="5385816" cy="82296"/>
          </a:xfrm>
          <a:prstGeom prst="rect">
            <a:avLst/>
          </a:prstGeom>
          <a:solidFill>
            <a:srgbClr val="76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832104" y="2546604"/>
            <a:ext cx="713232" cy="713232"/>
          </a:xfrm>
          <a:prstGeom prst="ellipse">
            <a:avLst/>
          </a:prstGeom>
          <a:solidFill>
            <a:srgbClr val="76B900"/>
          </a:solidFill>
          <a:ln>
            <a:noFill/>
          </a:ln>
          <a:effectLst>
            <a:glow rad="101600">
              <a:srgbClr val="76B900">
                <a:alpha val="4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31956" y="2646456"/>
            <a:ext cx="513527" cy="513527"/>
          </a:xfrm>
          <a:prstGeom prst="rect">
            <a:avLst/>
          </a:prstGeom>
          <a:noFill/>
        </p:spPr>
        <p:txBody>
          <a:bodyPr wrap="none" lIns="0" rIns="0" tIns="0" bIns="0" anchor="ctr">
            <a:spAutoFit/>
          </a:bodyPr>
          <a:lstStyle/>
          <a:p>
            <a:pPr algn="ctr"/>
            <a:r>
              <a:rPr sz="2506">
                <a:solidFill>
                  <a:srgbClr val="07080C"/>
                </a:solidFill>
                <a:latin typeface="Segoe Fluent Icons"/>
              </a:rPr>
              <a:t></a:t>
            </a:r>
          </a:p>
        </p:txBody>
      </p:sp>
      <p:sp>
        <p:nvSpPr>
          <p:cNvPr id="13" name="TextBox 12"/>
          <p:cNvSpPr txBox="1"/>
          <p:nvPr/>
        </p:nvSpPr>
        <p:spPr>
          <a:xfrm>
            <a:off x="822960" y="3406140"/>
            <a:ext cx="4837176" cy="1234440"/>
          </a:xfrm>
          <a:prstGeom prst="rect">
            <a:avLst/>
          </a:prstGeom>
          <a:noFill/>
        </p:spPr>
        <p:txBody>
          <a:bodyPr wrap="square" lIns="0" rIns="0" tIns="0" bIns="0" anchor="ctr">
            <a:noAutofit/>
          </a:bodyPr>
          <a:lstStyle/>
          <a:p>
            <a:pPr algn="l"/>
            <a:r>
              <a:rPr sz="3900" i="0">
                <a:solidFill>
                  <a:srgbClr val="76B900"/>
                </a:solidFill>
                <a:latin typeface="Segoe UI Black"/>
              </a:rPr>
              <a:t>About 140 tokens/s</a:t>
            </a:r>
          </a:p>
        </p:txBody>
      </p:sp>
      <p:sp>
        <p:nvSpPr>
          <p:cNvPr id="14" name="TextBox 13"/>
          <p:cNvSpPr txBox="1"/>
          <p:nvPr/>
        </p:nvSpPr>
        <p:spPr>
          <a:xfrm>
            <a:off x="822960" y="4640580"/>
            <a:ext cx="4837176" cy="731520"/>
          </a:xfrm>
          <a:prstGeom prst="rect">
            <a:avLst/>
          </a:prstGeom>
          <a:noFill/>
        </p:spPr>
        <p:txBody>
          <a:bodyPr wrap="square" lIns="0" rIns="0" tIns="0" bIns="0" anchor="t">
            <a:noAutofit/>
          </a:bodyPr>
          <a:lstStyle/>
          <a:p>
            <a:pPr algn="l"/>
            <a:r>
              <a:rPr sz="1700" i="0">
                <a:solidFill>
                  <a:srgbClr val="F4F6FA"/>
                </a:solidFill>
                <a:latin typeface="Segoe UI"/>
              </a:rPr>
              <a:t>Qwen3-Coder 30B</a:t>
            </a:r>
          </a:p>
        </p:txBody>
      </p:sp>
      <p:sp>
        <p:nvSpPr>
          <p:cNvPr id="15" name="TextBox 14"/>
          <p:cNvSpPr txBox="1"/>
          <p:nvPr/>
        </p:nvSpPr>
        <p:spPr>
          <a:xfrm>
            <a:off x="822960" y="5372100"/>
            <a:ext cx="4837176" cy="320040"/>
          </a:xfrm>
          <a:prstGeom prst="rect">
            <a:avLst/>
          </a:prstGeom>
          <a:noFill/>
        </p:spPr>
        <p:txBody>
          <a:bodyPr wrap="square" lIns="0" rIns="0" tIns="0" bIns="0" anchor="t">
            <a:noAutofit/>
          </a:bodyPr>
          <a:lstStyle/>
          <a:p>
            <a:pPr algn="l"/>
            <a:r>
              <a:rPr sz="1000" i="0">
                <a:solidFill>
                  <a:srgbClr val="6F7890"/>
                </a:solidFill>
                <a:latin typeface="Segoe UI"/>
              </a:rPr>
              <a:t>Local-AI-Bench; 4 streams; October 2026; shared machine</a:t>
            </a:r>
          </a:p>
        </p:txBody>
      </p:sp>
      <p:sp>
        <p:nvSpPr>
          <p:cNvPr id="16" name="Rounded Rectangle 15"/>
          <p:cNvSpPr/>
          <p:nvPr/>
        </p:nvSpPr>
        <p:spPr>
          <a:xfrm>
            <a:off x="6254496" y="2217420"/>
            <a:ext cx="5385816" cy="3566160"/>
          </a:xfrm>
          <a:prstGeom prst="roundRect">
            <a:avLst>
              <a:gd name="adj" fmla="val 3589"/>
            </a:avLst>
          </a:prstGeom>
          <a:solidFill>
            <a:srgbClr val="141824"/>
          </a:solidFill>
          <a:ln w="12700">
            <a:solidFill>
              <a:srgbClr val="28609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254496" y="2217420"/>
            <a:ext cx="5385816" cy="82296"/>
          </a:xfrm>
          <a:prstGeom prst="rect">
            <a:avLst/>
          </a:prstGeom>
          <a:solidFill>
            <a:srgbClr val="3DA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6537960" y="2546604"/>
            <a:ext cx="713232" cy="713232"/>
          </a:xfrm>
          <a:prstGeom prst="ellipse">
            <a:avLst/>
          </a:prstGeom>
          <a:solidFill>
            <a:srgbClr val="3DA9FC"/>
          </a:solidFill>
          <a:ln>
            <a:noFill/>
          </a:ln>
          <a:effectLst>
            <a:glow rad="101600">
              <a:srgbClr val="3DA9FC">
                <a:alpha val="4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637812" y="2646456"/>
            <a:ext cx="513527" cy="513527"/>
          </a:xfrm>
          <a:prstGeom prst="rect">
            <a:avLst/>
          </a:prstGeom>
          <a:noFill/>
        </p:spPr>
        <p:txBody>
          <a:bodyPr wrap="none" lIns="0" rIns="0" tIns="0" bIns="0" anchor="ctr">
            <a:spAutoFit/>
          </a:bodyPr>
          <a:lstStyle/>
          <a:p>
            <a:pPr algn="ctr"/>
            <a:r>
              <a:rPr sz="2506">
                <a:solidFill>
                  <a:srgbClr val="07080C"/>
                </a:solidFill>
                <a:latin typeface="Segoe Fluent Icons"/>
              </a:rPr>
              <a:t></a:t>
            </a:r>
          </a:p>
        </p:txBody>
      </p:sp>
      <p:sp>
        <p:nvSpPr>
          <p:cNvPr id="20" name="TextBox 19"/>
          <p:cNvSpPr txBox="1"/>
          <p:nvPr/>
        </p:nvSpPr>
        <p:spPr>
          <a:xfrm>
            <a:off x="6528816" y="3406140"/>
            <a:ext cx="4837176" cy="1234440"/>
          </a:xfrm>
          <a:prstGeom prst="rect">
            <a:avLst/>
          </a:prstGeom>
          <a:noFill/>
        </p:spPr>
        <p:txBody>
          <a:bodyPr wrap="square" lIns="0" rIns="0" tIns="0" bIns="0" anchor="ctr">
            <a:noAutofit/>
          </a:bodyPr>
          <a:lstStyle/>
          <a:p>
            <a:pPr algn="l"/>
            <a:r>
              <a:rPr sz="3900" i="0">
                <a:solidFill>
                  <a:srgbClr val="3DA9FC"/>
                </a:solidFill>
                <a:latin typeface="Segoe UI Black"/>
              </a:rPr>
              <a:t>About 245 tokens/s</a:t>
            </a:r>
          </a:p>
        </p:txBody>
      </p:sp>
      <p:sp>
        <p:nvSpPr>
          <p:cNvPr id="21" name="TextBox 20"/>
          <p:cNvSpPr txBox="1"/>
          <p:nvPr/>
        </p:nvSpPr>
        <p:spPr>
          <a:xfrm>
            <a:off x="6528816" y="4640580"/>
            <a:ext cx="4837176" cy="731520"/>
          </a:xfrm>
          <a:prstGeom prst="rect">
            <a:avLst/>
          </a:prstGeom>
          <a:noFill/>
        </p:spPr>
        <p:txBody>
          <a:bodyPr wrap="square" lIns="0" rIns="0" tIns="0" bIns="0" anchor="t">
            <a:noAutofit/>
          </a:bodyPr>
          <a:lstStyle/>
          <a:p>
            <a:pPr algn="l"/>
            <a:r>
              <a:rPr sz="1700" i="0">
                <a:solidFill>
                  <a:srgbClr val="F4F6FA"/>
                </a:solidFill>
                <a:latin typeface="Segoe UI"/>
              </a:rPr>
              <a:t>Gemma 4 26B</a:t>
            </a:r>
          </a:p>
        </p:txBody>
      </p:sp>
      <p:sp>
        <p:nvSpPr>
          <p:cNvPr id="22" name="TextBox 21"/>
          <p:cNvSpPr txBox="1"/>
          <p:nvPr/>
        </p:nvSpPr>
        <p:spPr>
          <a:xfrm>
            <a:off x="6528816" y="5372100"/>
            <a:ext cx="4837176" cy="320040"/>
          </a:xfrm>
          <a:prstGeom prst="rect">
            <a:avLst/>
          </a:prstGeom>
          <a:noFill/>
        </p:spPr>
        <p:txBody>
          <a:bodyPr wrap="square" lIns="0" rIns="0" tIns="0" bIns="0" anchor="t">
            <a:noAutofit/>
          </a:bodyPr>
          <a:lstStyle/>
          <a:p>
            <a:pPr algn="l"/>
            <a:r>
              <a:rPr sz="1000" i="0">
                <a:solidFill>
                  <a:srgbClr val="6F7890"/>
                </a:solidFill>
                <a:latin typeface="Segoe UI"/>
              </a:rPr>
              <a:t>Local-AI-Bench; 8 streams; October 2026; shared machine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gradFill rotWithShape="1">
          <a:gsLst>
            <a:gs pos="0">
              <a:srgbClr val="07080C"/>
            </a:gs>
            <a:gs pos="100000">
              <a:srgbClr val="121521"/>
            </a:gs>
          </a:gsLst>
          <a:lin scaled="0" ang="13500000"/>
        </a:gradFill>
        <a:effectLst/>
      </p:bgPr>
    </p:bg>
    <p:spTree>
      <p:nvGrpSpPr>
        <p:cNvPr id="1" name=""/>
        <p:cNvGrpSpPr/>
        <p:nvPr/>
      </p:nvGrpSpPr>
      <p:grpSpPr/>
      <p:sp>
        <p:nvSpPr>
          <p:cNvPr id="2" name="Oval 1"/>
          <p:cNvSpPr/>
          <p:nvPr/>
        </p:nvSpPr>
        <p:spPr>
          <a:xfrm>
            <a:off x="8961120" y="-2743200"/>
            <a:ext cx="6400800" cy="6400800"/>
          </a:xfrm>
          <a:prstGeom prst="ellipse">
            <a:avLst/>
          </a:prstGeom>
          <a:solidFill>
            <a:srgbClr val="76B900">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0241280" y="-1371600"/>
            <a:ext cx="4114800" cy="4114800"/>
          </a:xfrm>
          <a:prstGeom prst="ellipse">
            <a:avLst/>
          </a:prstGeom>
          <a:solidFill>
            <a:srgbClr val="3DA9FC">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292608"/>
            <a:ext cx="685800" cy="54864"/>
          </a:xfrm>
          <a:prstGeom prst="rect">
            <a:avLst/>
          </a:prstGeom>
          <a:solidFill>
            <a:srgbClr val="76B900"/>
          </a:solidFill>
          <a:ln>
            <a:noFill/>
          </a:ln>
          <a:effectLst>
            <a:glow rad="76200">
              <a:srgbClr val="76B900">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F4F6FA"/>
                </a:solidFill>
                <a:latin typeface="Segoe UI Semibold"/>
              </a:rPr>
              <a:t>Size Bands Guide Planning, Not Quality</a:t>
            </a:r>
          </a:p>
        </p:txBody>
      </p:sp>
      <p:sp>
        <p:nvSpPr>
          <p:cNvPr id="6" name="TextBox 5"/>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AEB6C8"/>
                </a:solidFill>
                <a:latin typeface="Segoe UI"/>
              </a:rPr>
              <a:t>Use parameter bands to shortlist candidates, then test Zava's actual tasks.</a:t>
            </a:r>
          </a:p>
        </p:txBody>
      </p:sp>
      <p:sp>
        <p:nvSpPr>
          <p:cNvPr id="7" name="TextBox 6"/>
          <p:cNvSpPr txBox="1"/>
          <p:nvPr/>
        </p:nvSpPr>
        <p:spPr>
          <a:xfrm>
            <a:off x="548640" y="6419088"/>
            <a:ext cx="7315200" cy="274320"/>
          </a:xfrm>
          <a:prstGeom prst="rect">
            <a:avLst/>
          </a:prstGeom>
          <a:noFill/>
        </p:spPr>
        <p:txBody>
          <a:bodyPr wrap="square" lIns="0" rIns="0" tIns="0" bIns="0" anchor="t">
            <a:noAutofit/>
          </a:bodyPr>
          <a:lstStyle/>
          <a:p>
            <a:pPr algn="l"/>
            <a:r>
              <a:rPr sz="1000" i="0">
                <a:solidFill>
                  <a:srgbClr val="6F7890"/>
                </a:solidFill>
                <a:latin typeface="Segoe UI"/>
              </a:rPr>
              <a:t>Surface Laptop Ultra  |  NVIDIA RTX Spark  |  Zava</a:t>
            </a:r>
          </a:p>
        </p:txBody>
      </p:sp>
      <p:sp>
        <p:nvSpPr>
          <p:cNvPr id="8" name="TextBox 7"/>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6F7890"/>
                </a:solidFill>
                <a:latin typeface="Segoe UI"/>
              </a:rPr>
              <a:t>7</a:t>
            </a:r>
          </a:p>
        </p:txBody>
      </p:sp>
      <p:cxnSp>
        <p:nvCxnSpPr>
          <p:cNvPr id="9" name="Connector 8"/>
          <p:cNvCxnSpPr/>
          <p:nvPr/>
        </p:nvCxnSpPr>
        <p:spPr>
          <a:xfrm flipV="1">
            <a:off x="6094476" y="2240280"/>
            <a:ext cx="0" cy="1760220"/>
          </a:xfrm>
          <a:prstGeom prst="line">
            <a:avLst/>
          </a:prstGeom>
          <a:ln w="22225">
            <a:solidFill>
              <a:srgbClr val="446905"/>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094476" y="4000500"/>
            <a:ext cx="4174236" cy="0"/>
          </a:xfrm>
          <a:prstGeom prst="line">
            <a:avLst/>
          </a:prstGeom>
          <a:ln w="22225">
            <a:solidFill>
              <a:srgbClr val="446905"/>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4476" y="4000500"/>
            <a:ext cx="0" cy="1760220"/>
          </a:xfrm>
          <a:prstGeom prst="line">
            <a:avLst/>
          </a:prstGeom>
          <a:ln w="22225">
            <a:solidFill>
              <a:srgbClr val="446905"/>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1920240" y="4000500"/>
            <a:ext cx="4174236" cy="0"/>
          </a:xfrm>
          <a:prstGeom prst="line">
            <a:avLst/>
          </a:prstGeom>
          <a:ln w="22225">
            <a:solidFill>
              <a:srgbClr val="446905"/>
            </a:solidFill>
            <a:prstDash val="dash"/>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4910328" y="2816352"/>
            <a:ext cx="2368296" cy="2368296"/>
          </a:xfrm>
          <a:prstGeom prst="ellipse">
            <a:avLst/>
          </a:prstGeom>
          <a:solidFill>
            <a:srgbClr val="76B900">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5111496" y="3017520"/>
            <a:ext cx="1965960" cy="1965960"/>
          </a:xfrm>
          <a:prstGeom prst="ellipse">
            <a:avLst/>
          </a:prstGeom>
          <a:solidFill>
            <a:srgbClr val="76B900"/>
          </a:solidFill>
          <a:ln>
            <a:noFill/>
          </a:ln>
          <a:effectLst>
            <a:glow rad="228600">
              <a:srgbClr val="76B900">
                <a:alpha val="4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710428" y="3287268"/>
            <a:ext cx="768096" cy="768096"/>
          </a:xfrm>
          <a:prstGeom prst="rect">
            <a:avLst/>
          </a:prstGeom>
          <a:noFill/>
        </p:spPr>
        <p:txBody>
          <a:bodyPr wrap="none" lIns="0" rIns="0" tIns="0" bIns="0" anchor="ctr">
            <a:spAutoFit/>
          </a:bodyPr>
          <a:lstStyle/>
          <a:p>
            <a:pPr algn="ctr"/>
            <a:r>
              <a:rPr sz="3749">
                <a:solidFill>
                  <a:srgbClr val="07080C"/>
                </a:solidFill>
                <a:latin typeface="Segoe Fluent Icons"/>
              </a:rPr>
              <a:t></a:t>
            </a:r>
          </a:p>
        </p:txBody>
      </p:sp>
      <p:sp>
        <p:nvSpPr>
          <p:cNvPr id="16" name="TextBox 15"/>
          <p:cNvSpPr txBox="1"/>
          <p:nvPr/>
        </p:nvSpPr>
        <p:spPr>
          <a:xfrm>
            <a:off x="5294376" y="4073652"/>
            <a:ext cx="1600200" cy="685800"/>
          </a:xfrm>
          <a:prstGeom prst="rect">
            <a:avLst/>
          </a:prstGeom>
          <a:noFill/>
        </p:spPr>
        <p:txBody>
          <a:bodyPr wrap="square" lIns="0" rIns="0" tIns="0" bIns="0" anchor="t">
            <a:noAutofit/>
          </a:bodyPr>
          <a:lstStyle/>
          <a:p>
            <a:pPr algn="ctr"/>
            <a:r>
              <a:rPr sz="1700" i="0">
                <a:solidFill>
                  <a:srgbClr val="07080C"/>
                </a:solidFill>
                <a:latin typeface="Segoe UI Semibold"/>
              </a:rPr>
              <a:t>Parameter planning bands</a:t>
            </a:r>
          </a:p>
        </p:txBody>
      </p:sp>
      <p:sp>
        <p:nvSpPr>
          <p:cNvPr id="17" name="Rounded Rectangle 16"/>
          <p:cNvSpPr/>
          <p:nvPr/>
        </p:nvSpPr>
        <p:spPr>
          <a:xfrm>
            <a:off x="4837176" y="1865376"/>
            <a:ext cx="2514600" cy="749808"/>
          </a:xfrm>
          <a:prstGeom prst="roundRect">
            <a:avLst>
              <a:gd name="adj" fmla="val 50000"/>
            </a:avLst>
          </a:prstGeom>
          <a:solidFill>
            <a:srgbClr val="141824"/>
          </a:solidFill>
          <a:ln w="12700">
            <a:solidFill>
              <a:srgbClr val="2D6FA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4910328" y="1938528"/>
            <a:ext cx="603504" cy="603504"/>
          </a:xfrm>
          <a:prstGeom prst="ellipse">
            <a:avLst/>
          </a:prstGeom>
          <a:solidFill>
            <a:srgbClr val="3DA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994819" y="2023019"/>
            <a:ext cx="434523" cy="434523"/>
          </a:xfrm>
          <a:prstGeom prst="rect">
            <a:avLst/>
          </a:prstGeom>
          <a:noFill/>
        </p:spPr>
        <p:txBody>
          <a:bodyPr wrap="none" lIns="0" rIns="0" tIns="0" bIns="0" anchor="ctr">
            <a:spAutoFit/>
          </a:bodyPr>
          <a:lstStyle/>
          <a:p>
            <a:pPr algn="ctr"/>
            <a:r>
              <a:rPr sz="2121">
                <a:solidFill>
                  <a:srgbClr val="07080C"/>
                </a:solidFill>
                <a:latin typeface="Segoe Fluent Icons"/>
              </a:rPr>
              <a:t></a:t>
            </a:r>
          </a:p>
        </p:txBody>
      </p:sp>
      <p:sp>
        <p:nvSpPr>
          <p:cNvPr id="20" name="TextBox 19"/>
          <p:cNvSpPr txBox="1"/>
          <p:nvPr/>
        </p:nvSpPr>
        <p:spPr>
          <a:xfrm>
            <a:off x="5605272" y="1920240"/>
            <a:ext cx="1636776" cy="640080"/>
          </a:xfrm>
          <a:prstGeom prst="rect">
            <a:avLst/>
          </a:prstGeom>
          <a:noFill/>
        </p:spPr>
        <p:txBody>
          <a:bodyPr wrap="square" lIns="0" rIns="0" tIns="0" bIns="0" anchor="ctr">
            <a:noAutofit/>
          </a:bodyPr>
          <a:lstStyle/>
          <a:p>
            <a:pPr algn="l"/>
            <a:r>
              <a:rPr sz="1500" i="0">
                <a:solidFill>
                  <a:srgbClr val="F4F6FA"/>
                </a:solidFill>
                <a:latin typeface="Segoe UI Semibold"/>
              </a:rPr>
              <a:t>S: 1–4B</a:t>
            </a:r>
          </a:p>
        </p:txBody>
      </p:sp>
      <p:sp>
        <p:nvSpPr>
          <p:cNvPr id="21" name="Rounded Rectangle 20"/>
          <p:cNvSpPr/>
          <p:nvPr/>
        </p:nvSpPr>
        <p:spPr>
          <a:xfrm>
            <a:off x="9011412" y="3625596"/>
            <a:ext cx="2514600" cy="749808"/>
          </a:xfrm>
          <a:prstGeom prst="roundRect">
            <a:avLst>
              <a:gd name="adj" fmla="val 50000"/>
            </a:avLst>
          </a:prstGeom>
          <a:solidFill>
            <a:srgbClr val="141824"/>
          </a:solidFill>
          <a:ln w="12700">
            <a:solidFill>
              <a:srgbClr val="654AA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9084564" y="3698748"/>
            <a:ext cx="603504" cy="603504"/>
          </a:xfrm>
          <a:prstGeom prst="ellipse">
            <a:avLst/>
          </a:prstGeom>
          <a:solidFill>
            <a:srgbClr val="9B6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169055" y="3783239"/>
            <a:ext cx="434523" cy="434523"/>
          </a:xfrm>
          <a:prstGeom prst="rect">
            <a:avLst/>
          </a:prstGeom>
          <a:noFill/>
        </p:spPr>
        <p:txBody>
          <a:bodyPr wrap="none" lIns="0" rIns="0" tIns="0" bIns="0" anchor="ctr">
            <a:spAutoFit/>
          </a:bodyPr>
          <a:lstStyle/>
          <a:p>
            <a:pPr algn="ctr"/>
            <a:r>
              <a:rPr sz="2121">
                <a:solidFill>
                  <a:srgbClr val="07080C"/>
                </a:solidFill>
                <a:latin typeface="Segoe Fluent Icons"/>
              </a:rPr>
              <a:t></a:t>
            </a:r>
          </a:p>
        </p:txBody>
      </p:sp>
      <p:sp>
        <p:nvSpPr>
          <p:cNvPr id="24" name="TextBox 23"/>
          <p:cNvSpPr txBox="1"/>
          <p:nvPr/>
        </p:nvSpPr>
        <p:spPr>
          <a:xfrm>
            <a:off x="9779508" y="3680460"/>
            <a:ext cx="1636776" cy="640080"/>
          </a:xfrm>
          <a:prstGeom prst="rect">
            <a:avLst/>
          </a:prstGeom>
          <a:noFill/>
        </p:spPr>
        <p:txBody>
          <a:bodyPr wrap="square" lIns="0" rIns="0" tIns="0" bIns="0" anchor="ctr">
            <a:noAutofit/>
          </a:bodyPr>
          <a:lstStyle/>
          <a:p>
            <a:pPr algn="l"/>
            <a:r>
              <a:rPr sz="1500" i="0">
                <a:solidFill>
                  <a:srgbClr val="F4F6FA"/>
                </a:solidFill>
                <a:latin typeface="Segoe UI Semibold"/>
              </a:rPr>
              <a:t>M: 7–8B</a:t>
            </a:r>
          </a:p>
        </p:txBody>
      </p:sp>
      <p:sp>
        <p:nvSpPr>
          <p:cNvPr id="25" name="Rounded Rectangle 24"/>
          <p:cNvSpPr/>
          <p:nvPr/>
        </p:nvSpPr>
        <p:spPr>
          <a:xfrm>
            <a:off x="4837176" y="5385816"/>
            <a:ext cx="2514600" cy="749808"/>
          </a:xfrm>
          <a:prstGeom prst="roundRect">
            <a:avLst>
              <a:gd name="adj" fmla="val 50000"/>
            </a:avLst>
          </a:prstGeom>
          <a:solidFill>
            <a:srgbClr val="141824"/>
          </a:solidFill>
          <a:ln w="12700">
            <a:solidFill>
              <a:srgbClr val="A1763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4910328" y="5458968"/>
            <a:ext cx="603504" cy="603504"/>
          </a:xfrm>
          <a:prstGeom prst="ellipse">
            <a:avLst/>
          </a:prstGeom>
          <a:solidFill>
            <a:srgbClr val="FFB5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994819" y="5543459"/>
            <a:ext cx="434523" cy="434523"/>
          </a:xfrm>
          <a:prstGeom prst="rect">
            <a:avLst/>
          </a:prstGeom>
          <a:noFill/>
        </p:spPr>
        <p:txBody>
          <a:bodyPr wrap="none" lIns="0" rIns="0" tIns="0" bIns="0" anchor="ctr">
            <a:spAutoFit/>
          </a:bodyPr>
          <a:lstStyle/>
          <a:p>
            <a:pPr algn="ctr"/>
            <a:r>
              <a:rPr sz="2121">
                <a:solidFill>
                  <a:srgbClr val="07080C"/>
                </a:solidFill>
                <a:latin typeface="Segoe Fluent Icons"/>
              </a:rPr>
              <a:t></a:t>
            </a:r>
          </a:p>
        </p:txBody>
      </p:sp>
      <p:sp>
        <p:nvSpPr>
          <p:cNvPr id="28" name="TextBox 27"/>
          <p:cNvSpPr txBox="1"/>
          <p:nvPr/>
        </p:nvSpPr>
        <p:spPr>
          <a:xfrm>
            <a:off x="5605272" y="5440680"/>
            <a:ext cx="1636776" cy="640080"/>
          </a:xfrm>
          <a:prstGeom prst="rect">
            <a:avLst/>
          </a:prstGeom>
          <a:noFill/>
        </p:spPr>
        <p:txBody>
          <a:bodyPr wrap="square" lIns="0" rIns="0" tIns="0" bIns="0" anchor="ctr">
            <a:noAutofit/>
          </a:bodyPr>
          <a:lstStyle/>
          <a:p>
            <a:pPr algn="l"/>
            <a:r>
              <a:rPr sz="1500" i="0">
                <a:solidFill>
                  <a:srgbClr val="F4F6FA"/>
                </a:solidFill>
                <a:latin typeface="Segoe UI Semibold"/>
              </a:rPr>
              <a:t>L: 14–20B</a:t>
            </a:r>
          </a:p>
        </p:txBody>
      </p:sp>
      <p:sp>
        <p:nvSpPr>
          <p:cNvPr id="29" name="Rounded Rectangle 28"/>
          <p:cNvSpPr/>
          <p:nvPr/>
        </p:nvSpPr>
        <p:spPr>
          <a:xfrm>
            <a:off x="662940" y="3625596"/>
            <a:ext cx="2514600" cy="749808"/>
          </a:xfrm>
          <a:prstGeom prst="roundRect">
            <a:avLst>
              <a:gd name="adj" fmla="val 50000"/>
            </a:avLst>
          </a:prstGeom>
          <a:solidFill>
            <a:srgbClr val="141824"/>
          </a:solidFill>
          <a:ln w="12700">
            <a:solidFill>
              <a:srgbClr val="A1416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Oval 29"/>
          <p:cNvSpPr/>
          <p:nvPr/>
        </p:nvSpPr>
        <p:spPr>
          <a:xfrm>
            <a:off x="736092" y="3698748"/>
            <a:ext cx="603504" cy="603504"/>
          </a:xfrm>
          <a:prstGeom prst="ellipse">
            <a:avLst/>
          </a:prstGeom>
          <a:solidFill>
            <a:srgbClr val="FF5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820583" y="3783239"/>
            <a:ext cx="434523" cy="434523"/>
          </a:xfrm>
          <a:prstGeom prst="rect">
            <a:avLst/>
          </a:prstGeom>
          <a:noFill/>
        </p:spPr>
        <p:txBody>
          <a:bodyPr wrap="none" lIns="0" rIns="0" tIns="0" bIns="0" anchor="ctr">
            <a:spAutoFit/>
          </a:bodyPr>
          <a:lstStyle/>
          <a:p>
            <a:pPr algn="ctr"/>
            <a:r>
              <a:rPr sz="2121">
                <a:solidFill>
                  <a:srgbClr val="07080C"/>
                </a:solidFill>
                <a:latin typeface="Segoe Fluent Icons"/>
              </a:rPr>
              <a:t></a:t>
            </a:r>
          </a:p>
        </p:txBody>
      </p:sp>
      <p:sp>
        <p:nvSpPr>
          <p:cNvPr id="32" name="TextBox 31"/>
          <p:cNvSpPr txBox="1"/>
          <p:nvPr/>
        </p:nvSpPr>
        <p:spPr>
          <a:xfrm>
            <a:off x="1431036" y="3680460"/>
            <a:ext cx="1636776" cy="640080"/>
          </a:xfrm>
          <a:prstGeom prst="rect">
            <a:avLst/>
          </a:prstGeom>
          <a:noFill/>
        </p:spPr>
        <p:txBody>
          <a:bodyPr wrap="square" lIns="0" rIns="0" tIns="0" bIns="0" anchor="ctr">
            <a:noAutofit/>
          </a:bodyPr>
          <a:lstStyle/>
          <a:p>
            <a:pPr algn="l"/>
            <a:r>
              <a:rPr sz="1500" i="0">
                <a:solidFill>
                  <a:srgbClr val="F4F6FA"/>
                </a:solidFill>
                <a:latin typeface="Segoe UI Semibold"/>
              </a:rPr>
              <a:t>XL: 24–32B</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gradFill rotWithShape="1">
          <a:gsLst>
            <a:gs pos="0">
              <a:srgbClr val="07080C"/>
            </a:gs>
            <a:gs pos="100000">
              <a:srgbClr val="121521"/>
            </a:gs>
          </a:gsLst>
          <a:lin scaled="0" ang="13500000"/>
        </a:gradFill>
        <a:effectLst/>
      </p:bgPr>
    </p:bg>
    <p:spTree>
      <p:nvGrpSpPr>
        <p:cNvPr id="1" name=""/>
        <p:cNvGrpSpPr/>
        <p:nvPr/>
      </p:nvGrpSpPr>
      <p:grpSpPr/>
      <p:sp>
        <p:nvSpPr>
          <p:cNvPr id="2" name="Oval 1"/>
          <p:cNvSpPr/>
          <p:nvPr/>
        </p:nvSpPr>
        <p:spPr>
          <a:xfrm>
            <a:off x="8961120" y="-2743200"/>
            <a:ext cx="6400800" cy="6400800"/>
          </a:xfrm>
          <a:prstGeom prst="ellipse">
            <a:avLst/>
          </a:prstGeom>
          <a:solidFill>
            <a:srgbClr val="76B900">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0241280" y="-1371600"/>
            <a:ext cx="4114800" cy="4114800"/>
          </a:xfrm>
          <a:prstGeom prst="ellipse">
            <a:avLst/>
          </a:prstGeom>
          <a:solidFill>
            <a:srgbClr val="3DA9FC">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292608"/>
            <a:ext cx="685800" cy="54864"/>
          </a:xfrm>
          <a:prstGeom prst="rect">
            <a:avLst/>
          </a:prstGeom>
          <a:solidFill>
            <a:srgbClr val="76B900"/>
          </a:solidFill>
          <a:ln>
            <a:noFill/>
          </a:ln>
          <a:effectLst>
            <a:glow rad="76200">
              <a:srgbClr val="76B900">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F4F6FA"/>
                </a:solidFill>
                <a:latin typeface="Segoe UI Semibold"/>
              </a:rPr>
              <a:t>RAG Works Like An Engineering Library</a:t>
            </a:r>
          </a:p>
        </p:txBody>
      </p:sp>
      <p:sp>
        <p:nvSpPr>
          <p:cNvPr id="6" name="TextBox 5"/>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AEB6C8"/>
                </a:solidFill>
                <a:latin typeface="Segoe UI"/>
              </a:rPr>
              <a:t>Retrieve authorized reference material locally, then generate answers grounded in those excerpts.</a:t>
            </a:r>
          </a:p>
        </p:txBody>
      </p:sp>
      <p:sp>
        <p:nvSpPr>
          <p:cNvPr id="7" name="TextBox 6"/>
          <p:cNvSpPr txBox="1"/>
          <p:nvPr/>
        </p:nvSpPr>
        <p:spPr>
          <a:xfrm>
            <a:off x="548640" y="6419088"/>
            <a:ext cx="7315200" cy="274320"/>
          </a:xfrm>
          <a:prstGeom prst="rect">
            <a:avLst/>
          </a:prstGeom>
          <a:noFill/>
        </p:spPr>
        <p:txBody>
          <a:bodyPr wrap="square" lIns="0" rIns="0" tIns="0" bIns="0" anchor="t">
            <a:noAutofit/>
          </a:bodyPr>
          <a:lstStyle/>
          <a:p>
            <a:pPr algn="l"/>
            <a:r>
              <a:rPr sz="1000" i="0">
                <a:solidFill>
                  <a:srgbClr val="6F7890"/>
                </a:solidFill>
                <a:latin typeface="Segoe UI"/>
              </a:rPr>
              <a:t>Surface Laptop Ultra  |  NVIDIA RTX Spark  |  Zava</a:t>
            </a:r>
          </a:p>
        </p:txBody>
      </p:sp>
      <p:sp>
        <p:nvSpPr>
          <p:cNvPr id="8" name="TextBox 7"/>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6F7890"/>
                </a:solidFill>
                <a:latin typeface="Segoe UI"/>
              </a:rPr>
              <a:t>8</a:t>
            </a:r>
          </a:p>
        </p:txBody>
      </p:sp>
      <p:sp>
        <p:nvSpPr>
          <p:cNvPr id="9" name="Oval 8"/>
          <p:cNvSpPr/>
          <p:nvPr/>
        </p:nvSpPr>
        <p:spPr>
          <a:xfrm>
            <a:off x="617220" y="1851660"/>
            <a:ext cx="960120" cy="960120"/>
          </a:xfrm>
          <a:prstGeom prst="ellipse">
            <a:avLst/>
          </a:prstGeom>
          <a:solidFill>
            <a:srgbClr val="76B900"/>
          </a:solidFill>
          <a:ln>
            <a:noFill/>
          </a:ln>
          <a:effectLst>
            <a:glow rad="152400">
              <a:srgbClr val="76B900">
                <a:alpha val="4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51637" y="1986077"/>
            <a:ext cx="691286" cy="691286"/>
          </a:xfrm>
          <a:prstGeom prst="rect">
            <a:avLst/>
          </a:prstGeom>
          <a:noFill/>
        </p:spPr>
        <p:txBody>
          <a:bodyPr wrap="none" lIns="0" rIns="0" tIns="0" bIns="0" anchor="ctr">
            <a:spAutoFit/>
          </a:bodyPr>
          <a:lstStyle/>
          <a:p>
            <a:pPr algn="ctr"/>
            <a:r>
              <a:rPr sz="3374">
                <a:solidFill>
                  <a:srgbClr val="07080C"/>
                </a:solidFill>
                <a:latin typeface="Segoe Fluent Icons"/>
              </a:rPr>
              <a:t></a:t>
            </a:r>
          </a:p>
        </p:txBody>
      </p:sp>
      <p:sp>
        <p:nvSpPr>
          <p:cNvPr id="11" name="TextBox 10"/>
          <p:cNvSpPr txBox="1"/>
          <p:nvPr/>
        </p:nvSpPr>
        <p:spPr>
          <a:xfrm>
            <a:off x="1737360" y="1920240"/>
            <a:ext cx="3625596" cy="822960"/>
          </a:xfrm>
          <a:prstGeom prst="rect">
            <a:avLst/>
          </a:prstGeom>
          <a:noFill/>
        </p:spPr>
        <p:txBody>
          <a:bodyPr wrap="square" lIns="0" rIns="0" tIns="0" bIns="0" anchor="ctr">
            <a:noAutofit/>
          </a:bodyPr>
          <a:lstStyle/>
          <a:p>
            <a:pPr algn="l"/>
            <a:r>
              <a:rPr sz="2400" i="0">
                <a:solidFill>
                  <a:srgbClr val="F4F6FA"/>
                </a:solidFill>
                <a:latin typeface="Segoe UI Semibold"/>
              </a:rPr>
              <a:t>Local RAG</a:t>
            </a:r>
          </a:p>
        </p:txBody>
      </p:sp>
      <p:sp>
        <p:nvSpPr>
          <p:cNvPr id="12" name="Oval 11"/>
          <p:cNvSpPr/>
          <p:nvPr/>
        </p:nvSpPr>
        <p:spPr>
          <a:xfrm>
            <a:off x="10611612" y="1851660"/>
            <a:ext cx="960120" cy="960120"/>
          </a:xfrm>
          <a:prstGeom prst="ellipse">
            <a:avLst/>
          </a:prstGeom>
          <a:solidFill>
            <a:srgbClr val="9B6BFF"/>
          </a:solidFill>
          <a:ln>
            <a:noFill/>
          </a:ln>
          <a:effectLst>
            <a:glow rad="152400">
              <a:srgbClr val="9B6BFF">
                <a:alpha val="4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0746029" y="1986077"/>
            <a:ext cx="691286" cy="691286"/>
          </a:xfrm>
          <a:prstGeom prst="rect">
            <a:avLst/>
          </a:prstGeom>
          <a:noFill/>
        </p:spPr>
        <p:txBody>
          <a:bodyPr wrap="none" lIns="0" rIns="0" tIns="0" bIns="0" anchor="ctr">
            <a:spAutoFit/>
          </a:bodyPr>
          <a:lstStyle/>
          <a:p>
            <a:pPr algn="ctr"/>
            <a:r>
              <a:rPr sz="3374">
                <a:solidFill>
                  <a:srgbClr val="07080C"/>
                </a:solidFill>
                <a:latin typeface="Segoe Fluent Icons"/>
              </a:rPr>
              <a:t></a:t>
            </a:r>
          </a:p>
        </p:txBody>
      </p:sp>
      <p:sp>
        <p:nvSpPr>
          <p:cNvPr id="14" name="TextBox 13"/>
          <p:cNvSpPr txBox="1"/>
          <p:nvPr/>
        </p:nvSpPr>
        <p:spPr>
          <a:xfrm>
            <a:off x="6780276" y="1920240"/>
            <a:ext cx="3625596" cy="822960"/>
          </a:xfrm>
          <a:prstGeom prst="rect">
            <a:avLst/>
          </a:prstGeom>
          <a:noFill/>
        </p:spPr>
        <p:txBody>
          <a:bodyPr wrap="square" lIns="0" rIns="0" tIns="0" bIns="0" anchor="ctr">
            <a:noAutofit/>
          </a:bodyPr>
          <a:lstStyle/>
          <a:p>
            <a:pPr algn="r"/>
            <a:r>
              <a:rPr sz="2400" i="0">
                <a:solidFill>
                  <a:srgbClr val="F4F6FA"/>
                </a:solidFill>
                <a:latin typeface="Segoe UI Semibold"/>
              </a:rPr>
              <a:t>Engineering library</a:t>
            </a:r>
          </a:p>
        </p:txBody>
      </p:sp>
      <p:sp>
        <p:nvSpPr>
          <p:cNvPr id="15" name="TextBox 14"/>
          <p:cNvSpPr txBox="1"/>
          <p:nvPr/>
        </p:nvSpPr>
        <p:spPr>
          <a:xfrm>
            <a:off x="5408676" y="2057400"/>
            <a:ext cx="1371600" cy="548640"/>
          </a:xfrm>
          <a:prstGeom prst="rect">
            <a:avLst/>
          </a:prstGeom>
          <a:noFill/>
        </p:spPr>
        <p:txBody>
          <a:bodyPr wrap="square" lIns="0" rIns="0" tIns="0" bIns="0" anchor="ctr">
            <a:noAutofit/>
          </a:bodyPr>
          <a:lstStyle/>
          <a:p>
            <a:pPr algn="ctr"/>
            <a:r>
              <a:rPr sz="1600" i="1">
                <a:solidFill>
                  <a:srgbClr val="6F7890"/>
                </a:solidFill>
                <a:latin typeface="Segoe UI"/>
              </a:rPr>
              <a:t>is like</a:t>
            </a:r>
          </a:p>
        </p:txBody>
      </p:sp>
      <p:sp>
        <p:nvSpPr>
          <p:cNvPr id="16" name="Rounded Rectangle 15"/>
          <p:cNvSpPr/>
          <p:nvPr/>
        </p:nvSpPr>
        <p:spPr>
          <a:xfrm>
            <a:off x="548640" y="3108960"/>
            <a:ext cx="4860036" cy="683514"/>
          </a:xfrm>
          <a:prstGeom prst="roundRect">
            <a:avLst>
              <a:gd name="adj" fmla="val 50000"/>
            </a:avLst>
          </a:prstGeom>
          <a:solidFill>
            <a:srgbClr val="141824"/>
          </a:solidFill>
          <a:ln w="15875">
            <a:solidFill>
              <a:srgbClr val="76B9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22960" y="3145536"/>
            <a:ext cx="4311396" cy="610362"/>
          </a:xfrm>
          <a:prstGeom prst="rect">
            <a:avLst/>
          </a:prstGeom>
          <a:noFill/>
        </p:spPr>
        <p:txBody>
          <a:bodyPr wrap="square" lIns="0" rIns="0" tIns="0" bIns="0" anchor="ctr">
            <a:noAutofit/>
          </a:bodyPr>
          <a:lstStyle/>
          <a:p>
            <a:pPr algn="ctr"/>
            <a:r>
              <a:rPr sz="1700" i="0">
                <a:solidFill>
                  <a:srgbClr val="F4F6FA"/>
                </a:solidFill>
                <a:latin typeface="Segoe UI"/>
              </a:rPr>
              <a:t>Internal documents</a:t>
            </a:r>
          </a:p>
        </p:txBody>
      </p:sp>
      <p:cxnSp>
        <p:nvCxnSpPr>
          <p:cNvPr id="18" name="Connector 17"/>
          <p:cNvCxnSpPr/>
          <p:nvPr/>
        </p:nvCxnSpPr>
        <p:spPr>
          <a:xfrm>
            <a:off x="5481828" y="3450717"/>
            <a:ext cx="1225296" cy="0"/>
          </a:xfrm>
          <a:prstGeom prst="line">
            <a:avLst/>
          </a:prstGeom>
          <a:ln w="25400">
            <a:solidFill>
              <a:srgbClr val="6F7890"/>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780276" y="3108960"/>
            <a:ext cx="4860036" cy="683514"/>
          </a:xfrm>
          <a:prstGeom prst="roundRect">
            <a:avLst>
              <a:gd name="adj" fmla="val 50000"/>
            </a:avLst>
          </a:prstGeom>
          <a:solidFill>
            <a:srgbClr val="141824"/>
          </a:solidFill>
          <a:ln w="15875">
            <a:solidFill>
              <a:srgbClr val="9B6B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054596" y="3145536"/>
            <a:ext cx="4311396" cy="610362"/>
          </a:xfrm>
          <a:prstGeom prst="rect">
            <a:avLst/>
          </a:prstGeom>
          <a:noFill/>
        </p:spPr>
        <p:txBody>
          <a:bodyPr wrap="square" lIns="0" rIns="0" tIns="0" bIns="0" anchor="ctr">
            <a:noAutofit/>
          </a:bodyPr>
          <a:lstStyle/>
          <a:p>
            <a:pPr algn="ctr"/>
            <a:r>
              <a:rPr sz="1700" i="0">
                <a:solidFill>
                  <a:srgbClr val="F4F6FA"/>
                </a:solidFill>
                <a:latin typeface="Segoe UI"/>
              </a:rPr>
              <a:t>Controlled shelves</a:t>
            </a:r>
          </a:p>
        </p:txBody>
      </p:sp>
      <p:sp>
        <p:nvSpPr>
          <p:cNvPr id="21" name="Rounded Rectangle 20"/>
          <p:cNvSpPr/>
          <p:nvPr/>
        </p:nvSpPr>
        <p:spPr>
          <a:xfrm>
            <a:off x="548640" y="3902202"/>
            <a:ext cx="4860036" cy="683514"/>
          </a:xfrm>
          <a:prstGeom prst="roundRect">
            <a:avLst>
              <a:gd name="adj" fmla="val 50000"/>
            </a:avLst>
          </a:prstGeom>
          <a:solidFill>
            <a:srgbClr val="141824"/>
          </a:solidFill>
          <a:ln w="15875">
            <a:solidFill>
              <a:srgbClr val="76B9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22960" y="3938778"/>
            <a:ext cx="4311396" cy="610362"/>
          </a:xfrm>
          <a:prstGeom prst="rect">
            <a:avLst/>
          </a:prstGeom>
          <a:noFill/>
        </p:spPr>
        <p:txBody>
          <a:bodyPr wrap="square" lIns="0" rIns="0" tIns="0" bIns="0" anchor="ctr">
            <a:noAutofit/>
          </a:bodyPr>
          <a:lstStyle/>
          <a:p>
            <a:pPr algn="ctr"/>
            <a:r>
              <a:rPr sz="1700" i="0">
                <a:solidFill>
                  <a:srgbClr val="F4F6FA"/>
                </a:solidFill>
                <a:latin typeface="Segoe UI"/>
              </a:rPr>
              <a:t>Permissioned retrieval</a:t>
            </a:r>
          </a:p>
        </p:txBody>
      </p:sp>
      <p:cxnSp>
        <p:nvCxnSpPr>
          <p:cNvPr id="23" name="Connector 22"/>
          <p:cNvCxnSpPr/>
          <p:nvPr/>
        </p:nvCxnSpPr>
        <p:spPr>
          <a:xfrm>
            <a:off x="5481828" y="4243959"/>
            <a:ext cx="1225296" cy="0"/>
          </a:xfrm>
          <a:prstGeom prst="line">
            <a:avLst/>
          </a:prstGeom>
          <a:ln w="25400">
            <a:solidFill>
              <a:srgbClr val="6F7890"/>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780276" y="3902202"/>
            <a:ext cx="4860036" cy="683514"/>
          </a:xfrm>
          <a:prstGeom prst="roundRect">
            <a:avLst>
              <a:gd name="adj" fmla="val 50000"/>
            </a:avLst>
          </a:prstGeom>
          <a:solidFill>
            <a:srgbClr val="141824"/>
          </a:solidFill>
          <a:ln w="15875">
            <a:solidFill>
              <a:srgbClr val="9B6B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054596" y="3938778"/>
            <a:ext cx="4311396" cy="610362"/>
          </a:xfrm>
          <a:prstGeom prst="rect">
            <a:avLst/>
          </a:prstGeom>
          <a:noFill/>
        </p:spPr>
        <p:txBody>
          <a:bodyPr wrap="square" lIns="0" rIns="0" tIns="0" bIns="0" anchor="ctr">
            <a:noAutofit/>
          </a:bodyPr>
          <a:lstStyle/>
          <a:p>
            <a:pPr algn="ctr"/>
            <a:r>
              <a:rPr sz="1700" i="0">
                <a:solidFill>
                  <a:srgbClr val="F4F6FA"/>
                </a:solidFill>
                <a:latin typeface="Segoe UI"/>
              </a:rPr>
              <a:t>Authorized reference librarian</a:t>
            </a:r>
          </a:p>
        </p:txBody>
      </p:sp>
      <p:sp>
        <p:nvSpPr>
          <p:cNvPr id="26" name="Rounded Rectangle 25"/>
          <p:cNvSpPr/>
          <p:nvPr/>
        </p:nvSpPr>
        <p:spPr>
          <a:xfrm>
            <a:off x="548640" y="4695444"/>
            <a:ext cx="4860036" cy="683514"/>
          </a:xfrm>
          <a:prstGeom prst="roundRect">
            <a:avLst>
              <a:gd name="adj" fmla="val 50000"/>
            </a:avLst>
          </a:prstGeom>
          <a:solidFill>
            <a:srgbClr val="141824"/>
          </a:solidFill>
          <a:ln w="15875">
            <a:solidFill>
              <a:srgbClr val="76B9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22960" y="4732020"/>
            <a:ext cx="4311396" cy="610362"/>
          </a:xfrm>
          <a:prstGeom prst="rect">
            <a:avLst/>
          </a:prstGeom>
          <a:noFill/>
        </p:spPr>
        <p:txBody>
          <a:bodyPr wrap="square" lIns="0" rIns="0" tIns="0" bIns="0" anchor="ctr">
            <a:noAutofit/>
          </a:bodyPr>
          <a:lstStyle/>
          <a:p>
            <a:pPr algn="ctr"/>
            <a:r>
              <a:rPr sz="1700" i="0">
                <a:solidFill>
                  <a:srgbClr val="F4F6FA"/>
                </a:solidFill>
                <a:latin typeface="Segoe UI"/>
              </a:rPr>
              <a:t>Retrieved excerpts</a:t>
            </a:r>
          </a:p>
        </p:txBody>
      </p:sp>
      <p:cxnSp>
        <p:nvCxnSpPr>
          <p:cNvPr id="28" name="Connector 27"/>
          <p:cNvCxnSpPr/>
          <p:nvPr/>
        </p:nvCxnSpPr>
        <p:spPr>
          <a:xfrm>
            <a:off x="5481828" y="5037201"/>
            <a:ext cx="1225296" cy="0"/>
          </a:xfrm>
          <a:prstGeom prst="line">
            <a:avLst/>
          </a:prstGeom>
          <a:ln w="25400">
            <a:solidFill>
              <a:srgbClr val="6F7890"/>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6780276" y="4695444"/>
            <a:ext cx="4860036" cy="683514"/>
          </a:xfrm>
          <a:prstGeom prst="roundRect">
            <a:avLst>
              <a:gd name="adj" fmla="val 50000"/>
            </a:avLst>
          </a:prstGeom>
          <a:solidFill>
            <a:srgbClr val="141824"/>
          </a:solidFill>
          <a:ln w="15875">
            <a:solidFill>
              <a:srgbClr val="9B6B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7054596" y="4732020"/>
            <a:ext cx="4311396" cy="610362"/>
          </a:xfrm>
          <a:prstGeom prst="rect">
            <a:avLst/>
          </a:prstGeom>
          <a:noFill/>
        </p:spPr>
        <p:txBody>
          <a:bodyPr wrap="square" lIns="0" rIns="0" tIns="0" bIns="0" anchor="ctr">
            <a:noAutofit/>
          </a:bodyPr>
          <a:lstStyle/>
          <a:p>
            <a:pPr algn="ctr"/>
            <a:r>
              <a:rPr sz="1700" i="0">
                <a:solidFill>
                  <a:srgbClr val="F4F6FA"/>
                </a:solidFill>
                <a:latin typeface="Segoe UI"/>
              </a:rPr>
              <a:t>Selected reference pages</a:t>
            </a:r>
          </a:p>
        </p:txBody>
      </p:sp>
      <p:sp>
        <p:nvSpPr>
          <p:cNvPr id="31" name="Rounded Rectangle 30"/>
          <p:cNvSpPr/>
          <p:nvPr/>
        </p:nvSpPr>
        <p:spPr>
          <a:xfrm>
            <a:off x="548640" y="5488686"/>
            <a:ext cx="4860036" cy="683514"/>
          </a:xfrm>
          <a:prstGeom prst="roundRect">
            <a:avLst>
              <a:gd name="adj" fmla="val 50000"/>
            </a:avLst>
          </a:prstGeom>
          <a:solidFill>
            <a:srgbClr val="141824"/>
          </a:solidFill>
          <a:ln w="15875">
            <a:solidFill>
              <a:srgbClr val="76B9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822960" y="5525262"/>
            <a:ext cx="4311396" cy="610362"/>
          </a:xfrm>
          <a:prstGeom prst="rect">
            <a:avLst/>
          </a:prstGeom>
          <a:noFill/>
        </p:spPr>
        <p:txBody>
          <a:bodyPr wrap="square" lIns="0" rIns="0" tIns="0" bIns="0" anchor="ctr">
            <a:noAutofit/>
          </a:bodyPr>
          <a:lstStyle/>
          <a:p>
            <a:pPr algn="ctr"/>
            <a:r>
              <a:rPr sz="1700" i="0">
                <a:solidFill>
                  <a:srgbClr val="F4F6FA"/>
                </a:solidFill>
                <a:latin typeface="Segoe UI"/>
              </a:rPr>
              <a:t>Cited answer</a:t>
            </a:r>
          </a:p>
        </p:txBody>
      </p:sp>
      <p:cxnSp>
        <p:nvCxnSpPr>
          <p:cNvPr id="33" name="Connector 32"/>
          <p:cNvCxnSpPr/>
          <p:nvPr/>
        </p:nvCxnSpPr>
        <p:spPr>
          <a:xfrm>
            <a:off x="5481828" y="5830443"/>
            <a:ext cx="1225296" cy="0"/>
          </a:xfrm>
          <a:prstGeom prst="line">
            <a:avLst/>
          </a:prstGeom>
          <a:ln w="25400">
            <a:solidFill>
              <a:srgbClr val="6F7890"/>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6780276" y="5488686"/>
            <a:ext cx="4860036" cy="683514"/>
          </a:xfrm>
          <a:prstGeom prst="roundRect">
            <a:avLst>
              <a:gd name="adj" fmla="val 50000"/>
            </a:avLst>
          </a:prstGeom>
          <a:solidFill>
            <a:srgbClr val="141824"/>
          </a:solidFill>
          <a:ln w="15875">
            <a:solidFill>
              <a:srgbClr val="9B6B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7054596" y="5525262"/>
            <a:ext cx="4311396" cy="610362"/>
          </a:xfrm>
          <a:prstGeom prst="rect">
            <a:avLst/>
          </a:prstGeom>
          <a:noFill/>
        </p:spPr>
        <p:txBody>
          <a:bodyPr wrap="square" lIns="0" rIns="0" tIns="0" bIns="0" anchor="ctr">
            <a:noAutofit/>
          </a:bodyPr>
          <a:lstStyle/>
          <a:p>
            <a:pPr algn="ctr"/>
            <a:r>
              <a:rPr sz="1700" i="0">
                <a:solidFill>
                  <a:srgbClr val="F4F6FA"/>
                </a:solidFill>
                <a:latin typeface="Segoe UI"/>
              </a:rPr>
              <a:t>Explanation with sources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gradFill rotWithShape="1">
          <a:gsLst>
            <a:gs pos="0">
              <a:srgbClr val="07080C"/>
            </a:gs>
            <a:gs pos="100000">
              <a:srgbClr val="121521"/>
            </a:gs>
          </a:gsLst>
          <a:lin scaled="0" ang="13500000"/>
        </a:gradFill>
        <a:effectLst/>
      </p:bgPr>
    </p:bg>
    <p:spTree>
      <p:nvGrpSpPr>
        <p:cNvPr id="1" name=""/>
        <p:cNvGrpSpPr/>
        <p:nvPr/>
      </p:nvGrpSpPr>
      <p:grpSpPr/>
      <p:sp>
        <p:nvSpPr>
          <p:cNvPr id="2" name="Oval 1"/>
          <p:cNvSpPr/>
          <p:nvPr/>
        </p:nvSpPr>
        <p:spPr>
          <a:xfrm>
            <a:off x="8961120" y="-2743200"/>
            <a:ext cx="6400800" cy="6400800"/>
          </a:xfrm>
          <a:prstGeom prst="ellipse">
            <a:avLst/>
          </a:prstGeom>
          <a:solidFill>
            <a:srgbClr val="76B900">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0241280" y="-1371600"/>
            <a:ext cx="4114800" cy="4114800"/>
          </a:xfrm>
          <a:prstGeom prst="ellipse">
            <a:avLst/>
          </a:prstGeom>
          <a:solidFill>
            <a:srgbClr val="3DA9FC">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292608"/>
            <a:ext cx="685800" cy="54864"/>
          </a:xfrm>
          <a:prstGeom prst="rect">
            <a:avLst/>
          </a:prstGeom>
          <a:solidFill>
            <a:srgbClr val="76B900"/>
          </a:solidFill>
          <a:ln>
            <a:noFill/>
          </a:ln>
          <a:effectLst>
            <a:glow rad="76200">
              <a:srgbClr val="76B900">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F4F6FA"/>
                </a:solidFill>
                <a:latin typeface="Segoe UI Semibold"/>
              </a:rPr>
              <a:t>Local Code And RAG Architecture</a:t>
            </a:r>
          </a:p>
        </p:txBody>
      </p:sp>
      <p:sp>
        <p:nvSpPr>
          <p:cNvPr id="6" name="TextBox 5"/>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AEB6C8"/>
                </a:solidFill>
                <a:latin typeface="Segoe UI"/>
              </a:rPr>
              <a:t>Code uses local inference directly; RAG adds permission-filtered context from a local index.</a:t>
            </a:r>
          </a:p>
        </p:txBody>
      </p:sp>
      <p:sp>
        <p:nvSpPr>
          <p:cNvPr id="7" name="TextBox 6"/>
          <p:cNvSpPr txBox="1"/>
          <p:nvPr/>
        </p:nvSpPr>
        <p:spPr>
          <a:xfrm>
            <a:off x="548640" y="6419088"/>
            <a:ext cx="7315200" cy="274320"/>
          </a:xfrm>
          <a:prstGeom prst="rect">
            <a:avLst/>
          </a:prstGeom>
          <a:noFill/>
        </p:spPr>
        <p:txBody>
          <a:bodyPr wrap="square" lIns="0" rIns="0" tIns="0" bIns="0" anchor="t">
            <a:noAutofit/>
          </a:bodyPr>
          <a:lstStyle/>
          <a:p>
            <a:pPr algn="l"/>
            <a:r>
              <a:rPr sz="1000" i="0">
                <a:solidFill>
                  <a:srgbClr val="6F7890"/>
                </a:solidFill>
                <a:latin typeface="Segoe UI"/>
              </a:rPr>
              <a:t>Surface Laptop Ultra  |  NVIDIA RTX Spark  |  Zava</a:t>
            </a:r>
          </a:p>
        </p:txBody>
      </p:sp>
      <p:sp>
        <p:nvSpPr>
          <p:cNvPr id="8" name="TextBox 7"/>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6F7890"/>
                </a:solidFill>
                <a:latin typeface="Segoe UI"/>
              </a:rPr>
              <a:t>9</a:t>
            </a:r>
          </a:p>
        </p:txBody>
      </p:sp>
      <p:cxnSp>
        <p:nvCxnSpPr>
          <p:cNvPr id="9" name="Connector 8"/>
          <p:cNvCxnSpPr/>
          <p:nvPr/>
        </p:nvCxnSpPr>
        <p:spPr>
          <a:xfrm>
            <a:off x="2212391" y="2987040"/>
            <a:ext cx="369722" cy="0"/>
          </a:xfrm>
          <a:prstGeom prst="line">
            <a:avLst/>
          </a:prstGeom>
          <a:ln w="28575">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153433" y="2987040"/>
            <a:ext cx="369723" cy="0"/>
          </a:xfrm>
          <a:prstGeom prst="line">
            <a:avLst/>
          </a:prstGeom>
          <a:ln w="28575">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556629" y="2987040"/>
            <a:ext cx="462153" cy="0"/>
          </a:xfrm>
          <a:prstGeom prst="line">
            <a:avLst/>
          </a:prstGeom>
          <a:ln w="28575">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8959825" y="2987040"/>
            <a:ext cx="554583" cy="0"/>
          </a:xfrm>
          <a:prstGeom prst="line">
            <a:avLst/>
          </a:prstGeom>
          <a:ln w="28575">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2212391" y="5267325"/>
            <a:ext cx="369722" cy="0"/>
          </a:xfrm>
          <a:prstGeom prst="line">
            <a:avLst/>
          </a:prstGeom>
          <a:ln w="28575">
            <a:solidFill>
              <a:srgbClr val="FF5D8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4153433" y="5267325"/>
            <a:ext cx="369723" cy="0"/>
          </a:xfrm>
          <a:prstGeom prst="line">
            <a:avLst/>
          </a:prstGeom>
          <a:ln w="28575">
            <a:solidFill>
              <a:srgbClr val="FF5D8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5539892" y="4507230"/>
            <a:ext cx="0" cy="434340"/>
          </a:xfrm>
          <a:prstGeom prst="line">
            <a:avLst/>
          </a:prstGeom>
          <a:ln w="28575">
            <a:solidFill>
              <a:srgbClr val="FF5D8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3367773" y="3348990"/>
            <a:ext cx="1155383" cy="832485"/>
          </a:xfrm>
          <a:prstGeom prst="line">
            <a:avLst/>
          </a:prstGeom>
          <a:ln w="28575">
            <a:solidFill>
              <a:srgbClr val="9B6B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2939625" y="3381184"/>
            <a:ext cx="2011680" cy="329184"/>
          </a:xfrm>
          <a:prstGeom prst="rect">
            <a:avLst/>
          </a:prstGeom>
          <a:noFill/>
        </p:spPr>
        <p:txBody>
          <a:bodyPr wrap="square" lIns="0" rIns="0" tIns="0" bIns="0" anchor="t">
            <a:noAutofit/>
          </a:bodyPr>
          <a:lstStyle/>
          <a:p>
            <a:pPr algn="ctr"/>
            <a:r>
              <a:rPr sz="1200" i="0">
                <a:solidFill>
                  <a:srgbClr val="AEB6C8"/>
                </a:solidFill>
                <a:latin typeface="Segoe UI"/>
              </a:rPr>
              <a:t>Docs query</a:t>
            </a:r>
          </a:p>
        </p:txBody>
      </p:sp>
      <p:cxnSp>
        <p:nvCxnSpPr>
          <p:cNvPr id="18" name="Connector 17"/>
          <p:cNvCxnSpPr/>
          <p:nvPr/>
        </p:nvCxnSpPr>
        <p:spPr>
          <a:xfrm flipV="1">
            <a:off x="5539892" y="3348990"/>
            <a:ext cx="0" cy="506730"/>
          </a:xfrm>
          <a:prstGeom prst="line">
            <a:avLst/>
          </a:prstGeom>
          <a:ln w="28575">
            <a:solidFill>
              <a:srgbClr val="9B6B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4534052" y="3218307"/>
            <a:ext cx="2011680" cy="329184"/>
          </a:xfrm>
          <a:prstGeom prst="rect">
            <a:avLst/>
          </a:prstGeom>
          <a:noFill/>
        </p:spPr>
        <p:txBody>
          <a:bodyPr wrap="square" lIns="0" rIns="0" tIns="0" bIns="0" anchor="t">
            <a:noAutofit/>
          </a:bodyPr>
          <a:lstStyle/>
          <a:p>
            <a:pPr algn="ctr"/>
            <a:r>
              <a:rPr sz="1200" i="0">
                <a:solidFill>
                  <a:srgbClr val="AEB6C8"/>
                </a:solidFill>
                <a:latin typeface="Segoe UI"/>
              </a:rPr>
              <a:t>Context</a:t>
            </a:r>
          </a:p>
        </p:txBody>
      </p:sp>
      <p:sp>
        <p:nvSpPr>
          <p:cNvPr id="20" name="TextBox 19"/>
          <p:cNvSpPr txBox="1"/>
          <p:nvPr/>
        </p:nvSpPr>
        <p:spPr>
          <a:xfrm>
            <a:off x="548640" y="1828800"/>
            <a:ext cx="11091672" cy="325755"/>
          </a:xfrm>
          <a:prstGeom prst="rect">
            <a:avLst/>
          </a:prstGeom>
          <a:noFill/>
        </p:spPr>
        <p:txBody>
          <a:bodyPr wrap="square" lIns="0" rIns="0" tIns="0" bIns="0" anchor="t">
            <a:noAutofit/>
          </a:bodyPr>
          <a:lstStyle/>
          <a:p>
            <a:pPr algn="l"/>
            <a:r>
              <a:rPr sz="2000" i="0">
                <a:solidFill>
                  <a:srgbClr val="76B900"/>
                </a:solidFill>
                <a:latin typeface="Segoe UI Semibold"/>
              </a:rPr>
              <a:t>Proposed local lane</a:t>
            </a:r>
          </a:p>
        </p:txBody>
      </p:sp>
      <p:sp>
        <p:nvSpPr>
          <p:cNvPr id="21" name="Rounded Rectangle 20"/>
          <p:cNvSpPr/>
          <p:nvPr/>
        </p:nvSpPr>
        <p:spPr>
          <a:xfrm>
            <a:off x="548640" y="2625090"/>
            <a:ext cx="1663751" cy="723900"/>
          </a:xfrm>
          <a:prstGeom prst="roundRect">
            <a:avLst>
              <a:gd name="adj" fmla="val 17684"/>
            </a:avLst>
          </a:prstGeom>
          <a:solidFill>
            <a:srgbClr val="76B900"/>
          </a:solidFill>
          <a:ln>
            <a:noFill/>
          </a:ln>
          <a:effectLst>
            <a:glow rad="101600">
              <a:srgbClr val="76B900">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704088" y="2787968"/>
            <a:ext cx="398145" cy="398145"/>
          </a:xfrm>
          <a:prstGeom prst="rect">
            <a:avLst/>
          </a:prstGeom>
          <a:noFill/>
        </p:spPr>
        <p:txBody>
          <a:bodyPr wrap="none" lIns="0" rIns="0" tIns="0" bIns="0" anchor="ctr">
            <a:spAutoFit/>
          </a:bodyPr>
          <a:lstStyle/>
          <a:p>
            <a:pPr algn="ctr"/>
            <a:r>
              <a:rPr sz="1943">
                <a:solidFill>
                  <a:srgbClr val="07080C"/>
                </a:solidFill>
                <a:latin typeface="Segoe Fluent Icons"/>
              </a:rPr>
              <a:t></a:t>
            </a:r>
          </a:p>
        </p:txBody>
      </p:sp>
      <p:sp>
        <p:nvSpPr>
          <p:cNvPr id="23" name="TextBox 22"/>
          <p:cNvSpPr txBox="1"/>
          <p:nvPr/>
        </p:nvSpPr>
        <p:spPr>
          <a:xfrm>
            <a:off x="1221105" y="2734818"/>
            <a:ext cx="899846" cy="504444"/>
          </a:xfrm>
          <a:prstGeom prst="rect">
            <a:avLst/>
          </a:prstGeom>
          <a:noFill/>
        </p:spPr>
        <p:txBody>
          <a:bodyPr wrap="square" lIns="0" rIns="0" tIns="0" bIns="0" anchor="ctr">
            <a:noAutofit/>
          </a:bodyPr>
          <a:lstStyle/>
          <a:p>
            <a:pPr algn="l"/>
            <a:r>
              <a:rPr sz="1500" i="0">
                <a:solidFill>
                  <a:srgbClr val="07080C"/>
                </a:solidFill>
                <a:latin typeface="Segoe UI Semibold"/>
              </a:rPr>
              <a:t>IDE / chat</a:t>
            </a:r>
          </a:p>
        </p:txBody>
      </p:sp>
      <p:sp>
        <p:nvSpPr>
          <p:cNvPr id="24" name="Rounded Rectangle 23"/>
          <p:cNvSpPr/>
          <p:nvPr/>
        </p:nvSpPr>
        <p:spPr>
          <a:xfrm>
            <a:off x="2582113" y="2625090"/>
            <a:ext cx="1571320" cy="723900"/>
          </a:xfrm>
          <a:prstGeom prst="roundRect">
            <a:avLst>
              <a:gd name="adj" fmla="val 17684"/>
            </a:avLst>
          </a:prstGeom>
          <a:solidFill>
            <a:srgbClr val="3DA9FC"/>
          </a:solidFill>
          <a:ln>
            <a:noFill/>
          </a:ln>
          <a:effectLst>
            <a:glow rad="101600">
              <a:srgbClr val="3DA9FC">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2737561" y="2787968"/>
            <a:ext cx="398145" cy="398145"/>
          </a:xfrm>
          <a:prstGeom prst="rect">
            <a:avLst/>
          </a:prstGeom>
          <a:noFill/>
        </p:spPr>
        <p:txBody>
          <a:bodyPr wrap="none" lIns="0" rIns="0" tIns="0" bIns="0" anchor="ctr">
            <a:spAutoFit/>
          </a:bodyPr>
          <a:lstStyle/>
          <a:p>
            <a:pPr algn="ctr"/>
            <a:r>
              <a:rPr sz="1943">
                <a:solidFill>
                  <a:srgbClr val="07080C"/>
                </a:solidFill>
                <a:latin typeface="Segoe Fluent Icons"/>
              </a:rPr>
              <a:t></a:t>
            </a:r>
          </a:p>
        </p:txBody>
      </p:sp>
      <p:sp>
        <p:nvSpPr>
          <p:cNvPr id="26" name="TextBox 25"/>
          <p:cNvSpPr txBox="1"/>
          <p:nvPr/>
        </p:nvSpPr>
        <p:spPr>
          <a:xfrm>
            <a:off x="3254578" y="2734818"/>
            <a:ext cx="807415" cy="504444"/>
          </a:xfrm>
          <a:prstGeom prst="rect">
            <a:avLst/>
          </a:prstGeom>
          <a:noFill/>
        </p:spPr>
        <p:txBody>
          <a:bodyPr wrap="square" lIns="0" rIns="0" tIns="0" bIns="0" anchor="ctr">
            <a:noAutofit/>
          </a:bodyPr>
          <a:lstStyle/>
          <a:p>
            <a:pPr algn="l"/>
            <a:r>
              <a:rPr sz="1500" i="0">
                <a:solidFill>
                  <a:srgbClr val="07080C"/>
                </a:solidFill>
                <a:latin typeface="Segoe UI Semibold"/>
              </a:rPr>
              <a:t>Local API</a:t>
            </a:r>
          </a:p>
        </p:txBody>
      </p:sp>
      <p:sp>
        <p:nvSpPr>
          <p:cNvPr id="27" name="Rounded Rectangle 26"/>
          <p:cNvSpPr/>
          <p:nvPr/>
        </p:nvSpPr>
        <p:spPr>
          <a:xfrm>
            <a:off x="4523156" y="2625090"/>
            <a:ext cx="2033473" cy="723900"/>
          </a:xfrm>
          <a:prstGeom prst="roundRect">
            <a:avLst>
              <a:gd name="adj" fmla="val 17684"/>
            </a:avLst>
          </a:prstGeom>
          <a:solidFill>
            <a:srgbClr val="3DA9FC"/>
          </a:solidFill>
          <a:ln>
            <a:noFill/>
          </a:ln>
          <a:effectLst>
            <a:glow rad="101600">
              <a:srgbClr val="3DA9FC">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4678604" y="2787968"/>
            <a:ext cx="398145" cy="398145"/>
          </a:xfrm>
          <a:prstGeom prst="rect">
            <a:avLst/>
          </a:prstGeom>
          <a:noFill/>
        </p:spPr>
        <p:txBody>
          <a:bodyPr wrap="none" lIns="0" rIns="0" tIns="0" bIns="0" anchor="ctr">
            <a:spAutoFit/>
          </a:bodyPr>
          <a:lstStyle/>
          <a:p>
            <a:pPr algn="ctr"/>
            <a:r>
              <a:rPr sz="1943">
                <a:solidFill>
                  <a:srgbClr val="07080C"/>
                </a:solidFill>
                <a:latin typeface="Segoe Fluent Icons"/>
              </a:rPr>
              <a:t></a:t>
            </a:r>
          </a:p>
        </p:txBody>
      </p:sp>
      <p:sp>
        <p:nvSpPr>
          <p:cNvPr id="29" name="TextBox 28"/>
          <p:cNvSpPr txBox="1"/>
          <p:nvPr/>
        </p:nvSpPr>
        <p:spPr>
          <a:xfrm>
            <a:off x="5195621" y="2734818"/>
            <a:ext cx="1269568" cy="504444"/>
          </a:xfrm>
          <a:prstGeom prst="rect">
            <a:avLst/>
          </a:prstGeom>
          <a:noFill/>
        </p:spPr>
        <p:txBody>
          <a:bodyPr wrap="square" lIns="0" rIns="0" tIns="0" bIns="0" anchor="ctr">
            <a:noAutofit/>
          </a:bodyPr>
          <a:lstStyle/>
          <a:p>
            <a:pPr algn="l"/>
            <a:r>
              <a:rPr sz="1500" i="0">
                <a:solidFill>
                  <a:srgbClr val="07080C"/>
                </a:solidFill>
                <a:latin typeface="Segoe UI Semibold"/>
              </a:rPr>
              <a:t>CUDA runtimes</a:t>
            </a:r>
          </a:p>
        </p:txBody>
      </p:sp>
      <p:sp>
        <p:nvSpPr>
          <p:cNvPr id="30" name="Rounded Rectangle 29"/>
          <p:cNvSpPr/>
          <p:nvPr/>
        </p:nvSpPr>
        <p:spPr>
          <a:xfrm>
            <a:off x="7018782" y="2625090"/>
            <a:ext cx="1941043" cy="723900"/>
          </a:xfrm>
          <a:prstGeom prst="roundRect">
            <a:avLst>
              <a:gd name="adj" fmla="val 17684"/>
            </a:avLst>
          </a:prstGeom>
          <a:solidFill>
            <a:srgbClr val="9B6BFF"/>
          </a:solidFill>
          <a:ln>
            <a:noFill/>
          </a:ln>
          <a:effectLst>
            <a:glow rad="101600">
              <a:srgbClr val="9B6BFF">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174230" y="2787968"/>
            <a:ext cx="398145" cy="398145"/>
          </a:xfrm>
          <a:prstGeom prst="rect">
            <a:avLst/>
          </a:prstGeom>
          <a:noFill/>
        </p:spPr>
        <p:txBody>
          <a:bodyPr wrap="none" lIns="0" rIns="0" tIns="0" bIns="0" anchor="ctr">
            <a:spAutoFit/>
          </a:bodyPr>
          <a:lstStyle/>
          <a:p>
            <a:pPr algn="ctr"/>
            <a:r>
              <a:rPr sz="1943">
                <a:solidFill>
                  <a:srgbClr val="07080C"/>
                </a:solidFill>
                <a:latin typeface="Segoe Fluent Icons"/>
              </a:rPr>
              <a:t></a:t>
            </a:r>
          </a:p>
        </p:txBody>
      </p:sp>
      <p:sp>
        <p:nvSpPr>
          <p:cNvPr id="32" name="TextBox 31"/>
          <p:cNvSpPr txBox="1"/>
          <p:nvPr/>
        </p:nvSpPr>
        <p:spPr>
          <a:xfrm>
            <a:off x="7691247" y="2734818"/>
            <a:ext cx="1177138" cy="504444"/>
          </a:xfrm>
          <a:prstGeom prst="rect">
            <a:avLst/>
          </a:prstGeom>
          <a:noFill/>
        </p:spPr>
        <p:txBody>
          <a:bodyPr wrap="square" lIns="0" rIns="0" tIns="0" bIns="0" anchor="ctr">
            <a:noAutofit/>
          </a:bodyPr>
          <a:lstStyle/>
          <a:p>
            <a:pPr algn="l"/>
            <a:r>
              <a:rPr sz="1500" i="0">
                <a:solidFill>
                  <a:srgbClr val="07080C"/>
                </a:solidFill>
                <a:latin typeface="Segoe UI Semibold"/>
              </a:rPr>
              <a:t>Local models</a:t>
            </a:r>
          </a:p>
        </p:txBody>
      </p:sp>
      <p:sp>
        <p:nvSpPr>
          <p:cNvPr id="33" name="Rounded Rectangle 32"/>
          <p:cNvSpPr/>
          <p:nvPr/>
        </p:nvSpPr>
        <p:spPr>
          <a:xfrm>
            <a:off x="9514408" y="2625090"/>
            <a:ext cx="1941043" cy="723900"/>
          </a:xfrm>
          <a:prstGeom prst="roundRect">
            <a:avLst>
              <a:gd name="adj" fmla="val 17684"/>
            </a:avLst>
          </a:prstGeom>
          <a:solidFill>
            <a:srgbClr val="FFB547"/>
          </a:solidFill>
          <a:ln>
            <a:noFill/>
          </a:ln>
          <a:effectLst>
            <a:glow rad="101600">
              <a:srgbClr val="FFB547">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9669856" y="2787968"/>
            <a:ext cx="398145" cy="398145"/>
          </a:xfrm>
          <a:prstGeom prst="rect">
            <a:avLst/>
          </a:prstGeom>
          <a:noFill/>
        </p:spPr>
        <p:txBody>
          <a:bodyPr wrap="none" lIns="0" rIns="0" tIns="0" bIns="0" anchor="ctr">
            <a:spAutoFit/>
          </a:bodyPr>
          <a:lstStyle/>
          <a:p>
            <a:pPr algn="ctr"/>
            <a:r>
              <a:rPr sz="1943">
                <a:solidFill>
                  <a:srgbClr val="07080C"/>
                </a:solidFill>
                <a:latin typeface="Segoe Fluent Icons"/>
              </a:rPr>
              <a:t></a:t>
            </a:r>
          </a:p>
        </p:txBody>
      </p:sp>
      <p:sp>
        <p:nvSpPr>
          <p:cNvPr id="35" name="TextBox 34"/>
          <p:cNvSpPr txBox="1"/>
          <p:nvPr/>
        </p:nvSpPr>
        <p:spPr>
          <a:xfrm>
            <a:off x="10186873" y="2734818"/>
            <a:ext cx="1177138" cy="504444"/>
          </a:xfrm>
          <a:prstGeom prst="rect">
            <a:avLst/>
          </a:prstGeom>
          <a:noFill/>
        </p:spPr>
        <p:txBody>
          <a:bodyPr wrap="square" lIns="0" rIns="0" tIns="0" bIns="0" anchor="ctr">
            <a:noAutofit/>
          </a:bodyPr>
          <a:lstStyle/>
          <a:p>
            <a:pPr algn="l"/>
            <a:r>
              <a:rPr sz="1500" i="0">
                <a:solidFill>
                  <a:srgbClr val="07080C"/>
                </a:solidFill>
                <a:latin typeface="Segoe UI Semibold"/>
              </a:rPr>
              <a:t>Code / cited answers</a:t>
            </a:r>
          </a:p>
        </p:txBody>
      </p:sp>
      <p:sp>
        <p:nvSpPr>
          <p:cNvPr id="36" name="Rounded Rectangle 35"/>
          <p:cNvSpPr/>
          <p:nvPr/>
        </p:nvSpPr>
        <p:spPr>
          <a:xfrm>
            <a:off x="548640" y="4941570"/>
            <a:ext cx="1663751" cy="651510"/>
          </a:xfrm>
          <a:prstGeom prst="roundRect">
            <a:avLst>
              <a:gd name="adj" fmla="val 19649"/>
            </a:avLst>
          </a:prstGeom>
          <a:solidFill>
            <a:srgbClr val="FF5D8F"/>
          </a:solidFill>
          <a:ln>
            <a:noFill/>
          </a:ln>
          <a:effectLst>
            <a:glow rad="101600">
              <a:srgbClr val="FF5D8F">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704088" y="5088160"/>
            <a:ext cx="358330" cy="358330"/>
          </a:xfrm>
          <a:prstGeom prst="rect">
            <a:avLst/>
          </a:prstGeom>
          <a:noFill/>
        </p:spPr>
        <p:txBody>
          <a:bodyPr wrap="none" lIns="0" rIns="0" tIns="0" bIns="0" anchor="ctr">
            <a:spAutoFit/>
          </a:bodyPr>
          <a:lstStyle/>
          <a:p>
            <a:pPr algn="ctr"/>
            <a:r>
              <a:rPr sz="1749">
                <a:solidFill>
                  <a:srgbClr val="07080C"/>
                </a:solidFill>
                <a:latin typeface="Segoe Fluent Icons"/>
              </a:rPr>
              <a:t></a:t>
            </a:r>
          </a:p>
        </p:txBody>
      </p:sp>
      <p:sp>
        <p:nvSpPr>
          <p:cNvPr id="38" name="TextBox 37"/>
          <p:cNvSpPr txBox="1"/>
          <p:nvPr/>
        </p:nvSpPr>
        <p:spPr>
          <a:xfrm>
            <a:off x="1181290" y="5051298"/>
            <a:ext cx="939660" cy="432054"/>
          </a:xfrm>
          <a:prstGeom prst="rect">
            <a:avLst/>
          </a:prstGeom>
          <a:noFill/>
        </p:spPr>
        <p:txBody>
          <a:bodyPr wrap="square" lIns="0" rIns="0" tIns="0" bIns="0" anchor="ctr">
            <a:noAutofit/>
          </a:bodyPr>
          <a:lstStyle/>
          <a:p>
            <a:pPr algn="l"/>
            <a:r>
              <a:rPr sz="1300" i="0">
                <a:solidFill>
                  <a:srgbClr val="07080C"/>
                </a:solidFill>
                <a:latin typeface="Segoe UI Semibold"/>
              </a:rPr>
              <a:t>Internal docs</a:t>
            </a:r>
          </a:p>
        </p:txBody>
      </p:sp>
      <p:sp>
        <p:nvSpPr>
          <p:cNvPr id="39" name="Rounded Rectangle 38"/>
          <p:cNvSpPr/>
          <p:nvPr/>
        </p:nvSpPr>
        <p:spPr>
          <a:xfrm>
            <a:off x="2582113" y="4941570"/>
            <a:ext cx="1571320" cy="651510"/>
          </a:xfrm>
          <a:prstGeom prst="roundRect">
            <a:avLst>
              <a:gd name="adj" fmla="val 19649"/>
            </a:avLst>
          </a:prstGeom>
          <a:solidFill>
            <a:srgbClr val="FF5D8F"/>
          </a:solidFill>
          <a:ln>
            <a:noFill/>
          </a:ln>
          <a:effectLst>
            <a:glow rad="101600">
              <a:srgbClr val="FF5D8F">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2737561" y="5088160"/>
            <a:ext cx="358330" cy="358330"/>
          </a:xfrm>
          <a:prstGeom prst="rect">
            <a:avLst/>
          </a:prstGeom>
          <a:noFill/>
        </p:spPr>
        <p:txBody>
          <a:bodyPr wrap="none" lIns="0" rIns="0" tIns="0" bIns="0" anchor="ctr">
            <a:spAutoFit/>
          </a:bodyPr>
          <a:lstStyle/>
          <a:p>
            <a:pPr algn="ctr"/>
            <a:r>
              <a:rPr sz="1749">
                <a:solidFill>
                  <a:srgbClr val="07080C"/>
                </a:solidFill>
                <a:latin typeface="Segoe Fluent Icons"/>
              </a:rPr>
              <a:t></a:t>
            </a:r>
          </a:p>
        </p:txBody>
      </p:sp>
      <p:sp>
        <p:nvSpPr>
          <p:cNvPr id="41" name="TextBox 40"/>
          <p:cNvSpPr txBox="1"/>
          <p:nvPr/>
        </p:nvSpPr>
        <p:spPr>
          <a:xfrm>
            <a:off x="3214764" y="5051298"/>
            <a:ext cx="847230" cy="432054"/>
          </a:xfrm>
          <a:prstGeom prst="rect">
            <a:avLst/>
          </a:prstGeom>
          <a:noFill/>
        </p:spPr>
        <p:txBody>
          <a:bodyPr wrap="square" lIns="0" rIns="0" tIns="0" bIns="0" anchor="ctr">
            <a:noAutofit/>
          </a:bodyPr>
          <a:lstStyle/>
          <a:p>
            <a:pPr algn="l"/>
            <a:r>
              <a:rPr sz="1300" i="0">
                <a:solidFill>
                  <a:srgbClr val="07080C"/>
                </a:solidFill>
                <a:latin typeface="Segoe UI Semibold"/>
              </a:rPr>
              <a:t>Chunk + embed</a:t>
            </a:r>
          </a:p>
        </p:txBody>
      </p:sp>
      <p:sp>
        <p:nvSpPr>
          <p:cNvPr id="42" name="Rounded Rectangle 41"/>
          <p:cNvSpPr/>
          <p:nvPr/>
        </p:nvSpPr>
        <p:spPr>
          <a:xfrm>
            <a:off x="4523156" y="4941570"/>
            <a:ext cx="2033473" cy="651510"/>
          </a:xfrm>
          <a:prstGeom prst="roundRect">
            <a:avLst>
              <a:gd name="adj" fmla="val 19649"/>
            </a:avLst>
          </a:prstGeom>
          <a:solidFill>
            <a:srgbClr val="FF5D8F"/>
          </a:solidFill>
          <a:ln>
            <a:noFill/>
          </a:ln>
          <a:effectLst>
            <a:glow rad="101600">
              <a:srgbClr val="FF5D8F">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4678604" y="5088160"/>
            <a:ext cx="358330" cy="358330"/>
          </a:xfrm>
          <a:prstGeom prst="rect">
            <a:avLst/>
          </a:prstGeom>
          <a:noFill/>
        </p:spPr>
        <p:txBody>
          <a:bodyPr wrap="none" lIns="0" rIns="0" tIns="0" bIns="0" anchor="ctr">
            <a:spAutoFit/>
          </a:bodyPr>
          <a:lstStyle/>
          <a:p>
            <a:pPr algn="ctr"/>
            <a:r>
              <a:rPr sz="1749">
                <a:solidFill>
                  <a:srgbClr val="07080C"/>
                </a:solidFill>
                <a:latin typeface="Segoe Fluent Icons"/>
              </a:rPr>
              <a:t></a:t>
            </a:r>
          </a:p>
        </p:txBody>
      </p:sp>
      <p:sp>
        <p:nvSpPr>
          <p:cNvPr id="44" name="TextBox 43"/>
          <p:cNvSpPr txBox="1"/>
          <p:nvPr/>
        </p:nvSpPr>
        <p:spPr>
          <a:xfrm>
            <a:off x="5155806" y="5051298"/>
            <a:ext cx="1309383" cy="432054"/>
          </a:xfrm>
          <a:prstGeom prst="rect">
            <a:avLst/>
          </a:prstGeom>
          <a:noFill/>
        </p:spPr>
        <p:txBody>
          <a:bodyPr wrap="square" lIns="0" rIns="0" tIns="0" bIns="0" anchor="ctr">
            <a:noAutofit/>
          </a:bodyPr>
          <a:lstStyle/>
          <a:p>
            <a:pPr algn="l"/>
            <a:r>
              <a:rPr sz="1600" i="0">
                <a:solidFill>
                  <a:srgbClr val="07080C"/>
                </a:solidFill>
                <a:latin typeface="Segoe UI Semibold"/>
              </a:rPr>
              <a:t>Local index</a:t>
            </a:r>
          </a:p>
        </p:txBody>
      </p:sp>
      <p:sp>
        <p:nvSpPr>
          <p:cNvPr id="45" name="Rounded Rectangle 44"/>
          <p:cNvSpPr/>
          <p:nvPr/>
        </p:nvSpPr>
        <p:spPr>
          <a:xfrm>
            <a:off x="4523156" y="3855720"/>
            <a:ext cx="2033473" cy="651510"/>
          </a:xfrm>
          <a:prstGeom prst="roundRect">
            <a:avLst>
              <a:gd name="adj" fmla="val 19649"/>
            </a:avLst>
          </a:prstGeom>
          <a:solidFill>
            <a:srgbClr val="9B6BFF"/>
          </a:solidFill>
          <a:ln>
            <a:noFill/>
          </a:ln>
          <a:effectLst>
            <a:glow rad="101600">
              <a:srgbClr val="9B6BFF">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4678604" y="4002310"/>
            <a:ext cx="358330" cy="358330"/>
          </a:xfrm>
          <a:prstGeom prst="rect">
            <a:avLst/>
          </a:prstGeom>
          <a:noFill/>
        </p:spPr>
        <p:txBody>
          <a:bodyPr wrap="none" lIns="0" rIns="0" tIns="0" bIns="0" anchor="ctr">
            <a:spAutoFit/>
          </a:bodyPr>
          <a:lstStyle/>
          <a:p>
            <a:pPr algn="ctr"/>
            <a:r>
              <a:rPr sz="1749">
                <a:solidFill>
                  <a:srgbClr val="07080C"/>
                </a:solidFill>
                <a:latin typeface="Segoe Fluent Icons"/>
              </a:rPr>
              <a:t></a:t>
            </a:r>
          </a:p>
        </p:txBody>
      </p:sp>
      <p:sp>
        <p:nvSpPr>
          <p:cNvPr id="47" name="TextBox 46"/>
          <p:cNvSpPr txBox="1"/>
          <p:nvPr/>
        </p:nvSpPr>
        <p:spPr>
          <a:xfrm>
            <a:off x="5155806" y="3965448"/>
            <a:ext cx="1309383" cy="432054"/>
          </a:xfrm>
          <a:prstGeom prst="rect">
            <a:avLst/>
          </a:prstGeom>
          <a:noFill/>
        </p:spPr>
        <p:txBody>
          <a:bodyPr wrap="square" lIns="0" rIns="0" tIns="0" bIns="0" anchor="ctr">
            <a:noAutofit/>
          </a:bodyPr>
          <a:lstStyle/>
          <a:p>
            <a:pPr algn="l"/>
            <a:r>
              <a:rPr sz="1300" i="0">
                <a:solidFill>
                  <a:srgbClr val="07080C"/>
                </a:solidFill>
                <a:latin typeface="Segoe UI Semibold"/>
              </a:rPr>
              <a:t>Permissioned retrieval</a:t>
            </a:r>
          </a:p>
        </p:txBody>
      </p:sp>
      <p:sp>
        <p:nvSpPr>
          <p:cNvPr id="48" name="TextBox 47"/>
          <p:cNvSpPr txBox="1"/>
          <p:nvPr/>
        </p:nvSpPr>
        <p:spPr>
          <a:xfrm>
            <a:off x="7018782" y="4145280"/>
            <a:ext cx="4436669" cy="470535"/>
          </a:xfrm>
          <a:prstGeom prst="rect">
            <a:avLst/>
          </a:prstGeom>
          <a:noFill/>
        </p:spPr>
        <p:txBody>
          <a:bodyPr wrap="square" lIns="0" rIns="0" tIns="0" bIns="0" anchor="t">
            <a:noAutofit/>
          </a:bodyPr>
          <a:lstStyle/>
          <a:p>
            <a:pPr algn="l"/>
            <a:r>
              <a:rPr sz="2000" i="0">
                <a:solidFill>
                  <a:srgbClr val="76B900"/>
                </a:solidFill>
                <a:latin typeface="Segoe UI Semibold"/>
              </a:rPr>
              <a:t>Sensitive IP stays local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gradFill rotWithShape="1">
          <a:gsLst>
            <a:gs pos="0">
              <a:srgbClr val="07080C"/>
            </a:gs>
            <a:gs pos="100000">
              <a:srgbClr val="121521"/>
            </a:gs>
          </a:gsLst>
          <a:lin scaled="0" ang="13500000"/>
        </a:gradFill>
        <a:effectLst/>
      </p:bgPr>
    </p:bg>
    <p:spTree>
      <p:nvGrpSpPr>
        <p:cNvPr id="1" name=""/>
        <p:cNvGrpSpPr/>
        <p:nvPr/>
      </p:nvGrpSpPr>
      <p:grpSpPr/>
      <p:sp>
        <p:nvSpPr>
          <p:cNvPr id="2" name="Oval 1"/>
          <p:cNvSpPr/>
          <p:nvPr/>
        </p:nvSpPr>
        <p:spPr>
          <a:xfrm>
            <a:off x="8961120" y="-2743200"/>
            <a:ext cx="6400800" cy="6400800"/>
          </a:xfrm>
          <a:prstGeom prst="ellipse">
            <a:avLst/>
          </a:prstGeom>
          <a:solidFill>
            <a:srgbClr val="76B900">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0241280" y="-1371600"/>
            <a:ext cx="4114800" cy="4114800"/>
          </a:xfrm>
          <a:prstGeom prst="ellipse">
            <a:avLst/>
          </a:prstGeom>
          <a:solidFill>
            <a:srgbClr val="3DA9FC">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292608"/>
            <a:ext cx="685800" cy="54864"/>
          </a:xfrm>
          <a:prstGeom prst="rect">
            <a:avLst/>
          </a:prstGeom>
          <a:solidFill>
            <a:srgbClr val="76B900"/>
          </a:solidFill>
          <a:ln>
            <a:noFill/>
          </a:ln>
          <a:effectLst>
            <a:glow rad="76200">
              <a:srgbClr val="76B900">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F4F6FA"/>
                </a:solidFill>
                <a:latin typeface="Segoe UI Semibold"/>
              </a:rPr>
              <a:t>Hybrid Routing Enforces A Data Boundary</a:t>
            </a:r>
          </a:p>
        </p:txBody>
      </p:sp>
      <p:sp>
        <p:nvSpPr>
          <p:cNvPr id="6" name="TextBox 5"/>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AEB6C8"/>
                </a:solidFill>
                <a:latin typeface="Segoe UI"/>
              </a:rPr>
              <a:t>Keep sensitive work local; send heavy tasks to cloud only after policy approval.</a:t>
            </a:r>
          </a:p>
        </p:txBody>
      </p:sp>
      <p:sp>
        <p:nvSpPr>
          <p:cNvPr id="7" name="TextBox 6"/>
          <p:cNvSpPr txBox="1"/>
          <p:nvPr/>
        </p:nvSpPr>
        <p:spPr>
          <a:xfrm>
            <a:off x="548640" y="6419088"/>
            <a:ext cx="7315200" cy="274320"/>
          </a:xfrm>
          <a:prstGeom prst="rect">
            <a:avLst/>
          </a:prstGeom>
          <a:noFill/>
        </p:spPr>
        <p:txBody>
          <a:bodyPr wrap="square" lIns="0" rIns="0" tIns="0" bIns="0" anchor="t">
            <a:noAutofit/>
          </a:bodyPr>
          <a:lstStyle/>
          <a:p>
            <a:pPr algn="l"/>
            <a:r>
              <a:rPr sz="1000" i="0">
                <a:solidFill>
                  <a:srgbClr val="6F7890"/>
                </a:solidFill>
                <a:latin typeface="Segoe UI"/>
              </a:rPr>
              <a:t>Surface Laptop Ultra  |  NVIDIA RTX Spark  |  Zava</a:t>
            </a:r>
          </a:p>
        </p:txBody>
      </p:sp>
      <p:sp>
        <p:nvSpPr>
          <p:cNvPr id="8" name="TextBox 7"/>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6F7890"/>
                </a:solidFill>
                <a:latin typeface="Segoe UI"/>
              </a:rPr>
              <a:t>10</a:t>
            </a:r>
          </a:p>
        </p:txBody>
      </p:sp>
      <p:cxnSp>
        <p:nvCxnSpPr>
          <p:cNvPr id="9" name="Connector 8"/>
          <p:cNvCxnSpPr/>
          <p:nvPr/>
        </p:nvCxnSpPr>
        <p:spPr>
          <a:xfrm>
            <a:off x="2397252" y="3964305"/>
            <a:ext cx="924306" cy="0"/>
          </a:xfrm>
          <a:prstGeom prst="line">
            <a:avLst/>
          </a:prstGeom>
          <a:ln w="28575">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5170170" y="2842260"/>
            <a:ext cx="1109167" cy="904875"/>
          </a:xfrm>
          <a:prstGeom prst="line">
            <a:avLst/>
          </a:prstGeom>
          <a:ln w="28575">
            <a:solidFill>
              <a:srgbClr val="3DA9F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718914" y="2910650"/>
            <a:ext cx="2011680" cy="329184"/>
          </a:xfrm>
          <a:prstGeom prst="rect">
            <a:avLst/>
          </a:prstGeom>
          <a:noFill/>
        </p:spPr>
        <p:txBody>
          <a:bodyPr wrap="square" lIns="0" rIns="0" tIns="0" bIns="0" anchor="t">
            <a:noAutofit/>
          </a:bodyPr>
          <a:lstStyle/>
          <a:p>
            <a:pPr algn="ctr"/>
            <a:r>
              <a:rPr sz="1200" i="0">
                <a:solidFill>
                  <a:srgbClr val="AEB6C8"/>
                </a:solidFill>
                <a:latin typeface="Segoe UI"/>
              </a:rPr>
              <a:t>Sensitive / frequent</a:t>
            </a:r>
          </a:p>
        </p:txBody>
      </p:sp>
      <p:cxnSp>
        <p:nvCxnSpPr>
          <p:cNvPr id="12" name="Connector 11"/>
          <p:cNvCxnSpPr/>
          <p:nvPr/>
        </p:nvCxnSpPr>
        <p:spPr>
          <a:xfrm>
            <a:off x="5170170" y="4145280"/>
            <a:ext cx="1016737" cy="1013460"/>
          </a:xfrm>
          <a:prstGeom prst="line">
            <a:avLst/>
          </a:prstGeom>
          <a:ln w="28575">
            <a:solidFill>
              <a:srgbClr val="FF5D8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4672698" y="4267962"/>
            <a:ext cx="2011680" cy="329184"/>
          </a:xfrm>
          <a:prstGeom prst="rect">
            <a:avLst/>
          </a:prstGeom>
          <a:noFill/>
        </p:spPr>
        <p:txBody>
          <a:bodyPr wrap="square" lIns="0" rIns="0" tIns="0" bIns="0" anchor="t">
            <a:noAutofit/>
          </a:bodyPr>
          <a:lstStyle/>
          <a:p>
            <a:pPr algn="ctr"/>
            <a:r>
              <a:rPr sz="1200" i="0">
                <a:solidFill>
                  <a:srgbClr val="AEB6C8"/>
                </a:solidFill>
                <a:latin typeface="Segoe UI"/>
              </a:rPr>
              <a:t>Heaviest reasoning</a:t>
            </a:r>
          </a:p>
        </p:txBody>
      </p:sp>
      <p:cxnSp>
        <p:nvCxnSpPr>
          <p:cNvPr id="14" name="Connector 13"/>
          <p:cNvCxnSpPr/>
          <p:nvPr/>
        </p:nvCxnSpPr>
        <p:spPr>
          <a:xfrm>
            <a:off x="8220380" y="5158740"/>
            <a:ext cx="647014" cy="0"/>
          </a:xfrm>
          <a:prstGeom prst="line">
            <a:avLst/>
          </a:prstGeom>
          <a:ln w="28575">
            <a:solidFill>
              <a:srgbClr val="FFB54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48640" y="1828800"/>
            <a:ext cx="4621530" cy="361950"/>
          </a:xfrm>
          <a:prstGeom prst="rect">
            <a:avLst/>
          </a:prstGeom>
          <a:noFill/>
        </p:spPr>
        <p:txBody>
          <a:bodyPr wrap="square" lIns="0" rIns="0" tIns="0" bIns="0" anchor="t">
            <a:noAutofit/>
          </a:bodyPr>
          <a:lstStyle/>
          <a:p>
            <a:pPr algn="l"/>
            <a:r>
              <a:rPr sz="2000" i="0">
                <a:solidFill>
                  <a:srgbClr val="76B900"/>
                </a:solidFill>
                <a:latin typeface="Segoe UI Semibold"/>
              </a:rPr>
              <a:t>Proposed routing policy</a:t>
            </a:r>
          </a:p>
        </p:txBody>
      </p:sp>
      <p:sp>
        <p:nvSpPr>
          <p:cNvPr id="16" name="Rounded Rectangle 15"/>
          <p:cNvSpPr/>
          <p:nvPr/>
        </p:nvSpPr>
        <p:spPr>
          <a:xfrm>
            <a:off x="548640" y="3566160"/>
            <a:ext cx="1848612" cy="796290"/>
          </a:xfrm>
          <a:prstGeom prst="roundRect">
            <a:avLst>
              <a:gd name="adj" fmla="val 16076"/>
            </a:avLst>
          </a:prstGeom>
          <a:solidFill>
            <a:srgbClr val="76B900"/>
          </a:solidFill>
          <a:ln>
            <a:noFill/>
          </a:ln>
          <a:effectLst>
            <a:glow rad="101600">
              <a:srgbClr val="76B900">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04088" y="3745325"/>
            <a:ext cx="437960" cy="437960"/>
          </a:xfrm>
          <a:prstGeom prst="rect">
            <a:avLst/>
          </a:prstGeom>
          <a:noFill/>
        </p:spPr>
        <p:txBody>
          <a:bodyPr wrap="none" lIns="0" rIns="0" tIns="0" bIns="0" anchor="ctr">
            <a:spAutoFit/>
          </a:bodyPr>
          <a:lstStyle/>
          <a:p>
            <a:pPr algn="ctr"/>
            <a:r>
              <a:rPr sz="2138">
                <a:solidFill>
                  <a:srgbClr val="07080C"/>
                </a:solidFill>
                <a:latin typeface="Segoe Fluent Icons"/>
              </a:rPr>
              <a:t></a:t>
            </a:r>
          </a:p>
        </p:txBody>
      </p:sp>
      <p:sp>
        <p:nvSpPr>
          <p:cNvPr id="18" name="TextBox 17"/>
          <p:cNvSpPr txBox="1"/>
          <p:nvPr/>
        </p:nvSpPr>
        <p:spPr>
          <a:xfrm>
            <a:off x="1260920" y="3675888"/>
            <a:ext cx="1044893" cy="576834"/>
          </a:xfrm>
          <a:prstGeom prst="rect">
            <a:avLst/>
          </a:prstGeom>
          <a:noFill/>
        </p:spPr>
        <p:txBody>
          <a:bodyPr wrap="square" lIns="0" rIns="0" tIns="0" bIns="0" anchor="ctr">
            <a:noAutofit/>
          </a:bodyPr>
          <a:lstStyle/>
          <a:p>
            <a:pPr algn="l"/>
            <a:r>
              <a:rPr sz="1600" i="0">
                <a:solidFill>
                  <a:srgbClr val="07080C"/>
                </a:solidFill>
                <a:latin typeface="Segoe UI Semibold"/>
              </a:rPr>
              <a:t>Developer request</a:t>
            </a:r>
          </a:p>
        </p:txBody>
      </p:sp>
      <p:sp>
        <p:nvSpPr>
          <p:cNvPr id="19" name="Hexagon 18"/>
          <p:cNvSpPr/>
          <p:nvPr/>
        </p:nvSpPr>
        <p:spPr>
          <a:xfrm>
            <a:off x="3321558" y="3566160"/>
            <a:ext cx="1848612" cy="796290"/>
          </a:xfrm>
          <a:prstGeom prst="hexagon">
            <a:avLst/>
          </a:prstGeom>
          <a:solidFill>
            <a:srgbClr val="9B6BFF"/>
          </a:solidFill>
          <a:ln>
            <a:noFill/>
          </a:ln>
          <a:effectLst>
            <a:glow rad="101600">
              <a:srgbClr val="9B6BFF">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3477006" y="3745325"/>
            <a:ext cx="437960" cy="437960"/>
          </a:xfrm>
          <a:prstGeom prst="rect">
            <a:avLst/>
          </a:prstGeom>
          <a:noFill/>
        </p:spPr>
        <p:txBody>
          <a:bodyPr wrap="none" lIns="0" rIns="0" tIns="0" bIns="0" anchor="ctr">
            <a:spAutoFit/>
          </a:bodyPr>
          <a:lstStyle/>
          <a:p>
            <a:pPr algn="ctr"/>
            <a:r>
              <a:rPr sz="2138">
                <a:solidFill>
                  <a:srgbClr val="07080C"/>
                </a:solidFill>
                <a:latin typeface="Segoe Fluent Icons"/>
              </a:rPr>
              <a:t></a:t>
            </a:r>
          </a:p>
        </p:txBody>
      </p:sp>
      <p:sp>
        <p:nvSpPr>
          <p:cNvPr id="21" name="TextBox 20"/>
          <p:cNvSpPr txBox="1"/>
          <p:nvPr/>
        </p:nvSpPr>
        <p:spPr>
          <a:xfrm>
            <a:off x="4033838" y="3675888"/>
            <a:ext cx="1044893" cy="576834"/>
          </a:xfrm>
          <a:prstGeom prst="rect">
            <a:avLst/>
          </a:prstGeom>
          <a:noFill/>
        </p:spPr>
        <p:txBody>
          <a:bodyPr wrap="square" lIns="0" rIns="0" tIns="0" bIns="0" anchor="ctr">
            <a:noAutofit/>
          </a:bodyPr>
          <a:lstStyle/>
          <a:p>
            <a:pPr algn="l"/>
            <a:r>
              <a:rPr sz="1600" i="0">
                <a:solidFill>
                  <a:srgbClr val="07080C"/>
                </a:solidFill>
                <a:latin typeface="Segoe UI Semibold"/>
              </a:rPr>
              <a:t>Routing policy</a:t>
            </a:r>
          </a:p>
        </p:txBody>
      </p:sp>
      <p:sp>
        <p:nvSpPr>
          <p:cNvPr id="22" name="Rounded Rectangle 21"/>
          <p:cNvSpPr/>
          <p:nvPr/>
        </p:nvSpPr>
        <p:spPr>
          <a:xfrm>
            <a:off x="6279337" y="2407920"/>
            <a:ext cx="2310765" cy="868680"/>
          </a:xfrm>
          <a:prstGeom prst="roundRect">
            <a:avLst>
              <a:gd name="adj" fmla="val 14736"/>
            </a:avLst>
          </a:prstGeom>
          <a:solidFill>
            <a:srgbClr val="3DA9FC"/>
          </a:solidFill>
          <a:ln>
            <a:noFill/>
          </a:ln>
          <a:effectLst>
            <a:glow rad="101600">
              <a:srgbClr val="3DA9FC">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434785" y="2603373"/>
            <a:ext cx="477774" cy="477774"/>
          </a:xfrm>
          <a:prstGeom prst="rect">
            <a:avLst/>
          </a:prstGeom>
          <a:noFill/>
        </p:spPr>
        <p:txBody>
          <a:bodyPr wrap="none" lIns="0" rIns="0" tIns="0" bIns="0" anchor="ctr">
            <a:spAutoFit/>
          </a:bodyPr>
          <a:lstStyle/>
          <a:p>
            <a:pPr algn="ctr"/>
            <a:r>
              <a:rPr sz="2332">
                <a:solidFill>
                  <a:srgbClr val="07080C"/>
                </a:solidFill>
                <a:latin typeface="Segoe Fluent Icons"/>
              </a:rPr>
              <a:t></a:t>
            </a:r>
          </a:p>
        </p:txBody>
      </p:sp>
      <p:sp>
        <p:nvSpPr>
          <p:cNvPr id="24" name="TextBox 23"/>
          <p:cNvSpPr txBox="1"/>
          <p:nvPr/>
        </p:nvSpPr>
        <p:spPr>
          <a:xfrm>
            <a:off x="7031431" y="2517648"/>
            <a:ext cx="1467231" cy="649224"/>
          </a:xfrm>
          <a:prstGeom prst="rect">
            <a:avLst/>
          </a:prstGeom>
          <a:noFill/>
        </p:spPr>
        <p:txBody>
          <a:bodyPr wrap="square" lIns="0" rIns="0" tIns="0" bIns="0" anchor="ctr">
            <a:noAutofit/>
          </a:bodyPr>
          <a:lstStyle/>
          <a:p>
            <a:pPr algn="l"/>
            <a:r>
              <a:rPr sz="1600" i="0">
                <a:solidFill>
                  <a:srgbClr val="07080C"/>
                </a:solidFill>
                <a:latin typeface="Segoe UI Semibold"/>
              </a:rPr>
              <a:t>Local lane</a:t>
            </a:r>
          </a:p>
        </p:txBody>
      </p:sp>
      <p:sp>
        <p:nvSpPr>
          <p:cNvPr id="25" name="TextBox 24"/>
          <p:cNvSpPr txBox="1"/>
          <p:nvPr/>
        </p:nvSpPr>
        <p:spPr>
          <a:xfrm>
            <a:off x="8774963" y="2552700"/>
            <a:ext cx="2772918" cy="579120"/>
          </a:xfrm>
          <a:prstGeom prst="rect">
            <a:avLst/>
          </a:prstGeom>
          <a:noFill/>
        </p:spPr>
        <p:txBody>
          <a:bodyPr wrap="square" lIns="0" rIns="0" tIns="0" bIns="0" anchor="t">
            <a:noAutofit/>
          </a:bodyPr>
          <a:lstStyle/>
          <a:p>
            <a:pPr algn="l"/>
            <a:r>
              <a:rPr sz="2000" i="0">
                <a:solidFill>
                  <a:srgbClr val="3DA9FC"/>
                </a:solidFill>
                <a:latin typeface="Segoe UI Semibold"/>
              </a:rPr>
              <a:t>Code + internal docs</a:t>
            </a:r>
          </a:p>
        </p:txBody>
      </p:sp>
      <p:sp>
        <p:nvSpPr>
          <p:cNvPr id="26" name="Rounded Rectangle 25"/>
          <p:cNvSpPr/>
          <p:nvPr/>
        </p:nvSpPr>
        <p:spPr>
          <a:xfrm>
            <a:off x="6186907" y="4724400"/>
            <a:ext cx="2033473" cy="868680"/>
          </a:xfrm>
          <a:prstGeom prst="roundRect">
            <a:avLst>
              <a:gd name="adj" fmla="val 14736"/>
            </a:avLst>
          </a:prstGeom>
          <a:solidFill>
            <a:srgbClr val="FF5D8F"/>
          </a:solidFill>
          <a:ln>
            <a:noFill/>
          </a:ln>
          <a:effectLst>
            <a:glow rad="101600">
              <a:srgbClr val="FF5D8F">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342355" y="4919853"/>
            <a:ext cx="477774" cy="477774"/>
          </a:xfrm>
          <a:prstGeom prst="rect">
            <a:avLst/>
          </a:prstGeom>
          <a:noFill/>
        </p:spPr>
        <p:txBody>
          <a:bodyPr wrap="none" lIns="0" rIns="0" tIns="0" bIns="0" anchor="ctr">
            <a:spAutoFit/>
          </a:bodyPr>
          <a:lstStyle/>
          <a:p>
            <a:pPr algn="ctr"/>
            <a:r>
              <a:rPr sz="2332">
                <a:solidFill>
                  <a:srgbClr val="07080C"/>
                </a:solidFill>
                <a:latin typeface="Segoe Fluent Icons"/>
              </a:rPr>
              <a:t></a:t>
            </a:r>
          </a:p>
        </p:txBody>
      </p:sp>
      <p:sp>
        <p:nvSpPr>
          <p:cNvPr id="28" name="TextBox 27"/>
          <p:cNvSpPr txBox="1"/>
          <p:nvPr/>
        </p:nvSpPr>
        <p:spPr>
          <a:xfrm>
            <a:off x="6939001" y="4834128"/>
            <a:ext cx="1189939" cy="649224"/>
          </a:xfrm>
          <a:prstGeom prst="rect">
            <a:avLst/>
          </a:prstGeom>
          <a:noFill/>
        </p:spPr>
        <p:txBody>
          <a:bodyPr wrap="square" lIns="0" rIns="0" tIns="0" bIns="0" anchor="ctr">
            <a:noAutofit/>
          </a:bodyPr>
          <a:lstStyle/>
          <a:p>
            <a:pPr algn="l"/>
            <a:r>
              <a:rPr sz="1600" i="0">
                <a:solidFill>
                  <a:srgbClr val="07080C"/>
                </a:solidFill>
                <a:latin typeface="Segoe UI Semibold"/>
              </a:rPr>
              <a:t>Cloud approval</a:t>
            </a:r>
          </a:p>
        </p:txBody>
      </p:sp>
      <p:sp>
        <p:nvSpPr>
          <p:cNvPr id="29" name="Rounded Rectangle 28"/>
          <p:cNvSpPr/>
          <p:nvPr/>
        </p:nvSpPr>
        <p:spPr>
          <a:xfrm>
            <a:off x="8867394" y="4724400"/>
            <a:ext cx="2403196" cy="868680"/>
          </a:xfrm>
          <a:prstGeom prst="roundRect">
            <a:avLst>
              <a:gd name="adj" fmla="val 14736"/>
            </a:avLst>
          </a:prstGeom>
          <a:solidFill>
            <a:srgbClr val="FFB547"/>
          </a:solidFill>
          <a:ln>
            <a:noFill/>
          </a:ln>
          <a:effectLst>
            <a:glow rad="101600">
              <a:srgbClr val="FFB547">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9022842" y="4919853"/>
            <a:ext cx="477774" cy="477774"/>
          </a:xfrm>
          <a:prstGeom prst="rect">
            <a:avLst/>
          </a:prstGeom>
          <a:noFill/>
        </p:spPr>
        <p:txBody>
          <a:bodyPr wrap="none" lIns="0" rIns="0" tIns="0" bIns="0" anchor="ctr">
            <a:spAutoFit/>
          </a:bodyPr>
          <a:lstStyle/>
          <a:p>
            <a:pPr algn="ctr"/>
            <a:r>
              <a:rPr sz="2332">
                <a:solidFill>
                  <a:srgbClr val="07080C"/>
                </a:solidFill>
                <a:latin typeface="Segoe Fluent Icons"/>
              </a:rPr>
              <a:t></a:t>
            </a:r>
          </a:p>
        </p:txBody>
      </p:sp>
      <p:sp>
        <p:nvSpPr>
          <p:cNvPr id="31" name="TextBox 30"/>
          <p:cNvSpPr txBox="1"/>
          <p:nvPr/>
        </p:nvSpPr>
        <p:spPr>
          <a:xfrm>
            <a:off x="9619488" y="4834128"/>
            <a:ext cx="1559662" cy="649224"/>
          </a:xfrm>
          <a:prstGeom prst="rect">
            <a:avLst/>
          </a:prstGeom>
          <a:noFill/>
        </p:spPr>
        <p:txBody>
          <a:bodyPr wrap="square" lIns="0" rIns="0" tIns="0" bIns="0" anchor="ctr">
            <a:noAutofit/>
          </a:bodyPr>
          <a:lstStyle/>
          <a:p>
            <a:pPr algn="l"/>
            <a:r>
              <a:rPr sz="1600" i="0">
                <a:solidFill>
                  <a:srgbClr val="07080C"/>
                </a:solidFill>
                <a:latin typeface="Segoe UI Semibold"/>
              </a:rPr>
              <a:t>Cloud lane</a:t>
            </a:r>
          </a:p>
        </p:txBody>
      </p:sp>
      <p:sp>
        <p:nvSpPr>
          <p:cNvPr id="32" name="TextBox 31"/>
          <p:cNvSpPr txBox="1"/>
          <p:nvPr/>
        </p:nvSpPr>
        <p:spPr>
          <a:xfrm>
            <a:off x="6186907" y="5701665"/>
            <a:ext cx="5083683" cy="398145"/>
          </a:xfrm>
          <a:prstGeom prst="rect">
            <a:avLst/>
          </a:prstGeom>
          <a:noFill/>
        </p:spPr>
        <p:txBody>
          <a:bodyPr wrap="square" lIns="0" rIns="0" tIns="0" bIns="0" anchor="t">
            <a:noAutofit/>
          </a:bodyPr>
          <a:lstStyle/>
          <a:p>
            <a:pPr algn="l"/>
            <a:r>
              <a:rPr sz="2000" i="0">
                <a:solidFill>
                  <a:srgbClr val="FF5D8F"/>
                </a:solidFill>
                <a:latin typeface="Segoe UI Semibold"/>
              </a:rPr>
              <a:t>Approved content only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gradFill rotWithShape="1">
          <a:gsLst>
            <a:gs pos="0">
              <a:srgbClr val="07080C"/>
            </a:gs>
            <a:gs pos="100000">
              <a:srgbClr val="121521"/>
            </a:gs>
          </a:gsLst>
          <a:lin scaled="0" ang="13500000"/>
        </a:gradFill>
        <a:effectLst/>
      </p:bgPr>
    </p:bg>
    <p:spTree>
      <p:nvGrpSpPr>
        <p:cNvPr id="1" name=""/>
        <p:cNvGrpSpPr/>
        <p:nvPr/>
      </p:nvGrpSpPr>
      <p:grpSpPr/>
      <p:sp>
        <p:nvSpPr>
          <p:cNvPr id="2" name="Oval 1"/>
          <p:cNvSpPr/>
          <p:nvPr/>
        </p:nvSpPr>
        <p:spPr>
          <a:xfrm>
            <a:off x="8961120" y="-2743200"/>
            <a:ext cx="6400800" cy="6400800"/>
          </a:xfrm>
          <a:prstGeom prst="ellipse">
            <a:avLst/>
          </a:prstGeom>
          <a:solidFill>
            <a:srgbClr val="76B900">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0241280" y="-1371600"/>
            <a:ext cx="4114800" cy="4114800"/>
          </a:xfrm>
          <a:prstGeom prst="ellipse">
            <a:avLst/>
          </a:prstGeom>
          <a:solidFill>
            <a:srgbClr val="3DA9FC">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292608"/>
            <a:ext cx="685800" cy="54864"/>
          </a:xfrm>
          <a:prstGeom prst="rect">
            <a:avLst/>
          </a:prstGeom>
          <a:solidFill>
            <a:srgbClr val="76B900"/>
          </a:solidFill>
          <a:ln>
            <a:noFill/>
          </a:ln>
          <a:effectLst>
            <a:glow rad="76200">
              <a:srgbClr val="76B900">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F4F6FA"/>
                </a:solidFill>
                <a:latin typeface="Segoe UI Semibold"/>
              </a:rPr>
              <a:t>Pilot Measures Developer Value, Not Hype</a:t>
            </a:r>
          </a:p>
        </p:txBody>
      </p:sp>
      <p:sp>
        <p:nvSpPr>
          <p:cNvPr id="6" name="TextBox 5"/>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AEB6C8"/>
                </a:solidFill>
                <a:latin typeface="Segoe UI"/>
              </a:rPr>
              <a:t>Evaluate accepted work, experienced latency and developer feedback on representative Zava tasks.</a:t>
            </a:r>
          </a:p>
        </p:txBody>
      </p:sp>
      <p:sp>
        <p:nvSpPr>
          <p:cNvPr id="7" name="TextBox 6"/>
          <p:cNvSpPr txBox="1"/>
          <p:nvPr/>
        </p:nvSpPr>
        <p:spPr>
          <a:xfrm>
            <a:off x="548640" y="6419088"/>
            <a:ext cx="7315200" cy="274320"/>
          </a:xfrm>
          <a:prstGeom prst="rect">
            <a:avLst/>
          </a:prstGeom>
          <a:noFill/>
        </p:spPr>
        <p:txBody>
          <a:bodyPr wrap="square" lIns="0" rIns="0" tIns="0" bIns="0" anchor="t">
            <a:noAutofit/>
          </a:bodyPr>
          <a:lstStyle/>
          <a:p>
            <a:pPr algn="l"/>
            <a:r>
              <a:rPr sz="1000" i="0">
                <a:solidFill>
                  <a:srgbClr val="6F7890"/>
                </a:solidFill>
                <a:latin typeface="Segoe UI"/>
              </a:rPr>
              <a:t>Surface Laptop Ultra  |  NVIDIA RTX Spark  |  Zava</a:t>
            </a:r>
          </a:p>
        </p:txBody>
      </p:sp>
      <p:sp>
        <p:nvSpPr>
          <p:cNvPr id="8" name="TextBox 7"/>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6F7890"/>
                </a:solidFill>
                <a:latin typeface="Segoe UI"/>
              </a:rPr>
              <a:t>11</a:t>
            </a:r>
          </a:p>
        </p:txBody>
      </p:sp>
      <p:sp>
        <p:nvSpPr>
          <p:cNvPr id="9" name="Rounded Rectangle 8"/>
          <p:cNvSpPr/>
          <p:nvPr/>
        </p:nvSpPr>
        <p:spPr>
          <a:xfrm>
            <a:off x="548640" y="2583180"/>
            <a:ext cx="3361944" cy="3291840"/>
          </a:xfrm>
          <a:prstGeom prst="roundRect">
            <a:avLst>
              <a:gd name="adj" fmla="val 3888"/>
            </a:avLst>
          </a:prstGeom>
          <a:solidFill>
            <a:srgbClr val="141824"/>
          </a:solidFill>
          <a:ln w="12700">
            <a:solidFill>
              <a:srgbClr val="45681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772412" y="2125980"/>
            <a:ext cx="914400" cy="914400"/>
          </a:xfrm>
          <a:prstGeom prst="ellipse">
            <a:avLst/>
          </a:prstGeom>
          <a:solidFill>
            <a:srgbClr val="76B900"/>
          </a:solidFill>
          <a:ln>
            <a:noFill/>
          </a:ln>
          <a:effectLst>
            <a:glow rad="127000">
              <a:srgbClr val="76B900">
                <a:alpha val="4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900428" y="2253996"/>
            <a:ext cx="658368" cy="658368"/>
          </a:xfrm>
          <a:prstGeom prst="rect">
            <a:avLst/>
          </a:prstGeom>
          <a:noFill/>
        </p:spPr>
        <p:txBody>
          <a:bodyPr wrap="none" lIns="0" rIns="0" tIns="0" bIns="0" anchor="ctr">
            <a:spAutoFit/>
          </a:bodyPr>
          <a:lstStyle/>
          <a:p>
            <a:pPr algn="ctr"/>
            <a:r>
              <a:rPr sz="3214">
                <a:solidFill>
                  <a:srgbClr val="07080C"/>
                </a:solidFill>
                <a:latin typeface="Segoe Fluent Icons"/>
              </a:rPr>
              <a:t></a:t>
            </a:r>
          </a:p>
        </p:txBody>
      </p:sp>
      <p:sp>
        <p:nvSpPr>
          <p:cNvPr id="12" name="TextBox 11"/>
          <p:cNvSpPr txBox="1"/>
          <p:nvPr/>
        </p:nvSpPr>
        <p:spPr>
          <a:xfrm>
            <a:off x="731520" y="3150108"/>
            <a:ext cx="2996184" cy="274320"/>
          </a:xfrm>
          <a:prstGeom prst="rect">
            <a:avLst/>
          </a:prstGeom>
          <a:noFill/>
        </p:spPr>
        <p:txBody>
          <a:bodyPr wrap="square" lIns="0" rIns="0" tIns="0" bIns="0" anchor="t">
            <a:noAutofit/>
          </a:bodyPr>
          <a:lstStyle/>
          <a:p>
            <a:pPr algn="ctr"/>
            <a:r>
              <a:rPr sz="1200" i="0">
                <a:solidFill>
                  <a:srgbClr val="76B900"/>
                </a:solidFill>
                <a:latin typeface="Segoe UI Semibold"/>
              </a:rPr>
              <a:t>01</a:t>
            </a:r>
          </a:p>
        </p:txBody>
      </p:sp>
      <p:sp>
        <p:nvSpPr>
          <p:cNvPr id="13" name="TextBox 12"/>
          <p:cNvSpPr txBox="1"/>
          <p:nvPr/>
        </p:nvSpPr>
        <p:spPr>
          <a:xfrm>
            <a:off x="713232" y="3451860"/>
            <a:ext cx="3032760" cy="868680"/>
          </a:xfrm>
          <a:prstGeom prst="rect">
            <a:avLst/>
          </a:prstGeom>
          <a:noFill/>
        </p:spPr>
        <p:txBody>
          <a:bodyPr wrap="square" lIns="0" rIns="0" tIns="0" bIns="0" anchor="ctr">
            <a:noAutofit/>
          </a:bodyPr>
          <a:lstStyle/>
          <a:p>
            <a:pPr algn="ctr"/>
            <a:r>
              <a:rPr sz="2000" i="0">
                <a:solidFill>
                  <a:srgbClr val="F4F6FA"/>
                </a:solidFill>
                <a:latin typeface="Segoe UI Semibold"/>
              </a:rPr>
              <a:t>Acceptance rate</a:t>
            </a:r>
          </a:p>
        </p:txBody>
      </p:sp>
      <p:sp>
        <p:nvSpPr>
          <p:cNvPr id="14" name="TextBox 13"/>
          <p:cNvSpPr txBox="1"/>
          <p:nvPr/>
        </p:nvSpPr>
        <p:spPr>
          <a:xfrm>
            <a:off x="731520" y="4366260"/>
            <a:ext cx="2996184" cy="1371600"/>
          </a:xfrm>
          <a:prstGeom prst="rect">
            <a:avLst/>
          </a:prstGeom>
          <a:noFill/>
        </p:spPr>
        <p:txBody>
          <a:bodyPr wrap="square" lIns="0" rIns="0" tIns="0" bIns="0" anchor="t">
            <a:noAutofit/>
          </a:bodyPr>
          <a:lstStyle/>
          <a:p>
            <a:pPr algn="ctr"/>
            <a:r>
              <a:rPr sz="1500" i="0">
                <a:solidFill>
                  <a:srgbClr val="AEB6C8"/>
                </a:solidFill>
                <a:latin typeface="Segoe UI"/>
              </a:rPr>
              <a:t>Track accepted suggestions against offered suggestions.</a:t>
            </a:r>
          </a:p>
        </p:txBody>
      </p:sp>
      <p:sp>
        <p:nvSpPr>
          <p:cNvPr id="15" name="Chevron 14"/>
          <p:cNvSpPr/>
          <p:nvPr/>
        </p:nvSpPr>
        <p:spPr>
          <a:xfrm>
            <a:off x="4047744" y="4027932"/>
            <a:ext cx="228600" cy="402336"/>
          </a:xfrm>
          <a:prstGeom prst="chevron">
            <a:avLst/>
          </a:prstGeom>
          <a:solidFill>
            <a:srgbClr val="6F78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413504" y="2583180"/>
            <a:ext cx="3361944" cy="3291840"/>
          </a:xfrm>
          <a:prstGeom prst="roundRect">
            <a:avLst>
              <a:gd name="adj" fmla="val 3888"/>
            </a:avLst>
          </a:prstGeom>
          <a:solidFill>
            <a:srgbClr val="141824"/>
          </a:solidFill>
          <a:ln w="12700">
            <a:solidFill>
              <a:srgbClr val="28609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5637276" y="2125980"/>
            <a:ext cx="914400" cy="914400"/>
          </a:xfrm>
          <a:prstGeom prst="ellipse">
            <a:avLst/>
          </a:prstGeom>
          <a:solidFill>
            <a:srgbClr val="3DA9FC"/>
          </a:solidFill>
          <a:ln>
            <a:noFill/>
          </a:ln>
          <a:effectLst>
            <a:glow rad="127000">
              <a:srgbClr val="3DA9FC">
                <a:alpha val="4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765292" y="2253996"/>
            <a:ext cx="658368" cy="658368"/>
          </a:xfrm>
          <a:prstGeom prst="rect">
            <a:avLst/>
          </a:prstGeom>
          <a:noFill/>
        </p:spPr>
        <p:txBody>
          <a:bodyPr wrap="none" lIns="0" rIns="0" tIns="0" bIns="0" anchor="ctr">
            <a:spAutoFit/>
          </a:bodyPr>
          <a:lstStyle/>
          <a:p>
            <a:pPr algn="ctr"/>
            <a:r>
              <a:rPr sz="3214">
                <a:solidFill>
                  <a:srgbClr val="07080C"/>
                </a:solidFill>
                <a:latin typeface="Segoe Fluent Icons"/>
              </a:rPr>
              <a:t></a:t>
            </a:r>
          </a:p>
        </p:txBody>
      </p:sp>
      <p:sp>
        <p:nvSpPr>
          <p:cNvPr id="19" name="TextBox 18"/>
          <p:cNvSpPr txBox="1"/>
          <p:nvPr/>
        </p:nvSpPr>
        <p:spPr>
          <a:xfrm>
            <a:off x="4596384" y="3150108"/>
            <a:ext cx="2996184" cy="274320"/>
          </a:xfrm>
          <a:prstGeom prst="rect">
            <a:avLst/>
          </a:prstGeom>
          <a:noFill/>
        </p:spPr>
        <p:txBody>
          <a:bodyPr wrap="square" lIns="0" rIns="0" tIns="0" bIns="0" anchor="t">
            <a:noAutofit/>
          </a:bodyPr>
          <a:lstStyle/>
          <a:p>
            <a:pPr algn="ctr"/>
            <a:r>
              <a:rPr sz="1200" i="0">
                <a:solidFill>
                  <a:srgbClr val="3DA9FC"/>
                </a:solidFill>
                <a:latin typeface="Segoe UI Semibold"/>
              </a:rPr>
              <a:t>02</a:t>
            </a:r>
          </a:p>
        </p:txBody>
      </p:sp>
      <p:sp>
        <p:nvSpPr>
          <p:cNvPr id="20" name="TextBox 19"/>
          <p:cNvSpPr txBox="1"/>
          <p:nvPr/>
        </p:nvSpPr>
        <p:spPr>
          <a:xfrm>
            <a:off x="4578096" y="3451860"/>
            <a:ext cx="3032760" cy="868680"/>
          </a:xfrm>
          <a:prstGeom prst="rect">
            <a:avLst/>
          </a:prstGeom>
          <a:noFill/>
        </p:spPr>
        <p:txBody>
          <a:bodyPr wrap="square" lIns="0" rIns="0" tIns="0" bIns="0" anchor="ctr">
            <a:noAutofit/>
          </a:bodyPr>
          <a:lstStyle/>
          <a:p>
            <a:pPr algn="ctr"/>
            <a:r>
              <a:rPr sz="2000" i="0">
                <a:solidFill>
                  <a:srgbClr val="F4F6FA"/>
                </a:solidFill>
                <a:latin typeface="Segoe UI Semibold"/>
              </a:rPr>
              <a:t>Latency</a:t>
            </a:r>
          </a:p>
        </p:txBody>
      </p:sp>
      <p:sp>
        <p:nvSpPr>
          <p:cNvPr id="21" name="TextBox 20"/>
          <p:cNvSpPr txBox="1"/>
          <p:nvPr/>
        </p:nvSpPr>
        <p:spPr>
          <a:xfrm>
            <a:off x="4596384" y="4366260"/>
            <a:ext cx="2996184" cy="1371600"/>
          </a:xfrm>
          <a:prstGeom prst="rect">
            <a:avLst/>
          </a:prstGeom>
          <a:noFill/>
        </p:spPr>
        <p:txBody>
          <a:bodyPr wrap="square" lIns="0" rIns="0" tIns="0" bIns="0" anchor="t">
            <a:noAutofit/>
          </a:bodyPr>
          <a:lstStyle/>
          <a:p>
            <a:pPr algn="ctr"/>
            <a:r>
              <a:rPr sz="1500" i="0">
                <a:solidFill>
                  <a:srgbClr val="AEB6C8"/>
                </a:solidFill>
                <a:latin typeface="Segoe UI"/>
              </a:rPr>
              <a:t>Capture first-token and end-to-end timings under realistic concurrency.</a:t>
            </a:r>
          </a:p>
        </p:txBody>
      </p:sp>
      <p:sp>
        <p:nvSpPr>
          <p:cNvPr id="22" name="Chevron 21"/>
          <p:cNvSpPr/>
          <p:nvPr/>
        </p:nvSpPr>
        <p:spPr>
          <a:xfrm>
            <a:off x="7912608" y="4027932"/>
            <a:ext cx="228600" cy="402336"/>
          </a:xfrm>
          <a:prstGeom prst="chevron">
            <a:avLst/>
          </a:prstGeom>
          <a:solidFill>
            <a:srgbClr val="6F78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ounded Rectangle 22"/>
          <p:cNvSpPr/>
          <p:nvPr/>
        </p:nvSpPr>
        <p:spPr>
          <a:xfrm>
            <a:off x="8278368" y="2583180"/>
            <a:ext cx="3361944" cy="3291840"/>
          </a:xfrm>
          <a:prstGeom prst="roundRect">
            <a:avLst>
              <a:gd name="adj" fmla="val 3888"/>
            </a:avLst>
          </a:prstGeom>
          <a:solidFill>
            <a:srgbClr val="141824"/>
          </a:solidFill>
          <a:ln w="12700">
            <a:solidFill>
              <a:srgbClr val="58429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9502140" y="2125980"/>
            <a:ext cx="914400" cy="914400"/>
          </a:xfrm>
          <a:prstGeom prst="ellipse">
            <a:avLst/>
          </a:prstGeom>
          <a:solidFill>
            <a:srgbClr val="9B6BFF"/>
          </a:solidFill>
          <a:ln>
            <a:noFill/>
          </a:ln>
          <a:effectLst>
            <a:glow rad="127000">
              <a:srgbClr val="9B6BFF">
                <a:alpha val="4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630156" y="2253996"/>
            <a:ext cx="658368" cy="658368"/>
          </a:xfrm>
          <a:prstGeom prst="rect">
            <a:avLst/>
          </a:prstGeom>
          <a:noFill/>
        </p:spPr>
        <p:txBody>
          <a:bodyPr wrap="none" lIns="0" rIns="0" tIns="0" bIns="0" anchor="ctr">
            <a:spAutoFit/>
          </a:bodyPr>
          <a:lstStyle/>
          <a:p>
            <a:pPr algn="ctr"/>
            <a:r>
              <a:rPr sz="3214">
                <a:solidFill>
                  <a:srgbClr val="07080C"/>
                </a:solidFill>
                <a:latin typeface="Segoe Fluent Icons"/>
              </a:rPr>
              <a:t></a:t>
            </a:r>
          </a:p>
        </p:txBody>
      </p:sp>
      <p:sp>
        <p:nvSpPr>
          <p:cNvPr id="26" name="TextBox 25"/>
          <p:cNvSpPr txBox="1"/>
          <p:nvPr/>
        </p:nvSpPr>
        <p:spPr>
          <a:xfrm>
            <a:off x="8461248" y="3150108"/>
            <a:ext cx="2996184" cy="274320"/>
          </a:xfrm>
          <a:prstGeom prst="rect">
            <a:avLst/>
          </a:prstGeom>
          <a:noFill/>
        </p:spPr>
        <p:txBody>
          <a:bodyPr wrap="square" lIns="0" rIns="0" tIns="0" bIns="0" anchor="t">
            <a:noAutofit/>
          </a:bodyPr>
          <a:lstStyle/>
          <a:p>
            <a:pPr algn="ctr"/>
            <a:r>
              <a:rPr sz="1200" i="0">
                <a:solidFill>
                  <a:srgbClr val="9B6BFF"/>
                </a:solidFill>
                <a:latin typeface="Segoe UI Semibold"/>
              </a:rPr>
              <a:t>03</a:t>
            </a:r>
          </a:p>
        </p:txBody>
      </p:sp>
      <p:sp>
        <p:nvSpPr>
          <p:cNvPr id="27" name="TextBox 26"/>
          <p:cNvSpPr txBox="1"/>
          <p:nvPr/>
        </p:nvSpPr>
        <p:spPr>
          <a:xfrm>
            <a:off x="8442960" y="3451860"/>
            <a:ext cx="3032760" cy="868680"/>
          </a:xfrm>
          <a:prstGeom prst="rect">
            <a:avLst/>
          </a:prstGeom>
          <a:noFill/>
        </p:spPr>
        <p:txBody>
          <a:bodyPr wrap="square" lIns="0" rIns="0" tIns="0" bIns="0" anchor="ctr">
            <a:noAutofit/>
          </a:bodyPr>
          <a:lstStyle/>
          <a:p>
            <a:pPr algn="ctr"/>
            <a:r>
              <a:rPr sz="2000" i="0">
                <a:solidFill>
                  <a:srgbClr val="F4F6FA"/>
                </a:solidFill>
                <a:latin typeface="Segoe UI Semibold"/>
              </a:rPr>
              <a:t>Developer experience</a:t>
            </a:r>
          </a:p>
        </p:txBody>
      </p:sp>
      <p:sp>
        <p:nvSpPr>
          <p:cNvPr id="28" name="TextBox 27"/>
          <p:cNvSpPr txBox="1"/>
          <p:nvPr/>
        </p:nvSpPr>
        <p:spPr>
          <a:xfrm>
            <a:off x="8461248" y="4366260"/>
            <a:ext cx="2996184" cy="1371600"/>
          </a:xfrm>
          <a:prstGeom prst="rect">
            <a:avLst/>
          </a:prstGeom>
          <a:noFill/>
        </p:spPr>
        <p:txBody>
          <a:bodyPr wrap="square" lIns="0" rIns="0" tIns="0" bIns="0" anchor="t">
            <a:noAutofit/>
          </a:bodyPr>
          <a:lstStyle/>
          <a:p>
            <a:pPr algn="ctr"/>
            <a:r>
              <a:rPr sz="1500" i="0">
                <a:solidFill>
                  <a:srgbClr val="AEB6C8"/>
                </a:solidFill>
                <a:latin typeface="Segoe UI"/>
              </a:rPr>
              <a:t>Collect usefulness, friction and trust feedback.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gradFill rotWithShape="1">
          <a:gsLst>
            <a:gs pos="0">
              <a:srgbClr val="07080C"/>
            </a:gs>
            <a:gs pos="100000">
              <a:srgbClr val="121521"/>
            </a:gs>
          </a:gsLst>
          <a:lin scaled="0" ang="13500000"/>
        </a:gradFill>
        <a:effectLst/>
      </p:bgPr>
    </p:bg>
    <p:spTree>
      <p:nvGrpSpPr>
        <p:cNvPr id="1" name=""/>
        <p:cNvGrpSpPr/>
        <p:nvPr/>
      </p:nvGrpSpPr>
      <p:grpSpPr/>
      <p:sp>
        <p:nvSpPr>
          <p:cNvPr id="2" name="Oval 1"/>
          <p:cNvSpPr/>
          <p:nvPr/>
        </p:nvSpPr>
        <p:spPr>
          <a:xfrm>
            <a:off x="8961120" y="-2743200"/>
            <a:ext cx="6400800" cy="6400800"/>
          </a:xfrm>
          <a:prstGeom prst="ellipse">
            <a:avLst/>
          </a:prstGeom>
          <a:solidFill>
            <a:srgbClr val="76B900">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0241280" y="-1371600"/>
            <a:ext cx="4114800" cy="4114800"/>
          </a:xfrm>
          <a:prstGeom prst="ellipse">
            <a:avLst/>
          </a:prstGeom>
          <a:solidFill>
            <a:srgbClr val="3DA9FC">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292608"/>
            <a:ext cx="685800" cy="54864"/>
          </a:xfrm>
          <a:prstGeom prst="rect">
            <a:avLst/>
          </a:prstGeom>
          <a:solidFill>
            <a:srgbClr val="76B900"/>
          </a:solidFill>
          <a:ln>
            <a:noFill/>
          </a:ln>
          <a:effectLst>
            <a:glow rad="76200">
              <a:srgbClr val="76B900">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F4F6FA"/>
                </a:solidFill>
                <a:latin typeface="Segoe UI Semibold"/>
              </a:rPr>
              <a:t>Approve Zava's Local AI Pilot</a:t>
            </a:r>
          </a:p>
        </p:txBody>
      </p:sp>
      <p:sp>
        <p:nvSpPr>
          <p:cNvPr id="6" name="TextBox 5"/>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AEB6C8"/>
                </a:solidFill>
                <a:latin typeface="Segoe UI"/>
              </a:rPr>
              <a:t>Commit 10 developers for 2 weeks, then decide using measured evidence.</a:t>
            </a:r>
          </a:p>
        </p:txBody>
      </p:sp>
      <p:sp>
        <p:nvSpPr>
          <p:cNvPr id="7" name="TextBox 6"/>
          <p:cNvSpPr txBox="1"/>
          <p:nvPr/>
        </p:nvSpPr>
        <p:spPr>
          <a:xfrm>
            <a:off x="548640" y="6419088"/>
            <a:ext cx="7315200" cy="274320"/>
          </a:xfrm>
          <a:prstGeom prst="rect">
            <a:avLst/>
          </a:prstGeom>
          <a:noFill/>
        </p:spPr>
        <p:txBody>
          <a:bodyPr wrap="square" lIns="0" rIns="0" tIns="0" bIns="0" anchor="t">
            <a:noAutofit/>
          </a:bodyPr>
          <a:lstStyle/>
          <a:p>
            <a:pPr algn="l"/>
            <a:r>
              <a:rPr sz="1000" i="0">
                <a:solidFill>
                  <a:srgbClr val="6F7890"/>
                </a:solidFill>
                <a:latin typeface="Segoe UI"/>
              </a:rPr>
              <a:t>Surface Laptop Ultra  |  NVIDIA RTX Spark  |  Zava</a:t>
            </a:r>
          </a:p>
        </p:txBody>
      </p:sp>
      <p:sp>
        <p:nvSpPr>
          <p:cNvPr id="8" name="TextBox 7"/>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6F7890"/>
                </a:solidFill>
                <a:latin typeface="Segoe UI"/>
              </a:rPr>
              <a:t>12</a:t>
            </a:r>
          </a:p>
        </p:txBody>
      </p:sp>
      <p:sp>
        <p:nvSpPr>
          <p:cNvPr id="9" name="Rounded Rectangle 8"/>
          <p:cNvSpPr/>
          <p:nvPr/>
        </p:nvSpPr>
        <p:spPr>
          <a:xfrm>
            <a:off x="548640" y="1828800"/>
            <a:ext cx="3514344" cy="2926080"/>
          </a:xfrm>
          <a:prstGeom prst="roundRect">
            <a:avLst>
              <a:gd name="adj" fmla="val 4375"/>
            </a:avLst>
          </a:prstGeom>
          <a:solidFill>
            <a:srgbClr val="141824"/>
          </a:solidFill>
          <a:ln w="12700">
            <a:solidFill>
              <a:srgbClr val="45681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22960" y="2103120"/>
            <a:ext cx="640080" cy="640080"/>
          </a:xfrm>
          <a:prstGeom prst="ellipse">
            <a:avLst/>
          </a:prstGeom>
          <a:solidFill>
            <a:srgbClr val="76B900"/>
          </a:solidFill>
          <a:ln>
            <a:noFill/>
          </a:ln>
          <a:effectLst>
            <a:glow rad="101600">
              <a:srgbClr val="76B900">
                <a:alpha val="4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22960" y="2103120"/>
            <a:ext cx="640080" cy="640080"/>
          </a:xfrm>
          <a:prstGeom prst="rect">
            <a:avLst/>
          </a:prstGeom>
          <a:noFill/>
        </p:spPr>
        <p:txBody>
          <a:bodyPr wrap="square" lIns="0" rIns="0" tIns="0" bIns="0" anchor="ctr">
            <a:noAutofit/>
          </a:bodyPr>
          <a:lstStyle/>
          <a:p>
            <a:pPr algn="ctr"/>
            <a:r>
              <a:rPr sz="2200" i="0">
                <a:solidFill>
                  <a:srgbClr val="07080C"/>
                </a:solidFill>
                <a:latin typeface="Segoe UI Semibold"/>
              </a:rPr>
              <a:t>1</a:t>
            </a:r>
          </a:p>
        </p:txBody>
      </p:sp>
      <p:sp>
        <p:nvSpPr>
          <p:cNvPr id="12" name="TextBox 11"/>
          <p:cNvSpPr txBox="1"/>
          <p:nvPr/>
        </p:nvSpPr>
        <p:spPr>
          <a:xfrm>
            <a:off x="3331464" y="2176272"/>
            <a:ext cx="475488" cy="475488"/>
          </a:xfrm>
          <a:prstGeom prst="rect">
            <a:avLst/>
          </a:prstGeom>
          <a:noFill/>
        </p:spPr>
        <p:txBody>
          <a:bodyPr wrap="none" lIns="0" rIns="0" tIns="0" bIns="0" anchor="ctr">
            <a:spAutoFit/>
          </a:bodyPr>
          <a:lstStyle/>
          <a:p>
            <a:pPr algn="ctr"/>
            <a:r>
              <a:rPr sz="2321">
                <a:solidFill>
                  <a:srgbClr val="76B900"/>
                </a:solidFill>
                <a:latin typeface="Segoe Fluent Icons"/>
              </a:rPr>
              <a:t></a:t>
            </a:r>
          </a:p>
        </p:txBody>
      </p:sp>
      <p:sp>
        <p:nvSpPr>
          <p:cNvPr id="13" name="TextBox 12"/>
          <p:cNvSpPr txBox="1"/>
          <p:nvPr/>
        </p:nvSpPr>
        <p:spPr>
          <a:xfrm>
            <a:off x="822960" y="2880360"/>
            <a:ext cx="2965704" cy="777240"/>
          </a:xfrm>
          <a:prstGeom prst="rect">
            <a:avLst/>
          </a:prstGeom>
          <a:noFill/>
        </p:spPr>
        <p:txBody>
          <a:bodyPr wrap="square" lIns="0" rIns="0" tIns="0" bIns="0" anchor="t">
            <a:noAutofit/>
          </a:bodyPr>
          <a:lstStyle/>
          <a:p>
            <a:pPr algn="l"/>
            <a:r>
              <a:rPr sz="2000" i="0">
                <a:solidFill>
                  <a:srgbClr val="F4F6FA"/>
                </a:solidFill>
                <a:latin typeface="Segoe UI Semibold"/>
              </a:rPr>
              <a:t>Nominate developers</a:t>
            </a:r>
          </a:p>
        </p:txBody>
      </p:sp>
      <p:sp>
        <p:nvSpPr>
          <p:cNvPr id="14" name="TextBox 13"/>
          <p:cNvSpPr txBox="1"/>
          <p:nvPr/>
        </p:nvSpPr>
        <p:spPr>
          <a:xfrm>
            <a:off x="822960" y="3657600"/>
            <a:ext cx="2965704" cy="960120"/>
          </a:xfrm>
          <a:prstGeom prst="rect">
            <a:avLst/>
          </a:prstGeom>
          <a:noFill/>
        </p:spPr>
        <p:txBody>
          <a:bodyPr wrap="square" lIns="0" rIns="0" tIns="0" bIns="0" anchor="t">
            <a:noAutofit/>
          </a:bodyPr>
          <a:lstStyle/>
          <a:p>
            <a:pPr algn="l"/>
            <a:r>
              <a:rPr sz="1500" i="0">
                <a:solidFill>
                  <a:srgbClr val="AEB6C8"/>
                </a:solidFill>
                <a:latin typeface="Segoe UI"/>
              </a:rPr>
              <a:t>Select 10 developers across representative engineering workflows.</a:t>
            </a:r>
          </a:p>
        </p:txBody>
      </p:sp>
      <p:sp>
        <p:nvSpPr>
          <p:cNvPr id="15" name="Rounded Rectangle 14"/>
          <p:cNvSpPr/>
          <p:nvPr/>
        </p:nvSpPr>
        <p:spPr>
          <a:xfrm>
            <a:off x="4337304" y="1828800"/>
            <a:ext cx="3514344" cy="2926080"/>
          </a:xfrm>
          <a:prstGeom prst="roundRect">
            <a:avLst>
              <a:gd name="adj" fmla="val 4375"/>
            </a:avLst>
          </a:prstGeom>
          <a:solidFill>
            <a:srgbClr val="141824"/>
          </a:solidFill>
          <a:ln w="12700">
            <a:solidFill>
              <a:srgbClr val="28609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4611624" y="2103120"/>
            <a:ext cx="640080" cy="640080"/>
          </a:xfrm>
          <a:prstGeom prst="ellipse">
            <a:avLst/>
          </a:prstGeom>
          <a:solidFill>
            <a:srgbClr val="3DA9FC"/>
          </a:solidFill>
          <a:ln>
            <a:noFill/>
          </a:ln>
          <a:effectLst>
            <a:glow rad="101600">
              <a:srgbClr val="3DA9FC">
                <a:alpha val="4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611624" y="2103120"/>
            <a:ext cx="640080" cy="640080"/>
          </a:xfrm>
          <a:prstGeom prst="rect">
            <a:avLst/>
          </a:prstGeom>
          <a:noFill/>
        </p:spPr>
        <p:txBody>
          <a:bodyPr wrap="square" lIns="0" rIns="0" tIns="0" bIns="0" anchor="ctr">
            <a:noAutofit/>
          </a:bodyPr>
          <a:lstStyle/>
          <a:p>
            <a:pPr algn="ctr"/>
            <a:r>
              <a:rPr sz="2200" i="0">
                <a:solidFill>
                  <a:srgbClr val="07080C"/>
                </a:solidFill>
                <a:latin typeface="Segoe UI Semibold"/>
              </a:rPr>
              <a:t>2</a:t>
            </a:r>
          </a:p>
        </p:txBody>
      </p:sp>
      <p:sp>
        <p:nvSpPr>
          <p:cNvPr id="18" name="TextBox 17"/>
          <p:cNvSpPr txBox="1"/>
          <p:nvPr/>
        </p:nvSpPr>
        <p:spPr>
          <a:xfrm>
            <a:off x="7120128" y="2176272"/>
            <a:ext cx="475488" cy="475488"/>
          </a:xfrm>
          <a:prstGeom prst="rect">
            <a:avLst/>
          </a:prstGeom>
          <a:noFill/>
        </p:spPr>
        <p:txBody>
          <a:bodyPr wrap="none" lIns="0" rIns="0" tIns="0" bIns="0" anchor="ctr">
            <a:spAutoFit/>
          </a:bodyPr>
          <a:lstStyle/>
          <a:p>
            <a:pPr algn="ctr"/>
            <a:r>
              <a:rPr sz="2321">
                <a:solidFill>
                  <a:srgbClr val="3DA9FC"/>
                </a:solidFill>
                <a:latin typeface="Segoe Fluent Icons"/>
              </a:rPr>
              <a:t></a:t>
            </a:r>
          </a:p>
        </p:txBody>
      </p:sp>
      <p:sp>
        <p:nvSpPr>
          <p:cNvPr id="19" name="TextBox 18"/>
          <p:cNvSpPr txBox="1"/>
          <p:nvPr/>
        </p:nvSpPr>
        <p:spPr>
          <a:xfrm>
            <a:off x="4611624" y="2880360"/>
            <a:ext cx="2965704" cy="777240"/>
          </a:xfrm>
          <a:prstGeom prst="rect">
            <a:avLst/>
          </a:prstGeom>
          <a:noFill/>
        </p:spPr>
        <p:txBody>
          <a:bodyPr wrap="square" lIns="0" rIns="0" tIns="0" bIns="0" anchor="t">
            <a:noAutofit/>
          </a:bodyPr>
          <a:lstStyle/>
          <a:p>
            <a:pPr algn="l"/>
            <a:r>
              <a:rPr sz="2000" i="0">
                <a:solidFill>
                  <a:srgbClr val="F4F6FA"/>
                </a:solidFill>
                <a:latin typeface="Segoe UI Semibold"/>
              </a:rPr>
              <a:t>Run technical pilot</a:t>
            </a:r>
          </a:p>
        </p:txBody>
      </p:sp>
      <p:sp>
        <p:nvSpPr>
          <p:cNvPr id="20" name="TextBox 19"/>
          <p:cNvSpPr txBox="1"/>
          <p:nvPr/>
        </p:nvSpPr>
        <p:spPr>
          <a:xfrm>
            <a:off x="4611624" y="3657600"/>
            <a:ext cx="2965704" cy="960120"/>
          </a:xfrm>
          <a:prstGeom prst="rect">
            <a:avLst/>
          </a:prstGeom>
          <a:noFill/>
        </p:spPr>
        <p:txBody>
          <a:bodyPr wrap="square" lIns="0" rIns="0" tIns="0" bIns="0" anchor="t">
            <a:noAutofit/>
          </a:bodyPr>
          <a:lstStyle/>
          <a:p>
            <a:pPr algn="l"/>
            <a:r>
              <a:rPr sz="1500" i="0">
                <a:solidFill>
                  <a:srgbClr val="AEB6C8"/>
                </a:solidFill>
                <a:latin typeface="Segoe UI"/>
              </a:rPr>
              <a:t>Test code generation, internal RAG and hybrid routing.</a:t>
            </a:r>
          </a:p>
        </p:txBody>
      </p:sp>
      <p:sp>
        <p:nvSpPr>
          <p:cNvPr id="21" name="Rounded Rectangle 20"/>
          <p:cNvSpPr/>
          <p:nvPr/>
        </p:nvSpPr>
        <p:spPr>
          <a:xfrm>
            <a:off x="8125968" y="1828800"/>
            <a:ext cx="3514344" cy="2926080"/>
          </a:xfrm>
          <a:prstGeom prst="roundRect">
            <a:avLst>
              <a:gd name="adj" fmla="val 4375"/>
            </a:avLst>
          </a:prstGeom>
          <a:solidFill>
            <a:srgbClr val="141824"/>
          </a:solidFill>
          <a:ln w="12700">
            <a:solidFill>
              <a:srgbClr val="58429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8400288" y="2103120"/>
            <a:ext cx="640080" cy="640080"/>
          </a:xfrm>
          <a:prstGeom prst="ellipse">
            <a:avLst/>
          </a:prstGeom>
          <a:solidFill>
            <a:srgbClr val="9B6BFF"/>
          </a:solidFill>
          <a:ln>
            <a:noFill/>
          </a:ln>
          <a:effectLst>
            <a:glow rad="101600">
              <a:srgbClr val="9B6BFF">
                <a:alpha val="4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400288" y="2103120"/>
            <a:ext cx="640080" cy="640080"/>
          </a:xfrm>
          <a:prstGeom prst="rect">
            <a:avLst/>
          </a:prstGeom>
          <a:noFill/>
        </p:spPr>
        <p:txBody>
          <a:bodyPr wrap="square" lIns="0" rIns="0" tIns="0" bIns="0" anchor="ctr">
            <a:noAutofit/>
          </a:bodyPr>
          <a:lstStyle/>
          <a:p>
            <a:pPr algn="ctr"/>
            <a:r>
              <a:rPr sz="2200" i="0">
                <a:solidFill>
                  <a:srgbClr val="07080C"/>
                </a:solidFill>
                <a:latin typeface="Segoe UI Semibold"/>
              </a:rPr>
              <a:t>3</a:t>
            </a:r>
          </a:p>
        </p:txBody>
      </p:sp>
      <p:sp>
        <p:nvSpPr>
          <p:cNvPr id="24" name="TextBox 23"/>
          <p:cNvSpPr txBox="1"/>
          <p:nvPr/>
        </p:nvSpPr>
        <p:spPr>
          <a:xfrm>
            <a:off x="10908792" y="2176272"/>
            <a:ext cx="475488" cy="475488"/>
          </a:xfrm>
          <a:prstGeom prst="rect">
            <a:avLst/>
          </a:prstGeom>
          <a:noFill/>
        </p:spPr>
        <p:txBody>
          <a:bodyPr wrap="none" lIns="0" rIns="0" tIns="0" bIns="0" anchor="ctr">
            <a:spAutoFit/>
          </a:bodyPr>
          <a:lstStyle/>
          <a:p>
            <a:pPr algn="ctr"/>
            <a:r>
              <a:rPr sz="2321">
                <a:solidFill>
                  <a:srgbClr val="9B6BFF"/>
                </a:solidFill>
                <a:latin typeface="Segoe Fluent Icons"/>
              </a:rPr>
              <a:t></a:t>
            </a:r>
          </a:p>
        </p:txBody>
      </p:sp>
      <p:sp>
        <p:nvSpPr>
          <p:cNvPr id="25" name="TextBox 24"/>
          <p:cNvSpPr txBox="1"/>
          <p:nvPr/>
        </p:nvSpPr>
        <p:spPr>
          <a:xfrm>
            <a:off x="8400288" y="2880360"/>
            <a:ext cx="2965704" cy="777240"/>
          </a:xfrm>
          <a:prstGeom prst="rect">
            <a:avLst/>
          </a:prstGeom>
          <a:noFill/>
        </p:spPr>
        <p:txBody>
          <a:bodyPr wrap="square" lIns="0" rIns="0" tIns="0" bIns="0" anchor="t">
            <a:noAutofit/>
          </a:bodyPr>
          <a:lstStyle/>
          <a:p>
            <a:pPr algn="l"/>
            <a:r>
              <a:rPr sz="2000" i="0">
                <a:solidFill>
                  <a:srgbClr val="F4F6FA"/>
                </a:solidFill>
                <a:latin typeface="Segoe UI Semibold"/>
              </a:rPr>
              <a:t>Review outcomes</a:t>
            </a:r>
          </a:p>
        </p:txBody>
      </p:sp>
      <p:sp>
        <p:nvSpPr>
          <p:cNvPr id="26" name="TextBox 25"/>
          <p:cNvSpPr txBox="1"/>
          <p:nvPr/>
        </p:nvSpPr>
        <p:spPr>
          <a:xfrm>
            <a:off x="8400288" y="3657600"/>
            <a:ext cx="2965704" cy="960120"/>
          </a:xfrm>
          <a:prstGeom prst="rect">
            <a:avLst/>
          </a:prstGeom>
          <a:noFill/>
        </p:spPr>
        <p:txBody>
          <a:bodyPr wrap="square" lIns="0" rIns="0" tIns="0" bIns="0" anchor="t">
            <a:noAutofit/>
          </a:bodyPr>
          <a:lstStyle/>
          <a:p>
            <a:pPr algn="l"/>
            <a:r>
              <a:rPr sz="1500" i="0">
                <a:solidFill>
                  <a:srgbClr val="AEB6C8"/>
                </a:solidFill>
                <a:latin typeface="Segoe UI"/>
              </a:rPr>
              <a:t>Assess acceptance rate, latency and developer experience.</a:t>
            </a:r>
          </a:p>
        </p:txBody>
      </p:sp>
      <p:sp>
        <p:nvSpPr>
          <p:cNvPr id="27" name="Rounded Rectangle 26"/>
          <p:cNvSpPr/>
          <p:nvPr/>
        </p:nvSpPr>
        <p:spPr>
          <a:xfrm>
            <a:off x="548640" y="5029200"/>
            <a:ext cx="11091672" cy="1143000"/>
          </a:xfrm>
          <a:prstGeom prst="roundRect">
            <a:avLst>
              <a:gd name="adj" fmla="val 11200"/>
            </a:avLst>
          </a:prstGeom>
          <a:gradFill rotWithShape="1">
            <a:gsLst>
              <a:gs pos="0">
                <a:srgbClr val="76B900"/>
              </a:gs>
              <a:gs pos="100000">
                <a:srgbClr val="54AF97"/>
              </a:gs>
            </a:gsLst>
            <a:lin scaled="0" ang="0"/>
          </a:gradFill>
          <a:ln>
            <a:noFill/>
          </a:ln>
          <a:effectLst>
            <a:glow rad="177800">
              <a:srgbClr val="76B900">
                <a:alpha val="4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914400" y="5349240"/>
            <a:ext cx="502920" cy="502920"/>
          </a:xfrm>
          <a:prstGeom prst="rect">
            <a:avLst/>
          </a:prstGeom>
          <a:noFill/>
        </p:spPr>
        <p:txBody>
          <a:bodyPr wrap="none" lIns="0" rIns="0" tIns="0" bIns="0" anchor="ctr">
            <a:spAutoFit/>
          </a:bodyPr>
          <a:lstStyle/>
          <a:p>
            <a:pPr algn="ctr"/>
            <a:r>
              <a:rPr sz="2455">
                <a:solidFill>
                  <a:srgbClr val="07080C"/>
                </a:solidFill>
                <a:latin typeface="Segoe Fluent Icons"/>
              </a:rPr>
              <a:t></a:t>
            </a:r>
          </a:p>
        </p:txBody>
      </p:sp>
      <p:sp>
        <p:nvSpPr>
          <p:cNvPr id="29" name="TextBox 28"/>
          <p:cNvSpPr txBox="1"/>
          <p:nvPr/>
        </p:nvSpPr>
        <p:spPr>
          <a:xfrm>
            <a:off x="1645920" y="5138928"/>
            <a:ext cx="9720072" cy="914400"/>
          </a:xfrm>
          <a:prstGeom prst="rect">
            <a:avLst/>
          </a:prstGeom>
          <a:noFill/>
        </p:spPr>
        <p:txBody>
          <a:bodyPr wrap="square" lIns="0" rIns="0" tIns="0" bIns="0" anchor="ctr">
            <a:noAutofit/>
          </a:bodyPr>
          <a:lstStyle/>
          <a:p>
            <a:pPr algn="l"/>
            <a:r>
              <a:rPr sz="2400" i="0">
                <a:solidFill>
                  <a:srgbClr val="07080C"/>
                </a:solidFill>
                <a:latin typeface="Segoe UI Semibold"/>
              </a:rPr>
              <a:t>Approve the 10-developer, 2-week technical pilot.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Zava Local AI Developer Stack</dc:title>
  <dc:subject/>
  <dc:creator>Offline PPTX Forge</dc:creator>
  <cp:keywords/>
  <dc:description>Generated offline; template=surface_ultra</dc:description>
  <cp:lastModifiedBy>Steve Canny</cp:lastModifiedBy>
  <cp:revision>1</cp:revision>
  <dcterms:created xsi:type="dcterms:W3CDTF">2013-01-27T09:14:16Z</dcterms:created>
  <dcterms:modified xsi:type="dcterms:W3CDTF">2013-01-27T09:15:58Z</dcterms:modified>
  <cp:category/>
</cp:coreProperties>
</file>