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 a focused pilot for traveling consultants who turn sensitive interview notes and site documents into client summaries. Surface Laptop Ultra with NVIDIA RTX Spark would provide a local drafting lane. Microsoft 365 Copilot stays in place. We will measure whether the additional lane improves real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Contoso has 1,200 traveling consultants within its 4,000 employees. Each consultant writes about 6 client summaries weekly, taking about 25 minutes per draft today. Restricted guest Wi-Fi and sensitive source documents make this a useful workflow to test, rather than a reason to replace existing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drafting desk carried inside the laptop. Approved documents provide the reference folder; the local model prepares a draft; the consultant checks it against the evidence. The assistant supports drafting, not accountability. The pilot must establish whether drafts are accurate, complete and useful.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recommended choice preserves Microsoft 365 Copilot and adds a local lane for sensitive, repeated drafting. Teams retain their existing connected workflows. This proposal does not replace a subscription or claim license savings. The pilot determines which tasks fit the local lane and how users move between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architecture: retrieve approved local documents, draft through an on-device model, then review and save locally. Prompts, sources and drafts remain in the local lane; Copilot continues separately for existing connected workflows. Validate network behavior, storage, logging and sync configuration during the pilot. Local processing alone is not a security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packed toolkit is useful only if the needed tools and supplies are actually inside it. Prepare approved documents and installed models before travel. Validate disconnected use in the pilot, including startup, document access and drafting without guest Wi-Fi. Do not assume every application dependency works disconnected or describe the device as certified offline.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in the brief combines Surface Laptop Ultra with NVIDIA RTX Spark, a Blackwell RTX GPU, 20 CPU cores and 128 GB installed memory. Installed memory is not a claim about GPU memory. The local catalog contains 28 open models; select an appropriate model for the pilot workflow rather than assuming all models are interchangeable.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reports these approximate decoding rates on this device from Local-AI-Bench in October 2026, using a single stream. These are model throughput observations, not end-to-end summary drafting times, quality scores or evidence of multiuser capacity. The pilot measures the complete task, including document preparation and consultant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inputs: 1,200 consultants, about 6 summaries weekly, 5 minutes saved per summary, and 46 working weeks. This yields an illustrative 27,600 hours annually, not measured performance, financial savings or committed capacity. It is an estimate to validate. The pilot measures actual task time and whether draft quality holds.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comparable summary tasks to establish a baseline and assess the local workflow, including review and correction time. Consulting evaluates draft quality and user experience; IT validates device configuration, local data handling and disconnected use. Review observed results together before considering expansion. Do not treat faster model decoding as proof of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 a 10-user, 2-week pilot of Surface Laptop Ultra with NVIDIA RTX Spark for traveling consultants. Confirm sponsorship, participants and permitted client materials. Microsoft 365 Copilot remains in place. Return with measured task time, draft quality, user experience and disconnected-use findings, then decide whether to expand, refine or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155448" cy="155448"/>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2960" y="566928"/>
            <a:ext cx="155448" cy="155448"/>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40080" y="749808"/>
            <a:ext cx="155448" cy="155448"/>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22960" y="749808"/>
            <a:ext cx="155448" cy="15544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530352"/>
            <a:ext cx="2743200" cy="384048"/>
          </a:xfrm>
          <a:prstGeom prst="rect">
            <a:avLst/>
          </a:prstGeom>
          <a:noFill/>
        </p:spPr>
        <p:txBody>
          <a:bodyPr wrap="square" lIns="0" rIns="0" tIns="0" bIns="0" anchor="ctr">
            <a:noAutofit/>
          </a:bodyPr>
          <a:lstStyle/>
          <a:p>
            <a:pPr algn="l"/>
            <a:r>
              <a:rPr sz="1900" i="0">
                <a:solidFill>
                  <a:srgbClr val="737373"/>
                </a:solidFill>
                <a:latin typeface="Segoe UI Semibold"/>
              </a:rPr>
              <a:t>Microsoft</a:t>
            </a:r>
          </a:p>
        </p:txBody>
      </p:sp>
      <p:sp>
        <p:nvSpPr>
          <p:cNvPr id="7" name="Rectangle 6"/>
          <p:cNvSpPr/>
          <p:nvPr/>
        </p:nvSpPr>
        <p:spPr>
          <a:xfrm>
            <a:off x="8001000" y="1600200"/>
            <a:ext cx="1600200" cy="1600200"/>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01050"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9" name="Rectangle 8"/>
          <p:cNvSpPr/>
          <p:nvPr/>
        </p:nvSpPr>
        <p:spPr>
          <a:xfrm>
            <a:off x="9747504" y="1600200"/>
            <a:ext cx="1600200" cy="1600200"/>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7554"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1" name="Rectangle 10"/>
          <p:cNvSpPr/>
          <p:nvPr/>
        </p:nvSpPr>
        <p:spPr>
          <a:xfrm>
            <a:off x="8001000" y="3346704"/>
            <a:ext cx="1600200" cy="160020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01050"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3" name="Rectangle 12"/>
          <p:cNvSpPr/>
          <p:nvPr/>
        </p:nvSpPr>
        <p:spPr>
          <a:xfrm>
            <a:off x="9747504" y="3346704"/>
            <a:ext cx="1600200" cy="160020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7554"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5" name="TextBox 14"/>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0078D4"/>
                </a:solidFill>
                <a:latin typeface="Segoe UI Semibold"/>
              </a:rPr>
              <a:t>CONTOSO EXECUTIVE PILOT</a:t>
            </a:r>
          </a:p>
        </p:txBody>
      </p:sp>
      <p:sp>
        <p:nvSpPr>
          <p:cNvPr id="16" name="TextBox 15"/>
          <p:cNvSpPr txBox="1"/>
          <p:nvPr/>
        </p:nvSpPr>
        <p:spPr>
          <a:xfrm>
            <a:off x="640080" y="2148840"/>
            <a:ext cx="6400800" cy="2194560"/>
          </a:xfrm>
          <a:prstGeom prst="rect">
            <a:avLst/>
          </a:prstGeom>
          <a:noFill/>
        </p:spPr>
        <p:txBody>
          <a:bodyPr wrap="square" lIns="0" rIns="0" tIns="0" bIns="0" anchor="t">
            <a:noAutofit/>
          </a:bodyPr>
          <a:lstStyle/>
          <a:p>
            <a:pPr algn="l"/>
            <a:r>
              <a:rPr sz="4700" i="0">
                <a:solidFill>
                  <a:srgbClr val="1B1B1B"/>
                </a:solidFill>
                <a:latin typeface="Segoe UI Semibold"/>
              </a:rPr>
              <a:t>Client Drafts, Wherever Work Happens</a:t>
            </a:r>
          </a:p>
        </p:txBody>
      </p:sp>
      <p:sp>
        <p:nvSpPr>
          <p:cNvPr id="17" name="TextBox 16"/>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505050"/>
                </a:solidFill>
                <a:latin typeface="Segoe UI"/>
              </a:rPr>
              <a:t>Add a local AI lane alongside Microsoft 365 Copilot.</a:t>
            </a:r>
          </a:p>
        </p:txBody>
      </p:sp>
      <p:sp>
        <p:nvSpPr>
          <p:cNvPr id="18" name="TextBox 17"/>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8A8A8A"/>
                </a:solidFill>
                <a:latin typeface="Segoe UI"/>
              </a:rPr>
              <a:t>Microsoft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Client Summaries Carry Repeated Friction</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Travel constraints and repeated drafting make a focused local AI pilot worth testing.</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2</a:t>
            </a:r>
          </a:p>
        </p:txBody>
      </p:sp>
      <p:sp>
        <p:nvSpPr>
          <p:cNvPr id="10" name="Rounded Rectangle 9"/>
          <p:cNvSpPr/>
          <p:nvPr/>
        </p:nvSpPr>
        <p:spPr>
          <a:xfrm>
            <a:off x="548640" y="2583180"/>
            <a:ext cx="3361944" cy="3291840"/>
          </a:xfrm>
          <a:prstGeom prst="roundRect">
            <a:avLst>
              <a:gd name="adj" fmla="val 16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772412"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900428"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2996184"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3032760" cy="868680"/>
          </a:xfrm>
          <a:prstGeom prst="rect">
            <a:avLst/>
          </a:prstGeom>
          <a:noFill/>
        </p:spPr>
        <p:txBody>
          <a:bodyPr wrap="square" lIns="0" rIns="0" tIns="0" bIns="0" anchor="ctr">
            <a:noAutofit/>
          </a:bodyPr>
          <a:lstStyle/>
          <a:p>
            <a:pPr algn="ctr"/>
            <a:r>
              <a:rPr sz="2000" i="0">
                <a:solidFill>
                  <a:srgbClr val="1B1B1B"/>
                </a:solidFill>
                <a:latin typeface="Segoe UI Semibold"/>
              </a:rPr>
              <a:t>Visit client sites</a:t>
            </a:r>
          </a:p>
        </p:txBody>
      </p:sp>
      <p:sp>
        <p:nvSpPr>
          <p:cNvPr id="15" name="TextBox 14"/>
          <p:cNvSpPr txBox="1"/>
          <p:nvPr/>
        </p:nvSpPr>
        <p:spPr>
          <a:xfrm>
            <a:off x="731520" y="4366260"/>
            <a:ext cx="2996184" cy="1371600"/>
          </a:xfrm>
          <a:prstGeom prst="rect">
            <a:avLst/>
          </a:prstGeom>
          <a:noFill/>
        </p:spPr>
        <p:txBody>
          <a:bodyPr wrap="square" lIns="0" rIns="0" tIns="0" bIns="0" anchor="t">
            <a:noAutofit/>
          </a:bodyPr>
          <a:lstStyle/>
          <a:p>
            <a:pPr algn="ctr"/>
            <a:r>
              <a:rPr sz="1500" i="0">
                <a:solidFill>
                  <a:srgbClr val="505050"/>
                </a:solidFill>
                <a:latin typeface="Segoe UI"/>
              </a:rPr>
              <a:t>About 30% of sites restrict guest Wi-Fi</a:t>
            </a:r>
          </a:p>
        </p:txBody>
      </p:sp>
      <p:sp>
        <p:nvSpPr>
          <p:cNvPr id="16" name="Chevron 15"/>
          <p:cNvSpPr/>
          <p:nvPr/>
        </p:nvSpPr>
        <p:spPr>
          <a:xfrm>
            <a:off x="404774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13504" y="2583180"/>
            <a:ext cx="3361944" cy="3291840"/>
          </a:xfrm>
          <a:prstGeom prst="roundRect">
            <a:avLst>
              <a:gd name="adj" fmla="val 16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637276"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4596384" y="3150108"/>
            <a:ext cx="2996184"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4578096" y="3451860"/>
            <a:ext cx="3032760" cy="868680"/>
          </a:xfrm>
          <a:prstGeom prst="rect">
            <a:avLst/>
          </a:prstGeom>
          <a:noFill/>
        </p:spPr>
        <p:txBody>
          <a:bodyPr wrap="square" lIns="0" rIns="0" tIns="0" bIns="0" anchor="ctr">
            <a:noAutofit/>
          </a:bodyPr>
          <a:lstStyle/>
          <a:p>
            <a:pPr algn="ctr"/>
            <a:r>
              <a:rPr sz="2000" i="0">
                <a:solidFill>
                  <a:srgbClr val="1B1B1B"/>
                </a:solidFill>
                <a:latin typeface="Segoe UI Semibold"/>
              </a:rPr>
              <a:t>Gather evidence</a:t>
            </a:r>
          </a:p>
        </p:txBody>
      </p:sp>
      <p:sp>
        <p:nvSpPr>
          <p:cNvPr id="22" name="TextBox 21"/>
          <p:cNvSpPr txBox="1"/>
          <p:nvPr/>
        </p:nvSpPr>
        <p:spPr>
          <a:xfrm>
            <a:off x="4596384" y="4366260"/>
            <a:ext cx="2996184" cy="1371600"/>
          </a:xfrm>
          <a:prstGeom prst="rect">
            <a:avLst/>
          </a:prstGeom>
          <a:noFill/>
        </p:spPr>
        <p:txBody>
          <a:bodyPr wrap="square" lIns="0" rIns="0" tIns="0" bIns="0" anchor="t">
            <a:noAutofit/>
          </a:bodyPr>
          <a:lstStyle/>
          <a:p>
            <a:pPr algn="ctr"/>
            <a:r>
              <a:rPr sz="1500" i="0">
                <a:solidFill>
                  <a:srgbClr val="505050"/>
                </a:solidFill>
                <a:latin typeface="Segoe UI"/>
              </a:rPr>
              <a:t>Interview notes and sensitive client documents</a:t>
            </a:r>
          </a:p>
        </p:txBody>
      </p:sp>
      <p:sp>
        <p:nvSpPr>
          <p:cNvPr id="23" name="Chevron 22"/>
          <p:cNvSpPr/>
          <p:nvPr/>
        </p:nvSpPr>
        <p:spPr>
          <a:xfrm>
            <a:off x="791260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278368" y="2583180"/>
            <a:ext cx="3361944" cy="3291840"/>
          </a:xfrm>
          <a:prstGeom prst="roundRect">
            <a:avLst>
              <a:gd name="adj" fmla="val 16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502140"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30156"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8461248" y="3150108"/>
            <a:ext cx="2996184"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8442960" y="3451860"/>
            <a:ext cx="3032760" cy="868680"/>
          </a:xfrm>
          <a:prstGeom prst="rect">
            <a:avLst/>
          </a:prstGeom>
          <a:noFill/>
        </p:spPr>
        <p:txBody>
          <a:bodyPr wrap="square" lIns="0" rIns="0" tIns="0" bIns="0" anchor="ctr">
            <a:noAutofit/>
          </a:bodyPr>
          <a:lstStyle/>
          <a:p>
            <a:pPr algn="ctr"/>
            <a:r>
              <a:rPr sz="2000" i="0">
                <a:solidFill>
                  <a:srgbClr val="1B1B1B"/>
                </a:solidFill>
                <a:latin typeface="Segoe UI Semibold"/>
              </a:rPr>
              <a:t>Draft summaries</a:t>
            </a:r>
          </a:p>
        </p:txBody>
      </p:sp>
      <p:sp>
        <p:nvSpPr>
          <p:cNvPr id="29" name="TextBox 28"/>
          <p:cNvSpPr txBox="1"/>
          <p:nvPr/>
        </p:nvSpPr>
        <p:spPr>
          <a:xfrm>
            <a:off x="8461248" y="4366260"/>
            <a:ext cx="2996184" cy="1371600"/>
          </a:xfrm>
          <a:prstGeom prst="rect">
            <a:avLst/>
          </a:prstGeom>
          <a:noFill/>
        </p:spPr>
        <p:txBody>
          <a:bodyPr wrap="square" lIns="0" rIns="0" tIns="0" bIns="0" anchor="t">
            <a:noAutofit/>
          </a:bodyPr>
          <a:lstStyle/>
          <a:p>
            <a:pPr algn="ctr"/>
            <a:r>
              <a:rPr sz="1500" i="0">
                <a:solidFill>
                  <a:srgbClr val="505050"/>
                </a:solidFill>
                <a:latin typeface="Segoe UI"/>
              </a:rPr>
              <a:t>About 6 weekly; about 25 minutes 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 Drafting Desk Inside Your Laptop</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Bring drafting to the documents, then keep the consultant in charge.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3</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Local AI</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Personal drafting desk</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Local documents</a:t>
            </a:r>
          </a:p>
        </p:txBody>
      </p:sp>
      <p:cxnSp>
        <p:nvCxnSpPr>
          <p:cNvPr id="19" name="Connector 18"/>
          <p:cNvCxnSpPr/>
          <p:nvPr/>
        </p:nvCxnSpPr>
        <p:spPr>
          <a:xfrm>
            <a:off x="5481828" y="3529584"/>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Reference folder</a:t>
            </a:r>
          </a:p>
        </p:txBody>
      </p:sp>
      <p:sp>
        <p:nvSpPr>
          <p:cNvPr id="22" name="Rounded Rectangle 21"/>
          <p:cNvSpPr/>
          <p:nvPr/>
        </p:nvSpPr>
        <p:spPr>
          <a:xfrm>
            <a:off x="548640" y="4059936"/>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Local model</a:t>
            </a:r>
          </a:p>
        </p:txBody>
      </p:sp>
      <p:cxnSp>
        <p:nvCxnSpPr>
          <p:cNvPr id="24" name="Connector 23"/>
          <p:cNvCxnSpPr/>
          <p:nvPr/>
        </p:nvCxnSpPr>
        <p:spPr>
          <a:xfrm>
            <a:off x="5481828" y="4480560"/>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4059936"/>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Drafting assistant</a:t>
            </a:r>
          </a:p>
        </p:txBody>
      </p:sp>
      <p:sp>
        <p:nvSpPr>
          <p:cNvPr id="27" name="Rounded Rectangle 26"/>
          <p:cNvSpPr/>
          <p:nvPr/>
        </p:nvSpPr>
        <p:spPr>
          <a:xfrm>
            <a:off x="548640" y="5010912"/>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Consultant review</a:t>
            </a:r>
          </a:p>
        </p:txBody>
      </p:sp>
      <p:cxnSp>
        <p:nvCxnSpPr>
          <p:cNvPr id="29" name="Connector 28"/>
          <p:cNvCxnSpPr/>
          <p:nvPr/>
        </p:nvCxnSpPr>
        <p:spPr>
          <a:xfrm>
            <a:off x="5481828" y="5431536"/>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5010912"/>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Editorial signoff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Add a Lane, Keep Copilot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Microsoft 365 Copilot remains; local AI adds an on-device option for sensitive drafting.</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4</a:t>
            </a:r>
          </a:p>
        </p:txBody>
      </p:sp>
      <p:sp>
        <p:nvSpPr>
          <p:cNvPr id="10" name="Rounded Rectangle 9"/>
          <p:cNvSpPr/>
          <p:nvPr/>
        </p:nvSpPr>
        <p:spPr>
          <a:xfrm>
            <a:off x="548640" y="1828800"/>
            <a:ext cx="5088636" cy="3429000"/>
          </a:xfrm>
          <a:prstGeom prst="roundRect">
            <a:avLst>
              <a:gd name="adj" fmla="val 16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68096" y="2020824"/>
            <a:ext cx="749808" cy="74980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13" name="TextBox 12"/>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Microsoft 365 Copilot</a:t>
            </a:r>
          </a:p>
        </p:txBody>
      </p:sp>
      <p:sp>
        <p:nvSpPr>
          <p:cNvPr id="14" name="TextBox 13"/>
          <p:cNvSpPr txBox="1"/>
          <p:nvPr/>
        </p:nvSpPr>
        <p:spPr>
          <a:xfrm>
            <a:off x="960120" y="321259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5" name="TextBox 14"/>
          <p:cNvSpPr txBox="1"/>
          <p:nvPr/>
        </p:nvSpPr>
        <p:spPr>
          <a:xfrm>
            <a:off x="1417320" y="3017520"/>
            <a:ext cx="3991356" cy="701040"/>
          </a:xfrm>
          <a:prstGeom prst="rect">
            <a:avLst/>
          </a:prstGeom>
          <a:noFill/>
        </p:spPr>
        <p:txBody>
          <a:bodyPr wrap="square" lIns="0" rIns="0" tIns="0" bIns="0" anchor="ctr">
            <a:noAutofit/>
          </a:bodyPr>
          <a:lstStyle/>
          <a:p>
            <a:pPr algn="l"/>
            <a:r>
              <a:rPr sz="1700" i="0">
                <a:solidFill>
                  <a:srgbClr val="505050"/>
                </a:solidFill>
                <a:latin typeface="Segoe UI"/>
              </a:rPr>
              <a:t>Keep existing workflows</a:t>
            </a:r>
          </a:p>
        </p:txBody>
      </p:sp>
      <p:sp>
        <p:nvSpPr>
          <p:cNvPr id="16" name="TextBox 15"/>
          <p:cNvSpPr txBox="1"/>
          <p:nvPr/>
        </p:nvSpPr>
        <p:spPr>
          <a:xfrm>
            <a:off x="960120" y="391363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7" name="TextBox 16"/>
          <p:cNvSpPr txBox="1"/>
          <p:nvPr/>
        </p:nvSpPr>
        <p:spPr>
          <a:xfrm>
            <a:off x="1417320" y="3718560"/>
            <a:ext cx="3991356" cy="701040"/>
          </a:xfrm>
          <a:prstGeom prst="rect">
            <a:avLst/>
          </a:prstGeom>
          <a:noFill/>
        </p:spPr>
        <p:txBody>
          <a:bodyPr wrap="square" lIns="0" rIns="0" tIns="0" bIns="0" anchor="ctr">
            <a:noAutofit/>
          </a:bodyPr>
          <a:lstStyle/>
          <a:p>
            <a:pPr algn="l"/>
            <a:r>
              <a:rPr sz="1700" i="0">
                <a:solidFill>
                  <a:srgbClr val="505050"/>
                </a:solidFill>
                <a:latin typeface="Segoe UI"/>
              </a:rPr>
              <a:t>Continue connected collaboration</a:t>
            </a:r>
          </a:p>
        </p:txBody>
      </p:sp>
      <p:sp>
        <p:nvSpPr>
          <p:cNvPr id="18" name="Rounded Rectangle 17"/>
          <p:cNvSpPr/>
          <p:nvPr/>
        </p:nvSpPr>
        <p:spPr>
          <a:xfrm>
            <a:off x="6551676" y="1828800"/>
            <a:ext cx="5088636" cy="3429000"/>
          </a:xfrm>
          <a:prstGeom prst="roundRect">
            <a:avLst>
              <a:gd name="adj" fmla="val 1600"/>
            </a:avLst>
          </a:prstGeom>
          <a:solidFill>
            <a:srgbClr val="F3F3F3"/>
          </a:solidFill>
          <a:ln w="28575">
            <a:solidFill>
              <a:srgbClr val="0078D4"/>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771132" y="2020824"/>
            <a:ext cx="749808" cy="74980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21" name="TextBox 20"/>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Copilot + local AI</a:t>
            </a:r>
          </a:p>
        </p:txBody>
      </p:sp>
      <p:sp>
        <p:nvSpPr>
          <p:cNvPr id="22" name="TextBox 21"/>
          <p:cNvSpPr txBox="1"/>
          <p:nvPr/>
        </p:nvSpPr>
        <p:spPr>
          <a:xfrm>
            <a:off x="6963156" y="312496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3" name="TextBox 22"/>
          <p:cNvSpPr txBox="1"/>
          <p:nvPr/>
        </p:nvSpPr>
        <p:spPr>
          <a:xfrm>
            <a:off x="7420356" y="3017520"/>
            <a:ext cx="3991356" cy="525780"/>
          </a:xfrm>
          <a:prstGeom prst="rect">
            <a:avLst/>
          </a:prstGeom>
          <a:noFill/>
        </p:spPr>
        <p:txBody>
          <a:bodyPr wrap="square" lIns="0" rIns="0" tIns="0" bIns="0" anchor="ctr">
            <a:noAutofit/>
          </a:bodyPr>
          <a:lstStyle/>
          <a:p>
            <a:pPr algn="l"/>
            <a:r>
              <a:rPr sz="1700" i="0">
                <a:solidFill>
                  <a:srgbClr val="1B1B1B"/>
                </a:solidFill>
                <a:latin typeface="Segoe UI"/>
              </a:rPr>
              <a:t>Retain existing Copilot</a:t>
            </a:r>
          </a:p>
        </p:txBody>
      </p:sp>
      <p:sp>
        <p:nvSpPr>
          <p:cNvPr id="24" name="TextBox 23"/>
          <p:cNvSpPr txBox="1"/>
          <p:nvPr/>
        </p:nvSpPr>
        <p:spPr>
          <a:xfrm>
            <a:off x="6963156" y="365074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5" name="TextBox 24"/>
          <p:cNvSpPr txBox="1"/>
          <p:nvPr/>
        </p:nvSpPr>
        <p:spPr>
          <a:xfrm>
            <a:off x="7420356" y="3543300"/>
            <a:ext cx="3991356" cy="525780"/>
          </a:xfrm>
          <a:prstGeom prst="rect">
            <a:avLst/>
          </a:prstGeom>
          <a:noFill/>
        </p:spPr>
        <p:txBody>
          <a:bodyPr wrap="square" lIns="0" rIns="0" tIns="0" bIns="0" anchor="ctr">
            <a:noAutofit/>
          </a:bodyPr>
          <a:lstStyle/>
          <a:p>
            <a:pPr algn="l"/>
            <a:r>
              <a:rPr sz="1700" i="0">
                <a:solidFill>
                  <a:srgbClr val="1B1B1B"/>
                </a:solidFill>
                <a:latin typeface="Segoe UI"/>
              </a:rPr>
              <a:t>Add sensitive drafting</a:t>
            </a:r>
          </a:p>
        </p:txBody>
      </p:sp>
      <p:sp>
        <p:nvSpPr>
          <p:cNvPr id="26" name="TextBox 25"/>
          <p:cNvSpPr txBox="1"/>
          <p:nvPr/>
        </p:nvSpPr>
        <p:spPr>
          <a:xfrm>
            <a:off x="6963156" y="417652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7" name="TextBox 26"/>
          <p:cNvSpPr txBox="1"/>
          <p:nvPr/>
        </p:nvSpPr>
        <p:spPr>
          <a:xfrm>
            <a:off x="7420356" y="4069080"/>
            <a:ext cx="3991356" cy="525780"/>
          </a:xfrm>
          <a:prstGeom prst="rect">
            <a:avLst/>
          </a:prstGeom>
          <a:noFill/>
        </p:spPr>
        <p:txBody>
          <a:bodyPr wrap="square" lIns="0" rIns="0" tIns="0" bIns="0" anchor="ctr">
            <a:noAutofit/>
          </a:bodyPr>
          <a:lstStyle/>
          <a:p>
            <a:pPr algn="l"/>
            <a:r>
              <a:rPr sz="1700" i="0">
                <a:solidFill>
                  <a:srgbClr val="1B1B1B"/>
                </a:solidFill>
                <a:latin typeface="Segoe UI"/>
              </a:rPr>
              <a:t>Repeat work locally</a:t>
            </a:r>
          </a:p>
        </p:txBody>
      </p:sp>
      <p:sp>
        <p:nvSpPr>
          <p:cNvPr id="28" name="TextBox 27"/>
          <p:cNvSpPr txBox="1"/>
          <p:nvPr/>
        </p:nvSpPr>
        <p:spPr>
          <a:xfrm>
            <a:off x="6963156" y="470230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9" name="TextBox 28"/>
          <p:cNvSpPr txBox="1"/>
          <p:nvPr/>
        </p:nvSpPr>
        <p:spPr>
          <a:xfrm>
            <a:off x="7420356" y="4594860"/>
            <a:ext cx="3991356" cy="525780"/>
          </a:xfrm>
          <a:prstGeom prst="rect">
            <a:avLst/>
          </a:prstGeom>
          <a:noFill/>
        </p:spPr>
        <p:txBody>
          <a:bodyPr wrap="square" lIns="0" rIns="0" tIns="0" bIns="0" anchor="ctr">
            <a:noAutofit/>
          </a:bodyPr>
          <a:lstStyle/>
          <a:p>
            <a:pPr algn="l"/>
            <a:r>
              <a:rPr sz="1700" i="0">
                <a:solidFill>
                  <a:srgbClr val="1B1B1B"/>
                </a:solidFill>
                <a:latin typeface="Segoe UI"/>
              </a:rPr>
              <a:t>Validate disconnected use</a:t>
            </a:r>
          </a:p>
        </p:txBody>
      </p:sp>
      <p:sp>
        <p:nvSpPr>
          <p:cNvPr id="30" name="Oval 29"/>
          <p:cNvSpPr/>
          <p:nvPr/>
        </p:nvSpPr>
        <p:spPr>
          <a:xfrm>
            <a:off x="5728716" y="3177540"/>
            <a:ext cx="731520" cy="731520"/>
          </a:xfrm>
          <a:prstGeom prst="ellipse">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FFFFFF"/>
                </a:solidFill>
                <a:latin typeface="Segoe UI Semibold"/>
              </a:rPr>
              <a:t>VS</a:t>
            </a:r>
          </a:p>
        </p:txBody>
      </p:sp>
      <p:sp>
        <p:nvSpPr>
          <p:cNvPr id="32" name="Rounded Rectangle 31"/>
          <p:cNvSpPr/>
          <p:nvPr/>
        </p:nvSpPr>
        <p:spPr>
          <a:xfrm>
            <a:off x="548640" y="5458968"/>
            <a:ext cx="11091672" cy="713232"/>
          </a:xfrm>
          <a:prstGeom prst="roundRect">
            <a:avLst>
              <a:gd name="adj" fmla="val 7692"/>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FFFFFF"/>
                </a:solidFill>
                <a:latin typeface="Segoe Fluent Icons"/>
              </a:rPr>
              <a:t></a:t>
            </a:r>
          </a:p>
        </p:txBody>
      </p:sp>
      <p:sp>
        <p:nvSpPr>
          <p:cNvPr id="34" name="TextBox 33"/>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FFFFFF"/>
                </a:solidFill>
                <a:latin typeface="Segoe UI Semibold"/>
              </a:rPr>
              <a:t>Complement, never replace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Keep Sensitive Drafting on the Device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The proposed local lane keeps prompts, documents and drafts on the device.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5</a:t>
            </a:r>
          </a:p>
        </p:txBody>
      </p:sp>
      <p:cxnSp>
        <p:nvCxnSpPr>
          <p:cNvPr id="10" name="Connector 9"/>
          <p:cNvCxnSpPr/>
          <p:nvPr/>
        </p:nvCxnSpPr>
        <p:spPr>
          <a:xfrm>
            <a:off x="733501" y="2118360"/>
            <a:ext cx="7302018" cy="0"/>
          </a:xfrm>
          <a:prstGeom prst="line">
            <a:avLst/>
          </a:prstGeom>
          <a:ln w="28575">
            <a:solidFill>
              <a:srgbClr val="107C1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35519" y="2118360"/>
            <a:ext cx="0" cy="3764280"/>
          </a:xfrm>
          <a:prstGeom prst="line">
            <a:avLst/>
          </a:prstGeom>
          <a:ln w="28575">
            <a:solidFill>
              <a:srgbClr val="107C1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33501" y="5882640"/>
            <a:ext cx="7302018" cy="0"/>
          </a:xfrm>
          <a:prstGeom prst="line">
            <a:avLst/>
          </a:prstGeom>
          <a:ln w="28575">
            <a:solidFill>
              <a:srgbClr val="107C1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3501" y="2118360"/>
            <a:ext cx="0" cy="3764280"/>
          </a:xfrm>
          <a:prstGeom prst="line">
            <a:avLst/>
          </a:prstGeom>
          <a:ln w="28575">
            <a:solidFill>
              <a:srgbClr val="107C1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598850" y="3276600"/>
            <a:ext cx="1294028"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40024" y="2892552"/>
            <a:ext cx="2011680" cy="329184"/>
          </a:xfrm>
          <a:prstGeom prst="rect">
            <a:avLst/>
          </a:prstGeom>
          <a:noFill/>
        </p:spPr>
        <p:txBody>
          <a:bodyPr wrap="square" lIns="0" rIns="0" tIns="0" bIns="0" anchor="t">
            <a:noAutofit/>
          </a:bodyPr>
          <a:lstStyle/>
          <a:p>
            <a:pPr algn="ctr"/>
            <a:r>
              <a:rPr sz="1200" i="0">
                <a:solidFill>
                  <a:srgbClr val="505050"/>
                </a:solidFill>
                <a:latin typeface="Segoe UI"/>
              </a:rPr>
              <a:t>Retrieve</a:t>
            </a:r>
          </a:p>
        </p:txBody>
      </p:sp>
      <p:cxnSp>
        <p:nvCxnSpPr>
          <p:cNvPr id="16" name="Connector 15"/>
          <p:cNvCxnSpPr/>
          <p:nvPr/>
        </p:nvCxnSpPr>
        <p:spPr>
          <a:xfrm>
            <a:off x="6186907" y="3710940"/>
            <a:ext cx="0" cy="79629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181067" y="3725037"/>
            <a:ext cx="2011680" cy="329184"/>
          </a:xfrm>
          <a:prstGeom prst="rect">
            <a:avLst/>
          </a:prstGeom>
          <a:noFill/>
        </p:spPr>
        <p:txBody>
          <a:bodyPr wrap="square" lIns="0" rIns="0" tIns="0" bIns="0" anchor="t">
            <a:noAutofit/>
          </a:bodyPr>
          <a:lstStyle/>
          <a:p>
            <a:pPr algn="ctr"/>
            <a:r>
              <a:rPr sz="1200" i="0">
                <a:solidFill>
                  <a:srgbClr val="505050"/>
                </a:solidFill>
                <a:latin typeface="Segoe UI"/>
              </a:rPr>
              <a:t>Draft</a:t>
            </a:r>
          </a:p>
        </p:txBody>
      </p:sp>
      <p:cxnSp>
        <p:nvCxnSpPr>
          <p:cNvPr id="18" name="Connector 17"/>
          <p:cNvCxnSpPr/>
          <p:nvPr/>
        </p:nvCxnSpPr>
        <p:spPr>
          <a:xfrm flipH="1">
            <a:off x="3598850" y="4941570"/>
            <a:ext cx="1294028"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240024" y="4557522"/>
            <a:ext cx="2011680" cy="329184"/>
          </a:xfrm>
          <a:prstGeom prst="rect">
            <a:avLst/>
          </a:prstGeom>
          <a:noFill/>
        </p:spPr>
        <p:txBody>
          <a:bodyPr wrap="square" lIns="0" rIns="0" tIns="0" bIns="0" anchor="t">
            <a:noAutofit/>
          </a:bodyPr>
          <a:lstStyle/>
          <a:p>
            <a:pPr algn="ctr"/>
            <a:r>
              <a:rPr sz="1200" i="0">
                <a:solidFill>
                  <a:srgbClr val="505050"/>
                </a:solidFill>
                <a:latin typeface="Segoe UI"/>
              </a:rPr>
              <a:t>Approve</a:t>
            </a:r>
          </a:p>
        </p:txBody>
      </p:sp>
      <p:sp>
        <p:nvSpPr>
          <p:cNvPr id="20" name="TextBox 19"/>
          <p:cNvSpPr txBox="1"/>
          <p:nvPr/>
        </p:nvSpPr>
        <p:spPr>
          <a:xfrm>
            <a:off x="1103224" y="2263140"/>
            <a:ext cx="6285281" cy="361950"/>
          </a:xfrm>
          <a:prstGeom prst="rect">
            <a:avLst/>
          </a:prstGeom>
          <a:noFill/>
        </p:spPr>
        <p:txBody>
          <a:bodyPr wrap="square" lIns="0" rIns="0" tIns="0" bIns="0" anchor="t">
            <a:noAutofit/>
          </a:bodyPr>
          <a:lstStyle/>
          <a:p>
            <a:pPr algn="l"/>
            <a:r>
              <a:rPr sz="2000" i="0">
                <a:solidFill>
                  <a:srgbClr val="0078D4"/>
                </a:solidFill>
                <a:latin typeface="Segoe UI Semibold"/>
              </a:rPr>
              <a:t>Local device boundary</a:t>
            </a:r>
          </a:p>
        </p:txBody>
      </p:sp>
      <p:sp>
        <p:nvSpPr>
          <p:cNvPr id="21" name="Rounded Rectangle 20"/>
          <p:cNvSpPr/>
          <p:nvPr/>
        </p:nvSpPr>
        <p:spPr>
          <a:xfrm>
            <a:off x="1103224" y="2914650"/>
            <a:ext cx="2403196" cy="723900"/>
          </a:xfrm>
          <a:prstGeom prst="roundRect">
            <a:avLst>
              <a:gd name="adj" fmla="val 7578"/>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58672" y="3077528"/>
            <a:ext cx="398145" cy="398145"/>
          </a:xfrm>
          <a:prstGeom prst="rect">
            <a:avLst/>
          </a:prstGeom>
          <a:noFill/>
        </p:spPr>
        <p:txBody>
          <a:bodyPr wrap="none" lIns="0" rIns="0" tIns="0" bIns="0" anchor="ctr">
            <a:spAutoFit/>
          </a:bodyPr>
          <a:lstStyle/>
          <a:p>
            <a:pPr algn="ctr"/>
            <a:r>
              <a:rPr sz="1943">
                <a:solidFill>
                  <a:srgbClr val="FFFFFF"/>
                </a:solidFill>
                <a:latin typeface="Segoe Fluent Icons"/>
              </a:rPr>
              <a:t></a:t>
            </a:r>
          </a:p>
        </p:txBody>
      </p:sp>
      <p:sp>
        <p:nvSpPr>
          <p:cNvPr id="23" name="TextBox 22"/>
          <p:cNvSpPr txBox="1"/>
          <p:nvPr/>
        </p:nvSpPr>
        <p:spPr>
          <a:xfrm>
            <a:off x="1775689" y="3024378"/>
            <a:ext cx="1639291" cy="504444"/>
          </a:xfrm>
          <a:prstGeom prst="rect">
            <a:avLst/>
          </a:prstGeom>
          <a:noFill/>
        </p:spPr>
        <p:txBody>
          <a:bodyPr wrap="square" lIns="0" rIns="0" tIns="0" bIns="0" anchor="ctr">
            <a:noAutofit/>
          </a:bodyPr>
          <a:lstStyle/>
          <a:p>
            <a:pPr algn="l"/>
            <a:r>
              <a:rPr sz="1600" i="0">
                <a:solidFill>
                  <a:srgbClr val="FFFFFF"/>
                </a:solidFill>
                <a:latin typeface="Segoe UI Semibold"/>
              </a:rPr>
              <a:t>Client documents</a:t>
            </a:r>
          </a:p>
        </p:txBody>
      </p:sp>
      <p:sp>
        <p:nvSpPr>
          <p:cNvPr id="24" name="Rounded Rectangle 23"/>
          <p:cNvSpPr/>
          <p:nvPr/>
        </p:nvSpPr>
        <p:spPr>
          <a:xfrm>
            <a:off x="4985309" y="2914650"/>
            <a:ext cx="2403196" cy="723900"/>
          </a:xfrm>
          <a:prstGeom prst="roundRect">
            <a:avLst>
              <a:gd name="adj" fmla="val 7578"/>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40757" y="3077528"/>
            <a:ext cx="398145" cy="398145"/>
          </a:xfrm>
          <a:prstGeom prst="rect">
            <a:avLst/>
          </a:prstGeom>
          <a:noFill/>
        </p:spPr>
        <p:txBody>
          <a:bodyPr wrap="none" lIns="0" rIns="0" tIns="0" bIns="0" anchor="ctr">
            <a:spAutoFit/>
          </a:bodyPr>
          <a:lstStyle/>
          <a:p>
            <a:pPr algn="ctr"/>
            <a:r>
              <a:rPr sz="1943">
                <a:solidFill>
                  <a:srgbClr val="FFFFFF"/>
                </a:solidFill>
                <a:latin typeface="Segoe Fluent Icons"/>
              </a:rPr>
              <a:t></a:t>
            </a:r>
          </a:p>
        </p:txBody>
      </p:sp>
      <p:sp>
        <p:nvSpPr>
          <p:cNvPr id="26" name="TextBox 25"/>
          <p:cNvSpPr txBox="1"/>
          <p:nvPr/>
        </p:nvSpPr>
        <p:spPr>
          <a:xfrm>
            <a:off x="5657774" y="3024378"/>
            <a:ext cx="1639291" cy="504444"/>
          </a:xfrm>
          <a:prstGeom prst="rect">
            <a:avLst/>
          </a:prstGeom>
          <a:noFill/>
        </p:spPr>
        <p:txBody>
          <a:bodyPr wrap="square" lIns="0" rIns="0" tIns="0" bIns="0" anchor="ctr">
            <a:noAutofit/>
          </a:bodyPr>
          <a:lstStyle/>
          <a:p>
            <a:pPr algn="l"/>
            <a:r>
              <a:rPr sz="1600" i="0">
                <a:solidFill>
                  <a:srgbClr val="FFFFFF"/>
                </a:solidFill>
                <a:latin typeface="Segoe UI Semibold"/>
              </a:rPr>
              <a:t>Local AI runtime</a:t>
            </a:r>
          </a:p>
        </p:txBody>
      </p:sp>
      <p:sp>
        <p:nvSpPr>
          <p:cNvPr id="27" name="Rounded Rectangle 26"/>
          <p:cNvSpPr/>
          <p:nvPr/>
        </p:nvSpPr>
        <p:spPr>
          <a:xfrm>
            <a:off x="4985309" y="4579620"/>
            <a:ext cx="2403196" cy="723900"/>
          </a:xfrm>
          <a:prstGeom prst="roundRect">
            <a:avLst>
              <a:gd name="adj" fmla="val 7578"/>
            </a:avLst>
          </a:prstGeom>
          <a:solidFill>
            <a:srgbClr val="FFB90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40757" y="4742497"/>
            <a:ext cx="398145" cy="398145"/>
          </a:xfrm>
          <a:prstGeom prst="rect">
            <a:avLst/>
          </a:prstGeom>
          <a:noFill/>
        </p:spPr>
        <p:txBody>
          <a:bodyPr wrap="none" lIns="0" rIns="0" tIns="0" bIns="0" anchor="ctr">
            <a:spAutoFit/>
          </a:bodyPr>
          <a:lstStyle/>
          <a:p>
            <a:pPr algn="ctr"/>
            <a:r>
              <a:rPr sz="1943">
                <a:solidFill>
                  <a:srgbClr val="FFFFFF"/>
                </a:solidFill>
                <a:latin typeface="Segoe Fluent Icons"/>
              </a:rPr>
              <a:t></a:t>
            </a:r>
          </a:p>
        </p:txBody>
      </p:sp>
      <p:sp>
        <p:nvSpPr>
          <p:cNvPr id="29" name="TextBox 28"/>
          <p:cNvSpPr txBox="1"/>
          <p:nvPr/>
        </p:nvSpPr>
        <p:spPr>
          <a:xfrm>
            <a:off x="5657774" y="4689348"/>
            <a:ext cx="1639291" cy="504444"/>
          </a:xfrm>
          <a:prstGeom prst="rect">
            <a:avLst/>
          </a:prstGeom>
          <a:noFill/>
        </p:spPr>
        <p:txBody>
          <a:bodyPr wrap="square" lIns="0" rIns="0" tIns="0" bIns="0" anchor="ctr">
            <a:noAutofit/>
          </a:bodyPr>
          <a:lstStyle/>
          <a:p>
            <a:pPr algn="l"/>
            <a:r>
              <a:rPr sz="1500" i="0">
                <a:solidFill>
                  <a:srgbClr val="FFFFFF"/>
                </a:solidFill>
                <a:latin typeface="Segoe UI Semibold"/>
              </a:rPr>
              <a:t>Consultant review</a:t>
            </a:r>
          </a:p>
        </p:txBody>
      </p:sp>
      <p:sp>
        <p:nvSpPr>
          <p:cNvPr id="30" name="Rounded Rectangle 29"/>
          <p:cNvSpPr/>
          <p:nvPr/>
        </p:nvSpPr>
        <p:spPr>
          <a:xfrm>
            <a:off x="1103224" y="4579620"/>
            <a:ext cx="2403196" cy="723900"/>
          </a:xfrm>
          <a:prstGeom prst="roundRect">
            <a:avLst>
              <a:gd name="adj" fmla="val 7578"/>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58672" y="4742497"/>
            <a:ext cx="398145" cy="398145"/>
          </a:xfrm>
          <a:prstGeom prst="rect">
            <a:avLst/>
          </a:prstGeom>
          <a:noFill/>
        </p:spPr>
        <p:txBody>
          <a:bodyPr wrap="none" lIns="0" rIns="0" tIns="0" bIns="0" anchor="ctr">
            <a:spAutoFit/>
          </a:bodyPr>
          <a:lstStyle/>
          <a:p>
            <a:pPr algn="ctr"/>
            <a:r>
              <a:rPr sz="1943">
                <a:solidFill>
                  <a:srgbClr val="FFFFFF"/>
                </a:solidFill>
                <a:latin typeface="Segoe Fluent Icons"/>
              </a:rPr>
              <a:t></a:t>
            </a:r>
          </a:p>
        </p:txBody>
      </p:sp>
      <p:sp>
        <p:nvSpPr>
          <p:cNvPr id="32" name="TextBox 31"/>
          <p:cNvSpPr txBox="1"/>
          <p:nvPr/>
        </p:nvSpPr>
        <p:spPr>
          <a:xfrm>
            <a:off x="1775689" y="4689348"/>
            <a:ext cx="1639291" cy="504444"/>
          </a:xfrm>
          <a:prstGeom prst="rect">
            <a:avLst/>
          </a:prstGeom>
          <a:noFill/>
        </p:spPr>
        <p:txBody>
          <a:bodyPr wrap="square" lIns="0" rIns="0" tIns="0" bIns="0" anchor="ctr">
            <a:noAutofit/>
          </a:bodyPr>
          <a:lstStyle/>
          <a:p>
            <a:pPr algn="l"/>
            <a:r>
              <a:rPr sz="1600" i="0">
                <a:solidFill>
                  <a:srgbClr val="FFFFFF"/>
                </a:solidFill>
                <a:latin typeface="Segoe UI Semibold"/>
              </a:rPr>
              <a:t>Client summary</a:t>
            </a:r>
          </a:p>
        </p:txBody>
      </p:sp>
      <p:sp>
        <p:nvSpPr>
          <p:cNvPr id="33" name="TextBox 32"/>
          <p:cNvSpPr txBox="1"/>
          <p:nvPr/>
        </p:nvSpPr>
        <p:spPr>
          <a:xfrm>
            <a:off x="1103224" y="3855720"/>
            <a:ext cx="3512363" cy="434340"/>
          </a:xfrm>
          <a:prstGeom prst="rect">
            <a:avLst/>
          </a:prstGeom>
          <a:noFill/>
        </p:spPr>
        <p:txBody>
          <a:bodyPr wrap="square" lIns="0" rIns="0" tIns="0" bIns="0" anchor="t">
            <a:noAutofit/>
          </a:bodyPr>
          <a:lstStyle/>
          <a:p>
            <a:pPr algn="l"/>
            <a:r>
              <a:rPr sz="1400" i="0">
                <a:solidFill>
                  <a:srgbClr val="1B1B1B"/>
                </a:solidFill>
                <a:latin typeface="Segoe UI"/>
              </a:rPr>
              <a:t>Prompts stay local</a:t>
            </a:r>
          </a:p>
        </p:txBody>
      </p:sp>
      <p:sp>
        <p:nvSpPr>
          <p:cNvPr id="34" name="TextBox 33"/>
          <p:cNvSpPr txBox="1"/>
          <p:nvPr/>
        </p:nvSpPr>
        <p:spPr>
          <a:xfrm>
            <a:off x="1103224" y="5448300"/>
            <a:ext cx="6285281" cy="289560"/>
          </a:xfrm>
          <a:prstGeom prst="rect">
            <a:avLst/>
          </a:prstGeom>
          <a:noFill/>
        </p:spPr>
        <p:txBody>
          <a:bodyPr wrap="square" lIns="0" rIns="0" tIns="0" bIns="0" anchor="t">
            <a:noAutofit/>
          </a:bodyPr>
          <a:lstStyle/>
          <a:p>
            <a:pPr algn="l"/>
            <a:r>
              <a:rPr sz="1400" i="0">
                <a:solidFill>
                  <a:srgbClr val="A1A1A1"/>
                </a:solidFill>
                <a:latin typeface="Segoe UI"/>
              </a:rPr>
              <a:t>Proposed pilot configuration</a:t>
            </a:r>
          </a:p>
        </p:txBody>
      </p:sp>
      <p:sp>
        <p:nvSpPr>
          <p:cNvPr id="35" name="Rounded Rectangle 34"/>
          <p:cNvSpPr/>
          <p:nvPr/>
        </p:nvSpPr>
        <p:spPr>
          <a:xfrm>
            <a:off x="8682533" y="2914650"/>
            <a:ext cx="2680487" cy="941070"/>
          </a:xfrm>
          <a:prstGeom prst="roundRect">
            <a:avLst>
              <a:gd name="adj" fmla="val 5829"/>
            </a:avLst>
          </a:prstGeom>
          <a:solidFill>
            <a:srgbClr val="5C2D9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37981" y="3133725"/>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7" name="TextBox 36"/>
          <p:cNvSpPr txBox="1"/>
          <p:nvPr/>
        </p:nvSpPr>
        <p:spPr>
          <a:xfrm>
            <a:off x="9459773" y="3024378"/>
            <a:ext cx="1811807" cy="721614"/>
          </a:xfrm>
          <a:prstGeom prst="rect">
            <a:avLst/>
          </a:prstGeom>
          <a:noFill/>
        </p:spPr>
        <p:txBody>
          <a:bodyPr wrap="square" lIns="0" rIns="0" tIns="0" bIns="0" anchor="ctr">
            <a:noAutofit/>
          </a:bodyPr>
          <a:lstStyle/>
          <a:p>
            <a:pPr algn="l"/>
            <a:r>
              <a:rPr sz="1600" i="0">
                <a:solidFill>
                  <a:srgbClr val="FFFFFF"/>
                </a:solidFill>
                <a:latin typeface="Segoe UI Semibold"/>
              </a:rPr>
              <a:t>Microsoft 365 Copilot</a:t>
            </a:r>
          </a:p>
        </p:txBody>
      </p:sp>
      <p:sp>
        <p:nvSpPr>
          <p:cNvPr id="38" name="TextBox 37"/>
          <p:cNvSpPr txBox="1"/>
          <p:nvPr/>
        </p:nvSpPr>
        <p:spPr>
          <a:xfrm>
            <a:off x="8682533" y="4145280"/>
            <a:ext cx="2680487" cy="579120"/>
          </a:xfrm>
          <a:prstGeom prst="rect">
            <a:avLst/>
          </a:prstGeom>
          <a:noFill/>
        </p:spPr>
        <p:txBody>
          <a:bodyPr wrap="square" lIns="0" rIns="0" tIns="0" bIns="0" anchor="t">
            <a:noAutofit/>
          </a:bodyPr>
          <a:lstStyle/>
          <a:p>
            <a:pPr algn="l"/>
            <a:r>
              <a:rPr sz="1400" i="0">
                <a:solidFill>
                  <a:srgbClr val="1B1B1B"/>
                </a:solidFill>
                <a:latin typeface="Segoe UI"/>
              </a:rPr>
              <a:t>Existing connected workflows</a:t>
            </a:r>
          </a:p>
        </p:txBody>
      </p:sp>
      <p:sp>
        <p:nvSpPr>
          <p:cNvPr id="39" name="TextBox 38"/>
          <p:cNvSpPr txBox="1"/>
          <p:nvPr/>
        </p:nvSpPr>
        <p:spPr>
          <a:xfrm>
            <a:off x="8682533" y="5013960"/>
            <a:ext cx="2680487" cy="434340"/>
          </a:xfrm>
          <a:prstGeom prst="rect">
            <a:avLst/>
          </a:prstGeom>
          <a:noFill/>
        </p:spPr>
        <p:txBody>
          <a:bodyPr wrap="square" lIns="0" rIns="0" tIns="0" bIns="0" anchor="t">
            <a:noAutofit/>
          </a:bodyPr>
          <a:lstStyle/>
          <a:p>
            <a:pPr algn="l"/>
            <a:r>
              <a:rPr sz="2000" i="0">
                <a:solidFill>
                  <a:srgbClr val="0078D4"/>
                </a:solidFill>
                <a:latin typeface="Segoe UI Semibold"/>
              </a:rPr>
              <a:t>Copilot stays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Travel With a Packed Toolkit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Pack models and permitted documents locally; validate disconnected use before expanding.</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6</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Disconnected drafting</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Packed travel toolkit</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Installed models</a:t>
            </a:r>
          </a:p>
        </p:txBody>
      </p:sp>
      <p:cxnSp>
        <p:nvCxnSpPr>
          <p:cNvPr id="19" name="Connector 18"/>
          <p:cNvCxnSpPr/>
          <p:nvPr/>
        </p:nvCxnSpPr>
        <p:spPr>
          <a:xfrm>
            <a:off x="5481828" y="3529584"/>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Packed tools</a:t>
            </a:r>
          </a:p>
        </p:txBody>
      </p:sp>
      <p:sp>
        <p:nvSpPr>
          <p:cNvPr id="22" name="Rounded Rectangle 21"/>
          <p:cNvSpPr/>
          <p:nvPr/>
        </p:nvSpPr>
        <p:spPr>
          <a:xfrm>
            <a:off x="548640" y="4059936"/>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On-device documents</a:t>
            </a:r>
          </a:p>
        </p:txBody>
      </p:sp>
      <p:cxnSp>
        <p:nvCxnSpPr>
          <p:cNvPr id="24" name="Connector 23"/>
          <p:cNvCxnSpPr/>
          <p:nvPr/>
        </p:nvCxnSpPr>
        <p:spPr>
          <a:xfrm>
            <a:off x="5481828" y="4480560"/>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4059936"/>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Carried supplies</a:t>
            </a:r>
          </a:p>
        </p:txBody>
      </p:sp>
      <p:sp>
        <p:nvSpPr>
          <p:cNvPr id="27" name="Rounded Rectangle 26"/>
          <p:cNvSpPr/>
          <p:nvPr/>
        </p:nvSpPr>
        <p:spPr>
          <a:xfrm>
            <a:off x="548640" y="5010912"/>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Pilot validation</a:t>
            </a:r>
          </a:p>
        </p:txBody>
      </p:sp>
      <p:cxnSp>
        <p:nvCxnSpPr>
          <p:cNvPr id="29" name="Connector 28"/>
          <p:cNvCxnSpPr/>
          <p:nvPr/>
        </p:nvCxnSpPr>
        <p:spPr>
          <a:xfrm>
            <a:off x="5481828" y="5431536"/>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5010912"/>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Preflight check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Built for a Local AI Lane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An on-device model catalog and RTX hardware underpin the proposed pilot.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7</a:t>
            </a:r>
          </a:p>
        </p:txBody>
      </p:sp>
      <p:sp>
        <p:nvSpPr>
          <p:cNvPr id="10" name="Rounded Rectangle 9"/>
          <p:cNvSpPr/>
          <p:nvPr/>
        </p:nvSpPr>
        <p:spPr>
          <a:xfrm>
            <a:off x="548640" y="1888236"/>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979676"/>
            <a:ext cx="777240" cy="777240"/>
          </a:xfrm>
          <a:prstGeom prst="roundRect">
            <a:avLst>
              <a:gd name="adj" fmla="val 1411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3" name="TextBox 12"/>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Consultant workspace</a:t>
            </a:r>
          </a:p>
        </p:txBody>
      </p:sp>
      <p:sp>
        <p:nvSpPr>
          <p:cNvPr id="14" name="TextBox 13"/>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505050"/>
                </a:solidFill>
                <a:latin typeface="Segoe UI"/>
              </a:rPr>
              <a:t>Client summaries with human review</a:t>
            </a:r>
          </a:p>
        </p:txBody>
      </p:sp>
      <p:sp>
        <p:nvSpPr>
          <p:cNvPr id="15" name="Rounded Rectangle 14"/>
          <p:cNvSpPr/>
          <p:nvPr/>
        </p:nvSpPr>
        <p:spPr>
          <a:xfrm>
            <a:off x="548640" y="2976372"/>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0080" y="3067812"/>
            <a:ext cx="777240" cy="777240"/>
          </a:xfrm>
          <a:prstGeom prst="roundRect">
            <a:avLst>
              <a:gd name="adj" fmla="val 14117"/>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8" name="TextBox 17"/>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Local model catalog</a:t>
            </a:r>
          </a:p>
        </p:txBody>
      </p:sp>
      <p:sp>
        <p:nvSpPr>
          <p:cNvPr id="19" name="TextBox 18"/>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505050"/>
                </a:solidFill>
                <a:latin typeface="Segoe UI"/>
              </a:rPr>
              <a:t>28 installed open models</a:t>
            </a:r>
          </a:p>
        </p:txBody>
      </p:sp>
      <p:sp>
        <p:nvSpPr>
          <p:cNvPr id="20" name="Rounded Rectangle 19"/>
          <p:cNvSpPr/>
          <p:nvPr/>
        </p:nvSpPr>
        <p:spPr>
          <a:xfrm>
            <a:off x="548640" y="4064508"/>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0080" y="4155948"/>
            <a:ext cx="777240" cy="777240"/>
          </a:xfrm>
          <a:prstGeom prst="roundRect">
            <a:avLst>
              <a:gd name="adj" fmla="val 14117"/>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3" name="TextBox 22"/>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NVIDIA RTX Spark</a:t>
            </a:r>
          </a:p>
        </p:txBody>
      </p:sp>
      <p:sp>
        <p:nvSpPr>
          <p:cNvPr id="24" name="TextBox 23"/>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505050"/>
                </a:solidFill>
                <a:latin typeface="Segoe UI"/>
              </a:rPr>
              <a:t>Blackwell RTX GPU</a:t>
            </a:r>
          </a:p>
        </p:txBody>
      </p:sp>
      <p:sp>
        <p:nvSpPr>
          <p:cNvPr id="25" name="Rounded Rectangle 24"/>
          <p:cNvSpPr/>
          <p:nvPr/>
        </p:nvSpPr>
        <p:spPr>
          <a:xfrm>
            <a:off x="548640" y="5152644"/>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0080" y="5244084"/>
            <a:ext cx="777240" cy="777240"/>
          </a:xfrm>
          <a:prstGeom prst="roundRect">
            <a:avLst>
              <a:gd name="adj" fmla="val 14117"/>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8" name="TextBox 27"/>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Surface Laptop Ultra</a:t>
            </a:r>
          </a:p>
        </p:txBody>
      </p:sp>
      <p:sp>
        <p:nvSpPr>
          <p:cNvPr id="29" name="TextBox 28"/>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505050"/>
                </a:solidFill>
                <a:latin typeface="Segoe UI"/>
              </a:rPr>
              <a:t>20 CPU cores; 128 GB installed memory</a:t>
            </a:r>
          </a:p>
        </p:txBody>
      </p:sp>
      <p:sp>
        <p:nvSpPr>
          <p:cNvPr id="30" name="Rectangle 29"/>
          <p:cNvSpPr/>
          <p:nvPr/>
        </p:nvSpPr>
        <p:spPr>
          <a:xfrm>
            <a:off x="10085832" y="1888236"/>
            <a:ext cx="73152" cy="42245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0314432" y="3314700"/>
            <a:ext cx="1325880" cy="1371600"/>
          </a:xfrm>
          <a:prstGeom prst="roundRect">
            <a:avLst>
              <a:gd name="adj" fmla="val 4137"/>
            </a:avLst>
          </a:prstGeom>
          <a:solidFill>
            <a:srgbClr val="D9EBF9"/>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1B1B1B"/>
                </a:solidFill>
                <a:latin typeface="Segoe UI Semibold"/>
              </a:rPr>
              <a:t>On-device stack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Model Speed Is Not Task Savings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Tokens per second show decoding speed; the pilot measures useful drafting outcomes.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8</a:t>
            </a:r>
          </a:p>
        </p:txBody>
      </p:sp>
      <p:sp>
        <p:nvSpPr>
          <p:cNvPr id="10" name="Rounded Rectangle 9"/>
          <p:cNvSpPr/>
          <p:nvPr/>
        </p:nvSpPr>
        <p:spPr>
          <a:xfrm>
            <a:off x="548640"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5385816"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4837176" cy="1234440"/>
          </a:xfrm>
          <a:prstGeom prst="rect">
            <a:avLst/>
          </a:prstGeom>
          <a:noFill/>
        </p:spPr>
        <p:txBody>
          <a:bodyPr wrap="square" lIns="0" rIns="0" tIns="0" bIns="0" anchor="ctr">
            <a:noAutofit/>
          </a:bodyPr>
          <a:lstStyle/>
          <a:p>
            <a:pPr algn="l"/>
            <a:r>
              <a:rPr sz="6000" i="0">
                <a:solidFill>
                  <a:srgbClr val="0078D4"/>
                </a:solidFill>
                <a:latin typeface="Segoe UI Semibold"/>
              </a:rPr>
              <a:t>≈72 tokens/s</a:t>
            </a:r>
          </a:p>
        </p:txBody>
      </p:sp>
      <p:sp>
        <p:nvSpPr>
          <p:cNvPr id="15" name="TextBox 14"/>
          <p:cNvSpPr txBox="1"/>
          <p:nvPr/>
        </p:nvSpPr>
        <p:spPr>
          <a:xfrm>
            <a:off x="822960"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Gemma 4 26B</a:t>
            </a:r>
          </a:p>
        </p:txBody>
      </p:sp>
      <p:sp>
        <p:nvSpPr>
          <p:cNvPr id="16" name="TextBox 15"/>
          <p:cNvSpPr txBox="1"/>
          <p:nvPr/>
        </p:nvSpPr>
        <p:spPr>
          <a:xfrm>
            <a:off x="822960"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Local-AI-Bench, October 2026; single stream</a:t>
            </a:r>
          </a:p>
        </p:txBody>
      </p:sp>
      <p:sp>
        <p:nvSpPr>
          <p:cNvPr id="17" name="Rounded Rectangle 16"/>
          <p:cNvSpPr/>
          <p:nvPr/>
        </p:nvSpPr>
        <p:spPr>
          <a:xfrm>
            <a:off x="6254496"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54496" y="2217420"/>
            <a:ext cx="5385816"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537960"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6528816" y="3406140"/>
            <a:ext cx="4837176" cy="1234440"/>
          </a:xfrm>
          <a:prstGeom prst="rect">
            <a:avLst/>
          </a:prstGeom>
          <a:noFill/>
        </p:spPr>
        <p:txBody>
          <a:bodyPr wrap="square" lIns="0" rIns="0" tIns="0" bIns="0" anchor="ctr">
            <a:noAutofit/>
          </a:bodyPr>
          <a:lstStyle/>
          <a:p>
            <a:pPr algn="l"/>
            <a:r>
              <a:rPr sz="6000" i="0">
                <a:solidFill>
                  <a:srgbClr val="107C10"/>
                </a:solidFill>
                <a:latin typeface="Segoe UI Semibold"/>
              </a:rPr>
              <a:t>≈86 tokens/s</a:t>
            </a:r>
          </a:p>
        </p:txBody>
      </p:sp>
      <p:sp>
        <p:nvSpPr>
          <p:cNvPr id="22" name="TextBox 21"/>
          <p:cNvSpPr txBox="1"/>
          <p:nvPr/>
        </p:nvSpPr>
        <p:spPr>
          <a:xfrm>
            <a:off x="6528816"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Qwen3-Coder 30B</a:t>
            </a:r>
          </a:p>
        </p:txBody>
      </p:sp>
      <p:sp>
        <p:nvSpPr>
          <p:cNvPr id="23" name="TextBox 22"/>
          <p:cNvSpPr txBox="1"/>
          <p:nvPr/>
        </p:nvSpPr>
        <p:spPr>
          <a:xfrm>
            <a:off x="6528816"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Local-AI-Bench, October 2026; single stream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Illustrative Capacity, Not a Savings Promise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Estimate to validate: 27,600 hours annually if each summary saves 5 minutes.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9</a:t>
            </a:r>
          </a:p>
        </p:txBody>
      </p:sp>
      <p:sp>
        <p:nvSpPr>
          <p:cNvPr id="10" name="Rounded Rectangle 9"/>
          <p:cNvSpPr/>
          <p:nvPr/>
        </p:nvSpPr>
        <p:spPr>
          <a:xfrm>
            <a:off x="548640"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5385816"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4837176" cy="1234440"/>
          </a:xfrm>
          <a:prstGeom prst="rect">
            <a:avLst/>
          </a:prstGeom>
          <a:noFill/>
        </p:spPr>
        <p:txBody>
          <a:bodyPr wrap="square" lIns="0" rIns="0" tIns="0" bIns="0" anchor="ctr">
            <a:noAutofit/>
          </a:bodyPr>
          <a:lstStyle/>
          <a:p>
            <a:pPr algn="l"/>
            <a:r>
              <a:rPr sz="6000" i="0">
                <a:solidFill>
                  <a:srgbClr val="0078D4"/>
                </a:solidFill>
                <a:latin typeface="Segoe UI Semibold"/>
              </a:rPr>
              <a:t>5 minutes</a:t>
            </a:r>
          </a:p>
        </p:txBody>
      </p:sp>
      <p:sp>
        <p:nvSpPr>
          <p:cNvPr id="15" name="TextBox 14"/>
          <p:cNvSpPr txBox="1"/>
          <p:nvPr/>
        </p:nvSpPr>
        <p:spPr>
          <a:xfrm>
            <a:off x="822960"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Hypothetical time saved</a:t>
            </a:r>
          </a:p>
        </p:txBody>
      </p:sp>
      <p:sp>
        <p:nvSpPr>
          <p:cNvPr id="16" name="TextBox 15"/>
          <p:cNvSpPr txBox="1"/>
          <p:nvPr/>
        </p:nvSpPr>
        <p:spPr>
          <a:xfrm>
            <a:off x="822960"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Brief scenario; per summary, unvalidated</a:t>
            </a:r>
          </a:p>
        </p:txBody>
      </p:sp>
      <p:sp>
        <p:nvSpPr>
          <p:cNvPr id="17" name="Rounded Rectangle 16"/>
          <p:cNvSpPr/>
          <p:nvPr/>
        </p:nvSpPr>
        <p:spPr>
          <a:xfrm>
            <a:off x="6254496"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54496" y="2217420"/>
            <a:ext cx="5385816"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537960"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6528816" y="3406140"/>
            <a:ext cx="4837176" cy="1234440"/>
          </a:xfrm>
          <a:prstGeom prst="rect">
            <a:avLst/>
          </a:prstGeom>
          <a:noFill/>
        </p:spPr>
        <p:txBody>
          <a:bodyPr wrap="square" lIns="0" rIns="0" tIns="0" bIns="0" anchor="ctr">
            <a:noAutofit/>
          </a:bodyPr>
          <a:lstStyle/>
          <a:p>
            <a:pPr algn="l"/>
            <a:r>
              <a:rPr sz="6000" i="0">
                <a:solidFill>
                  <a:srgbClr val="107C10"/>
                </a:solidFill>
                <a:latin typeface="Segoe UI Semibold"/>
              </a:rPr>
              <a:t>27,600 hours</a:t>
            </a:r>
          </a:p>
        </p:txBody>
      </p:sp>
      <p:sp>
        <p:nvSpPr>
          <p:cNvPr id="22" name="TextBox 21"/>
          <p:cNvSpPr txBox="1"/>
          <p:nvPr/>
        </p:nvSpPr>
        <p:spPr>
          <a:xfrm>
            <a:off x="6528816"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Annual capacity estimate</a:t>
            </a:r>
          </a:p>
        </p:txBody>
      </p:sp>
      <p:sp>
        <p:nvSpPr>
          <p:cNvPr id="23" name="TextBox 22"/>
          <p:cNvSpPr txBox="1"/>
          <p:nvPr/>
        </p:nvSpPr>
        <p:spPr>
          <a:xfrm>
            <a:off x="6528816"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Illustrative estimate to validate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Measure the Work, Not the Hype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Measure task time, draft quality and user experience against current workflows.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10</a:t>
            </a:r>
          </a:p>
        </p:txBody>
      </p:sp>
      <p:sp>
        <p:nvSpPr>
          <p:cNvPr id="10" name="Rounded Rectangle 9"/>
          <p:cNvSpPr/>
          <p:nvPr/>
        </p:nvSpPr>
        <p:spPr>
          <a:xfrm>
            <a:off x="548640"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89304"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17320"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2029968"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Baseline</a:t>
            </a:r>
          </a:p>
        </p:txBody>
      </p:sp>
      <p:sp>
        <p:nvSpPr>
          <p:cNvPr id="15" name="TextBox 14"/>
          <p:cNvSpPr txBox="1"/>
          <p:nvPr/>
        </p:nvSpPr>
        <p:spPr>
          <a:xfrm>
            <a:off x="731520"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Time current client summary drafting</a:t>
            </a:r>
          </a:p>
        </p:txBody>
      </p:sp>
      <p:sp>
        <p:nvSpPr>
          <p:cNvPr id="16" name="Chevron 15"/>
          <p:cNvSpPr/>
          <p:nvPr/>
        </p:nvSpPr>
        <p:spPr>
          <a:xfrm>
            <a:off x="308152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447288"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187952"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15968"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3630168" y="3150108"/>
            <a:ext cx="2029968"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3611880"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Pilot tasks</a:t>
            </a:r>
          </a:p>
        </p:txBody>
      </p:sp>
      <p:sp>
        <p:nvSpPr>
          <p:cNvPr id="22" name="TextBox 21"/>
          <p:cNvSpPr txBox="1"/>
          <p:nvPr/>
        </p:nvSpPr>
        <p:spPr>
          <a:xfrm>
            <a:off x="3630168"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Test local drafting and disconnected use</a:t>
            </a:r>
          </a:p>
        </p:txBody>
      </p:sp>
      <p:sp>
        <p:nvSpPr>
          <p:cNvPr id="23" name="Chevron 22"/>
          <p:cNvSpPr/>
          <p:nvPr/>
        </p:nvSpPr>
        <p:spPr>
          <a:xfrm>
            <a:off x="5980176"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345936"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086600"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214616"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6528816" y="3150108"/>
            <a:ext cx="2029968"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6510528"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Quality review</a:t>
            </a:r>
          </a:p>
        </p:txBody>
      </p:sp>
      <p:sp>
        <p:nvSpPr>
          <p:cNvPr id="29" name="TextBox 28"/>
          <p:cNvSpPr txBox="1"/>
          <p:nvPr/>
        </p:nvSpPr>
        <p:spPr>
          <a:xfrm>
            <a:off x="6528816"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Assess accuracy, completeness and editing</a:t>
            </a:r>
          </a:p>
        </p:txBody>
      </p:sp>
      <p:sp>
        <p:nvSpPr>
          <p:cNvPr id="30" name="Chevron 29"/>
          <p:cNvSpPr/>
          <p:nvPr/>
        </p:nvSpPr>
        <p:spPr>
          <a:xfrm>
            <a:off x="887882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244584"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985248" y="2125980"/>
            <a:ext cx="914400" cy="91440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13264"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34" name="TextBox 33"/>
          <p:cNvSpPr txBox="1"/>
          <p:nvPr/>
        </p:nvSpPr>
        <p:spPr>
          <a:xfrm>
            <a:off x="9427464" y="3150108"/>
            <a:ext cx="2029968" cy="274320"/>
          </a:xfrm>
          <a:prstGeom prst="rect">
            <a:avLst/>
          </a:prstGeom>
          <a:noFill/>
        </p:spPr>
        <p:txBody>
          <a:bodyPr wrap="square" lIns="0" rIns="0" tIns="0" bIns="0" anchor="t">
            <a:noAutofit/>
          </a:bodyPr>
          <a:lstStyle/>
          <a:p>
            <a:pPr algn="ctr"/>
            <a:r>
              <a:rPr sz="1200" i="0">
                <a:solidFill>
                  <a:srgbClr val="FFB900"/>
                </a:solidFill>
                <a:latin typeface="Segoe UI Semibold"/>
              </a:rPr>
              <a:t>04</a:t>
            </a:r>
          </a:p>
        </p:txBody>
      </p:sp>
      <p:sp>
        <p:nvSpPr>
          <p:cNvPr id="35" name="TextBox 34"/>
          <p:cNvSpPr txBox="1"/>
          <p:nvPr/>
        </p:nvSpPr>
        <p:spPr>
          <a:xfrm>
            <a:off x="9409176"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User feedback</a:t>
            </a:r>
          </a:p>
        </p:txBody>
      </p:sp>
      <p:sp>
        <p:nvSpPr>
          <p:cNvPr id="36" name="TextBox 35"/>
          <p:cNvSpPr txBox="1"/>
          <p:nvPr/>
        </p:nvSpPr>
        <p:spPr>
          <a:xfrm>
            <a:off x="9427464"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Capture usability and travel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Approve the Contoso Local AI 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Keep Copilot in place; test the local lane before deciding whether to expand.</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11</a:t>
            </a:r>
          </a:p>
        </p:txBody>
      </p:sp>
      <p:sp>
        <p:nvSpPr>
          <p:cNvPr id="10" name="Rounded Rectangle 9"/>
          <p:cNvSpPr/>
          <p:nvPr/>
        </p:nvSpPr>
        <p:spPr>
          <a:xfrm>
            <a:off x="548640"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2960" y="2103120"/>
            <a:ext cx="640080" cy="64008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1</a:t>
            </a:r>
          </a:p>
        </p:txBody>
      </p:sp>
      <p:sp>
        <p:nvSpPr>
          <p:cNvPr id="13" name="TextBox 12"/>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0078D4"/>
                </a:solidFill>
                <a:latin typeface="Segoe Fluent Icons"/>
              </a:rPr>
              <a:t></a:t>
            </a:r>
          </a:p>
        </p:txBody>
      </p:sp>
      <p:sp>
        <p:nvSpPr>
          <p:cNvPr id="14" name="TextBox 13"/>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Confirm sponsorship</a:t>
            </a:r>
          </a:p>
        </p:txBody>
      </p:sp>
      <p:sp>
        <p:nvSpPr>
          <p:cNvPr id="15" name="TextBox 14"/>
          <p:cNvSpPr txBox="1"/>
          <p:nvPr/>
        </p:nvSpPr>
        <p:spPr>
          <a:xfrm>
            <a:off x="822960"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COO, CIO and Consulting practice lead</a:t>
            </a:r>
          </a:p>
        </p:txBody>
      </p:sp>
      <p:sp>
        <p:nvSpPr>
          <p:cNvPr id="16" name="Rounded Rectangle 15"/>
          <p:cNvSpPr/>
          <p:nvPr/>
        </p:nvSpPr>
        <p:spPr>
          <a:xfrm>
            <a:off x="4337304"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11624"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2</a:t>
            </a:r>
          </a:p>
        </p:txBody>
      </p:sp>
      <p:sp>
        <p:nvSpPr>
          <p:cNvPr id="19" name="TextBox 18"/>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107C10"/>
                </a:solidFill>
                <a:latin typeface="Segoe Fluent Icons"/>
              </a:rPr>
              <a:t></a:t>
            </a:r>
          </a:p>
        </p:txBody>
      </p:sp>
      <p:sp>
        <p:nvSpPr>
          <p:cNvPr id="20" name="TextBox 19"/>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Run pilot</a:t>
            </a:r>
          </a:p>
        </p:txBody>
      </p:sp>
      <p:sp>
        <p:nvSpPr>
          <p:cNvPr id="21" name="TextBox 20"/>
          <p:cNvSpPr txBox="1"/>
          <p:nvPr/>
        </p:nvSpPr>
        <p:spPr>
          <a:xfrm>
            <a:off x="4611624"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10 users for 2 weeks</a:t>
            </a:r>
          </a:p>
        </p:txBody>
      </p:sp>
      <p:sp>
        <p:nvSpPr>
          <p:cNvPr id="22" name="Rounded Rectangle 21"/>
          <p:cNvSpPr/>
          <p:nvPr/>
        </p:nvSpPr>
        <p:spPr>
          <a:xfrm>
            <a:off x="8125968"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400288" y="2103120"/>
            <a:ext cx="640080" cy="64008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3</a:t>
            </a:r>
          </a:p>
        </p:txBody>
      </p:sp>
      <p:sp>
        <p:nvSpPr>
          <p:cNvPr id="25" name="TextBox 24"/>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D83B01"/>
                </a:solidFill>
                <a:latin typeface="Segoe Fluent Icons"/>
              </a:rPr>
              <a:t></a:t>
            </a:r>
          </a:p>
        </p:txBody>
      </p:sp>
      <p:sp>
        <p:nvSpPr>
          <p:cNvPr id="26" name="TextBox 25"/>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Review evidence</a:t>
            </a:r>
          </a:p>
        </p:txBody>
      </p:sp>
      <p:sp>
        <p:nvSpPr>
          <p:cNvPr id="27" name="TextBox 26"/>
          <p:cNvSpPr txBox="1"/>
          <p:nvPr/>
        </p:nvSpPr>
        <p:spPr>
          <a:xfrm>
            <a:off x="8400288"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Task time, draft quality and user experience</a:t>
            </a:r>
          </a:p>
        </p:txBody>
      </p:sp>
      <p:sp>
        <p:nvSpPr>
          <p:cNvPr id="28" name="Rounded Rectangle 27"/>
          <p:cNvSpPr/>
          <p:nvPr/>
        </p:nvSpPr>
        <p:spPr>
          <a:xfrm>
            <a:off x="548640" y="5029200"/>
            <a:ext cx="11091672" cy="1143000"/>
          </a:xfrm>
          <a:prstGeom prst="roundRect">
            <a:avLst>
              <a:gd name="adj" fmla="val 48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0" name="TextBox 29"/>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FFFFFF"/>
                </a:solidFill>
                <a:latin typeface="Segoe UI Semibold"/>
              </a:rPr>
              <a:t>Approve the 10-user, 2-week pilot alongside Microsoft 365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Drafts, Wherever Work Happens</dc:title>
  <dc:subject/>
  <dc:creator>Offline PPTX Forge</dc:creator>
  <cp:keywords/>
  <dc:description>Generated offline; template=microsoft</dc:description>
  <cp:lastModifiedBy>Steve Canny</cp:lastModifiedBy>
  <cp:revision>1</cp:revision>
  <dcterms:created xsi:type="dcterms:W3CDTF">2013-01-27T09:14:16Z</dcterms:created>
  <dcterms:modified xsi:type="dcterms:W3CDTF">2013-01-27T09:15:58Z</dcterms:modified>
  <cp:category/>
</cp:coreProperties>
</file>