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0"/>
            <c:spPr>
              <a:solidFill>
                <a:srgbClr val="76B900"/>
              </a:solidFill>
            </c:spPr>
          </c:dPt>
          <c:cat>
            <c:strRef>
              <c:f>Sheet1!$A$2:$A$4</c:f>
              <c:strCache>
                <c:ptCount val="3"/>
                <c:pt idx="0">
                  <c:v>Qwen3-Coder 30B</c:v>
                </c:pt>
                <c:pt idx="1">
                  <c:v>Gemma 4 26B</c:v>
                </c:pt>
                <c:pt idx="2">
                  <c:v>Qwen3.6 27B</c:v>
                </c:pt>
              </c:strCache>
            </c:strRef>
          </c:cat>
          <c:val>
            <c:numRef>
              <c:f>Sheet1!$B$2:$B$4</c:f>
              <c:numCache>
                <c:formatCode>General</c:formatCode>
                <c:ptCount val="3"/>
                <c:pt idx="0">
                  <c:v>86.0</c:v>
                </c:pt>
                <c:pt idx="1">
                  <c:v>72.0</c:v>
                </c:pt>
                <c:pt idx="2">
                  <c:v>13.0</c:v>
                </c:pt>
              </c:numCache>
            </c:numRef>
          </c:val>
        </c:ser>
        <c:dLbls>
          <c:numFmt formatCode="#,##0&quot; tokens/s&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Zava's source code and CAD/PLM data are sensitive IP. This proposal keeps frequent coding and internal-document work local while reserving a controlled cloud path for the heaviest reasoning. We will inspect the stack, distinguish memory views, examine measured throughput and agree a technical pilot. The goal is evidence, not a device-wide performance promise.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Surface Laptop Ultra uses NVIDIA RTX Spark N1X, a Blackwell RTX GPU, and 20 CPU cores. The installed runtimes are llama.cpp build 11573, native ARM64 with CUDA, and Foundry Local with its CUDA execution provider. They are alternative serving paths, not serial stages. The local catalog contains 28 open models occupying 315 GiB.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distinct views of memory on the same device. The installed capacity is 128 GB; about 64 GB is visible to Windows; nvidia-smi reports a 64,000 MiB GPU budget. Never add them together or label system RAM dedicated VRAM. Validate model fit alongside context and workload memory during the pilot.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Local-AI-Bench measured approximate single-stream decode on this device in October 2026: Qwen3-Coder 30B at 86 tokens/s, Gemma 4 26B at 72, and dense Qwen3.6 27B at 13. The machine was shared. These are observations, not guaranteed specifications or comparisons with other devices. Decode throughput does not establish task accuracy or total interaction latency.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Qwen3-Coder 30B reached about 140 tokens/s across 4 concurrent streams. Gemma 4 26B reached about 245 tokens/s across 8. These aggregate results do not describe per-request speed or equal-load comparisons. Qwen3-Coder's measured first-token latency was 0.13 seconds. Source: Local-AI-Bench, this device, October 2026, shared machine; not guaranteed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Qwen3-Coder 30B is MoE, with about 3B active parameters per token. Its Q4_K_M file is 17.3 GiB. Selecting specialists reduces active computation; it does not shrink the stored model to the active parameter count. Dense Qwen3.6 27B engages broader computation each token. The measured decode difference is not evidence of greater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 spans 1–4B parameters, M 7–8B, L 14–20B and XL 24–32B. These are planning estimates, not accuracy tiers. Start with representative code and document tasks, then assess model fit alongside context, latency and acceptance rate. A larger parameter count does not demonstrate higher quality.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pilot RAG: ingest approved engineering documents, chunk and embed locally, retrieve relevant passages, and supply them as context to local generation. The librarian analogy separates retrieval from model knowledge. Retain source links so engineers can inspect evidence. Retrieval can miss relevant passages, and generated answers require review. Keep CAD/PLM data within approved local access boundaries.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pilot architecture: developer requests enter a policy router. Code and internal-document work stay local; approved documents feed local embeddings and retrieval. Retrieved passages ground local inference through either runtime. Only approved, non-sensitive heavy-reasoning payloads may leave for cloud models. Deny uncertain outbound requests; enforce document permissions and inspect egress. These controls are design requirements, not claimed certifications.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representative, permissioned tasks: code generation, code explanation and internal-document questions. Retrieve context when useful, not automatically for every request. Engineers review changes and source evidence, then run existing tests. Capture acceptance rate, latency and developer experience. Agree acceptance criteria before starting; do not treat throughput as a productivity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provenance states that this deck was generated on Surface Laptop Ultra by Qwen3-Coder 30B through llama.cpp, with no cloud calls. This is evidence about the deck-generation workload, not blanket assurance for code or RAG tasks. The pilot measures those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 pilot owner and representative developers, define approved data boundaries and agree acceptance criteria before starting. Run local code generation and internal-document RAG, with policy-approved cloud routing for eligible heavy reasoning. After 2 weeks, review acceptance rate, latency and developer experience together. Decide next steps from evidence, not peak throughput.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62179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2960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0" y="1234440"/>
            <a:ext cx="4297680" cy="4297680"/>
          </a:xfrm>
          <a:prstGeom prst="ellipse">
            <a:avLst/>
          </a:prstGeom>
          <a:noFill/>
          <a:ln w="15875">
            <a:solidFill>
              <a:srgbClr val="76B900"/>
            </a:solidFill>
          </a:ln>
          <a:effectLst>
            <a:glow rad="1016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0" y="1691640"/>
            <a:ext cx="3383280" cy="3383280"/>
          </a:xfrm>
          <a:prstGeom prst="ellipse">
            <a:avLst/>
          </a:prstGeom>
          <a:noFill/>
          <a:ln w="22225">
            <a:solidFill>
              <a:srgbClr val="3DA9FC"/>
            </a:solidFill>
          </a:ln>
          <a:effectLst>
            <a:glow rad="101600">
              <a:srgbClr val="3DA9FC">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0" y="2148840"/>
            <a:ext cx="2468880" cy="2468880"/>
          </a:xfrm>
          <a:prstGeom prst="ellipse">
            <a:avLst/>
          </a:prstGeom>
          <a:noFill/>
          <a:ln w="28575">
            <a:solidFill>
              <a:srgbClr val="9B6BFF"/>
            </a:solidFill>
          </a:ln>
          <a:effectLst>
            <a:glow rad="101600">
              <a:srgbClr val="9B6B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95360" y="2514600"/>
            <a:ext cx="1737360" cy="1737360"/>
          </a:xfrm>
          <a:prstGeom prst="ellipse">
            <a:avLst/>
          </a:prstGeom>
          <a:solidFill>
            <a:srgbClr val="141824"/>
          </a:solidFill>
          <a:ln>
            <a:noFill/>
          </a:ln>
          <a:effectLst>
            <a:glow rad="3048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42248" y="2743200"/>
            <a:ext cx="1243584" cy="1243584"/>
          </a:xfrm>
          <a:prstGeom prst="rect">
            <a:avLst/>
          </a:prstGeom>
          <a:noFill/>
        </p:spPr>
        <p:txBody>
          <a:bodyPr wrap="none" lIns="0" rIns="0" tIns="0" bIns="0" anchor="ctr">
            <a:spAutoFit/>
          </a:bodyPr>
          <a:lstStyle/>
          <a:p>
            <a:pPr algn="ctr"/>
            <a:r>
              <a:rPr sz="6071">
                <a:solidFill>
                  <a:srgbClr val="76B900"/>
                </a:solidFill>
                <a:latin typeface="Segoe Fluent Icons"/>
              </a:rPr>
              <a:t></a:t>
            </a:r>
          </a:p>
        </p:txBody>
      </p:sp>
      <p:sp>
        <p:nvSpPr>
          <p:cNvPr id="9" name="Oval 8"/>
          <p:cNvSpPr/>
          <p:nvPr/>
        </p:nvSpPr>
        <p:spPr>
          <a:xfrm>
            <a:off x="6967728" y="3035808"/>
            <a:ext cx="694944" cy="694944"/>
          </a:xfrm>
          <a:prstGeom prst="ellipse">
            <a:avLst/>
          </a:prstGeom>
          <a:solidFill>
            <a:srgbClr val="141824"/>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04888" y="3172968"/>
            <a:ext cx="420624" cy="420624"/>
          </a:xfrm>
          <a:prstGeom prst="rect">
            <a:avLst/>
          </a:prstGeom>
          <a:noFill/>
        </p:spPr>
        <p:txBody>
          <a:bodyPr wrap="none" lIns="0" rIns="0" tIns="0" bIns="0" anchor="ctr">
            <a:spAutoFit/>
          </a:bodyPr>
          <a:lstStyle/>
          <a:p>
            <a:pPr algn="ctr"/>
            <a:r>
              <a:rPr sz="2053">
                <a:solidFill>
                  <a:srgbClr val="76B900"/>
                </a:solidFill>
                <a:latin typeface="Segoe Fluent Icons"/>
              </a:rPr>
              <a:t></a:t>
            </a:r>
          </a:p>
        </p:txBody>
      </p:sp>
      <p:sp>
        <p:nvSpPr>
          <p:cNvPr id="11" name="Oval 10"/>
          <p:cNvSpPr/>
          <p:nvPr/>
        </p:nvSpPr>
        <p:spPr>
          <a:xfrm>
            <a:off x="11265408" y="3035808"/>
            <a:ext cx="694944" cy="694944"/>
          </a:xfrm>
          <a:prstGeom prst="ellipse">
            <a:avLst/>
          </a:prstGeom>
          <a:solidFill>
            <a:srgbClr val="141824"/>
          </a:solidFill>
          <a:ln w="19050">
            <a:solidFill>
              <a:srgbClr val="3DA9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02568" y="3172968"/>
            <a:ext cx="420624" cy="420624"/>
          </a:xfrm>
          <a:prstGeom prst="rect">
            <a:avLst/>
          </a:prstGeom>
          <a:noFill/>
        </p:spPr>
        <p:txBody>
          <a:bodyPr wrap="none" lIns="0" rIns="0" tIns="0" bIns="0" anchor="ctr">
            <a:spAutoFit/>
          </a:bodyPr>
          <a:lstStyle/>
          <a:p>
            <a:pPr algn="ctr"/>
            <a:r>
              <a:rPr sz="2053">
                <a:solidFill>
                  <a:srgbClr val="3DA9FC"/>
                </a:solidFill>
                <a:latin typeface="Segoe Fluent Icons"/>
              </a:rPr>
              <a:t></a:t>
            </a:r>
          </a:p>
        </p:txBody>
      </p:sp>
      <p:sp>
        <p:nvSpPr>
          <p:cNvPr id="13" name="Oval 12"/>
          <p:cNvSpPr/>
          <p:nvPr/>
        </p:nvSpPr>
        <p:spPr>
          <a:xfrm>
            <a:off x="9116568" y="886968"/>
            <a:ext cx="694944" cy="694944"/>
          </a:xfrm>
          <a:prstGeom prst="ellipse">
            <a:avLst/>
          </a:prstGeom>
          <a:solidFill>
            <a:srgbClr val="141824"/>
          </a:solidFill>
          <a:ln w="19050">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3728" y="1024128"/>
            <a:ext cx="420624" cy="420624"/>
          </a:xfrm>
          <a:prstGeom prst="rect">
            <a:avLst/>
          </a:prstGeom>
          <a:noFill/>
        </p:spPr>
        <p:txBody>
          <a:bodyPr wrap="none" lIns="0" rIns="0" tIns="0" bIns="0" anchor="ctr">
            <a:spAutoFit/>
          </a:bodyPr>
          <a:lstStyle/>
          <a:p>
            <a:pPr algn="ctr"/>
            <a:r>
              <a:rPr sz="2053">
                <a:solidFill>
                  <a:srgbClr val="9B6BFF"/>
                </a:solidFill>
                <a:latin typeface="Segoe Fluent Icons"/>
              </a:rPr>
              <a:t></a:t>
            </a:r>
          </a:p>
        </p:txBody>
      </p:sp>
      <p:sp>
        <p:nvSpPr>
          <p:cNvPr id="15" name="Oval 14"/>
          <p:cNvSpPr/>
          <p:nvPr/>
        </p:nvSpPr>
        <p:spPr>
          <a:xfrm>
            <a:off x="9116568" y="5184648"/>
            <a:ext cx="694944" cy="694944"/>
          </a:xfrm>
          <a:prstGeom prst="ellipse">
            <a:avLst/>
          </a:prstGeom>
          <a:solidFill>
            <a:srgbClr val="141824"/>
          </a:solidFill>
          <a:ln w="1905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3728" y="5321808"/>
            <a:ext cx="420624" cy="420624"/>
          </a:xfrm>
          <a:prstGeom prst="rect">
            <a:avLst/>
          </a:prstGeom>
          <a:noFill/>
        </p:spPr>
        <p:txBody>
          <a:bodyPr wrap="none" lIns="0" rIns="0" tIns="0" bIns="0" anchor="ctr">
            <a:spAutoFit/>
          </a:bodyPr>
          <a:lstStyle/>
          <a:p>
            <a:pPr algn="ctr"/>
            <a:r>
              <a:rPr sz="2053">
                <a:solidFill>
                  <a:srgbClr val="FFB547"/>
                </a:solidFill>
                <a:latin typeface="Segoe Fluent Icons"/>
              </a:rPr>
              <a:t></a:t>
            </a:r>
          </a:p>
        </p:txBody>
      </p:sp>
      <p:sp>
        <p:nvSpPr>
          <p:cNvPr id="17" name="TextBox 16"/>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76B900"/>
                </a:solidFill>
                <a:latin typeface="Segoe UI Semibold"/>
              </a:rPr>
              <a:t>ZAVA TECHNICAL PILOT</a:t>
            </a:r>
          </a:p>
        </p:txBody>
      </p:sp>
      <p:sp>
        <p:nvSpPr>
          <p:cNvPr id="18" name="TextBox 17"/>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F4F6FA"/>
                </a:solidFill>
                <a:latin typeface="Segoe UI Semibold"/>
              </a:rPr>
              <a:t>Zava's Local AI Developer Stack</a:t>
            </a:r>
          </a:p>
        </p:txBody>
      </p:sp>
      <p:sp>
        <p:nvSpPr>
          <p:cNvPr id="19" name="TextBox 18"/>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AEB6C8"/>
                </a:solidFill>
                <a:latin typeface="Segoe UI"/>
              </a:rPr>
              <a:t>Surface Laptop Ultra with NVIDIA RTX Spark</a:t>
            </a:r>
          </a:p>
        </p:txBody>
      </p:sp>
      <p:sp>
        <p:nvSpPr>
          <p:cNvPr id="20" name="TextBox 19"/>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6F7890"/>
                </a:solidFill>
                <a:latin typeface="Segoe UI"/>
              </a:rPr>
              <a:t>Surface Laptop Ultra  |  NVIDIA RTX Spark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From Developer Workflows To Silicon</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Local models and CUDA runtimes connect developer workflows to the device.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2</a:t>
            </a:r>
          </a:p>
        </p:txBody>
      </p:sp>
      <p:sp>
        <p:nvSpPr>
          <p:cNvPr id="9" name="Rounded Rectangle 8"/>
          <p:cNvSpPr/>
          <p:nvPr/>
        </p:nvSpPr>
        <p:spPr>
          <a:xfrm>
            <a:off x="548640" y="1888236"/>
            <a:ext cx="9262872" cy="960120"/>
          </a:xfrm>
          <a:prstGeom prst="roundRect">
            <a:avLst>
              <a:gd name="adj" fmla="val 13333"/>
            </a:avLst>
          </a:prstGeom>
          <a:solidFill>
            <a:srgbClr val="141824"/>
          </a:solidFill>
          <a:ln w="12700">
            <a:solidFill>
              <a:srgbClr val="4060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0080" y="1979676"/>
            <a:ext cx="777240" cy="777240"/>
          </a:xfrm>
          <a:prstGeom prst="roundRect">
            <a:avLst>
              <a:gd name="adj" fmla="val 14117"/>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2" name="TextBox 11"/>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Developer workflows</a:t>
            </a:r>
          </a:p>
        </p:txBody>
      </p:sp>
      <p:sp>
        <p:nvSpPr>
          <p:cNvPr id="13" name="TextBox 12"/>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AEB6C8"/>
                </a:solidFill>
                <a:latin typeface="Segoe UI"/>
              </a:rPr>
              <a:t>Code generation and internal engineering document retrieval</a:t>
            </a:r>
          </a:p>
        </p:txBody>
      </p:sp>
      <p:sp>
        <p:nvSpPr>
          <p:cNvPr id="14" name="Rounded Rectangle 13"/>
          <p:cNvSpPr/>
          <p:nvPr/>
        </p:nvSpPr>
        <p:spPr>
          <a:xfrm>
            <a:off x="548640" y="2976372"/>
            <a:ext cx="9262872" cy="960120"/>
          </a:xfrm>
          <a:prstGeom prst="roundRect">
            <a:avLst>
              <a:gd name="adj" fmla="val 13333"/>
            </a:avLst>
          </a:prstGeom>
          <a:solidFill>
            <a:srgbClr val="141824"/>
          </a:solidFill>
          <a:ln w="12700">
            <a:solidFill>
              <a:srgbClr val="2659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0080" y="3067812"/>
            <a:ext cx="777240" cy="777240"/>
          </a:xfrm>
          <a:prstGeom prst="roundRect">
            <a:avLst>
              <a:gd name="adj" fmla="val 14117"/>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7" name="TextBox 16"/>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Installed models</a:t>
            </a:r>
          </a:p>
        </p:txBody>
      </p:sp>
      <p:sp>
        <p:nvSpPr>
          <p:cNvPr id="18" name="TextBox 17"/>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AEB6C8"/>
                </a:solidFill>
                <a:latin typeface="Segoe UI"/>
              </a:rPr>
              <a:t>28 open models; 315 GiB on disk</a:t>
            </a:r>
          </a:p>
        </p:txBody>
      </p:sp>
      <p:sp>
        <p:nvSpPr>
          <p:cNvPr id="19" name="Rounded Rectangle 18"/>
          <p:cNvSpPr/>
          <p:nvPr/>
        </p:nvSpPr>
        <p:spPr>
          <a:xfrm>
            <a:off x="548640" y="4064508"/>
            <a:ext cx="9262872" cy="960120"/>
          </a:xfrm>
          <a:prstGeom prst="roundRect">
            <a:avLst>
              <a:gd name="adj" fmla="val 13333"/>
            </a:avLst>
          </a:prstGeom>
          <a:solidFill>
            <a:srgbClr val="141824"/>
          </a:solidFill>
          <a:ln w="12700">
            <a:solidFill>
              <a:srgbClr val="513D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 y="4155948"/>
            <a:ext cx="777240" cy="777240"/>
          </a:xfrm>
          <a:prstGeom prst="roundRect">
            <a:avLst>
              <a:gd name="adj" fmla="val 14117"/>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2" name="TextBox 21"/>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Runtime alternatives</a:t>
            </a:r>
          </a:p>
        </p:txBody>
      </p:sp>
      <p:sp>
        <p:nvSpPr>
          <p:cNvPr id="23" name="TextBox 22"/>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AEB6C8"/>
                </a:solidFill>
                <a:latin typeface="Segoe UI"/>
              </a:rPr>
              <a:t>llama.cpp ARM64 CUDA; Foundry Local CUDA execution provider</a:t>
            </a:r>
          </a:p>
        </p:txBody>
      </p:sp>
      <p:sp>
        <p:nvSpPr>
          <p:cNvPr id="24" name="Rounded Rectangle 23"/>
          <p:cNvSpPr/>
          <p:nvPr/>
        </p:nvSpPr>
        <p:spPr>
          <a:xfrm>
            <a:off x="548640" y="5152644"/>
            <a:ext cx="9262872" cy="960120"/>
          </a:xfrm>
          <a:prstGeom prst="roundRect">
            <a:avLst>
              <a:gd name="adj" fmla="val 13333"/>
            </a:avLst>
          </a:prstGeom>
          <a:solidFill>
            <a:srgbClr val="141824"/>
          </a:solidFill>
          <a:ln w="12700">
            <a:solidFill>
              <a:srgbClr val="7E5F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0080" y="5244084"/>
            <a:ext cx="777240" cy="777240"/>
          </a:xfrm>
          <a:prstGeom prst="roundRect">
            <a:avLst>
              <a:gd name="adj" fmla="val 14117"/>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7" name="TextBox 26"/>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Surface Laptop Ultra</a:t>
            </a:r>
          </a:p>
        </p:txBody>
      </p:sp>
      <p:sp>
        <p:nvSpPr>
          <p:cNvPr id="28" name="TextBox 27"/>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AEB6C8"/>
                </a:solidFill>
                <a:latin typeface="Segoe UI"/>
              </a:rPr>
              <a:t>RTX Spark N1X; Blackwell RTX GPU; 20 CPU cores</a:t>
            </a:r>
          </a:p>
        </p:txBody>
      </p:sp>
      <p:sp>
        <p:nvSpPr>
          <p:cNvPr id="29" name="Rectangle 28"/>
          <p:cNvSpPr/>
          <p:nvPr/>
        </p:nvSpPr>
        <p:spPr>
          <a:xfrm>
            <a:off x="10085832" y="1888236"/>
            <a:ext cx="73152" cy="4224528"/>
          </a:xfrm>
          <a:prstGeom prst="rect">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10314432" y="3314700"/>
            <a:ext cx="1325880" cy="1371600"/>
          </a:xfrm>
          <a:prstGeom prst="roundRect">
            <a:avLst>
              <a:gd name="adj" fmla="val 9655"/>
            </a:avLst>
          </a:prstGeom>
          <a:solidFill>
            <a:srgbClr val="233409"/>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F4F6FA"/>
                </a:solidFill>
                <a:latin typeface="Segoe UI Semibold"/>
              </a:rPr>
              <a:t>Local developer stack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Memory Views Are Not Additive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Installed memory, Windows visibility and GPU budgeting describe distinct views, not separate pools.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3</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76B900"/>
                </a:solidFill>
                <a:latin typeface="Segoe UI Black"/>
              </a:rPr>
              <a:t>128 GB</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Installed memory</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Device configuration</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6000" i="0">
                <a:solidFill>
                  <a:srgbClr val="3DA9FC"/>
                </a:solidFill>
                <a:latin typeface="Segoe UI Black"/>
              </a:rPr>
              <a:t>~64 GB</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Windows-visible memory</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Windows visibility</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4000" i="0">
                <a:solidFill>
                  <a:srgbClr val="9B6BFF"/>
                </a:solidFill>
                <a:latin typeface="Segoe UI Black"/>
              </a:rPr>
              <a:t>64,000 MiB</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GPU memory budget</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nvidia-smi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Measured Decode On This Device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These shared-machine measurements guide testing, not guaranteed production throughput.</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4</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86</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tokens/s  |  Qwen3-Coder 30B</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Approximate decode; Local-AI-Bench, October 2026; shared machine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Concurrency Changes Aggregate Throughput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Aggregate tokens describe shared serving capacity, not each developer's response speed.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5</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3700" i="0">
                <a:solidFill>
                  <a:srgbClr val="76B900"/>
                </a:solidFill>
                <a:latin typeface="Segoe UI Black"/>
              </a:rPr>
              <a:t>~140 tokens/s</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Qwen3-Coder 30B aggregate</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900" i="0">
                <a:solidFill>
                  <a:srgbClr val="6F7890"/>
                </a:solidFill>
                <a:latin typeface="Segoe UI"/>
              </a:rPr>
              <a:t>4 streams; Local-AI-Bench, October 2026; shared machine</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3700" i="0">
                <a:solidFill>
                  <a:srgbClr val="3DA9FC"/>
                </a:solidFill>
                <a:latin typeface="Segoe UI Black"/>
              </a:rPr>
              <a:t>~245 tokens/s</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Gemma 4 26B aggregate</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900" i="0">
                <a:solidFill>
                  <a:srgbClr val="6F7890"/>
                </a:solidFill>
                <a:latin typeface="Segoe UI"/>
              </a:rPr>
              <a:t>8 streams; Local-AI-Bench, October 2026; shared machine</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6000" i="0">
                <a:solidFill>
                  <a:srgbClr val="9B6BFF"/>
                </a:solidFill>
                <a:latin typeface="Segoe UI Black"/>
              </a:rPr>
              <a:t>0.13 s</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Qwen3-Coder first token</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900" i="0">
                <a:solidFill>
                  <a:srgbClr val="6F7890"/>
                </a:solidFill>
                <a:latin typeface="Segoe UI"/>
              </a:rPr>
              <a:t>Qwen3-Coder 30B; Local-AI-Bench, October 2026; shared machine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MoE Works Like A Specialist Workshop</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MoE selects specialists per token; dense models engage broader computation.</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6</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Mixture of experts</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Specialist workshop</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Full model weights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Stocked workshop</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Token router</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Job dispatcher</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Active experts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Selected specialists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Dense computation</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Whole crew engaged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Model Bands Guide Fit, Not Accuracy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Choose parameter bands for planning, then measure quality on representative Zava tasks.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7</a:t>
            </a:r>
          </a:p>
        </p:txBody>
      </p:sp>
      <p:cxnSp>
        <p:nvCxnSpPr>
          <p:cNvPr id="9" name="Connector 8"/>
          <p:cNvCxnSpPr/>
          <p:nvPr/>
        </p:nvCxnSpPr>
        <p:spPr>
          <a:xfrm flipV="1">
            <a:off x="6094476" y="224028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4476" y="4000500"/>
            <a:ext cx="4174236" cy="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76" y="400050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920240" y="4000500"/>
            <a:ext cx="4174236" cy="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910328" y="2816352"/>
            <a:ext cx="2368296" cy="2368296"/>
          </a:xfrm>
          <a:prstGeom prst="ellipse">
            <a:avLst/>
          </a:prstGeom>
          <a:solidFill>
            <a:srgbClr val="76B900">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111496" y="3017520"/>
            <a:ext cx="1965960" cy="1965960"/>
          </a:xfrm>
          <a:prstGeom prst="ellipse">
            <a:avLst/>
          </a:prstGeom>
          <a:solidFill>
            <a:srgbClr val="76B900"/>
          </a:solidFill>
          <a:ln>
            <a:noFill/>
          </a:ln>
          <a:effectLst>
            <a:glow rad="2286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10428" y="3287268"/>
            <a:ext cx="768096" cy="768096"/>
          </a:xfrm>
          <a:prstGeom prst="rect">
            <a:avLst/>
          </a:prstGeom>
          <a:noFill/>
        </p:spPr>
        <p:txBody>
          <a:bodyPr wrap="none" lIns="0" rIns="0" tIns="0" bIns="0" anchor="ctr">
            <a:spAutoFit/>
          </a:bodyPr>
          <a:lstStyle/>
          <a:p>
            <a:pPr algn="ctr"/>
            <a:r>
              <a:rPr sz="3749">
                <a:solidFill>
                  <a:srgbClr val="07080C"/>
                </a:solidFill>
                <a:latin typeface="Segoe Fluent Icons"/>
              </a:rPr>
              <a:t></a:t>
            </a:r>
          </a:p>
        </p:txBody>
      </p:sp>
      <p:sp>
        <p:nvSpPr>
          <p:cNvPr id="16" name="TextBox 15"/>
          <p:cNvSpPr txBox="1"/>
          <p:nvPr/>
        </p:nvSpPr>
        <p:spPr>
          <a:xfrm>
            <a:off x="5294376" y="4073652"/>
            <a:ext cx="1600200" cy="685800"/>
          </a:xfrm>
          <a:prstGeom prst="rect">
            <a:avLst/>
          </a:prstGeom>
          <a:noFill/>
        </p:spPr>
        <p:txBody>
          <a:bodyPr wrap="square" lIns="0" rIns="0" tIns="0" bIns="0" anchor="t">
            <a:noAutofit/>
          </a:bodyPr>
          <a:lstStyle/>
          <a:p>
            <a:pPr algn="ctr"/>
            <a:r>
              <a:rPr sz="1800" i="0">
                <a:solidFill>
                  <a:srgbClr val="07080C"/>
                </a:solidFill>
                <a:latin typeface="Segoe UI Semibold"/>
              </a:rPr>
              <a:t>Model fit</a:t>
            </a:r>
          </a:p>
        </p:txBody>
      </p:sp>
      <p:sp>
        <p:nvSpPr>
          <p:cNvPr id="17" name="Rounded Rectangle 16"/>
          <p:cNvSpPr/>
          <p:nvPr/>
        </p:nvSpPr>
        <p:spPr>
          <a:xfrm>
            <a:off x="4837176" y="1865376"/>
            <a:ext cx="2514600" cy="749808"/>
          </a:xfrm>
          <a:prstGeom prst="roundRect">
            <a:avLst>
              <a:gd name="adj" fmla="val 50000"/>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910328" y="1938528"/>
            <a:ext cx="603504" cy="603504"/>
          </a:xfrm>
          <a:prstGeom prst="ellipse">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94819" y="202301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0" name="TextBox 19"/>
          <p:cNvSpPr txBox="1"/>
          <p:nvPr/>
        </p:nvSpPr>
        <p:spPr>
          <a:xfrm>
            <a:off x="5605272" y="192024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S: 1–4B</a:t>
            </a:r>
          </a:p>
        </p:txBody>
      </p:sp>
      <p:sp>
        <p:nvSpPr>
          <p:cNvPr id="21" name="Rounded Rectangle 20"/>
          <p:cNvSpPr/>
          <p:nvPr/>
        </p:nvSpPr>
        <p:spPr>
          <a:xfrm>
            <a:off x="9011412" y="3625596"/>
            <a:ext cx="2514600" cy="749808"/>
          </a:xfrm>
          <a:prstGeom prst="roundRect">
            <a:avLst>
              <a:gd name="adj" fmla="val 50000"/>
            </a:avLst>
          </a:prstGeom>
          <a:solidFill>
            <a:srgbClr val="141824"/>
          </a:solidFill>
          <a:ln w="12700">
            <a:solidFill>
              <a:srgbClr val="654A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84564" y="3698748"/>
            <a:ext cx="603504" cy="603504"/>
          </a:xfrm>
          <a:prstGeom prst="ellipse">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69055" y="378323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4" name="TextBox 23"/>
          <p:cNvSpPr txBox="1"/>
          <p:nvPr/>
        </p:nvSpPr>
        <p:spPr>
          <a:xfrm>
            <a:off x="9779508" y="368046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M: 7–8B</a:t>
            </a:r>
          </a:p>
        </p:txBody>
      </p:sp>
      <p:sp>
        <p:nvSpPr>
          <p:cNvPr id="25" name="Rounded Rectangle 24"/>
          <p:cNvSpPr/>
          <p:nvPr/>
        </p:nvSpPr>
        <p:spPr>
          <a:xfrm>
            <a:off x="4837176" y="5385816"/>
            <a:ext cx="2514600" cy="749808"/>
          </a:xfrm>
          <a:prstGeom prst="roundRect">
            <a:avLst>
              <a:gd name="adj" fmla="val 50000"/>
            </a:avLst>
          </a:prstGeom>
          <a:solidFill>
            <a:srgbClr val="141824"/>
          </a:solidFill>
          <a:ln w="12700">
            <a:solidFill>
              <a:srgbClr val="A176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910328" y="5458968"/>
            <a:ext cx="603504" cy="603504"/>
          </a:xfrm>
          <a:prstGeom prst="ellipse">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94819" y="554345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8" name="TextBox 27"/>
          <p:cNvSpPr txBox="1"/>
          <p:nvPr/>
        </p:nvSpPr>
        <p:spPr>
          <a:xfrm>
            <a:off x="5605272" y="544068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L: 14–20B</a:t>
            </a:r>
          </a:p>
        </p:txBody>
      </p:sp>
      <p:sp>
        <p:nvSpPr>
          <p:cNvPr id="29" name="Rounded Rectangle 28"/>
          <p:cNvSpPr/>
          <p:nvPr/>
        </p:nvSpPr>
        <p:spPr>
          <a:xfrm>
            <a:off x="662940" y="3625596"/>
            <a:ext cx="2514600" cy="749808"/>
          </a:xfrm>
          <a:prstGeom prst="roundRect">
            <a:avLst>
              <a:gd name="adj" fmla="val 50000"/>
            </a:avLst>
          </a:prstGeom>
          <a:solidFill>
            <a:srgbClr val="141824"/>
          </a:solidFill>
          <a:ln w="12700">
            <a:solidFill>
              <a:srgbClr val="A1416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36092" y="3698748"/>
            <a:ext cx="603504" cy="603504"/>
          </a:xfrm>
          <a:prstGeom prst="ellipse">
            <a:avLst/>
          </a:prstGeom>
          <a:solidFill>
            <a:srgbClr val="FF5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0583" y="378323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32" name="TextBox 31"/>
          <p:cNvSpPr txBox="1"/>
          <p:nvPr/>
        </p:nvSpPr>
        <p:spPr>
          <a:xfrm>
            <a:off x="1431036" y="368046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XL: 24–32B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RAG Is Your Engineering Librarian</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RAG brings relevant internal passages into a local model's answer context.</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8</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Internal document RAG</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Engineering librarian</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Local embeddings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Subject catalog</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Vector retrieval</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Find relevant pages</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Prompt context</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Open selected references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Local generation</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Draft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Local By Default, Cloud By Policy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Keep sensitive work local; approve non-sensitive payloads before cloud reasoning.</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9</a:t>
            </a:r>
          </a:p>
        </p:txBody>
      </p:sp>
      <p:cxnSp>
        <p:nvCxnSpPr>
          <p:cNvPr id="9" name="Connector 8"/>
          <p:cNvCxnSpPr/>
          <p:nvPr/>
        </p:nvCxnSpPr>
        <p:spPr>
          <a:xfrm>
            <a:off x="687286" y="2444115"/>
            <a:ext cx="8133893" cy="0"/>
          </a:xfrm>
          <a:prstGeom prst="line">
            <a:avLst/>
          </a:prstGeom>
          <a:ln w="28575">
            <a:solidFill>
              <a:srgbClr val="3DA9FC"/>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821179" y="2444115"/>
            <a:ext cx="0" cy="3402330"/>
          </a:xfrm>
          <a:prstGeom prst="line">
            <a:avLst/>
          </a:prstGeom>
          <a:ln w="28575">
            <a:solidFill>
              <a:srgbClr val="3DA9FC"/>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87286" y="5846445"/>
            <a:ext cx="8133893" cy="0"/>
          </a:xfrm>
          <a:prstGeom prst="line">
            <a:avLst/>
          </a:prstGeom>
          <a:ln w="28575">
            <a:solidFill>
              <a:srgbClr val="3DA9FC"/>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87286" y="2444115"/>
            <a:ext cx="0" cy="3402330"/>
          </a:xfrm>
          <a:prstGeom prst="line">
            <a:avLst/>
          </a:prstGeom>
          <a:ln w="28575">
            <a:solidFill>
              <a:srgbClr val="3DA9FC"/>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176541" y="2226945"/>
            <a:ext cx="0" cy="615315"/>
          </a:xfrm>
          <a:prstGeom prst="line">
            <a:avLst/>
          </a:prstGeom>
          <a:ln w="28575">
            <a:solidFill>
              <a:srgbClr val="FFB547"/>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76541" y="2226945"/>
            <a:ext cx="6054204" cy="0"/>
          </a:xfrm>
          <a:prstGeom prst="line">
            <a:avLst/>
          </a:prstGeom>
          <a:ln w="28575">
            <a:solidFill>
              <a:srgbClr val="FFB547"/>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230745" y="2226945"/>
            <a:ext cx="0" cy="615315"/>
          </a:xfrm>
          <a:prstGeom prst="line">
            <a:avLst/>
          </a:prstGeom>
          <a:ln w="28575">
            <a:solidFill>
              <a:srgbClr val="FFB54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28329" y="3149917"/>
            <a:ext cx="693229"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031524" y="3149917"/>
            <a:ext cx="1109167" cy="0"/>
          </a:xfrm>
          <a:prstGeom prst="line">
            <a:avLst/>
          </a:prstGeom>
          <a:ln w="28575">
            <a:solidFill>
              <a:srgbClr val="3DA9F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80268" y="2765869"/>
            <a:ext cx="2011680" cy="329184"/>
          </a:xfrm>
          <a:prstGeom prst="rect">
            <a:avLst/>
          </a:prstGeom>
          <a:noFill/>
        </p:spPr>
        <p:txBody>
          <a:bodyPr wrap="square" lIns="0" rIns="0" tIns="0" bIns="0" anchor="t">
            <a:noAutofit/>
          </a:bodyPr>
          <a:lstStyle/>
          <a:p>
            <a:pPr algn="ctr"/>
            <a:r>
              <a:rPr sz="1200" i="0">
                <a:solidFill>
                  <a:srgbClr val="AEB6C8"/>
                </a:solidFill>
                <a:latin typeface="Segoe UI"/>
              </a:rPr>
              <a:t>Local tasks</a:t>
            </a:r>
          </a:p>
        </p:txBody>
      </p:sp>
      <p:cxnSp>
        <p:nvCxnSpPr>
          <p:cNvPr id="19" name="Connector 18"/>
          <p:cNvCxnSpPr/>
          <p:nvPr/>
        </p:nvCxnSpPr>
        <p:spPr>
          <a:xfrm>
            <a:off x="2628329" y="5050155"/>
            <a:ext cx="693229" cy="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31524" y="5050155"/>
            <a:ext cx="1109167" cy="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5586" y="3457575"/>
            <a:ext cx="1756182" cy="1266825"/>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487837" y="3706940"/>
            <a:ext cx="2011680" cy="329184"/>
          </a:xfrm>
          <a:prstGeom prst="rect">
            <a:avLst/>
          </a:prstGeom>
          <a:noFill/>
        </p:spPr>
        <p:txBody>
          <a:bodyPr wrap="square" lIns="0" rIns="0" tIns="0" bIns="0" anchor="t">
            <a:noAutofit/>
          </a:bodyPr>
          <a:lstStyle/>
          <a:p>
            <a:pPr algn="ctr"/>
            <a:r>
              <a:rPr sz="1200" i="0">
                <a:solidFill>
                  <a:srgbClr val="AEB6C8"/>
                </a:solidFill>
                <a:latin typeface="Segoe UI"/>
              </a:rPr>
              <a:t>RAG query</a:t>
            </a:r>
          </a:p>
        </p:txBody>
      </p:sp>
      <p:cxnSp>
        <p:nvCxnSpPr>
          <p:cNvPr id="23" name="Connector 22"/>
          <p:cNvCxnSpPr/>
          <p:nvPr/>
        </p:nvCxnSpPr>
        <p:spPr>
          <a:xfrm flipV="1">
            <a:off x="7296074" y="3457575"/>
            <a:ext cx="0" cy="1266825"/>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290234" y="3706940"/>
            <a:ext cx="2011680" cy="329184"/>
          </a:xfrm>
          <a:prstGeom prst="rect">
            <a:avLst/>
          </a:prstGeom>
          <a:noFill/>
        </p:spPr>
        <p:txBody>
          <a:bodyPr wrap="square" lIns="0" rIns="0" tIns="0" bIns="0" anchor="t">
            <a:noAutofit/>
          </a:bodyPr>
          <a:lstStyle/>
          <a:p>
            <a:pPr algn="ctr"/>
            <a:r>
              <a:rPr sz="1200" i="0">
                <a:solidFill>
                  <a:srgbClr val="AEB6C8"/>
                </a:solidFill>
                <a:latin typeface="Segoe UI"/>
              </a:rPr>
              <a:t>Context</a:t>
            </a:r>
          </a:p>
        </p:txBody>
      </p:sp>
      <p:cxnSp>
        <p:nvCxnSpPr>
          <p:cNvPr id="25" name="Connector 24"/>
          <p:cNvCxnSpPr/>
          <p:nvPr/>
        </p:nvCxnSpPr>
        <p:spPr>
          <a:xfrm>
            <a:off x="10230745" y="3457575"/>
            <a:ext cx="0" cy="1266825"/>
          </a:xfrm>
          <a:prstGeom prst="line">
            <a:avLst/>
          </a:prstGeom>
          <a:ln w="28575">
            <a:solidFill>
              <a:srgbClr val="FFB54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24905" y="3706940"/>
            <a:ext cx="2011680" cy="329184"/>
          </a:xfrm>
          <a:prstGeom prst="rect">
            <a:avLst/>
          </a:prstGeom>
          <a:noFill/>
        </p:spPr>
        <p:txBody>
          <a:bodyPr wrap="square" lIns="0" rIns="0" tIns="0" bIns="0" anchor="t">
            <a:noAutofit/>
          </a:bodyPr>
          <a:lstStyle/>
          <a:p>
            <a:pPr algn="ctr"/>
            <a:r>
              <a:rPr sz="1200" i="0">
                <a:solidFill>
                  <a:srgbClr val="AEB6C8"/>
                </a:solidFill>
                <a:latin typeface="Segoe UI"/>
              </a:rPr>
              <a:t>No sensitive IP</a:t>
            </a:r>
          </a:p>
        </p:txBody>
      </p:sp>
      <p:sp>
        <p:nvSpPr>
          <p:cNvPr id="27" name="TextBox 26"/>
          <p:cNvSpPr txBox="1"/>
          <p:nvPr/>
        </p:nvSpPr>
        <p:spPr>
          <a:xfrm>
            <a:off x="918362" y="2009775"/>
            <a:ext cx="2865349" cy="289560"/>
          </a:xfrm>
          <a:prstGeom prst="rect">
            <a:avLst/>
          </a:prstGeom>
          <a:noFill/>
        </p:spPr>
        <p:txBody>
          <a:bodyPr wrap="square" lIns="0" rIns="0" tIns="0" bIns="0" anchor="t">
            <a:noAutofit/>
          </a:bodyPr>
          <a:lstStyle/>
          <a:p>
            <a:pPr algn="l"/>
            <a:r>
              <a:rPr sz="1700" i="0">
                <a:solidFill>
                  <a:srgbClr val="3DA9FC"/>
                </a:solidFill>
                <a:latin typeface="Segoe UI Semibold"/>
              </a:rPr>
              <a:t>Proposed local lane</a:t>
            </a:r>
          </a:p>
        </p:txBody>
      </p:sp>
      <p:sp>
        <p:nvSpPr>
          <p:cNvPr id="28" name="TextBox 27"/>
          <p:cNvSpPr txBox="1"/>
          <p:nvPr/>
        </p:nvSpPr>
        <p:spPr>
          <a:xfrm>
            <a:off x="5955830" y="1901190"/>
            <a:ext cx="3096425" cy="253365"/>
          </a:xfrm>
          <a:prstGeom prst="rect">
            <a:avLst/>
          </a:prstGeom>
          <a:noFill/>
        </p:spPr>
        <p:txBody>
          <a:bodyPr wrap="square" lIns="0" rIns="0" tIns="0" bIns="0" anchor="t">
            <a:noAutofit/>
          </a:bodyPr>
          <a:lstStyle/>
          <a:p>
            <a:pPr algn="l"/>
            <a:r>
              <a:rPr sz="1400" i="0">
                <a:solidFill>
                  <a:srgbClr val="FFB547"/>
                </a:solidFill>
                <a:latin typeface="Segoe UI"/>
              </a:rPr>
              <a:t>Heavy task candidates</a:t>
            </a:r>
          </a:p>
        </p:txBody>
      </p:sp>
      <p:sp>
        <p:nvSpPr>
          <p:cNvPr id="29" name="Rounded Rectangle 28"/>
          <p:cNvSpPr/>
          <p:nvPr/>
        </p:nvSpPr>
        <p:spPr>
          <a:xfrm>
            <a:off x="918362" y="2842260"/>
            <a:ext cx="1709966" cy="615315"/>
          </a:xfrm>
          <a:prstGeom prst="roundRect">
            <a:avLst>
              <a:gd name="adj" fmla="val 20804"/>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73810" y="2980706"/>
            <a:ext cx="338423" cy="338423"/>
          </a:xfrm>
          <a:prstGeom prst="rect">
            <a:avLst/>
          </a:prstGeom>
          <a:noFill/>
        </p:spPr>
        <p:txBody>
          <a:bodyPr wrap="none" lIns="0" rIns="0" tIns="0" bIns="0" anchor="ctr">
            <a:spAutoFit/>
          </a:bodyPr>
          <a:lstStyle/>
          <a:p>
            <a:pPr algn="ctr"/>
            <a:r>
              <a:rPr sz="1652">
                <a:solidFill>
                  <a:srgbClr val="07080C"/>
                </a:solidFill>
                <a:latin typeface="Segoe Fluent Icons"/>
              </a:rPr>
              <a:t></a:t>
            </a:r>
          </a:p>
        </p:txBody>
      </p:sp>
      <p:sp>
        <p:nvSpPr>
          <p:cNvPr id="31" name="TextBox 30"/>
          <p:cNvSpPr txBox="1"/>
          <p:nvPr/>
        </p:nvSpPr>
        <p:spPr>
          <a:xfrm>
            <a:off x="1531106" y="2951988"/>
            <a:ext cx="1005783" cy="395859"/>
          </a:xfrm>
          <a:prstGeom prst="rect">
            <a:avLst/>
          </a:prstGeom>
          <a:noFill/>
        </p:spPr>
        <p:txBody>
          <a:bodyPr wrap="square" lIns="0" rIns="0" tIns="0" bIns="0" anchor="ctr">
            <a:noAutofit/>
          </a:bodyPr>
          <a:lstStyle/>
          <a:p>
            <a:pPr algn="l"/>
            <a:r>
              <a:rPr sz="1200" i="0">
                <a:solidFill>
                  <a:srgbClr val="07080C"/>
                </a:solidFill>
                <a:latin typeface="Segoe UI Semibold"/>
              </a:rPr>
              <a:t>Developer tools</a:t>
            </a:r>
          </a:p>
        </p:txBody>
      </p:sp>
      <p:sp>
        <p:nvSpPr>
          <p:cNvPr id="32" name="Hexagon 31"/>
          <p:cNvSpPr/>
          <p:nvPr/>
        </p:nvSpPr>
        <p:spPr>
          <a:xfrm>
            <a:off x="3321558" y="2842260"/>
            <a:ext cx="1709966" cy="615315"/>
          </a:xfrm>
          <a:prstGeom prst="hexagon">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477006" y="2980706"/>
            <a:ext cx="338423" cy="338423"/>
          </a:xfrm>
          <a:prstGeom prst="rect">
            <a:avLst/>
          </a:prstGeom>
          <a:noFill/>
        </p:spPr>
        <p:txBody>
          <a:bodyPr wrap="none" lIns="0" rIns="0" tIns="0" bIns="0" anchor="ctr">
            <a:spAutoFit/>
          </a:bodyPr>
          <a:lstStyle/>
          <a:p>
            <a:pPr algn="ctr"/>
            <a:r>
              <a:rPr sz="1652">
                <a:solidFill>
                  <a:srgbClr val="07080C"/>
                </a:solidFill>
                <a:latin typeface="Segoe Fluent Icons"/>
              </a:rPr>
              <a:t></a:t>
            </a:r>
          </a:p>
        </p:txBody>
      </p:sp>
      <p:sp>
        <p:nvSpPr>
          <p:cNvPr id="34" name="TextBox 33"/>
          <p:cNvSpPr txBox="1"/>
          <p:nvPr/>
        </p:nvSpPr>
        <p:spPr>
          <a:xfrm>
            <a:off x="3934301" y="2951988"/>
            <a:ext cx="1005783" cy="395859"/>
          </a:xfrm>
          <a:prstGeom prst="rect">
            <a:avLst/>
          </a:prstGeom>
          <a:noFill/>
        </p:spPr>
        <p:txBody>
          <a:bodyPr wrap="square" lIns="0" rIns="0" tIns="0" bIns="0" anchor="ctr">
            <a:noAutofit/>
          </a:bodyPr>
          <a:lstStyle/>
          <a:p>
            <a:pPr algn="l"/>
            <a:r>
              <a:rPr sz="1300" i="0">
                <a:solidFill>
                  <a:srgbClr val="07080C"/>
                </a:solidFill>
                <a:latin typeface="Segoe UI Semibold"/>
              </a:rPr>
              <a:t>Policy router</a:t>
            </a:r>
          </a:p>
        </p:txBody>
      </p:sp>
      <p:sp>
        <p:nvSpPr>
          <p:cNvPr id="35" name="Rounded Rectangle 34"/>
          <p:cNvSpPr/>
          <p:nvPr/>
        </p:nvSpPr>
        <p:spPr>
          <a:xfrm>
            <a:off x="6140691" y="2842260"/>
            <a:ext cx="2264550" cy="615315"/>
          </a:xfrm>
          <a:prstGeom prst="roundRect">
            <a:avLst>
              <a:gd name="adj" fmla="val 20804"/>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96139" y="2980706"/>
            <a:ext cx="338423" cy="338423"/>
          </a:xfrm>
          <a:prstGeom prst="rect">
            <a:avLst/>
          </a:prstGeom>
          <a:noFill/>
        </p:spPr>
        <p:txBody>
          <a:bodyPr wrap="none" lIns="0" rIns="0" tIns="0" bIns="0" anchor="ctr">
            <a:spAutoFit/>
          </a:bodyPr>
          <a:lstStyle/>
          <a:p>
            <a:pPr algn="ctr"/>
            <a:r>
              <a:rPr sz="1652">
                <a:solidFill>
                  <a:srgbClr val="07080C"/>
                </a:solidFill>
                <a:latin typeface="Segoe Fluent Icons"/>
              </a:rPr>
              <a:t></a:t>
            </a:r>
          </a:p>
        </p:txBody>
      </p:sp>
      <p:sp>
        <p:nvSpPr>
          <p:cNvPr id="37" name="TextBox 36"/>
          <p:cNvSpPr txBox="1"/>
          <p:nvPr/>
        </p:nvSpPr>
        <p:spPr>
          <a:xfrm>
            <a:off x="6753435" y="2951988"/>
            <a:ext cx="1560366" cy="395859"/>
          </a:xfrm>
          <a:prstGeom prst="rect">
            <a:avLst/>
          </a:prstGeom>
          <a:noFill/>
        </p:spPr>
        <p:txBody>
          <a:bodyPr wrap="square" lIns="0" rIns="0" tIns="0" bIns="0" anchor="ctr">
            <a:noAutofit/>
          </a:bodyPr>
          <a:lstStyle/>
          <a:p>
            <a:pPr algn="l"/>
            <a:r>
              <a:rPr sz="1600" i="0">
                <a:solidFill>
                  <a:srgbClr val="07080C"/>
                </a:solidFill>
                <a:latin typeface="Segoe UI Semibold"/>
              </a:rPr>
              <a:t>Local inference</a:t>
            </a:r>
          </a:p>
        </p:txBody>
      </p:sp>
      <p:sp>
        <p:nvSpPr>
          <p:cNvPr id="38" name="TextBox 37"/>
          <p:cNvSpPr txBox="1"/>
          <p:nvPr/>
        </p:nvSpPr>
        <p:spPr>
          <a:xfrm>
            <a:off x="5863400" y="2516505"/>
            <a:ext cx="2865349" cy="253365"/>
          </a:xfrm>
          <a:prstGeom prst="rect">
            <a:avLst/>
          </a:prstGeom>
          <a:noFill/>
        </p:spPr>
        <p:txBody>
          <a:bodyPr wrap="square" lIns="0" rIns="0" tIns="0" bIns="0" anchor="t">
            <a:noAutofit/>
          </a:bodyPr>
          <a:lstStyle/>
          <a:p>
            <a:pPr algn="l"/>
            <a:r>
              <a:rPr sz="1400" i="0">
                <a:solidFill>
                  <a:srgbClr val="5A6276"/>
                </a:solidFill>
                <a:latin typeface="Segoe UI"/>
              </a:rPr>
              <a:t>llama.cpp / Foundry Local</a:t>
            </a:r>
          </a:p>
        </p:txBody>
      </p:sp>
      <p:sp>
        <p:nvSpPr>
          <p:cNvPr id="39" name="Hexagon 38"/>
          <p:cNvSpPr/>
          <p:nvPr/>
        </p:nvSpPr>
        <p:spPr>
          <a:xfrm>
            <a:off x="9144686" y="2842260"/>
            <a:ext cx="2172119" cy="615315"/>
          </a:xfrm>
          <a:prstGeom prst="hexagon">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00134" y="2980706"/>
            <a:ext cx="338423" cy="338423"/>
          </a:xfrm>
          <a:prstGeom prst="rect">
            <a:avLst/>
          </a:prstGeom>
          <a:noFill/>
        </p:spPr>
        <p:txBody>
          <a:bodyPr wrap="none" lIns="0" rIns="0" tIns="0" bIns="0" anchor="ctr">
            <a:spAutoFit/>
          </a:bodyPr>
          <a:lstStyle/>
          <a:p>
            <a:pPr algn="ctr"/>
            <a:r>
              <a:rPr sz="1652">
                <a:solidFill>
                  <a:srgbClr val="07080C"/>
                </a:solidFill>
                <a:latin typeface="Segoe Fluent Icons"/>
              </a:rPr>
              <a:t></a:t>
            </a:r>
          </a:p>
        </p:txBody>
      </p:sp>
      <p:sp>
        <p:nvSpPr>
          <p:cNvPr id="41" name="TextBox 40"/>
          <p:cNvSpPr txBox="1"/>
          <p:nvPr/>
        </p:nvSpPr>
        <p:spPr>
          <a:xfrm>
            <a:off x="9757429" y="2951988"/>
            <a:ext cx="1467936" cy="395859"/>
          </a:xfrm>
          <a:prstGeom prst="rect">
            <a:avLst/>
          </a:prstGeom>
          <a:noFill/>
        </p:spPr>
        <p:txBody>
          <a:bodyPr wrap="square" lIns="0" rIns="0" tIns="0" bIns="0" anchor="ctr">
            <a:noAutofit/>
          </a:bodyPr>
          <a:lstStyle/>
          <a:p>
            <a:pPr algn="l"/>
            <a:r>
              <a:rPr sz="1600" i="0">
                <a:solidFill>
                  <a:srgbClr val="07080C"/>
                </a:solidFill>
                <a:latin typeface="Segoe UI Semibold"/>
              </a:rPr>
              <a:t>Approval gate</a:t>
            </a:r>
          </a:p>
        </p:txBody>
      </p:sp>
      <p:sp>
        <p:nvSpPr>
          <p:cNvPr id="42" name="Rounded Rectangle 41"/>
          <p:cNvSpPr/>
          <p:nvPr/>
        </p:nvSpPr>
        <p:spPr>
          <a:xfrm>
            <a:off x="9144686" y="4724400"/>
            <a:ext cx="2172119" cy="651510"/>
          </a:xfrm>
          <a:prstGeom prst="roundRect">
            <a:avLst>
              <a:gd name="adj" fmla="val 19649"/>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00134" y="487099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44" name="TextBox 43"/>
          <p:cNvSpPr txBox="1"/>
          <p:nvPr/>
        </p:nvSpPr>
        <p:spPr>
          <a:xfrm>
            <a:off x="9777336" y="4834128"/>
            <a:ext cx="1448029" cy="432054"/>
          </a:xfrm>
          <a:prstGeom prst="rect">
            <a:avLst/>
          </a:prstGeom>
          <a:noFill/>
        </p:spPr>
        <p:txBody>
          <a:bodyPr wrap="square" lIns="0" rIns="0" tIns="0" bIns="0" anchor="ctr">
            <a:noAutofit/>
          </a:bodyPr>
          <a:lstStyle/>
          <a:p>
            <a:pPr algn="l"/>
            <a:r>
              <a:rPr sz="1500" i="0">
                <a:solidFill>
                  <a:srgbClr val="07080C"/>
                </a:solidFill>
                <a:latin typeface="Segoe UI Semibold"/>
              </a:rPr>
              <a:t>Cloud reasoning</a:t>
            </a:r>
          </a:p>
        </p:txBody>
      </p:sp>
      <p:sp>
        <p:nvSpPr>
          <p:cNvPr id="45" name="Rounded Rectangle 44"/>
          <p:cNvSpPr/>
          <p:nvPr/>
        </p:nvSpPr>
        <p:spPr>
          <a:xfrm>
            <a:off x="918362" y="4724400"/>
            <a:ext cx="1709966" cy="651510"/>
          </a:xfrm>
          <a:prstGeom prst="roundRect">
            <a:avLst>
              <a:gd name="adj" fmla="val 19649"/>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73810" y="487099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47" name="TextBox 46"/>
          <p:cNvSpPr txBox="1"/>
          <p:nvPr/>
        </p:nvSpPr>
        <p:spPr>
          <a:xfrm>
            <a:off x="1551013" y="4834128"/>
            <a:ext cx="985876" cy="432054"/>
          </a:xfrm>
          <a:prstGeom prst="rect">
            <a:avLst/>
          </a:prstGeom>
          <a:noFill/>
        </p:spPr>
        <p:txBody>
          <a:bodyPr wrap="square" lIns="0" rIns="0" tIns="0" bIns="0" anchor="ctr">
            <a:noAutofit/>
          </a:bodyPr>
          <a:lstStyle/>
          <a:p>
            <a:pPr algn="l"/>
            <a:r>
              <a:rPr sz="1300" i="0">
                <a:solidFill>
                  <a:srgbClr val="07080C"/>
                </a:solidFill>
                <a:latin typeface="Segoe UI Semibold"/>
              </a:rPr>
              <a:t>Approved internal docs</a:t>
            </a:r>
          </a:p>
        </p:txBody>
      </p:sp>
      <p:sp>
        <p:nvSpPr>
          <p:cNvPr id="48" name="Rounded Rectangle 47"/>
          <p:cNvSpPr/>
          <p:nvPr/>
        </p:nvSpPr>
        <p:spPr>
          <a:xfrm>
            <a:off x="3321558" y="4724400"/>
            <a:ext cx="1709966" cy="651510"/>
          </a:xfrm>
          <a:prstGeom prst="roundRect">
            <a:avLst>
              <a:gd name="adj" fmla="val 19649"/>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3477006" y="487099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50" name="TextBox 49"/>
          <p:cNvSpPr txBox="1"/>
          <p:nvPr/>
        </p:nvSpPr>
        <p:spPr>
          <a:xfrm>
            <a:off x="3954209" y="4834128"/>
            <a:ext cx="985876" cy="432054"/>
          </a:xfrm>
          <a:prstGeom prst="rect">
            <a:avLst/>
          </a:prstGeom>
          <a:noFill/>
        </p:spPr>
        <p:txBody>
          <a:bodyPr wrap="square" lIns="0" rIns="0" tIns="0" bIns="0" anchor="ctr">
            <a:noAutofit/>
          </a:bodyPr>
          <a:lstStyle/>
          <a:p>
            <a:pPr algn="l"/>
            <a:r>
              <a:rPr sz="1300" i="0">
                <a:solidFill>
                  <a:srgbClr val="07080C"/>
                </a:solidFill>
                <a:latin typeface="Segoe UI Semibold"/>
              </a:rPr>
              <a:t>Local embedder</a:t>
            </a:r>
          </a:p>
        </p:txBody>
      </p:sp>
      <p:sp>
        <p:nvSpPr>
          <p:cNvPr id="51" name="Rounded Rectangle 50"/>
          <p:cNvSpPr/>
          <p:nvPr/>
        </p:nvSpPr>
        <p:spPr>
          <a:xfrm>
            <a:off x="6140691" y="4724400"/>
            <a:ext cx="2264550" cy="651510"/>
          </a:xfrm>
          <a:prstGeom prst="roundRect">
            <a:avLst>
              <a:gd name="adj" fmla="val 19649"/>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296139" y="487099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53" name="TextBox 52"/>
          <p:cNvSpPr txBox="1"/>
          <p:nvPr/>
        </p:nvSpPr>
        <p:spPr>
          <a:xfrm>
            <a:off x="6773342" y="4834128"/>
            <a:ext cx="1540459" cy="432054"/>
          </a:xfrm>
          <a:prstGeom prst="rect">
            <a:avLst/>
          </a:prstGeom>
          <a:noFill/>
        </p:spPr>
        <p:txBody>
          <a:bodyPr wrap="square" lIns="0" rIns="0" tIns="0" bIns="0" anchor="ctr">
            <a:noAutofit/>
          </a:bodyPr>
          <a:lstStyle/>
          <a:p>
            <a:pPr algn="l"/>
            <a:r>
              <a:rPr sz="1300" i="0">
                <a:solidFill>
                  <a:srgbClr val="07080C"/>
                </a:solidFill>
                <a:latin typeface="Segoe UI Semibold"/>
              </a:rPr>
              <a:t>Local retrieval index</a:t>
            </a:r>
          </a:p>
        </p:txBody>
      </p:sp>
      <p:sp>
        <p:nvSpPr>
          <p:cNvPr id="54" name="TextBox 53"/>
          <p:cNvSpPr txBox="1"/>
          <p:nvPr/>
        </p:nvSpPr>
        <p:spPr>
          <a:xfrm>
            <a:off x="9052255" y="5520690"/>
            <a:ext cx="2356980" cy="253365"/>
          </a:xfrm>
          <a:prstGeom prst="rect">
            <a:avLst/>
          </a:prstGeom>
          <a:noFill/>
        </p:spPr>
        <p:txBody>
          <a:bodyPr wrap="square" lIns="0" rIns="0" tIns="0" bIns="0" anchor="t">
            <a:noAutofit/>
          </a:bodyPr>
          <a:lstStyle/>
          <a:p>
            <a:pPr algn="l"/>
            <a:r>
              <a:rPr sz="1400" i="0">
                <a:solidFill>
                  <a:srgbClr val="5A6276"/>
                </a:solidFill>
                <a:latin typeface="Segoe UI"/>
              </a:rPr>
              <a:t>Otherwise stay local</a:t>
            </a:r>
          </a:p>
        </p:txBody>
      </p:sp>
      <p:sp>
        <p:nvSpPr>
          <p:cNvPr id="55" name="TextBox 54"/>
          <p:cNvSpPr txBox="1"/>
          <p:nvPr/>
        </p:nvSpPr>
        <p:spPr>
          <a:xfrm>
            <a:off x="918362" y="5520690"/>
            <a:ext cx="3142640" cy="253365"/>
          </a:xfrm>
          <a:prstGeom prst="rect">
            <a:avLst/>
          </a:prstGeom>
          <a:noFill/>
        </p:spPr>
        <p:txBody>
          <a:bodyPr wrap="square" lIns="0" rIns="0" tIns="0" bIns="0" anchor="t">
            <a:noAutofit/>
          </a:bodyPr>
          <a:lstStyle/>
          <a:p>
            <a:pPr algn="l"/>
            <a:r>
              <a:rPr sz="1400" i="0">
                <a:solidFill>
                  <a:srgbClr val="5A6276"/>
                </a:solidFill>
                <a:latin typeface="Segoe UI"/>
              </a:rPr>
              <a:t>CAD/PLM and source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Validate The Developer Loop</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Treat generation as a reviewed draft, then measure the developer experience.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10</a:t>
            </a:r>
          </a:p>
        </p:txBody>
      </p:sp>
      <p:sp>
        <p:nvSpPr>
          <p:cNvPr id="9" name="Rounded Rectangle 8"/>
          <p:cNvSpPr/>
          <p:nvPr/>
        </p:nvSpPr>
        <p:spPr>
          <a:xfrm>
            <a:off x="548640" y="2583180"/>
            <a:ext cx="1815998" cy="3291840"/>
          </a:xfrm>
          <a:prstGeom prst="roundRect">
            <a:avLst>
              <a:gd name="adj" fmla="val 7049"/>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99439" y="2125980"/>
            <a:ext cx="914400" cy="914400"/>
          </a:xfrm>
          <a:prstGeom prst="ellipse">
            <a:avLst/>
          </a:prstGeom>
          <a:solidFill>
            <a:srgbClr val="76B900"/>
          </a:solidFill>
          <a:ln>
            <a:noFill/>
          </a:ln>
          <a:effectLst>
            <a:glow rad="1270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27455"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2" name="TextBox 11"/>
          <p:cNvSpPr txBox="1"/>
          <p:nvPr/>
        </p:nvSpPr>
        <p:spPr>
          <a:xfrm>
            <a:off x="731520" y="3150108"/>
            <a:ext cx="1450238" cy="274320"/>
          </a:xfrm>
          <a:prstGeom prst="rect">
            <a:avLst/>
          </a:prstGeom>
          <a:noFill/>
        </p:spPr>
        <p:txBody>
          <a:bodyPr wrap="square" lIns="0" rIns="0" tIns="0" bIns="0" anchor="t">
            <a:noAutofit/>
          </a:bodyPr>
          <a:lstStyle/>
          <a:p>
            <a:pPr algn="ctr"/>
            <a:r>
              <a:rPr sz="1200" i="0">
                <a:solidFill>
                  <a:srgbClr val="76B900"/>
                </a:solidFill>
                <a:latin typeface="Segoe UI Semibold"/>
              </a:rPr>
              <a:t>01</a:t>
            </a:r>
          </a:p>
        </p:txBody>
      </p:sp>
      <p:sp>
        <p:nvSpPr>
          <p:cNvPr id="13" name="TextBox 12"/>
          <p:cNvSpPr txBox="1"/>
          <p:nvPr/>
        </p:nvSpPr>
        <p:spPr>
          <a:xfrm>
            <a:off x="713232"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Ask locally</a:t>
            </a:r>
          </a:p>
        </p:txBody>
      </p:sp>
      <p:sp>
        <p:nvSpPr>
          <p:cNvPr id="14" name="TextBox 13"/>
          <p:cNvSpPr txBox="1"/>
          <p:nvPr/>
        </p:nvSpPr>
        <p:spPr>
          <a:xfrm>
            <a:off x="731520" y="4366260"/>
            <a:ext cx="1450238" cy="1371600"/>
          </a:xfrm>
          <a:prstGeom prst="rect">
            <a:avLst/>
          </a:prstGeom>
          <a:noFill/>
        </p:spPr>
        <p:txBody>
          <a:bodyPr wrap="square" lIns="0" rIns="0" tIns="0" bIns="0" anchor="t">
            <a:noAutofit/>
          </a:bodyPr>
          <a:lstStyle/>
          <a:p>
            <a:pPr algn="ctr"/>
            <a:r>
              <a:rPr sz="1300" i="0">
                <a:solidFill>
                  <a:srgbClr val="AEB6C8"/>
                </a:solidFill>
                <a:latin typeface="Segoe UI"/>
              </a:rPr>
              <a:t>Request code generation or internal-document answers</a:t>
            </a:r>
          </a:p>
        </p:txBody>
      </p:sp>
      <p:sp>
        <p:nvSpPr>
          <p:cNvPr id="15" name="Chevron 14"/>
          <p:cNvSpPr/>
          <p:nvPr/>
        </p:nvSpPr>
        <p:spPr>
          <a:xfrm>
            <a:off x="2501798"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867558" y="2583180"/>
            <a:ext cx="1815998" cy="3291840"/>
          </a:xfrm>
          <a:prstGeom prst="roundRect">
            <a:avLst>
              <a:gd name="adj" fmla="val 7049"/>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318358" y="2125980"/>
            <a:ext cx="914400" cy="914400"/>
          </a:xfrm>
          <a:prstGeom prst="ellipse">
            <a:avLst/>
          </a:prstGeom>
          <a:solidFill>
            <a:srgbClr val="3DA9FC"/>
          </a:solidFill>
          <a:ln>
            <a:noFill/>
          </a:ln>
          <a:effectLst>
            <a:glow rad="127000">
              <a:srgbClr val="3DA9FC">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446374"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9" name="TextBox 18"/>
          <p:cNvSpPr txBox="1"/>
          <p:nvPr/>
        </p:nvSpPr>
        <p:spPr>
          <a:xfrm>
            <a:off x="3050438" y="3150108"/>
            <a:ext cx="1450238" cy="274320"/>
          </a:xfrm>
          <a:prstGeom prst="rect">
            <a:avLst/>
          </a:prstGeom>
          <a:noFill/>
        </p:spPr>
        <p:txBody>
          <a:bodyPr wrap="square" lIns="0" rIns="0" tIns="0" bIns="0" anchor="t">
            <a:noAutofit/>
          </a:bodyPr>
          <a:lstStyle/>
          <a:p>
            <a:pPr algn="ctr"/>
            <a:r>
              <a:rPr sz="1200" i="0">
                <a:solidFill>
                  <a:srgbClr val="3DA9FC"/>
                </a:solidFill>
                <a:latin typeface="Segoe UI Semibold"/>
              </a:rPr>
              <a:t>02</a:t>
            </a:r>
          </a:p>
        </p:txBody>
      </p:sp>
      <p:sp>
        <p:nvSpPr>
          <p:cNvPr id="20" name="TextBox 19"/>
          <p:cNvSpPr txBox="1"/>
          <p:nvPr/>
        </p:nvSpPr>
        <p:spPr>
          <a:xfrm>
            <a:off x="3032150"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Retrieve context</a:t>
            </a:r>
          </a:p>
        </p:txBody>
      </p:sp>
      <p:sp>
        <p:nvSpPr>
          <p:cNvPr id="21" name="TextBox 20"/>
          <p:cNvSpPr txBox="1"/>
          <p:nvPr/>
        </p:nvSpPr>
        <p:spPr>
          <a:xfrm>
            <a:off x="3050438"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Find approved engineering passages when relevant</a:t>
            </a:r>
          </a:p>
        </p:txBody>
      </p:sp>
      <p:sp>
        <p:nvSpPr>
          <p:cNvPr id="22" name="Chevron 21"/>
          <p:cNvSpPr/>
          <p:nvPr/>
        </p:nvSpPr>
        <p:spPr>
          <a:xfrm>
            <a:off x="4820717"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5186477" y="2583180"/>
            <a:ext cx="1815998" cy="3291840"/>
          </a:xfrm>
          <a:prstGeom prst="roundRect">
            <a:avLst>
              <a:gd name="adj" fmla="val 7049"/>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37276" y="2125980"/>
            <a:ext cx="914400" cy="914400"/>
          </a:xfrm>
          <a:prstGeom prst="ellipse">
            <a:avLst/>
          </a:prstGeom>
          <a:solidFill>
            <a:srgbClr val="9B6BFF"/>
          </a:solidFill>
          <a:ln>
            <a:noFill/>
          </a:ln>
          <a:effectLst>
            <a:glow rad="1270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26" name="TextBox 25"/>
          <p:cNvSpPr txBox="1"/>
          <p:nvPr/>
        </p:nvSpPr>
        <p:spPr>
          <a:xfrm>
            <a:off x="5369357" y="3150108"/>
            <a:ext cx="1450238" cy="274320"/>
          </a:xfrm>
          <a:prstGeom prst="rect">
            <a:avLst/>
          </a:prstGeom>
          <a:noFill/>
        </p:spPr>
        <p:txBody>
          <a:bodyPr wrap="square" lIns="0" rIns="0" tIns="0" bIns="0" anchor="t">
            <a:noAutofit/>
          </a:bodyPr>
          <a:lstStyle/>
          <a:p>
            <a:pPr algn="ctr"/>
            <a:r>
              <a:rPr sz="1200" i="0">
                <a:solidFill>
                  <a:srgbClr val="9B6BFF"/>
                </a:solidFill>
                <a:latin typeface="Segoe UI Semibold"/>
              </a:rPr>
              <a:t>03</a:t>
            </a:r>
          </a:p>
        </p:txBody>
      </p:sp>
      <p:sp>
        <p:nvSpPr>
          <p:cNvPr id="27" name="TextBox 26"/>
          <p:cNvSpPr txBox="1"/>
          <p:nvPr/>
        </p:nvSpPr>
        <p:spPr>
          <a:xfrm>
            <a:off x="5351069"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Draft response</a:t>
            </a:r>
          </a:p>
        </p:txBody>
      </p:sp>
      <p:sp>
        <p:nvSpPr>
          <p:cNvPr id="28" name="TextBox 27"/>
          <p:cNvSpPr txBox="1"/>
          <p:nvPr/>
        </p:nvSpPr>
        <p:spPr>
          <a:xfrm>
            <a:off x="5369357"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Generate code or answers using local inference</a:t>
            </a:r>
          </a:p>
        </p:txBody>
      </p:sp>
      <p:sp>
        <p:nvSpPr>
          <p:cNvPr id="29" name="Chevron 28"/>
          <p:cNvSpPr/>
          <p:nvPr/>
        </p:nvSpPr>
        <p:spPr>
          <a:xfrm>
            <a:off x="7139635"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505395" y="2583180"/>
            <a:ext cx="1815998" cy="3291840"/>
          </a:xfrm>
          <a:prstGeom prst="roundRect">
            <a:avLst>
              <a:gd name="adj" fmla="val 7049"/>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956194" y="2125980"/>
            <a:ext cx="914400" cy="914400"/>
          </a:xfrm>
          <a:prstGeom prst="ellipse">
            <a:avLst/>
          </a:prstGeom>
          <a:solidFill>
            <a:srgbClr val="FFB547"/>
          </a:solidFill>
          <a:ln>
            <a:noFill/>
          </a:ln>
          <a:effectLst>
            <a:glow rad="127000">
              <a:srgbClr val="FFB547">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84210"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33" name="TextBox 32"/>
          <p:cNvSpPr txBox="1"/>
          <p:nvPr/>
        </p:nvSpPr>
        <p:spPr>
          <a:xfrm>
            <a:off x="7688275" y="3150108"/>
            <a:ext cx="1450238" cy="274320"/>
          </a:xfrm>
          <a:prstGeom prst="rect">
            <a:avLst/>
          </a:prstGeom>
          <a:noFill/>
        </p:spPr>
        <p:txBody>
          <a:bodyPr wrap="square" lIns="0" rIns="0" tIns="0" bIns="0" anchor="t">
            <a:noAutofit/>
          </a:bodyPr>
          <a:lstStyle/>
          <a:p>
            <a:pPr algn="ctr"/>
            <a:r>
              <a:rPr sz="1200" i="0">
                <a:solidFill>
                  <a:srgbClr val="FFB547"/>
                </a:solidFill>
                <a:latin typeface="Segoe UI Semibold"/>
              </a:rPr>
              <a:t>04</a:t>
            </a:r>
          </a:p>
        </p:txBody>
      </p:sp>
      <p:sp>
        <p:nvSpPr>
          <p:cNvPr id="34" name="TextBox 33"/>
          <p:cNvSpPr txBox="1"/>
          <p:nvPr/>
        </p:nvSpPr>
        <p:spPr>
          <a:xfrm>
            <a:off x="7669987"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Review and test</a:t>
            </a:r>
          </a:p>
        </p:txBody>
      </p:sp>
      <p:sp>
        <p:nvSpPr>
          <p:cNvPr id="35" name="TextBox 34"/>
          <p:cNvSpPr txBox="1"/>
          <p:nvPr/>
        </p:nvSpPr>
        <p:spPr>
          <a:xfrm>
            <a:off x="7688275"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Inspect source evidence and run existing tests</a:t>
            </a:r>
          </a:p>
        </p:txBody>
      </p:sp>
      <p:sp>
        <p:nvSpPr>
          <p:cNvPr id="36" name="Chevron 35"/>
          <p:cNvSpPr/>
          <p:nvPr/>
        </p:nvSpPr>
        <p:spPr>
          <a:xfrm>
            <a:off x="9458554"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824314" y="2583180"/>
            <a:ext cx="1815998" cy="3291840"/>
          </a:xfrm>
          <a:prstGeom prst="roundRect">
            <a:avLst>
              <a:gd name="adj" fmla="val 7049"/>
            </a:avLst>
          </a:prstGeom>
          <a:solidFill>
            <a:srgbClr val="141824"/>
          </a:solidFill>
          <a:ln w="12700">
            <a:solidFill>
              <a:srgbClr val="8A3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75113" y="2125980"/>
            <a:ext cx="914400" cy="914400"/>
          </a:xfrm>
          <a:prstGeom prst="ellipse">
            <a:avLst/>
          </a:prstGeom>
          <a:solidFill>
            <a:srgbClr val="FF5D8F"/>
          </a:solidFill>
          <a:ln>
            <a:noFill/>
          </a:ln>
          <a:effectLst>
            <a:glow rad="127000">
              <a:srgbClr val="FF5D8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403129"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40" name="TextBox 39"/>
          <p:cNvSpPr txBox="1"/>
          <p:nvPr/>
        </p:nvSpPr>
        <p:spPr>
          <a:xfrm>
            <a:off x="10007194" y="3150108"/>
            <a:ext cx="1450238" cy="274320"/>
          </a:xfrm>
          <a:prstGeom prst="rect">
            <a:avLst/>
          </a:prstGeom>
          <a:noFill/>
        </p:spPr>
        <p:txBody>
          <a:bodyPr wrap="square" lIns="0" rIns="0" tIns="0" bIns="0" anchor="t">
            <a:noAutofit/>
          </a:bodyPr>
          <a:lstStyle/>
          <a:p>
            <a:pPr algn="ctr"/>
            <a:r>
              <a:rPr sz="1200" i="0">
                <a:solidFill>
                  <a:srgbClr val="FF5D8F"/>
                </a:solidFill>
                <a:latin typeface="Segoe UI Semibold"/>
              </a:rPr>
              <a:t>05</a:t>
            </a:r>
          </a:p>
        </p:txBody>
      </p:sp>
      <p:sp>
        <p:nvSpPr>
          <p:cNvPr id="41" name="TextBox 40"/>
          <p:cNvSpPr txBox="1"/>
          <p:nvPr/>
        </p:nvSpPr>
        <p:spPr>
          <a:xfrm>
            <a:off x="9988906"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Capture outcomes</a:t>
            </a:r>
          </a:p>
        </p:txBody>
      </p:sp>
      <p:sp>
        <p:nvSpPr>
          <p:cNvPr id="42" name="TextBox 41"/>
          <p:cNvSpPr txBox="1"/>
          <p:nvPr/>
        </p:nvSpPr>
        <p:spPr>
          <a:xfrm>
            <a:off x="10007194"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Measure acceptance, latency and developer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Made On The Device It Explains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Surface Laptop Ultra is both the platform and the demonstration.</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11</a:t>
            </a:r>
          </a:p>
        </p:txBody>
      </p:sp>
      <p:sp>
        <p:nvSpPr>
          <p:cNvPr id="9" name="Oval 8"/>
          <p:cNvSpPr/>
          <p:nvPr/>
        </p:nvSpPr>
        <p:spPr>
          <a:xfrm>
            <a:off x="5500116" y="1920240"/>
            <a:ext cx="1188720" cy="1188720"/>
          </a:xfrm>
          <a:prstGeom prst="ellipse">
            <a:avLst/>
          </a:prstGeom>
          <a:solidFill>
            <a:srgbClr val="76B900"/>
          </a:solidFill>
          <a:ln>
            <a:noFill/>
          </a:ln>
          <a:effectLst>
            <a:glow rad="2286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6537" y="2086661"/>
            <a:ext cx="855878" cy="855878"/>
          </a:xfrm>
          <a:prstGeom prst="rect">
            <a:avLst/>
          </a:prstGeom>
          <a:noFill/>
        </p:spPr>
        <p:txBody>
          <a:bodyPr wrap="none" lIns="0" rIns="0" tIns="0" bIns="0" anchor="ctr">
            <a:spAutoFit/>
          </a:bodyPr>
          <a:lstStyle/>
          <a:p>
            <a:pPr algn="ctr"/>
            <a:r>
              <a:rPr sz="4178">
                <a:solidFill>
                  <a:srgbClr val="07080C"/>
                </a:solidFill>
                <a:latin typeface="Segoe Fluent Icons"/>
              </a:rPr>
              <a:t></a:t>
            </a:r>
          </a:p>
        </p:txBody>
      </p:sp>
      <p:sp>
        <p:nvSpPr>
          <p:cNvPr id="11" name="TextBox 10"/>
          <p:cNvSpPr txBox="1"/>
          <p:nvPr/>
        </p:nvSpPr>
        <p:spPr>
          <a:xfrm>
            <a:off x="1280160" y="3337560"/>
            <a:ext cx="9628632" cy="1645920"/>
          </a:xfrm>
          <a:prstGeom prst="rect">
            <a:avLst/>
          </a:prstGeom>
          <a:noFill/>
        </p:spPr>
        <p:txBody>
          <a:bodyPr wrap="square" lIns="0" rIns="0" tIns="0" bIns="0" anchor="ctr">
            <a:noAutofit/>
          </a:bodyPr>
          <a:lstStyle/>
          <a:p>
            <a:pPr algn="ctr"/>
            <a:r>
              <a:rPr sz="4000" i="0">
                <a:solidFill>
                  <a:srgbClr val="F4F6FA"/>
                </a:solidFill>
                <a:latin typeface="Segoe UI Semibold"/>
              </a:rPr>
              <a:t>Generated on this device</a:t>
            </a:r>
          </a:p>
        </p:txBody>
      </p:sp>
      <p:sp>
        <p:nvSpPr>
          <p:cNvPr id="12" name="TextBox 11"/>
          <p:cNvSpPr txBox="1"/>
          <p:nvPr/>
        </p:nvSpPr>
        <p:spPr>
          <a:xfrm>
            <a:off x="1920240" y="5074920"/>
            <a:ext cx="8348472" cy="822960"/>
          </a:xfrm>
          <a:prstGeom prst="rect">
            <a:avLst/>
          </a:prstGeom>
          <a:noFill/>
        </p:spPr>
        <p:txBody>
          <a:bodyPr wrap="square" lIns="0" rIns="0" tIns="0" bIns="0" anchor="t">
            <a:noAutofit/>
          </a:bodyPr>
          <a:lstStyle/>
          <a:p>
            <a:pPr algn="ctr"/>
            <a:r>
              <a:rPr sz="1800" i="0">
                <a:solidFill>
                  <a:srgbClr val="AEB6C8"/>
                </a:solidFill>
                <a:latin typeface="Segoe UI"/>
              </a:rPr>
              <a:t>Qwen3-Coder 30B through llama.cpp; no cloud calls.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Approve Zava's Local AI Pilot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Start with 10 developers for 2 weeks; expand only on measured evidence.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12</a:t>
            </a:r>
          </a:p>
        </p:txBody>
      </p:sp>
      <p:sp>
        <p:nvSpPr>
          <p:cNvPr id="9" name="Rounded Rectangle 8"/>
          <p:cNvSpPr/>
          <p:nvPr/>
        </p:nvSpPr>
        <p:spPr>
          <a:xfrm>
            <a:off x="548640" y="1828800"/>
            <a:ext cx="3514344" cy="2926080"/>
          </a:xfrm>
          <a:prstGeom prst="roundRect">
            <a:avLst>
              <a:gd name="adj" fmla="val 4375"/>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103120"/>
            <a:ext cx="640080" cy="640080"/>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1</a:t>
            </a:r>
          </a:p>
        </p:txBody>
      </p:sp>
      <p:sp>
        <p:nvSpPr>
          <p:cNvPr id="12" name="TextBox 11"/>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76B900"/>
                </a:solidFill>
                <a:latin typeface="Segoe Fluent Icons"/>
              </a:rPr>
              <a:t></a:t>
            </a:r>
          </a:p>
        </p:txBody>
      </p:sp>
      <p:sp>
        <p:nvSpPr>
          <p:cNvPr id="13" name="TextBox 12"/>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Select pilot team</a:t>
            </a:r>
          </a:p>
        </p:txBody>
      </p:sp>
      <p:sp>
        <p:nvSpPr>
          <p:cNvPr id="14" name="TextBox 13"/>
          <p:cNvSpPr txBox="1"/>
          <p:nvPr/>
        </p:nvSpPr>
        <p:spPr>
          <a:xfrm>
            <a:off x="822960"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10 developers covering coding and document retrieval</a:t>
            </a:r>
          </a:p>
        </p:txBody>
      </p:sp>
      <p:sp>
        <p:nvSpPr>
          <p:cNvPr id="15" name="Rounded Rectangle 14"/>
          <p:cNvSpPr/>
          <p:nvPr/>
        </p:nvSpPr>
        <p:spPr>
          <a:xfrm>
            <a:off x="4337304" y="1828800"/>
            <a:ext cx="3514344" cy="2926080"/>
          </a:xfrm>
          <a:prstGeom prst="roundRect">
            <a:avLst>
              <a:gd name="adj" fmla="val 4375"/>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11624" y="2103120"/>
            <a:ext cx="640080" cy="640080"/>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2</a:t>
            </a:r>
          </a:p>
        </p:txBody>
      </p:sp>
      <p:sp>
        <p:nvSpPr>
          <p:cNvPr id="18" name="TextBox 17"/>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3DA9FC"/>
                </a:solidFill>
                <a:latin typeface="Segoe Fluent Icons"/>
              </a:rPr>
              <a:t></a:t>
            </a:r>
          </a:p>
        </p:txBody>
      </p:sp>
      <p:sp>
        <p:nvSpPr>
          <p:cNvPr id="19" name="TextBox 18"/>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Run real tasks</a:t>
            </a:r>
          </a:p>
        </p:txBody>
      </p:sp>
      <p:sp>
        <p:nvSpPr>
          <p:cNvPr id="20" name="TextBox 19"/>
          <p:cNvSpPr txBox="1"/>
          <p:nvPr/>
        </p:nvSpPr>
        <p:spPr>
          <a:xfrm>
            <a:off x="4611624"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2 weeks using approved code and engineering documents</a:t>
            </a:r>
          </a:p>
        </p:txBody>
      </p:sp>
      <p:sp>
        <p:nvSpPr>
          <p:cNvPr id="21" name="Rounded Rectangle 20"/>
          <p:cNvSpPr/>
          <p:nvPr/>
        </p:nvSpPr>
        <p:spPr>
          <a:xfrm>
            <a:off x="8125968" y="1828800"/>
            <a:ext cx="3514344" cy="2926080"/>
          </a:xfrm>
          <a:prstGeom prst="roundRect">
            <a:avLst>
              <a:gd name="adj" fmla="val 4375"/>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400288" y="2103120"/>
            <a:ext cx="640080" cy="640080"/>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3</a:t>
            </a:r>
          </a:p>
        </p:txBody>
      </p:sp>
      <p:sp>
        <p:nvSpPr>
          <p:cNvPr id="24" name="TextBox 23"/>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9B6BFF"/>
                </a:solidFill>
                <a:latin typeface="Segoe Fluent Icons"/>
              </a:rPr>
              <a:t></a:t>
            </a:r>
          </a:p>
        </p:txBody>
      </p:sp>
      <p:sp>
        <p:nvSpPr>
          <p:cNvPr id="25" name="TextBox 24"/>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Review evidence</a:t>
            </a:r>
          </a:p>
        </p:txBody>
      </p:sp>
      <p:sp>
        <p:nvSpPr>
          <p:cNvPr id="26" name="TextBox 25"/>
          <p:cNvSpPr txBox="1"/>
          <p:nvPr/>
        </p:nvSpPr>
        <p:spPr>
          <a:xfrm>
            <a:off x="8400288"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Acceptance rate, latency and developer experience</a:t>
            </a:r>
          </a:p>
        </p:txBody>
      </p:sp>
      <p:sp>
        <p:nvSpPr>
          <p:cNvPr id="27" name="Rounded Rectangle 26"/>
          <p:cNvSpPr/>
          <p:nvPr/>
        </p:nvSpPr>
        <p:spPr>
          <a:xfrm>
            <a:off x="548640" y="5029200"/>
            <a:ext cx="11091672" cy="1143000"/>
          </a:xfrm>
          <a:prstGeom prst="roundRect">
            <a:avLst>
              <a:gd name="adj" fmla="val 11200"/>
            </a:avLst>
          </a:prstGeom>
          <a:gradFill rotWithShape="1">
            <a:gsLst>
              <a:gs pos="0">
                <a:srgbClr val="76B900"/>
              </a:gs>
              <a:gs pos="100000">
                <a:srgbClr val="54AF97"/>
              </a:gs>
            </a:gsLst>
            <a:lin scaled="0" ang="0"/>
          </a:gradFill>
          <a:ln>
            <a:noFill/>
          </a:ln>
          <a:effectLst>
            <a:glow rad="1778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29" name="TextBox 28"/>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07080C"/>
                </a:solidFill>
                <a:latin typeface="Segoe UI Semibold"/>
              </a:rPr>
              <a:t>Approve the 10-developer, 2-week technical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Zava's Local AI Developer Stack</dc:title>
  <dc:subject/>
  <dc:creator>Offline PPTX Forge</dc:creator>
  <cp:keywords/>
  <dc:description>Generated offline; template=surface_ultra</dc:description>
  <cp:lastModifiedBy>Steve Canny</cp:lastModifiedBy>
  <cp:revision>1</cp:revision>
  <dcterms:created xsi:type="dcterms:W3CDTF">2013-01-27T09:14:16Z</dcterms:created>
  <dcterms:modified xsi:type="dcterms:W3CDTF">2013-01-27T09:15:58Z</dcterms:modified>
  <cp:category/>
</cp:coreProperties>
</file>