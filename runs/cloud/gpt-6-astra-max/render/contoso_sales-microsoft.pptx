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B3B3B3"/>
            </a:solidFill>
          </c:spPr>
          <c:dPt>
            <c:idx val="1"/>
            <c:spPr>
              <a:solidFill>
                <a:srgbClr val="0078D4"/>
              </a:solidFill>
            </c:spPr>
          </c:dPt>
          <c:cat>
            <c:strRef>
              <c:f>Sheet1!$A$2:$A$3</c:f>
              <c:strCache>
                <c:ptCount val="2"/>
                <c:pt idx="0">
                  <c:v>Gemma 4 26B</c:v>
                </c:pt>
                <c:pt idx="1">
                  <c:v>Qwen3-Coder 30B</c:v>
                </c:pt>
              </c:strCache>
            </c:strRef>
          </c:cat>
          <c:val>
            <c:numRef>
              <c:f>Sheet1!$B$2:$B$3</c:f>
              <c:numCache>
                <c:formatCode>General</c:formatCode>
                <c:ptCount val="2"/>
                <c:pt idx="0">
                  <c:v>72.0</c:v>
                </c:pt>
                <c:pt idx="1">
                  <c:v>86.0</c:v>
                </c:pt>
              </c:numCache>
            </c:numRef>
          </c:val>
        </c:ser>
        <c:dLbls>
          <c:numFmt formatCode="#,##0&quot; tokens per second&quot;" sourceLinked="0"/>
          <c:txPr>
            <a:bodyPr/>
            <a:lstStyle/>
            <a:p>
              <a:pPr>
                <a:defRPr sz="1500" b="1">
                  <a:solidFill>
                    <a:srgbClr val="1B1B1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1B1B1B"/>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1B1B1B"/>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Approve a 10-user, 2-week pilot of Surface Laptop Ultra with NVIDIA RTX Spark for traveling consultants. The opportunity is sensitive, repeated drafting from interview notes and site documents. Microsoft 365 Copilot stays in place. We will measure task time, draft quality and user experience before making a broader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Contoso has 4,000 employees, including 1,200 traveling consultants. Each writes about 6 client summaries weekly, taking about 25 minutes to draft each. About 30% of client sites restrict guest Wi-Fi. Sensitive interview notes and site documents make the processing location important, alongside the time spent drafting.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portable office: the assistant and selected working papers travel together on the laptop. Stage the required model and approved files before leaving. The intended local drafting path keeps processing on-device. The pilot validates disconnected use and checks the actual data path before broader adoption.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addition, not a migration. Keep Microsoft 365 Copilot and existing subscriptions. Use the local lane for sensitive, repeated drafting from selected local materials. Cloud-connected work remains in established workflows. The pilot tests whether the added lane is useful, without assuming financial or licensing benefits.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local boundary contains selected files, prompts, the drafting app, its open model and draft review. NVIDIA RTX Spark supplies local compute. Microsoft 365 Copilot remains a separate companion lane; the diagram does not imply automatic document transfer. Validate the configuration, data handling and disconnected use during the 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device is Surface Laptop Ultra with NVIDIA RTX Spark, a Blackwell RTX GPU, 20 CPU cores and 128 GB installed memory. Its local catalog contains 28 open models. Hardware establishes the test platform; it does not prove draft quality, battery life or time savings.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figures measure text-generation throughput, not completed summaries. Local-AI-Bench, October 2026, reports about 72 tokens per second for Gemma 4 26B and 86 for Qwen3-Coder 30B, single stream on this device. They do not establish draft quality or model suitability; the pilot tests practical outcomes.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the assistant like a junior writer with a source packet, not a source of truth. It can propose a draft, but the consultant checks source fidelity, omissions, confidentiality and tone before sharing. Draft-quality review is part of the pilot; fast output alone is not success.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brief's illustrative annualization uses 1,200 consultants, 6 summaries weekly, a hypothetical 5 minutes saved per summary and 46 working weeks to estimate 27,600 hours annually. This is unvalidated capacity, not a financial claim or commitment. Measure the real task-time difference and preserve draft quality before considering any extrapolation.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representative interview notes and site documents that Contoso authorizes. Compare the current workflow with local-assisted drafting on matched tasks. Include review time, judge source fidelity and capture user feedback. Validate disconnected use and local data handling. Keep Microsoft 365 Copilot available for its existing role throughout the pilot.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ownership: the CIO validates the local configuration and data handling; the Consulting lead selects representative work and assesses quality; the COO reviews task-time and experience findings. After 2 weeks, sponsors decide whether to expand, adjust or stop. No rollout or benefit is assumed before evidence is reviewed.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Approve a 10-user, 2-week pilot of Surface Laptop Ultra with NVIDIA RTX Spark for local drafting alongside Microsoft 365 Copilot. Confirm authorized client materials and the scorecard before launch. Bring task-time, draft-quality, user-experience and disconnected-use evidence back to the sponsors for the next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155448" cy="155448"/>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2960" y="566928"/>
            <a:ext cx="155448" cy="155448"/>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40080" y="749808"/>
            <a:ext cx="155448" cy="155448"/>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22960" y="749808"/>
            <a:ext cx="155448" cy="15544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530352"/>
            <a:ext cx="2743200" cy="384048"/>
          </a:xfrm>
          <a:prstGeom prst="rect">
            <a:avLst/>
          </a:prstGeom>
          <a:noFill/>
        </p:spPr>
        <p:txBody>
          <a:bodyPr wrap="square" lIns="0" rIns="0" tIns="0" bIns="0" anchor="ctr">
            <a:noAutofit/>
          </a:bodyPr>
          <a:lstStyle/>
          <a:p>
            <a:pPr algn="l"/>
            <a:r>
              <a:rPr sz="1900" i="0">
                <a:solidFill>
                  <a:srgbClr val="737373"/>
                </a:solidFill>
                <a:latin typeface="Segoe UI Semibold"/>
              </a:rPr>
              <a:t>Microsoft</a:t>
            </a:r>
          </a:p>
        </p:txBody>
      </p:sp>
      <p:sp>
        <p:nvSpPr>
          <p:cNvPr id="7" name="Rectangle 6"/>
          <p:cNvSpPr/>
          <p:nvPr/>
        </p:nvSpPr>
        <p:spPr>
          <a:xfrm>
            <a:off x="8001000" y="1600200"/>
            <a:ext cx="1600200" cy="1600200"/>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01050"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9" name="Rectangle 8"/>
          <p:cNvSpPr/>
          <p:nvPr/>
        </p:nvSpPr>
        <p:spPr>
          <a:xfrm>
            <a:off x="9747504" y="1600200"/>
            <a:ext cx="1600200" cy="1600200"/>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47554"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1" name="Rectangle 10"/>
          <p:cNvSpPr/>
          <p:nvPr/>
        </p:nvSpPr>
        <p:spPr>
          <a:xfrm>
            <a:off x="8001000" y="3346704"/>
            <a:ext cx="1600200" cy="160020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01050"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3" name="Rectangle 12"/>
          <p:cNvSpPr/>
          <p:nvPr/>
        </p:nvSpPr>
        <p:spPr>
          <a:xfrm>
            <a:off x="9747504" y="3346704"/>
            <a:ext cx="1600200" cy="160020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7554"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5" name="TextBox 14"/>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0078D4"/>
                </a:solidFill>
                <a:latin typeface="Segoe UI Semibold"/>
              </a:rPr>
              <a:t>CONTOSO PILOT PROPOSAL</a:t>
            </a:r>
          </a:p>
        </p:txBody>
      </p:sp>
      <p:sp>
        <p:nvSpPr>
          <p:cNvPr id="16" name="TextBox 15"/>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1B1B1B"/>
                </a:solidFill>
                <a:latin typeface="Segoe UI Semibold"/>
              </a:rPr>
              <a:t>A Local AI Lane for Contoso</a:t>
            </a:r>
          </a:p>
        </p:txBody>
      </p:sp>
      <p:sp>
        <p:nvSpPr>
          <p:cNvPr id="17" name="TextBox 16"/>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505050"/>
                </a:solidFill>
                <a:latin typeface="Segoe UI"/>
              </a:rPr>
              <a:t>Local drafting alongside Microsoft 365 Copilot</a:t>
            </a:r>
          </a:p>
        </p:txBody>
      </p:sp>
      <p:sp>
        <p:nvSpPr>
          <p:cNvPr id="18" name="TextBox 17"/>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8A8A8A"/>
                </a:solidFill>
                <a:latin typeface="Segoe UI"/>
              </a:rPr>
              <a:t>Microsoft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The Road Creates Drafting Friction</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Repeated summaries and restricted Wi-Fi make local drafting worth testing.</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2</a:t>
            </a:r>
          </a:p>
        </p:txBody>
      </p:sp>
      <p:sp>
        <p:nvSpPr>
          <p:cNvPr id="10" name="Rounded Rectangle 9"/>
          <p:cNvSpPr/>
          <p:nvPr/>
        </p:nvSpPr>
        <p:spPr>
          <a:xfrm>
            <a:off x="548640"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2532888"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1984248" cy="1234440"/>
          </a:xfrm>
          <a:prstGeom prst="rect">
            <a:avLst/>
          </a:prstGeom>
          <a:noFill/>
        </p:spPr>
        <p:txBody>
          <a:bodyPr wrap="square" lIns="0" rIns="0" tIns="0" bIns="0" anchor="ctr">
            <a:noAutofit/>
          </a:bodyPr>
          <a:lstStyle/>
          <a:p>
            <a:pPr algn="l"/>
            <a:r>
              <a:rPr sz="6000" i="0">
                <a:solidFill>
                  <a:srgbClr val="0078D4"/>
                </a:solidFill>
                <a:latin typeface="Segoe UI Semibold"/>
              </a:rPr>
              <a:t>1,200</a:t>
            </a:r>
          </a:p>
        </p:txBody>
      </p:sp>
      <p:sp>
        <p:nvSpPr>
          <p:cNvPr id="15" name="TextBox 14"/>
          <p:cNvSpPr txBox="1"/>
          <p:nvPr/>
        </p:nvSpPr>
        <p:spPr>
          <a:xfrm>
            <a:off x="822960"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Traveling consultants</a:t>
            </a:r>
          </a:p>
        </p:txBody>
      </p:sp>
      <p:sp>
        <p:nvSpPr>
          <p:cNvPr id="16" name="TextBox 15"/>
          <p:cNvSpPr txBox="1"/>
          <p:nvPr/>
        </p:nvSpPr>
        <p:spPr>
          <a:xfrm>
            <a:off x="822960"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a:t>
            </a:r>
          </a:p>
        </p:txBody>
      </p:sp>
      <p:sp>
        <p:nvSpPr>
          <p:cNvPr id="17" name="Rounded Rectangle 16"/>
          <p:cNvSpPr/>
          <p:nvPr/>
        </p:nvSpPr>
        <p:spPr>
          <a:xfrm>
            <a:off x="3401568"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401568" y="2217420"/>
            <a:ext cx="2532888"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685032"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784884"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3675888" y="3406140"/>
            <a:ext cx="1984248" cy="1234440"/>
          </a:xfrm>
          <a:prstGeom prst="rect">
            <a:avLst/>
          </a:prstGeom>
          <a:noFill/>
        </p:spPr>
        <p:txBody>
          <a:bodyPr wrap="square" lIns="0" rIns="0" tIns="0" bIns="0" anchor="ctr">
            <a:noAutofit/>
          </a:bodyPr>
          <a:lstStyle/>
          <a:p>
            <a:pPr algn="l"/>
            <a:r>
              <a:rPr sz="6000" i="0">
                <a:solidFill>
                  <a:srgbClr val="107C10"/>
                </a:solidFill>
                <a:latin typeface="Segoe UI Semibold"/>
              </a:rPr>
              <a:t>~6</a:t>
            </a:r>
          </a:p>
        </p:txBody>
      </p:sp>
      <p:sp>
        <p:nvSpPr>
          <p:cNvPr id="22" name="TextBox 21"/>
          <p:cNvSpPr txBox="1"/>
          <p:nvPr/>
        </p:nvSpPr>
        <p:spPr>
          <a:xfrm>
            <a:off x="3675888"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Weekly summaries per consultant</a:t>
            </a:r>
          </a:p>
        </p:txBody>
      </p:sp>
      <p:sp>
        <p:nvSpPr>
          <p:cNvPr id="23" name="TextBox 22"/>
          <p:cNvSpPr txBox="1"/>
          <p:nvPr/>
        </p:nvSpPr>
        <p:spPr>
          <a:xfrm>
            <a:off x="3675888"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 approximate</a:t>
            </a:r>
          </a:p>
        </p:txBody>
      </p:sp>
      <p:sp>
        <p:nvSpPr>
          <p:cNvPr id="24" name="Rounded Rectangle 23"/>
          <p:cNvSpPr/>
          <p:nvPr/>
        </p:nvSpPr>
        <p:spPr>
          <a:xfrm>
            <a:off x="6254496"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54496" y="2217420"/>
            <a:ext cx="2532888" cy="82296"/>
          </a:xfrm>
          <a:prstGeom prst="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37960" y="2546604"/>
            <a:ext cx="713232" cy="713232"/>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8" name="TextBox 27"/>
          <p:cNvSpPr txBox="1"/>
          <p:nvPr/>
        </p:nvSpPr>
        <p:spPr>
          <a:xfrm>
            <a:off x="6528816" y="3406140"/>
            <a:ext cx="1984248" cy="1234440"/>
          </a:xfrm>
          <a:prstGeom prst="rect">
            <a:avLst/>
          </a:prstGeom>
          <a:noFill/>
        </p:spPr>
        <p:txBody>
          <a:bodyPr wrap="square" lIns="0" rIns="0" tIns="0" bIns="0" anchor="ctr">
            <a:noAutofit/>
          </a:bodyPr>
          <a:lstStyle/>
          <a:p>
            <a:pPr algn="l"/>
            <a:r>
              <a:rPr sz="6000" i="0">
                <a:solidFill>
                  <a:srgbClr val="D83B01"/>
                </a:solidFill>
                <a:latin typeface="Segoe UI Semibold"/>
              </a:rPr>
              <a:t>~25</a:t>
            </a:r>
          </a:p>
        </p:txBody>
      </p:sp>
      <p:sp>
        <p:nvSpPr>
          <p:cNvPr id="29" name="TextBox 28"/>
          <p:cNvSpPr txBox="1"/>
          <p:nvPr/>
        </p:nvSpPr>
        <p:spPr>
          <a:xfrm>
            <a:off x="6528816"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Minutes per draft</a:t>
            </a:r>
          </a:p>
        </p:txBody>
      </p:sp>
      <p:sp>
        <p:nvSpPr>
          <p:cNvPr id="30" name="TextBox 29"/>
          <p:cNvSpPr txBox="1"/>
          <p:nvPr/>
        </p:nvSpPr>
        <p:spPr>
          <a:xfrm>
            <a:off x="6528816"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 current baseline</a:t>
            </a:r>
          </a:p>
        </p:txBody>
      </p:sp>
      <p:sp>
        <p:nvSpPr>
          <p:cNvPr id="31" name="Rounded Rectangle 30"/>
          <p:cNvSpPr/>
          <p:nvPr/>
        </p:nvSpPr>
        <p:spPr>
          <a:xfrm>
            <a:off x="9107424"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107424" y="2217420"/>
            <a:ext cx="2532888"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390888" y="2546604"/>
            <a:ext cx="713232" cy="713232"/>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90740"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35" name="TextBox 34"/>
          <p:cNvSpPr txBox="1"/>
          <p:nvPr/>
        </p:nvSpPr>
        <p:spPr>
          <a:xfrm>
            <a:off x="9381744" y="3406140"/>
            <a:ext cx="1984248" cy="1234440"/>
          </a:xfrm>
          <a:prstGeom prst="rect">
            <a:avLst/>
          </a:prstGeom>
          <a:noFill/>
        </p:spPr>
        <p:txBody>
          <a:bodyPr wrap="square" lIns="0" rIns="0" tIns="0" bIns="0" anchor="ctr">
            <a:noAutofit/>
          </a:bodyPr>
          <a:lstStyle/>
          <a:p>
            <a:pPr algn="l"/>
            <a:r>
              <a:rPr sz="5800" i="0">
                <a:solidFill>
                  <a:srgbClr val="1B1B1B"/>
                </a:solidFill>
                <a:latin typeface="Segoe UI Semibold"/>
              </a:rPr>
              <a:t>~30%</a:t>
            </a:r>
          </a:p>
        </p:txBody>
      </p:sp>
      <p:sp>
        <p:nvSpPr>
          <p:cNvPr id="36" name="TextBox 35"/>
          <p:cNvSpPr txBox="1"/>
          <p:nvPr/>
        </p:nvSpPr>
        <p:spPr>
          <a:xfrm>
            <a:off x="9381744"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Sites restricting guest Wi-Fi</a:t>
            </a:r>
          </a:p>
        </p:txBody>
      </p:sp>
      <p:sp>
        <p:nvSpPr>
          <p:cNvPr id="37" name="TextBox 36"/>
          <p:cNvSpPr txBox="1"/>
          <p:nvPr/>
        </p:nvSpPr>
        <p:spPr>
          <a:xfrm>
            <a:off x="9381744"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 approximate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An Office That Travels With You</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Bring drafting to the documents; validate disconnected use during the pilot.</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3</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Local AI lane</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Portable office</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Local model</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Drafting assistant</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Selected local files</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Working papers</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On-device processing</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Work at desk</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Travel preparation</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Pack before departure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Add a Lane, Keep Copilot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Microsoft 365 Copilot stays; local AI adds a complementary drafting lane.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4</a:t>
            </a:r>
          </a:p>
        </p:txBody>
      </p:sp>
      <p:sp>
        <p:nvSpPr>
          <p:cNvPr id="10" name="Rounded Rectangle 9"/>
          <p:cNvSpPr/>
          <p:nvPr/>
        </p:nvSpPr>
        <p:spPr>
          <a:xfrm>
            <a:off x="548640" y="1828800"/>
            <a:ext cx="5088636" cy="3429000"/>
          </a:xfrm>
          <a:prstGeom prst="roundRect">
            <a:avLst>
              <a:gd name="adj" fmla="val 16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68096" y="2020824"/>
            <a:ext cx="749808" cy="74980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069"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13" name="TextBox 12"/>
          <p:cNvSpPr txBox="1"/>
          <p:nvPr/>
        </p:nvSpPr>
        <p:spPr>
          <a:xfrm>
            <a:off x="1645920"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Current lane</a:t>
            </a:r>
          </a:p>
        </p:txBody>
      </p:sp>
      <p:sp>
        <p:nvSpPr>
          <p:cNvPr id="14" name="TextBox 13"/>
          <p:cNvSpPr txBox="1"/>
          <p:nvPr/>
        </p:nvSpPr>
        <p:spPr>
          <a:xfrm>
            <a:off x="960120" y="321259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5" name="TextBox 14"/>
          <p:cNvSpPr txBox="1"/>
          <p:nvPr/>
        </p:nvSpPr>
        <p:spPr>
          <a:xfrm>
            <a:off x="1417320" y="3017520"/>
            <a:ext cx="3991356" cy="701040"/>
          </a:xfrm>
          <a:prstGeom prst="rect">
            <a:avLst/>
          </a:prstGeom>
          <a:noFill/>
        </p:spPr>
        <p:txBody>
          <a:bodyPr wrap="square" lIns="0" rIns="0" tIns="0" bIns="0" anchor="ctr">
            <a:noAutofit/>
          </a:bodyPr>
          <a:lstStyle/>
          <a:p>
            <a:pPr algn="l"/>
            <a:r>
              <a:rPr sz="1700" i="0">
                <a:solidFill>
                  <a:srgbClr val="505050"/>
                </a:solidFill>
                <a:latin typeface="Segoe UI"/>
              </a:rPr>
              <a:t>Microsoft 365 Copilot</a:t>
            </a:r>
          </a:p>
        </p:txBody>
      </p:sp>
      <p:sp>
        <p:nvSpPr>
          <p:cNvPr id="16" name="TextBox 15"/>
          <p:cNvSpPr txBox="1"/>
          <p:nvPr/>
        </p:nvSpPr>
        <p:spPr>
          <a:xfrm>
            <a:off x="960120" y="391363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7" name="TextBox 16"/>
          <p:cNvSpPr txBox="1"/>
          <p:nvPr/>
        </p:nvSpPr>
        <p:spPr>
          <a:xfrm>
            <a:off x="1417320" y="3718560"/>
            <a:ext cx="3991356" cy="701040"/>
          </a:xfrm>
          <a:prstGeom prst="rect">
            <a:avLst/>
          </a:prstGeom>
          <a:noFill/>
        </p:spPr>
        <p:txBody>
          <a:bodyPr wrap="square" lIns="0" rIns="0" tIns="0" bIns="0" anchor="ctr">
            <a:noAutofit/>
          </a:bodyPr>
          <a:lstStyle/>
          <a:p>
            <a:pPr algn="l"/>
            <a:r>
              <a:rPr sz="1700" i="0">
                <a:solidFill>
                  <a:srgbClr val="505050"/>
                </a:solidFill>
                <a:latin typeface="Segoe UI"/>
              </a:rPr>
              <a:t>Established consultant workflows</a:t>
            </a:r>
          </a:p>
        </p:txBody>
      </p:sp>
      <p:sp>
        <p:nvSpPr>
          <p:cNvPr id="18" name="Rounded Rectangle 17"/>
          <p:cNvSpPr/>
          <p:nvPr/>
        </p:nvSpPr>
        <p:spPr>
          <a:xfrm>
            <a:off x="6551676" y="1828800"/>
            <a:ext cx="5088636" cy="3429000"/>
          </a:xfrm>
          <a:prstGeom prst="roundRect">
            <a:avLst>
              <a:gd name="adj" fmla="val 1600"/>
            </a:avLst>
          </a:prstGeom>
          <a:solidFill>
            <a:srgbClr val="F3F3F3"/>
          </a:solidFill>
          <a:ln w="28575">
            <a:solidFill>
              <a:srgbClr val="0078D4"/>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771132" y="2020824"/>
            <a:ext cx="749808" cy="74980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76105"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21" name="TextBox 20"/>
          <p:cNvSpPr txBox="1"/>
          <p:nvPr/>
        </p:nvSpPr>
        <p:spPr>
          <a:xfrm>
            <a:off x="7648956"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Recommended hybrid</a:t>
            </a:r>
          </a:p>
        </p:txBody>
      </p:sp>
      <p:sp>
        <p:nvSpPr>
          <p:cNvPr id="22" name="TextBox 21"/>
          <p:cNvSpPr txBox="1"/>
          <p:nvPr/>
        </p:nvSpPr>
        <p:spPr>
          <a:xfrm>
            <a:off x="6963156" y="321259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3" name="TextBox 22"/>
          <p:cNvSpPr txBox="1"/>
          <p:nvPr/>
        </p:nvSpPr>
        <p:spPr>
          <a:xfrm>
            <a:off x="7420356" y="3017520"/>
            <a:ext cx="3991356" cy="701040"/>
          </a:xfrm>
          <a:prstGeom prst="rect">
            <a:avLst/>
          </a:prstGeom>
          <a:noFill/>
        </p:spPr>
        <p:txBody>
          <a:bodyPr wrap="square" lIns="0" rIns="0" tIns="0" bIns="0" anchor="ctr">
            <a:noAutofit/>
          </a:bodyPr>
          <a:lstStyle/>
          <a:p>
            <a:pPr algn="l"/>
            <a:r>
              <a:rPr sz="1700" i="0">
                <a:solidFill>
                  <a:srgbClr val="1B1B1B"/>
                </a:solidFill>
                <a:latin typeface="Segoe UI"/>
              </a:rPr>
              <a:t>Keep Microsoft 365 Copilot</a:t>
            </a:r>
          </a:p>
        </p:txBody>
      </p:sp>
      <p:sp>
        <p:nvSpPr>
          <p:cNvPr id="24" name="TextBox 23"/>
          <p:cNvSpPr txBox="1"/>
          <p:nvPr/>
        </p:nvSpPr>
        <p:spPr>
          <a:xfrm>
            <a:off x="6963156" y="391363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5" name="TextBox 24"/>
          <p:cNvSpPr txBox="1"/>
          <p:nvPr/>
        </p:nvSpPr>
        <p:spPr>
          <a:xfrm>
            <a:off x="7420356" y="3718560"/>
            <a:ext cx="3991356" cy="701040"/>
          </a:xfrm>
          <a:prstGeom prst="rect">
            <a:avLst/>
          </a:prstGeom>
          <a:noFill/>
        </p:spPr>
        <p:txBody>
          <a:bodyPr wrap="square" lIns="0" rIns="0" tIns="0" bIns="0" anchor="ctr">
            <a:noAutofit/>
          </a:bodyPr>
          <a:lstStyle/>
          <a:p>
            <a:pPr algn="l"/>
            <a:r>
              <a:rPr sz="1700" i="0">
                <a:solidFill>
                  <a:srgbClr val="1B1B1B"/>
                </a:solidFill>
                <a:latin typeface="Segoe UI"/>
              </a:rPr>
              <a:t>Add sensitive local drafting</a:t>
            </a:r>
          </a:p>
        </p:txBody>
      </p:sp>
      <p:sp>
        <p:nvSpPr>
          <p:cNvPr id="26" name="TextBox 25"/>
          <p:cNvSpPr txBox="1"/>
          <p:nvPr/>
        </p:nvSpPr>
        <p:spPr>
          <a:xfrm>
            <a:off x="6963156" y="461467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7" name="TextBox 26"/>
          <p:cNvSpPr txBox="1"/>
          <p:nvPr/>
        </p:nvSpPr>
        <p:spPr>
          <a:xfrm>
            <a:off x="7420356" y="4419600"/>
            <a:ext cx="3991356" cy="701040"/>
          </a:xfrm>
          <a:prstGeom prst="rect">
            <a:avLst/>
          </a:prstGeom>
          <a:noFill/>
        </p:spPr>
        <p:txBody>
          <a:bodyPr wrap="square" lIns="0" rIns="0" tIns="0" bIns="0" anchor="ctr">
            <a:noAutofit/>
          </a:bodyPr>
          <a:lstStyle/>
          <a:p>
            <a:pPr algn="l"/>
            <a:r>
              <a:rPr sz="1700" i="0">
                <a:solidFill>
                  <a:srgbClr val="1B1B1B"/>
                </a:solidFill>
                <a:latin typeface="Segoe UI"/>
              </a:rPr>
              <a:t>Validate disconnected use</a:t>
            </a:r>
          </a:p>
        </p:txBody>
      </p:sp>
      <p:sp>
        <p:nvSpPr>
          <p:cNvPr id="28" name="Oval 27"/>
          <p:cNvSpPr/>
          <p:nvPr/>
        </p:nvSpPr>
        <p:spPr>
          <a:xfrm>
            <a:off x="5728716" y="3177540"/>
            <a:ext cx="731520" cy="731520"/>
          </a:xfrm>
          <a:prstGeom prst="ellipse">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728716" y="3177540"/>
            <a:ext cx="731520" cy="731520"/>
          </a:xfrm>
          <a:prstGeom prst="rect">
            <a:avLst/>
          </a:prstGeom>
          <a:noFill/>
        </p:spPr>
        <p:txBody>
          <a:bodyPr wrap="square" lIns="0" rIns="0" tIns="0" bIns="0" anchor="ctr">
            <a:noAutofit/>
          </a:bodyPr>
          <a:lstStyle/>
          <a:p>
            <a:pPr algn="ctr"/>
            <a:r>
              <a:rPr sz="1600" i="0">
                <a:solidFill>
                  <a:srgbClr val="FFFFFF"/>
                </a:solidFill>
                <a:latin typeface="Segoe UI Semibold"/>
              </a:rPr>
              <a:t>VS</a:t>
            </a:r>
          </a:p>
        </p:txBody>
      </p:sp>
      <p:sp>
        <p:nvSpPr>
          <p:cNvPr id="30" name="Rounded Rectangle 29"/>
          <p:cNvSpPr/>
          <p:nvPr/>
        </p:nvSpPr>
        <p:spPr>
          <a:xfrm>
            <a:off x="548640" y="5458968"/>
            <a:ext cx="11091672" cy="713232"/>
          </a:xfrm>
          <a:prstGeom prst="roundRect">
            <a:avLst>
              <a:gd name="adj" fmla="val 7692"/>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2960" y="5614416"/>
            <a:ext cx="402336" cy="402336"/>
          </a:xfrm>
          <a:prstGeom prst="rect">
            <a:avLst/>
          </a:prstGeom>
          <a:noFill/>
        </p:spPr>
        <p:txBody>
          <a:bodyPr wrap="none" lIns="0" rIns="0" tIns="0" bIns="0" anchor="ctr">
            <a:spAutoFit/>
          </a:bodyPr>
          <a:lstStyle/>
          <a:p>
            <a:pPr algn="ctr"/>
            <a:r>
              <a:rPr sz="1964">
                <a:solidFill>
                  <a:srgbClr val="FFFFFF"/>
                </a:solidFill>
                <a:latin typeface="Segoe Fluent Icons"/>
              </a:rPr>
              <a:t></a:t>
            </a:r>
          </a:p>
        </p:txBody>
      </p:sp>
      <p:sp>
        <p:nvSpPr>
          <p:cNvPr id="32" name="TextBox 31"/>
          <p:cNvSpPr txBox="1"/>
          <p:nvPr/>
        </p:nvSpPr>
        <p:spPr>
          <a:xfrm>
            <a:off x="1417320" y="5513832"/>
            <a:ext cx="9994392" cy="603504"/>
          </a:xfrm>
          <a:prstGeom prst="rect">
            <a:avLst/>
          </a:prstGeom>
          <a:noFill/>
        </p:spPr>
        <p:txBody>
          <a:bodyPr wrap="square" lIns="0" rIns="0" tIns="0" bIns="0" anchor="ctr">
            <a:noAutofit/>
          </a:bodyPr>
          <a:lstStyle/>
          <a:p>
            <a:pPr algn="l"/>
            <a:r>
              <a:rPr sz="2000" i="0">
                <a:solidFill>
                  <a:srgbClr val="FFFFFF"/>
                </a:solidFill>
                <a:latin typeface="Segoe UI Semibold"/>
              </a:rPr>
              <a:t>Add capability, keep Copilot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 Local Path for Sensitive Drafts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Selected files, prompts and drafts stay on-device within the proposed local lane.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5</a:t>
            </a:r>
          </a:p>
        </p:txBody>
      </p:sp>
      <p:cxnSp>
        <p:nvCxnSpPr>
          <p:cNvPr id="10" name="Connector 9"/>
          <p:cNvCxnSpPr/>
          <p:nvPr/>
        </p:nvCxnSpPr>
        <p:spPr>
          <a:xfrm>
            <a:off x="779717" y="2661285"/>
            <a:ext cx="7902816" cy="0"/>
          </a:xfrm>
          <a:prstGeom prst="line">
            <a:avLst/>
          </a:prstGeom>
          <a:ln w="28575">
            <a:solidFill>
              <a:srgbClr val="107C10"/>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9717" y="2661285"/>
            <a:ext cx="0" cy="3366135"/>
          </a:xfrm>
          <a:prstGeom prst="line">
            <a:avLst/>
          </a:prstGeom>
          <a:ln w="28575">
            <a:solidFill>
              <a:srgbClr val="107C10"/>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682533" y="2661285"/>
            <a:ext cx="0" cy="3366135"/>
          </a:xfrm>
          <a:prstGeom prst="line">
            <a:avLst/>
          </a:prstGeom>
          <a:ln w="28575">
            <a:solidFill>
              <a:srgbClr val="107C10"/>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9717" y="6027420"/>
            <a:ext cx="7902816" cy="0"/>
          </a:xfrm>
          <a:prstGeom prst="line">
            <a:avLst/>
          </a:prstGeom>
          <a:ln w="28575">
            <a:solidFill>
              <a:srgbClr val="107C10"/>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51836" y="3330892"/>
            <a:ext cx="600799"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493677" y="3330892"/>
            <a:ext cx="647014"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523156" y="3747135"/>
            <a:ext cx="0" cy="398145"/>
          </a:xfrm>
          <a:prstGeom prst="line">
            <a:avLst/>
          </a:prstGeom>
          <a:ln w="28575">
            <a:solidFill>
              <a:srgbClr val="A1A1A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523156" y="4760595"/>
            <a:ext cx="0" cy="361950"/>
          </a:xfrm>
          <a:prstGeom prst="line">
            <a:avLst/>
          </a:prstGeom>
          <a:ln w="28575">
            <a:solidFill>
              <a:srgbClr val="A1A1A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8362" y="2045970"/>
            <a:ext cx="7579309" cy="470535"/>
          </a:xfrm>
          <a:prstGeom prst="roundRect">
            <a:avLst>
              <a:gd name="adj" fmla="val 50000"/>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73810" y="2151840"/>
            <a:ext cx="258794" cy="258794"/>
          </a:xfrm>
          <a:prstGeom prst="rect">
            <a:avLst/>
          </a:prstGeom>
          <a:noFill/>
        </p:spPr>
        <p:txBody>
          <a:bodyPr wrap="none" lIns="0" rIns="0" tIns="0" bIns="0" anchor="ctr">
            <a:spAutoFit/>
          </a:bodyPr>
          <a:lstStyle/>
          <a:p>
            <a:pPr algn="ctr"/>
            <a:r>
              <a:rPr sz="1263">
                <a:solidFill>
                  <a:srgbClr val="FFFFFF"/>
                </a:solidFill>
                <a:latin typeface="Segoe Fluent Icons"/>
              </a:rPr>
              <a:t></a:t>
            </a:r>
          </a:p>
        </p:txBody>
      </p:sp>
      <p:sp>
        <p:nvSpPr>
          <p:cNvPr id="20" name="TextBox 19"/>
          <p:cNvSpPr txBox="1"/>
          <p:nvPr/>
        </p:nvSpPr>
        <p:spPr>
          <a:xfrm>
            <a:off x="1451477" y="2155698"/>
            <a:ext cx="6954755" cy="251079"/>
          </a:xfrm>
          <a:prstGeom prst="rect">
            <a:avLst/>
          </a:prstGeom>
          <a:noFill/>
        </p:spPr>
        <p:txBody>
          <a:bodyPr wrap="square" lIns="0" rIns="0" tIns="0" bIns="0" anchor="ctr">
            <a:noAutofit/>
          </a:bodyPr>
          <a:lstStyle/>
          <a:p>
            <a:pPr algn="l"/>
            <a:r>
              <a:rPr sz="1500" i="0">
                <a:solidFill>
                  <a:srgbClr val="FFFFFF"/>
                </a:solidFill>
                <a:latin typeface="Segoe UI Semibold"/>
              </a:rPr>
              <a:t>Surface Laptop Ultra</a:t>
            </a:r>
          </a:p>
        </p:txBody>
      </p:sp>
      <p:sp>
        <p:nvSpPr>
          <p:cNvPr id="21" name="TextBox 20"/>
          <p:cNvSpPr txBox="1"/>
          <p:nvPr/>
        </p:nvSpPr>
        <p:spPr>
          <a:xfrm>
            <a:off x="9006040" y="2045970"/>
            <a:ext cx="2403196" cy="470535"/>
          </a:xfrm>
          <a:prstGeom prst="rect">
            <a:avLst/>
          </a:prstGeom>
          <a:noFill/>
        </p:spPr>
        <p:txBody>
          <a:bodyPr wrap="square" lIns="0" rIns="0" tIns="0" bIns="0" anchor="t">
            <a:noAutofit/>
          </a:bodyPr>
          <a:lstStyle/>
          <a:p>
            <a:pPr algn="l"/>
            <a:r>
              <a:rPr sz="2000" i="0">
                <a:solidFill>
                  <a:srgbClr val="1B1B1B"/>
                </a:solidFill>
                <a:latin typeface="Segoe UI Semibold"/>
              </a:rPr>
              <a:t>Companion lane</a:t>
            </a:r>
          </a:p>
        </p:txBody>
      </p:sp>
      <p:sp>
        <p:nvSpPr>
          <p:cNvPr id="22" name="Rounded Rectangle 21"/>
          <p:cNvSpPr/>
          <p:nvPr/>
        </p:nvSpPr>
        <p:spPr>
          <a:xfrm>
            <a:off x="1057008" y="2914650"/>
            <a:ext cx="1894827" cy="832485"/>
          </a:xfrm>
          <a:prstGeom prst="roundRect">
            <a:avLst>
              <a:gd name="adj" fmla="val 6590"/>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12456" y="3101959"/>
            <a:ext cx="457867" cy="457867"/>
          </a:xfrm>
          <a:prstGeom prst="rect">
            <a:avLst/>
          </a:prstGeom>
          <a:noFill/>
        </p:spPr>
        <p:txBody>
          <a:bodyPr wrap="none" lIns="0" rIns="0" tIns="0" bIns="0" anchor="ctr">
            <a:spAutoFit/>
          </a:bodyPr>
          <a:lstStyle/>
          <a:p>
            <a:pPr algn="ctr"/>
            <a:r>
              <a:rPr sz="2235">
                <a:solidFill>
                  <a:srgbClr val="FFFFFF"/>
                </a:solidFill>
                <a:latin typeface="Segoe Fluent Icons"/>
              </a:rPr>
              <a:t></a:t>
            </a:r>
          </a:p>
        </p:txBody>
      </p:sp>
      <p:sp>
        <p:nvSpPr>
          <p:cNvPr id="24" name="TextBox 23"/>
          <p:cNvSpPr txBox="1"/>
          <p:nvPr/>
        </p:nvSpPr>
        <p:spPr>
          <a:xfrm>
            <a:off x="1789195" y="3024378"/>
            <a:ext cx="1071201" cy="613029"/>
          </a:xfrm>
          <a:prstGeom prst="rect">
            <a:avLst/>
          </a:prstGeom>
          <a:noFill/>
        </p:spPr>
        <p:txBody>
          <a:bodyPr wrap="square" lIns="0" rIns="0" tIns="0" bIns="0" anchor="ctr">
            <a:noAutofit/>
          </a:bodyPr>
          <a:lstStyle/>
          <a:p>
            <a:pPr algn="l"/>
            <a:r>
              <a:rPr sz="1600" i="0">
                <a:solidFill>
                  <a:srgbClr val="FFFFFF"/>
                </a:solidFill>
                <a:latin typeface="Segoe UI Semibold"/>
              </a:rPr>
              <a:t>Selected client files</a:t>
            </a:r>
          </a:p>
        </p:txBody>
      </p:sp>
      <p:sp>
        <p:nvSpPr>
          <p:cNvPr id="25" name="Rounded Rectangle 24"/>
          <p:cNvSpPr/>
          <p:nvPr/>
        </p:nvSpPr>
        <p:spPr>
          <a:xfrm>
            <a:off x="3552635" y="2914650"/>
            <a:ext cx="1941043" cy="832485"/>
          </a:xfrm>
          <a:prstGeom prst="roundRect">
            <a:avLst>
              <a:gd name="adj" fmla="val 6590"/>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708083" y="3101959"/>
            <a:ext cx="457867" cy="457867"/>
          </a:xfrm>
          <a:prstGeom prst="rect">
            <a:avLst/>
          </a:prstGeom>
          <a:noFill/>
        </p:spPr>
        <p:txBody>
          <a:bodyPr wrap="none" lIns="0" rIns="0" tIns="0" bIns="0" anchor="ctr">
            <a:spAutoFit/>
          </a:bodyPr>
          <a:lstStyle/>
          <a:p>
            <a:pPr algn="ctr"/>
            <a:r>
              <a:rPr sz="2235">
                <a:solidFill>
                  <a:srgbClr val="FFFFFF"/>
                </a:solidFill>
                <a:latin typeface="Segoe Fluent Icons"/>
              </a:rPr>
              <a:t></a:t>
            </a:r>
          </a:p>
        </p:txBody>
      </p:sp>
      <p:sp>
        <p:nvSpPr>
          <p:cNvPr id="27" name="TextBox 26"/>
          <p:cNvSpPr txBox="1"/>
          <p:nvPr/>
        </p:nvSpPr>
        <p:spPr>
          <a:xfrm>
            <a:off x="4284821" y="3024378"/>
            <a:ext cx="1117416" cy="613029"/>
          </a:xfrm>
          <a:prstGeom prst="rect">
            <a:avLst/>
          </a:prstGeom>
          <a:noFill/>
        </p:spPr>
        <p:txBody>
          <a:bodyPr wrap="square" lIns="0" rIns="0" tIns="0" bIns="0" anchor="ctr">
            <a:noAutofit/>
          </a:bodyPr>
          <a:lstStyle/>
          <a:p>
            <a:pPr algn="l"/>
            <a:r>
              <a:rPr sz="1500" i="0">
                <a:solidFill>
                  <a:srgbClr val="FFFFFF"/>
                </a:solidFill>
                <a:latin typeface="Segoe UI Semibold"/>
              </a:rPr>
              <a:t>Local drafting app</a:t>
            </a:r>
          </a:p>
        </p:txBody>
      </p:sp>
      <p:sp>
        <p:nvSpPr>
          <p:cNvPr id="28" name="Rounded Rectangle 27"/>
          <p:cNvSpPr/>
          <p:nvPr/>
        </p:nvSpPr>
        <p:spPr>
          <a:xfrm>
            <a:off x="6140691" y="2914650"/>
            <a:ext cx="2172119" cy="832485"/>
          </a:xfrm>
          <a:prstGeom prst="roundRect">
            <a:avLst>
              <a:gd name="adj" fmla="val 6590"/>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96139" y="3101959"/>
            <a:ext cx="457867" cy="457867"/>
          </a:xfrm>
          <a:prstGeom prst="rect">
            <a:avLst/>
          </a:prstGeom>
          <a:noFill/>
        </p:spPr>
        <p:txBody>
          <a:bodyPr wrap="none" lIns="0" rIns="0" tIns="0" bIns="0" anchor="ctr">
            <a:spAutoFit/>
          </a:bodyPr>
          <a:lstStyle/>
          <a:p>
            <a:pPr algn="ctr"/>
            <a:r>
              <a:rPr sz="2235">
                <a:solidFill>
                  <a:srgbClr val="FFFFFF"/>
                </a:solidFill>
                <a:latin typeface="Segoe Fluent Icons"/>
              </a:rPr>
              <a:t></a:t>
            </a:r>
          </a:p>
        </p:txBody>
      </p:sp>
      <p:sp>
        <p:nvSpPr>
          <p:cNvPr id="30" name="TextBox 29"/>
          <p:cNvSpPr txBox="1"/>
          <p:nvPr/>
        </p:nvSpPr>
        <p:spPr>
          <a:xfrm>
            <a:off x="6872878" y="3024378"/>
            <a:ext cx="1348492" cy="613029"/>
          </a:xfrm>
          <a:prstGeom prst="rect">
            <a:avLst/>
          </a:prstGeom>
          <a:noFill/>
        </p:spPr>
        <p:txBody>
          <a:bodyPr wrap="square" lIns="0" rIns="0" tIns="0" bIns="0" anchor="ctr">
            <a:noAutofit/>
          </a:bodyPr>
          <a:lstStyle/>
          <a:p>
            <a:pPr algn="l"/>
            <a:r>
              <a:rPr sz="1600" i="0">
                <a:solidFill>
                  <a:srgbClr val="FFFFFF"/>
                </a:solidFill>
                <a:latin typeface="Segoe UI Semibold"/>
              </a:rPr>
              <a:t>Consultant review</a:t>
            </a:r>
          </a:p>
        </p:txBody>
      </p:sp>
      <p:sp>
        <p:nvSpPr>
          <p:cNvPr id="31" name="Rounded Rectangle 30"/>
          <p:cNvSpPr/>
          <p:nvPr/>
        </p:nvSpPr>
        <p:spPr>
          <a:xfrm>
            <a:off x="3552635" y="4145280"/>
            <a:ext cx="1941043" cy="615315"/>
          </a:xfrm>
          <a:prstGeom prst="roundRect">
            <a:avLst>
              <a:gd name="adj" fmla="val 8916"/>
            </a:avLst>
          </a:prstGeom>
          <a:solidFill>
            <a:srgbClr val="FFB90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708083" y="4283726"/>
            <a:ext cx="338423" cy="338423"/>
          </a:xfrm>
          <a:prstGeom prst="rect">
            <a:avLst/>
          </a:prstGeom>
          <a:noFill/>
        </p:spPr>
        <p:txBody>
          <a:bodyPr wrap="none" lIns="0" rIns="0" tIns="0" bIns="0" anchor="ctr">
            <a:spAutoFit/>
          </a:bodyPr>
          <a:lstStyle/>
          <a:p>
            <a:pPr algn="ctr"/>
            <a:r>
              <a:rPr sz="1652">
                <a:solidFill>
                  <a:srgbClr val="FFFFFF"/>
                </a:solidFill>
                <a:latin typeface="Segoe Fluent Icons"/>
              </a:rPr>
              <a:t></a:t>
            </a:r>
          </a:p>
        </p:txBody>
      </p:sp>
      <p:sp>
        <p:nvSpPr>
          <p:cNvPr id="33" name="TextBox 32"/>
          <p:cNvSpPr txBox="1"/>
          <p:nvPr/>
        </p:nvSpPr>
        <p:spPr>
          <a:xfrm>
            <a:off x="4165378" y="4255008"/>
            <a:ext cx="1236859" cy="395859"/>
          </a:xfrm>
          <a:prstGeom prst="rect">
            <a:avLst/>
          </a:prstGeom>
          <a:noFill/>
        </p:spPr>
        <p:txBody>
          <a:bodyPr wrap="square" lIns="0" rIns="0" tIns="0" bIns="0" anchor="ctr">
            <a:noAutofit/>
          </a:bodyPr>
          <a:lstStyle/>
          <a:p>
            <a:pPr algn="l"/>
            <a:r>
              <a:rPr sz="1600" i="0">
                <a:solidFill>
                  <a:srgbClr val="FFFFFF"/>
                </a:solidFill>
                <a:latin typeface="Segoe UI Semibold"/>
              </a:rPr>
              <a:t>Local model</a:t>
            </a:r>
          </a:p>
        </p:txBody>
      </p:sp>
      <p:sp>
        <p:nvSpPr>
          <p:cNvPr id="34" name="Rounded Rectangle 33"/>
          <p:cNvSpPr/>
          <p:nvPr/>
        </p:nvSpPr>
        <p:spPr>
          <a:xfrm>
            <a:off x="3229127" y="5122545"/>
            <a:ext cx="2588057" cy="615315"/>
          </a:xfrm>
          <a:prstGeom prst="roundRect">
            <a:avLst>
              <a:gd name="adj" fmla="val 8916"/>
            </a:avLst>
          </a:prstGeom>
          <a:solidFill>
            <a:srgbClr val="5C2D9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384575" y="5260991"/>
            <a:ext cx="338423" cy="338423"/>
          </a:xfrm>
          <a:prstGeom prst="rect">
            <a:avLst/>
          </a:prstGeom>
          <a:noFill/>
        </p:spPr>
        <p:txBody>
          <a:bodyPr wrap="none" lIns="0" rIns="0" tIns="0" bIns="0" anchor="ctr">
            <a:spAutoFit/>
          </a:bodyPr>
          <a:lstStyle/>
          <a:p>
            <a:pPr algn="ctr"/>
            <a:r>
              <a:rPr sz="1652">
                <a:solidFill>
                  <a:srgbClr val="FFFFFF"/>
                </a:solidFill>
                <a:latin typeface="Segoe Fluent Icons"/>
              </a:rPr>
              <a:t></a:t>
            </a:r>
          </a:p>
        </p:txBody>
      </p:sp>
      <p:sp>
        <p:nvSpPr>
          <p:cNvPr id="36" name="TextBox 35"/>
          <p:cNvSpPr txBox="1"/>
          <p:nvPr/>
        </p:nvSpPr>
        <p:spPr>
          <a:xfrm>
            <a:off x="3841871" y="5232273"/>
            <a:ext cx="1883874" cy="395859"/>
          </a:xfrm>
          <a:prstGeom prst="rect">
            <a:avLst/>
          </a:prstGeom>
          <a:noFill/>
        </p:spPr>
        <p:txBody>
          <a:bodyPr wrap="square" lIns="0" rIns="0" tIns="0" bIns="0" anchor="ctr">
            <a:noAutofit/>
          </a:bodyPr>
          <a:lstStyle/>
          <a:p>
            <a:pPr algn="l"/>
            <a:r>
              <a:rPr sz="1600" i="0">
                <a:solidFill>
                  <a:srgbClr val="FFFFFF"/>
                </a:solidFill>
                <a:latin typeface="Segoe UI Semibold"/>
              </a:rPr>
              <a:t>NVIDIA RTX Spark</a:t>
            </a:r>
          </a:p>
        </p:txBody>
      </p:sp>
      <p:sp>
        <p:nvSpPr>
          <p:cNvPr id="37" name="TextBox 36"/>
          <p:cNvSpPr txBox="1"/>
          <p:nvPr/>
        </p:nvSpPr>
        <p:spPr>
          <a:xfrm>
            <a:off x="1057008" y="4217670"/>
            <a:ext cx="1941043" cy="723900"/>
          </a:xfrm>
          <a:prstGeom prst="rect">
            <a:avLst/>
          </a:prstGeom>
          <a:noFill/>
        </p:spPr>
        <p:txBody>
          <a:bodyPr wrap="square" lIns="0" rIns="0" tIns="0" bIns="0" anchor="t">
            <a:noAutofit/>
          </a:bodyPr>
          <a:lstStyle/>
          <a:p>
            <a:pPr algn="l"/>
            <a:r>
              <a:rPr sz="2000" i="0">
                <a:solidFill>
                  <a:srgbClr val="1B1B1B"/>
                </a:solidFill>
                <a:latin typeface="Segoe UI Semibold"/>
              </a:rPr>
              <a:t>Files stay local</a:t>
            </a:r>
          </a:p>
        </p:txBody>
      </p:sp>
      <p:sp>
        <p:nvSpPr>
          <p:cNvPr id="38" name="TextBox 37"/>
          <p:cNvSpPr txBox="1"/>
          <p:nvPr/>
        </p:nvSpPr>
        <p:spPr>
          <a:xfrm>
            <a:off x="6140691" y="4217670"/>
            <a:ext cx="2172119" cy="723900"/>
          </a:xfrm>
          <a:prstGeom prst="rect">
            <a:avLst/>
          </a:prstGeom>
          <a:noFill/>
        </p:spPr>
        <p:txBody>
          <a:bodyPr wrap="square" lIns="0" rIns="0" tIns="0" bIns="0" anchor="t">
            <a:noAutofit/>
          </a:bodyPr>
          <a:lstStyle/>
          <a:p>
            <a:pPr algn="l"/>
            <a:r>
              <a:rPr sz="2000" i="0">
                <a:solidFill>
                  <a:srgbClr val="1B1B1B"/>
                </a:solidFill>
                <a:latin typeface="Segoe UI Semibold"/>
              </a:rPr>
              <a:t>Drafts stay local</a:t>
            </a:r>
          </a:p>
        </p:txBody>
      </p:sp>
      <p:sp>
        <p:nvSpPr>
          <p:cNvPr id="39" name="TextBox 38"/>
          <p:cNvSpPr txBox="1"/>
          <p:nvPr/>
        </p:nvSpPr>
        <p:spPr>
          <a:xfrm>
            <a:off x="1057008" y="5737860"/>
            <a:ext cx="1941043" cy="253365"/>
          </a:xfrm>
          <a:prstGeom prst="rect">
            <a:avLst/>
          </a:prstGeom>
          <a:noFill/>
        </p:spPr>
        <p:txBody>
          <a:bodyPr wrap="square" lIns="0" rIns="0" tIns="0" bIns="0" anchor="t">
            <a:noAutofit/>
          </a:bodyPr>
          <a:lstStyle/>
          <a:p>
            <a:pPr algn="l"/>
            <a:r>
              <a:rPr sz="1400" i="0">
                <a:solidFill>
                  <a:srgbClr val="A1A1A1"/>
                </a:solidFill>
                <a:latin typeface="Segoe UI"/>
              </a:rPr>
              <a:t>Proposed boundary</a:t>
            </a:r>
          </a:p>
        </p:txBody>
      </p:sp>
      <p:sp>
        <p:nvSpPr>
          <p:cNvPr id="40" name="Rounded Rectangle 39"/>
          <p:cNvSpPr/>
          <p:nvPr/>
        </p:nvSpPr>
        <p:spPr>
          <a:xfrm>
            <a:off x="9006040" y="2914650"/>
            <a:ext cx="2403196" cy="832485"/>
          </a:xfrm>
          <a:prstGeom prst="roundRect">
            <a:avLst>
              <a:gd name="adj" fmla="val 6590"/>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161488" y="3101959"/>
            <a:ext cx="457867" cy="457867"/>
          </a:xfrm>
          <a:prstGeom prst="rect">
            <a:avLst/>
          </a:prstGeom>
          <a:noFill/>
        </p:spPr>
        <p:txBody>
          <a:bodyPr wrap="none" lIns="0" rIns="0" tIns="0" bIns="0" anchor="ctr">
            <a:spAutoFit/>
          </a:bodyPr>
          <a:lstStyle/>
          <a:p>
            <a:pPr algn="ctr"/>
            <a:r>
              <a:rPr sz="2235">
                <a:solidFill>
                  <a:srgbClr val="FFFFFF"/>
                </a:solidFill>
                <a:latin typeface="Segoe Fluent Icons"/>
              </a:rPr>
              <a:t></a:t>
            </a:r>
          </a:p>
        </p:txBody>
      </p:sp>
      <p:sp>
        <p:nvSpPr>
          <p:cNvPr id="42" name="TextBox 41"/>
          <p:cNvSpPr txBox="1"/>
          <p:nvPr/>
        </p:nvSpPr>
        <p:spPr>
          <a:xfrm>
            <a:off x="9738227" y="3024378"/>
            <a:ext cx="1579569" cy="613029"/>
          </a:xfrm>
          <a:prstGeom prst="rect">
            <a:avLst/>
          </a:prstGeom>
          <a:noFill/>
        </p:spPr>
        <p:txBody>
          <a:bodyPr wrap="square" lIns="0" rIns="0" tIns="0" bIns="0" anchor="ctr">
            <a:noAutofit/>
          </a:bodyPr>
          <a:lstStyle/>
          <a:p>
            <a:pPr algn="l"/>
            <a:r>
              <a:rPr sz="1600" i="0">
                <a:solidFill>
                  <a:srgbClr val="FFFFFF"/>
                </a:solidFill>
                <a:latin typeface="Segoe UI Semibold"/>
              </a:rPr>
              <a:t>Microsoft 365 Copilot</a:t>
            </a:r>
          </a:p>
        </p:txBody>
      </p:sp>
      <p:sp>
        <p:nvSpPr>
          <p:cNvPr id="43" name="TextBox 42"/>
          <p:cNvSpPr txBox="1"/>
          <p:nvPr/>
        </p:nvSpPr>
        <p:spPr>
          <a:xfrm>
            <a:off x="9006040" y="4181475"/>
            <a:ext cx="2403196" cy="832485"/>
          </a:xfrm>
          <a:prstGeom prst="rect">
            <a:avLst/>
          </a:prstGeom>
          <a:noFill/>
        </p:spPr>
        <p:txBody>
          <a:bodyPr wrap="square" lIns="0" rIns="0" tIns="0" bIns="0" anchor="t">
            <a:noAutofit/>
          </a:bodyPr>
          <a:lstStyle/>
          <a:p>
            <a:pPr algn="l"/>
            <a:r>
              <a:rPr sz="2000" i="0">
                <a:solidFill>
                  <a:srgbClr val="A1A1A1"/>
                </a:solidFill>
                <a:latin typeface="Segoe UI Semibold"/>
              </a:rPr>
              <a:t>Existing cloud workflows</a:t>
            </a:r>
          </a:p>
        </p:txBody>
      </p:sp>
      <p:sp>
        <p:nvSpPr>
          <p:cNvPr id="44" name="Rounded Rectangle 43"/>
          <p:cNvSpPr/>
          <p:nvPr/>
        </p:nvSpPr>
        <p:spPr>
          <a:xfrm>
            <a:off x="9006040" y="5122545"/>
            <a:ext cx="2403196" cy="615315"/>
          </a:xfrm>
          <a:prstGeom prst="roundRect">
            <a:avLst>
              <a:gd name="adj" fmla="val 50000"/>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61488" y="5260991"/>
            <a:ext cx="338423" cy="338423"/>
          </a:xfrm>
          <a:prstGeom prst="rect">
            <a:avLst/>
          </a:prstGeom>
          <a:noFill/>
        </p:spPr>
        <p:txBody>
          <a:bodyPr wrap="none" lIns="0" rIns="0" tIns="0" bIns="0" anchor="ctr">
            <a:spAutoFit/>
          </a:bodyPr>
          <a:lstStyle/>
          <a:p>
            <a:pPr algn="ctr"/>
            <a:r>
              <a:rPr sz="1652">
                <a:solidFill>
                  <a:srgbClr val="FFFFFF"/>
                </a:solidFill>
                <a:latin typeface="Segoe Fluent Icons"/>
              </a:rPr>
              <a:t></a:t>
            </a:r>
          </a:p>
        </p:txBody>
      </p:sp>
      <p:sp>
        <p:nvSpPr>
          <p:cNvPr id="46" name="TextBox 45"/>
          <p:cNvSpPr txBox="1"/>
          <p:nvPr/>
        </p:nvSpPr>
        <p:spPr>
          <a:xfrm>
            <a:off x="9618783" y="5232273"/>
            <a:ext cx="1699012" cy="395859"/>
          </a:xfrm>
          <a:prstGeom prst="rect">
            <a:avLst/>
          </a:prstGeom>
          <a:noFill/>
        </p:spPr>
        <p:txBody>
          <a:bodyPr wrap="square" lIns="0" rIns="0" tIns="0" bIns="0" anchor="ctr">
            <a:noAutofit/>
          </a:bodyPr>
          <a:lstStyle/>
          <a:p>
            <a:pPr algn="l"/>
            <a:r>
              <a:rPr sz="1600" i="0">
                <a:solidFill>
                  <a:srgbClr val="FFFFFF"/>
                </a:solidFill>
                <a:latin typeface="Segoe UI Semibold"/>
              </a:rPr>
              <a:t>Kept in place</a:t>
            </a:r>
          </a:p>
        </p:txBody>
      </p:sp>
      <p:sp>
        <p:nvSpPr>
          <p:cNvPr id="47" name="TextBox 46"/>
          <p:cNvSpPr txBox="1"/>
          <p:nvPr/>
        </p:nvSpPr>
        <p:spPr>
          <a:xfrm>
            <a:off x="6140691" y="5122545"/>
            <a:ext cx="2172119" cy="615315"/>
          </a:xfrm>
          <a:prstGeom prst="rect">
            <a:avLst/>
          </a:prstGeom>
          <a:noFill/>
        </p:spPr>
        <p:txBody>
          <a:bodyPr wrap="square" lIns="0" rIns="0" tIns="0" bIns="0" anchor="t">
            <a:noAutofit/>
          </a:bodyPr>
          <a:lstStyle/>
          <a:p>
            <a:pPr algn="l"/>
            <a:r>
              <a:rPr sz="1400" i="0">
                <a:solidFill>
                  <a:srgbClr val="FFB900"/>
                </a:solidFill>
                <a:latin typeface="Segoe UI"/>
              </a:rPr>
              <a:t>Validate disconnected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The Device Behind the Local Lane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Surface Laptop Ultra with NVIDIA RTX Spark hosts the local drafting stack.</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6</a:t>
            </a:r>
          </a:p>
        </p:txBody>
      </p:sp>
      <p:sp>
        <p:nvSpPr>
          <p:cNvPr id="10" name="Rounded Rectangle 9"/>
          <p:cNvSpPr/>
          <p:nvPr/>
        </p:nvSpPr>
        <p:spPr>
          <a:xfrm>
            <a:off x="548640" y="1888236"/>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979676"/>
            <a:ext cx="777240" cy="777240"/>
          </a:xfrm>
          <a:prstGeom prst="roundRect">
            <a:avLst>
              <a:gd name="adj" fmla="val 14117"/>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3" name="TextBox 12"/>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Drafting workspace</a:t>
            </a:r>
          </a:p>
        </p:txBody>
      </p:sp>
      <p:sp>
        <p:nvSpPr>
          <p:cNvPr id="14" name="TextBox 13"/>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505050"/>
                </a:solidFill>
                <a:latin typeface="Segoe UI"/>
              </a:rPr>
              <a:t>Local work beside Microsoft 365 Copilot</a:t>
            </a:r>
          </a:p>
        </p:txBody>
      </p:sp>
      <p:sp>
        <p:nvSpPr>
          <p:cNvPr id="15" name="Rounded Rectangle 14"/>
          <p:cNvSpPr/>
          <p:nvPr/>
        </p:nvSpPr>
        <p:spPr>
          <a:xfrm>
            <a:off x="548640" y="2976372"/>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40080" y="3067812"/>
            <a:ext cx="777240" cy="777240"/>
          </a:xfrm>
          <a:prstGeom prst="roundRect">
            <a:avLst>
              <a:gd name="adj" fmla="val 14117"/>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8" name="TextBox 17"/>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Model selection</a:t>
            </a:r>
          </a:p>
        </p:txBody>
      </p:sp>
      <p:sp>
        <p:nvSpPr>
          <p:cNvPr id="19" name="TextBox 18"/>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505050"/>
                </a:solidFill>
                <a:latin typeface="Segoe UI"/>
              </a:rPr>
              <a:t>28 open models installed</a:t>
            </a:r>
          </a:p>
        </p:txBody>
      </p:sp>
      <p:sp>
        <p:nvSpPr>
          <p:cNvPr id="20" name="Rounded Rectangle 19"/>
          <p:cNvSpPr/>
          <p:nvPr/>
        </p:nvSpPr>
        <p:spPr>
          <a:xfrm>
            <a:off x="548640" y="4064508"/>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0080" y="4155948"/>
            <a:ext cx="777240" cy="777240"/>
          </a:xfrm>
          <a:prstGeom prst="roundRect">
            <a:avLst>
              <a:gd name="adj" fmla="val 14117"/>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3" name="TextBox 22"/>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NVIDIA RTX Spark</a:t>
            </a:r>
          </a:p>
        </p:txBody>
      </p:sp>
      <p:sp>
        <p:nvSpPr>
          <p:cNvPr id="24" name="TextBox 23"/>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505050"/>
                </a:solidFill>
                <a:latin typeface="Segoe UI"/>
              </a:rPr>
              <a:t>Blackwell RTX GPU</a:t>
            </a:r>
          </a:p>
        </p:txBody>
      </p:sp>
      <p:sp>
        <p:nvSpPr>
          <p:cNvPr id="25" name="Rounded Rectangle 24"/>
          <p:cNvSpPr/>
          <p:nvPr/>
        </p:nvSpPr>
        <p:spPr>
          <a:xfrm>
            <a:off x="548640" y="5152644"/>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0080" y="5244084"/>
            <a:ext cx="777240" cy="777240"/>
          </a:xfrm>
          <a:prstGeom prst="roundRect">
            <a:avLst>
              <a:gd name="adj" fmla="val 14117"/>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8" name="TextBox 27"/>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Surface Laptop Ultra</a:t>
            </a:r>
          </a:p>
        </p:txBody>
      </p:sp>
      <p:sp>
        <p:nvSpPr>
          <p:cNvPr id="29" name="TextBox 28"/>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505050"/>
                </a:solidFill>
                <a:latin typeface="Segoe UI"/>
              </a:rPr>
              <a:t>20 CPU cores; 128 GB installed memory</a:t>
            </a:r>
          </a:p>
        </p:txBody>
      </p:sp>
      <p:sp>
        <p:nvSpPr>
          <p:cNvPr id="30" name="Rectangle 29"/>
          <p:cNvSpPr/>
          <p:nvPr/>
        </p:nvSpPr>
        <p:spPr>
          <a:xfrm>
            <a:off x="10085832" y="1888236"/>
            <a:ext cx="73152" cy="42245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0314432" y="3314700"/>
            <a:ext cx="1325880" cy="1371600"/>
          </a:xfrm>
          <a:prstGeom prst="roundRect">
            <a:avLst>
              <a:gd name="adj" fmla="val 4137"/>
            </a:avLst>
          </a:prstGeom>
          <a:solidFill>
            <a:srgbClr val="D9EBF9"/>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1B1B1B"/>
                </a:solidFill>
                <a:latin typeface="Segoe UI Semibold"/>
              </a:rPr>
              <a:t>On-device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Device Speed Is Not Task Success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Decode benchmarks are signals; the pilot must establish drafting quality and task time.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7</a:t>
            </a:r>
          </a:p>
        </p:txBody>
      </p:sp>
      <p:graphicFrame>
        <p:nvGraphicFramePr>
          <p:cNvPr id="10" name="Chart 9"/>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1" name="Rounded Rectangle 10"/>
          <p:cNvSpPr/>
          <p:nvPr/>
        </p:nvSpPr>
        <p:spPr>
          <a:xfrm>
            <a:off x="7921630" y="2011680"/>
            <a:ext cx="3718682" cy="3977640"/>
          </a:xfrm>
          <a:prstGeom prst="roundRect">
            <a:avLst>
              <a:gd name="adj" fmla="val 14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73090" y="2308860"/>
            <a:ext cx="777240" cy="77724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FFFFFF"/>
                </a:solidFill>
                <a:latin typeface="Segoe Fluent Icons"/>
              </a:rPr>
              <a:t></a:t>
            </a:r>
          </a:p>
        </p:txBody>
      </p:sp>
      <p:sp>
        <p:nvSpPr>
          <p:cNvPr id="14" name="TextBox 13"/>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0078D4"/>
                </a:solidFill>
                <a:latin typeface="Segoe UI Semibold"/>
              </a:rPr>
              <a:t>86</a:t>
            </a:r>
          </a:p>
        </p:txBody>
      </p:sp>
      <p:sp>
        <p:nvSpPr>
          <p:cNvPr id="15" name="TextBox 14"/>
          <p:cNvSpPr txBox="1"/>
          <p:nvPr/>
        </p:nvSpPr>
        <p:spPr>
          <a:xfrm>
            <a:off x="8241670" y="4206240"/>
            <a:ext cx="3078602" cy="365760"/>
          </a:xfrm>
          <a:prstGeom prst="rect">
            <a:avLst/>
          </a:prstGeom>
          <a:noFill/>
        </p:spPr>
        <p:txBody>
          <a:bodyPr wrap="square" lIns="0" rIns="0" tIns="0" bIns="0" anchor="t">
            <a:noAutofit/>
          </a:bodyPr>
          <a:lstStyle/>
          <a:p>
            <a:pPr algn="l"/>
            <a:r>
              <a:rPr sz="1300" i="0">
                <a:solidFill>
                  <a:srgbClr val="505050"/>
                </a:solidFill>
                <a:latin typeface="Segoe UI"/>
              </a:rPr>
              <a:t>tokens per second  |  Qwen3-Coder 30B</a:t>
            </a:r>
          </a:p>
        </p:txBody>
      </p:sp>
      <p:sp>
        <p:nvSpPr>
          <p:cNvPr id="16" name="TextBox 15"/>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1B1B1B"/>
                </a:solidFill>
                <a:latin typeface="Segoe UI"/>
              </a:rPr>
              <a:t>Approximate, single stream; Local-AI-Bench, October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 First Draft Needs an Editor</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Use local AI for a starting draft; the consultant remains accountable.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8</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Local drafting</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Junior writer</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Local model</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Junior writer</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Client documents</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Source packet</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Generated draft</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Working copy</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Consultant review</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Editor sign-off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Capacity Worth Measuring, Not Promising</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27,600 hours annually is an illustrative estimate to validate, not a commitment.</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9</a:t>
            </a:r>
          </a:p>
        </p:txBody>
      </p:sp>
      <p:sp>
        <p:nvSpPr>
          <p:cNvPr id="10" name="Rounded Rectangle 9"/>
          <p:cNvSpPr/>
          <p:nvPr/>
        </p:nvSpPr>
        <p:spPr>
          <a:xfrm>
            <a:off x="548640"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5385816"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4837176" cy="1234440"/>
          </a:xfrm>
          <a:prstGeom prst="rect">
            <a:avLst/>
          </a:prstGeom>
          <a:noFill/>
        </p:spPr>
        <p:txBody>
          <a:bodyPr wrap="square" lIns="0" rIns="0" tIns="0" bIns="0" anchor="ctr">
            <a:noAutofit/>
          </a:bodyPr>
          <a:lstStyle/>
          <a:p>
            <a:pPr algn="l"/>
            <a:r>
              <a:rPr sz="6000" i="0">
                <a:solidFill>
                  <a:srgbClr val="0078D4"/>
                </a:solidFill>
                <a:latin typeface="Segoe UI Semibold"/>
              </a:rPr>
              <a:t>5 min</a:t>
            </a:r>
          </a:p>
        </p:txBody>
      </p:sp>
      <p:sp>
        <p:nvSpPr>
          <p:cNvPr id="15" name="TextBox 14"/>
          <p:cNvSpPr txBox="1"/>
          <p:nvPr/>
        </p:nvSpPr>
        <p:spPr>
          <a:xfrm>
            <a:off x="822960"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Assumed saving per summary</a:t>
            </a:r>
          </a:p>
        </p:txBody>
      </p:sp>
      <p:sp>
        <p:nvSpPr>
          <p:cNvPr id="16" name="TextBox 15"/>
          <p:cNvSpPr txBox="1"/>
          <p:nvPr/>
        </p:nvSpPr>
        <p:spPr>
          <a:xfrm>
            <a:off x="822960"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Illustrative assumption; not measured</a:t>
            </a:r>
          </a:p>
        </p:txBody>
      </p:sp>
      <p:sp>
        <p:nvSpPr>
          <p:cNvPr id="17" name="Rounded Rectangle 16"/>
          <p:cNvSpPr/>
          <p:nvPr/>
        </p:nvSpPr>
        <p:spPr>
          <a:xfrm>
            <a:off x="6254496" y="2217420"/>
            <a:ext cx="5385816" cy="3566160"/>
          </a:xfrm>
          <a:prstGeom prst="roundRect">
            <a:avLst>
              <a:gd name="adj" fmla="val 1538"/>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54496" y="2217420"/>
            <a:ext cx="5385816"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537960"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6528816" y="3406140"/>
            <a:ext cx="4837176" cy="1234440"/>
          </a:xfrm>
          <a:prstGeom prst="rect">
            <a:avLst/>
          </a:prstGeom>
          <a:noFill/>
        </p:spPr>
        <p:txBody>
          <a:bodyPr wrap="square" lIns="0" rIns="0" tIns="0" bIns="0" anchor="ctr">
            <a:noAutofit/>
          </a:bodyPr>
          <a:lstStyle/>
          <a:p>
            <a:pPr algn="l"/>
            <a:r>
              <a:rPr sz="6000" i="0">
                <a:solidFill>
                  <a:srgbClr val="107C10"/>
                </a:solidFill>
                <a:latin typeface="Segoe UI Semibold"/>
              </a:rPr>
              <a:t>27,600</a:t>
            </a:r>
          </a:p>
        </p:txBody>
      </p:sp>
      <p:sp>
        <p:nvSpPr>
          <p:cNvPr id="22" name="TextBox 21"/>
          <p:cNvSpPr txBox="1"/>
          <p:nvPr/>
        </p:nvSpPr>
        <p:spPr>
          <a:xfrm>
            <a:off x="6528816" y="4640580"/>
            <a:ext cx="4837176" cy="731520"/>
          </a:xfrm>
          <a:prstGeom prst="rect">
            <a:avLst/>
          </a:prstGeom>
          <a:noFill/>
        </p:spPr>
        <p:txBody>
          <a:bodyPr wrap="square" lIns="0" rIns="0" tIns="0" bIns="0" anchor="t">
            <a:noAutofit/>
          </a:bodyPr>
          <a:lstStyle/>
          <a:p>
            <a:pPr algn="l"/>
            <a:r>
              <a:rPr sz="1700" i="0">
                <a:solidFill>
                  <a:srgbClr val="1B1B1B"/>
                </a:solidFill>
                <a:latin typeface="Segoe UI"/>
              </a:rPr>
              <a:t>Estimated annual hours</a:t>
            </a:r>
          </a:p>
        </p:txBody>
      </p:sp>
      <p:sp>
        <p:nvSpPr>
          <p:cNvPr id="23" name="TextBox 22"/>
          <p:cNvSpPr txBox="1"/>
          <p:nvPr/>
        </p:nvSpPr>
        <p:spPr>
          <a:xfrm>
            <a:off x="6528816" y="5372100"/>
            <a:ext cx="4837176" cy="320040"/>
          </a:xfrm>
          <a:prstGeom prst="rect">
            <a:avLst/>
          </a:prstGeom>
          <a:noFill/>
        </p:spPr>
        <p:txBody>
          <a:bodyPr wrap="square" lIns="0" rIns="0" tIns="0" bIns="0" anchor="t">
            <a:noAutofit/>
          </a:bodyPr>
          <a:lstStyle/>
          <a:p>
            <a:pPr algn="l"/>
            <a:r>
              <a:rPr sz="1000" i="0">
                <a:solidFill>
                  <a:srgbClr val="8A8A8A"/>
                </a:solidFill>
                <a:latin typeface="Segoe UI"/>
              </a:rPr>
              <a:t>Illustrative estimate to validate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Test the Complete Drafting Task</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Measure the whole task, including review, under connected and disconnected conditions.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10</a:t>
            </a:r>
          </a:p>
        </p:txBody>
      </p:sp>
      <p:sp>
        <p:nvSpPr>
          <p:cNvPr id="10" name="Rounded Rectangle 9"/>
          <p:cNvSpPr/>
          <p:nvPr/>
        </p:nvSpPr>
        <p:spPr>
          <a:xfrm>
            <a:off x="548640"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89304" y="2125980"/>
            <a:ext cx="914400" cy="9144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17320"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13" name="TextBox 12"/>
          <p:cNvSpPr txBox="1"/>
          <p:nvPr/>
        </p:nvSpPr>
        <p:spPr>
          <a:xfrm>
            <a:off x="731520" y="3150108"/>
            <a:ext cx="2029968" cy="274320"/>
          </a:xfrm>
          <a:prstGeom prst="rect">
            <a:avLst/>
          </a:prstGeom>
          <a:noFill/>
        </p:spPr>
        <p:txBody>
          <a:bodyPr wrap="square" lIns="0" rIns="0" tIns="0" bIns="0" anchor="t">
            <a:noAutofit/>
          </a:bodyPr>
          <a:lstStyle/>
          <a:p>
            <a:pPr algn="ctr"/>
            <a:r>
              <a:rPr sz="1200" i="0">
                <a:solidFill>
                  <a:srgbClr val="0078D4"/>
                </a:solidFill>
                <a:latin typeface="Segoe UI Semibold"/>
              </a:rPr>
              <a:t>01</a:t>
            </a:r>
          </a:p>
        </p:txBody>
      </p:sp>
      <p:sp>
        <p:nvSpPr>
          <p:cNvPr id="14" name="TextBox 13"/>
          <p:cNvSpPr txBox="1"/>
          <p:nvPr/>
        </p:nvSpPr>
        <p:spPr>
          <a:xfrm>
            <a:off x="713232"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Prepare</a:t>
            </a:r>
          </a:p>
        </p:txBody>
      </p:sp>
      <p:sp>
        <p:nvSpPr>
          <p:cNvPr id="15" name="TextBox 14"/>
          <p:cNvSpPr txBox="1"/>
          <p:nvPr/>
        </p:nvSpPr>
        <p:spPr>
          <a:xfrm>
            <a:off x="731520"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Stage approved files and model</a:t>
            </a:r>
          </a:p>
        </p:txBody>
      </p:sp>
      <p:sp>
        <p:nvSpPr>
          <p:cNvPr id="16" name="Chevron 15"/>
          <p:cNvSpPr/>
          <p:nvPr/>
        </p:nvSpPr>
        <p:spPr>
          <a:xfrm>
            <a:off x="3081528"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447288"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187952" y="2125980"/>
            <a:ext cx="914400" cy="91440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15968"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0" name="TextBox 19"/>
          <p:cNvSpPr txBox="1"/>
          <p:nvPr/>
        </p:nvSpPr>
        <p:spPr>
          <a:xfrm>
            <a:off x="3630168" y="3150108"/>
            <a:ext cx="2029968" cy="274320"/>
          </a:xfrm>
          <a:prstGeom prst="rect">
            <a:avLst/>
          </a:prstGeom>
          <a:noFill/>
        </p:spPr>
        <p:txBody>
          <a:bodyPr wrap="square" lIns="0" rIns="0" tIns="0" bIns="0" anchor="t">
            <a:noAutofit/>
          </a:bodyPr>
          <a:lstStyle/>
          <a:p>
            <a:pPr algn="ctr"/>
            <a:r>
              <a:rPr sz="1200" i="0">
                <a:solidFill>
                  <a:srgbClr val="107C10"/>
                </a:solidFill>
                <a:latin typeface="Segoe UI Semibold"/>
              </a:rPr>
              <a:t>02</a:t>
            </a:r>
          </a:p>
        </p:txBody>
      </p:sp>
      <p:sp>
        <p:nvSpPr>
          <p:cNvPr id="21" name="TextBox 20"/>
          <p:cNvSpPr txBox="1"/>
          <p:nvPr/>
        </p:nvSpPr>
        <p:spPr>
          <a:xfrm>
            <a:off x="3611880"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Draft</a:t>
            </a:r>
          </a:p>
        </p:txBody>
      </p:sp>
      <p:sp>
        <p:nvSpPr>
          <p:cNvPr id="22" name="TextBox 21"/>
          <p:cNvSpPr txBox="1"/>
          <p:nvPr/>
        </p:nvSpPr>
        <p:spPr>
          <a:xfrm>
            <a:off x="3630168"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Exercise connected and disconnected local drafting</a:t>
            </a:r>
          </a:p>
        </p:txBody>
      </p:sp>
      <p:sp>
        <p:nvSpPr>
          <p:cNvPr id="23" name="Chevron 22"/>
          <p:cNvSpPr/>
          <p:nvPr/>
        </p:nvSpPr>
        <p:spPr>
          <a:xfrm>
            <a:off x="5980176"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345936"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086600" y="2125980"/>
            <a:ext cx="914400" cy="91440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214616"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7" name="TextBox 26"/>
          <p:cNvSpPr txBox="1"/>
          <p:nvPr/>
        </p:nvSpPr>
        <p:spPr>
          <a:xfrm>
            <a:off x="6528816" y="3150108"/>
            <a:ext cx="2029968" cy="274320"/>
          </a:xfrm>
          <a:prstGeom prst="rect">
            <a:avLst/>
          </a:prstGeom>
          <a:noFill/>
        </p:spPr>
        <p:txBody>
          <a:bodyPr wrap="square" lIns="0" rIns="0" tIns="0" bIns="0" anchor="t">
            <a:noAutofit/>
          </a:bodyPr>
          <a:lstStyle/>
          <a:p>
            <a:pPr algn="ctr"/>
            <a:r>
              <a:rPr sz="1200" i="0">
                <a:solidFill>
                  <a:srgbClr val="D83B01"/>
                </a:solidFill>
                <a:latin typeface="Segoe UI Semibold"/>
              </a:rPr>
              <a:t>03</a:t>
            </a:r>
          </a:p>
        </p:txBody>
      </p:sp>
      <p:sp>
        <p:nvSpPr>
          <p:cNvPr id="28" name="TextBox 27"/>
          <p:cNvSpPr txBox="1"/>
          <p:nvPr/>
        </p:nvSpPr>
        <p:spPr>
          <a:xfrm>
            <a:off x="6510528"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Review</a:t>
            </a:r>
          </a:p>
        </p:txBody>
      </p:sp>
      <p:sp>
        <p:nvSpPr>
          <p:cNvPr id="29" name="TextBox 28"/>
          <p:cNvSpPr txBox="1"/>
          <p:nvPr/>
        </p:nvSpPr>
        <p:spPr>
          <a:xfrm>
            <a:off x="6528816"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Check source fidelity and client-ready tone</a:t>
            </a:r>
          </a:p>
        </p:txBody>
      </p:sp>
      <p:sp>
        <p:nvSpPr>
          <p:cNvPr id="30" name="Chevron 29"/>
          <p:cNvSpPr/>
          <p:nvPr/>
        </p:nvSpPr>
        <p:spPr>
          <a:xfrm>
            <a:off x="8878824"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244584" y="2583180"/>
            <a:ext cx="2395728" cy="3291840"/>
          </a:xfrm>
          <a:prstGeom prst="roundRect">
            <a:avLst>
              <a:gd name="adj" fmla="val 229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985248" y="2125980"/>
            <a:ext cx="914400" cy="91440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13264"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34" name="TextBox 33"/>
          <p:cNvSpPr txBox="1"/>
          <p:nvPr/>
        </p:nvSpPr>
        <p:spPr>
          <a:xfrm>
            <a:off x="9427464" y="3150108"/>
            <a:ext cx="2029968" cy="274320"/>
          </a:xfrm>
          <a:prstGeom prst="rect">
            <a:avLst/>
          </a:prstGeom>
          <a:noFill/>
        </p:spPr>
        <p:txBody>
          <a:bodyPr wrap="square" lIns="0" rIns="0" tIns="0" bIns="0" anchor="t">
            <a:noAutofit/>
          </a:bodyPr>
          <a:lstStyle/>
          <a:p>
            <a:pPr algn="ctr"/>
            <a:r>
              <a:rPr sz="1200" i="0">
                <a:solidFill>
                  <a:srgbClr val="FFB900"/>
                </a:solidFill>
                <a:latin typeface="Segoe UI Semibold"/>
              </a:rPr>
              <a:t>04</a:t>
            </a:r>
          </a:p>
        </p:txBody>
      </p:sp>
      <p:sp>
        <p:nvSpPr>
          <p:cNvPr id="35" name="TextBox 34"/>
          <p:cNvSpPr txBox="1"/>
          <p:nvPr/>
        </p:nvSpPr>
        <p:spPr>
          <a:xfrm>
            <a:off x="9409176" y="3451860"/>
            <a:ext cx="2066544" cy="868680"/>
          </a:xfrm>
          <a:prstGeom prst="rect">
            <a:avLst/>
          </a:prstGeom>
          <a:noFill/>
        </p:spPr>
        <p:txBody>
          <a:bodyPr wrap="square" lIns="0" rIns="0" tIns="0" bIns="0" anchor="ctr">
            <a:noAutofit/>
          </a:bodyPr>
          <a:lstStyle/>
          <a:p>
            <a:pPr algn="ctr"/>
            <a:r>
              <a:rPr sz="2000" i="0">
                <a:solidFill>
                  <a:srgbClr val="1B1B1B"/>
                </a:solidFill>
                <a:latin typeface="Segoe UI Semibold"/>
              </a:rPr>
              <a:t>Measure</a:t>
            </a:r>
          </a:p>
        </p:txBody>
      </p:sp>
      <p:sp>
        <p:nvSpPr>
          <p:cNvPr id="36" name="TextBox 35"/>
          <p:cNvSpPr txBox="1"/>
          <p:nvPr/>
        </p:nvSpPr>
        <p:spPr>
          <a:xfrm>
            <a:off x="9427464" y="4366260"/>
            <a:ext cx="2029968" cy="1371600"/>
          </a:xfrm>
          <a:prstGeom prst="rect">
            <a:avLst/>
          </a:prstGeom>
          <a:noFill/>
        </p:spPr>
        <p:txBody>
          <a:bodyPr wrap="square" lIns="0" rIns="0" tIns="0" bIns="0" anchor="t">
            <a:noAutofit/>
          </a:bodyPr>
          <a:lstStyle/>
          <a:p>
            <a:pPr algn="ctr"/>
            <a:r>
              <a:rPr sz="1500" i="0">
                <a:solidFill>
                  <a:srgbClr val="505050"/>
                </a:solidFill>
                <a:latin typeface="Segoe UI"/>
              </a:rPr>
              <a:t>Record task time, quality and user experience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Make the Pilot Decision-Ready</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Proposed plan: 10 users, 2 weeks, then an evidence-based sponsor decision.</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11</a:t>
            </a:r>
          </a:p>
        </p:txBody>
      </p:sp>
      <p:sp>
        <p:nvSpPr>
          <p:cNvPr id="10" name="Rectangle 9"/>
          <p:cNvSpPr/>
          <p:nvPr/>
        </p:nvSpPr>
        <p:spPr>
          <a:xfrm>
            <a:off x="731520" y="3968496"/>
            <a:ext cx="10725912" cy="640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2580132" y="3616452"/>
            <a:ext cx="0" cy="384048"/>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397252" y="3817620"/>
            <a:ext cx="365760" cy="3657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254252"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91412" y="2382012"/>
            <a:ext cx="365760" cy="365760"/>
          </a:xfrm>
          <a:prstGeom prst="rect">
            <a:avLst/>
          </a:prstGeom>
          <a:noFill/>
        </p:spPr>
        <p:txBody>
          <a:bodyPr wrap="none" lIns="0" rIns="0" tIns="0" bIns="0" anchor="ctr">
            <a:spAutoFit/>
          </a:bodyPr>
          <a:lstStyle/>
          <a:p>
            <a:pPr algn="ctr"/>
            <a:r>
              <a:rPr sz="1785">
                <a:solidFill>
                  <a:srgbClr val="0078D4"/>
                </a:solidFill>
                <a:latin typeface="Segoe Fluent Icons"/>
              </a:rPr>
              <a:t></a:t>
            </a:r>
          </a:p>
        </p:txBody>
      </p:sp>
      <p:sp>
        <p:nvSpPr>
          <p:cNvPr id="15" name="TextBox 14"/>
          <p:cNvSpPr txBox="1"/>
          <p:nvPr/>
        </p:nvSpPr>
        <p:spPr>
          <a:xfrm>
            <a:off x="1821180" y="2354580"/>
            <a:ext cx="1965960" cy="411480"/>
          </a:xfrm>
          <a:prstGeom prst="rect">
            <a:avLst/>
          </a:prstGeom>
          <a:noFill/>
        </p:spPr>
        <p:txBody>
          <a:bodyPr wrap="square" lIns="0" rIns="0" tIns="0" bIns="0" anchor="ctr">
            <a:noAutofit/>
          </a:bodyPr>
          <a:lstStyle/>
          <a:p>
            <a:pPr algn="l"/>
            <a:r>
              <a:rPr sz="1500" i="0">
                <a:solidFill>
                  <a:srgbClr val="0078D4"/>
                </a:solidFill>
                <a:latin typeface="Segoe UI Semibold"/>
              </a:rPr>
              <a:t>Before launch</a:t>
            </a:r>
          </a:p>
        </p:txBody>
      </p:sp>
      <p:sp>
        <p:nvSpPr>
          <p:cNvPr id="16" name="TextBox 15"/>
          <p:cNvSpPr txBox="1"/>
          <p:nvPr/>
        </p:nvSpPr>
        <p:spPr>
          <a:xfrm>
            <a:off x="1391412"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CIO checks configuration</a:t>
            </a:r>
          </a:p>
        </p:txBody>
      </p:sp>
      <p:cxnSp>
        <p:nvCxnSpPr>
          <p:cNvPr id="17" name="Connector 16"/>
          <p:cNvCxnSpPr/>
          <p:nvPr/>
        </p:nvCxnSpPr>
        <p:spPr>
          <a:xfrm>
            <a:off x="6094476" y="4000500"/>
            <a:ext cx="0" cy="384048"/>
          </a:xfrm>
          <a:prstGeom prst="line">
            <a:avLst/>
          </a:prstGeom>
          <a:ln w="19050">
            <a:solidFill>
              <a:srgbClr val="107C1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911596" y="3817620"/>
            <a:ext cx="365760" cy="36576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768596" y="4384548"/>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905756" y="4521708"/>
            <a:ext cx="365760" cy="365760"/>
          </a:xfrm>
          <a:prstGeom prst="rect">
            <a:avLst/>
          </a:prstGeom>
          <a:noFill/>
        </p:spPr>
        <p:txBody>
          <a:bodyPr wrap="none" lIns="0" rIns="0" tIns="0" bIns="0" anchor="ctr">
            <a:spAutoFit/>
          </a:bodyPr>
          <a:lstStyle/>
          <a:p>
            <a:pPr algn="ctr"/>
            <a:r>
              <a:rPr sz="1785">
                <a:solidFill>
                  <a:srgbClr val="107C10"/>
                </a:solidFill>
                <a:latin typeface="Segoe Fluent Icons"/>
              </a:rPr>
              <a:t></a:t>
            </a:r>
          </a:p>
        </p:txBody>
      </p:sp>
      <p:sp>
        <p:nvSpPr>
          <p:cNvPr id="21" name="TextBox 20"/>
          <p:cNvSpPr txBox="1"/>
          <p:nvPr/>
        </p:nvSpPr>
        <p:spPr>
          <a:xfrm>
            <a:off x="5335524" y="4494276"/>
            <a:ext cx="1965960" cy="411480"/>
          </a:xfrm>
          <a:prstGeom prst="rect">
            <a:avLst/>
          </a:prstGeom>
          <a:noFill/>
        </p:spPr>
        <p:txBody>
          <a:bodyPr wrap="square" lIns="0" rIns="0" tIns="0" bIns="0" anchor="ctr">
            <a:noAutofit/>
          </a:bodyPr>
          <a:lstStyle/>
          <a:p>
            <a:pPr algn="l"/>
            <a:r>
              <a:rPr sz="1500" i="0">
                <a:solidFill>
                  <a:srgbClr val="107C10"/>
                </a:solidFill>
                <a:latin typeface="Segoe UI Semibold"/>
              </a:rPr>
              <a:t>During pilot</a:t>
            </a:r>
          </a:p>
        </p:txBody>
      </p:sp>
      <p:sp>
        <p:nvSpPr>
          <p:cNvPr id="22" name="TextBox 21"/>
          <p:cNvSpPr txBox="1"/>
          <p:nvPr/>
        </p:nvSpPr>
        <p:spPr>
          <a:xfrm>
            <a:off x="4905756" y="4951476"/>
            <a:ext cx="2377440" cy="731520"/>
          </a:xfrm>
          <a:prstGeom prst="rect">
            <a:avLst/>
          </a:prstGeom>
          <a:noFill/>
        </p:spPr>
        <p:txBody>
          <a:bodyPr wrap="square" lIns="0" rIns="0" tIns="0" bIns="0" anchor="t">
            <a:noAutofit/>
          </a:bodyPr>
          <a:lstStyle/>
          <a:p>
            <a:pPr algn="l"/>
            <a:r>
              <a:rPr sz="1500" i="0">
                <a:solidFill>
                  <a:srgbClr val="1B1B1B"/>
                </a:solidFill>
                <a:latin typeface="Segoe UI"/>
              </a:rPr>
              <a:t>Practice reviews drafts</a:t>
            </a:r>
          </a:p>
        </p:txBody>
      </p:sp>
      <p:cxnSp>
        <p:nvCxnSpPr>
          <p:cNvPr id="23" name="Connector 22"/>
          <p:cNvCxnSpPr/>
          <p:nvPr/>
        </p:nvCxnSpPr>
        <p:spPr>
          <a:xfrm flipV="1">
            <a:off x="9608820" y="3616452"/>
            <a:ext cx="0" cy="384048"/>
          </a:xfrm>
          <a:prstGeom prst="line">
            <a:avLst/>
          </a:prstGeom>
          <a:ln w="19050">
            <a:solidFill>
              <a:srgbClr val="D83B01"/>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425940" y="3817620"/>
            <a:ext cx="365760" cy="36576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82940"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20100" y="2382012"/>
            <a:ext cx="365760" cy="365760"/>
          </a:xfrm>
          <a:prstGeom prst="rect">
            <a:avLst/>
          </a:prstGeom>
          <a:noFill/>
        </p:spPr>
        <p:txBody>
          <a:bodyPr wrap="none" lIns="0" rIns="0" tIns="0" bIns="0" anchor="ctr">
            <a:spAutoFit/>
          </a:bodyPr>
          <a:lstStyle/>
          <a:p>
            <a:pPr algn="ctr"/>
            <a:r>
              <a:rPr sz="1785">
                <a:solidFill>
                  <a:srgbClr val="D83B01"/>
                </a:solidFill>
                <a:latin typeface="Segoe Fluent Icons"/>
              </a:rPr>
              <a:t></a:t>
            </a:r>
          </a:p>
        </p:txBody>
      </p:sp>
      <p:sp>
        <p:nvSpPr>
          <p:cNvPr id="27" name="TextBox 26"/>
          <p:cNvSpPr txBox="1"/>
          <p:nvPr/>
        </p:nvSpPr>
        <p:spPr>
          <a:xfrm>
            <a:off x="8849868" y="2354580"/>
            <a:ext cx="1965960" cy="411480"/>
          </a:xfrm>
          <a:prstGeom prst="rect">
            <a:avLst/>
          </a:prstGeom>
          <a:noFill/>
        </p:spPr>
        <p:txBody>
          <a:bodyPr wrap="square" lIns="0" rIns="0" tIns="0" bIns="0" anchor="ctr">
            <a:noAutofit/>
          </a:bodyPr>
          <a:lstStyle/>
          <a:p>
            <a:pPr algn="l"/>
            <a:r>
              <a:rPr sz="1500" i="0">
                <a:solidFill>
                  <a:srgbClr val="D83B01"/>
                </a:solidFill>
                <a:latin typeface="Segoe UI Semibold"/>
              </a:rPr>
              <a:t>After 2 weeks</a:t>
            </a:r>
          </a:p>
        </p:txBody>
      </p:sp>
      <p:sp>
        <p:nvSpPr>
          <p:cNvPr id="28" name="TextBox 27"/>
          <p:cNvSpPr txBox="1"/>
          <p:nvPr/>
        </p:nvSpPr>
        <p:spPr>
          <a:xfrm>
            <a:off x="8420100"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Sponsors decide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Approve a Measured Start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Authorize the pilot, not a rollout or a promised capacity gain.</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12</a:t>
            </a:r>
          </a:p>
        </p:txBody>
      </p:sp>
      <p:sp>
        <p:nvSpPr>
          <p:cNvPr id="10" name="Rounded Rectangle 9"/>
          <p:cNvSpPr/>
          <p:nvPr/>
        </p:nvSpPr>
        <p:spPr>
          <a:xfrm>
            <a:off x="548640"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2960" y="2103120"/>
            <a:ext cx="640080" cy="64008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1</a:t>
            </a:r>
          </a:p>
        </p:txBody>
      </p:sp>
      <p:sp>
        <p:nvSpPr>
          <p:cNvPr id="13" name="TextBox 12"/>
          <p:cNvSpPr txBox="1"/>
          <p:nvPr/>
        </p:nvSpPr>
        <p:spPr>
          <a:xfrm>
            <a:off x="3331464" y="2176272"/>
            <a:ext cx="475488" cy="475488"/>
          </a:xfrm>
          <a:prstGeom prst="rect">
            <a:avLst/>
          </a:prstGeom>
          <a:noFill/>
        </p:spPr>
        <p:txBody>
          <a:bodyPr wrap="none" lIns="0" rIns="0" tIns="0" bIns="0" anchor="ctr">
            <a:spAutoFit/>
          </a:bodyPr>
          <a:lstStyle/>
          <a:p>
            <a:pPr algn="ctr"/>
            <a:r>
              <a:rPr sz="2321">
                <a:solidFill>
                  <a:srgbClr val="0078D4"/>
                </a:solidFill>
                <a:latin typeface="Segoe Fluent Icons"/>
              </a:rPr>
              <a:t></a:t>
            </a:r>
          </a:p>
        </p:txBody>
      </p:sp>
      <p:sp>
        <p:nvSpPr>
          <p:cNvPr id="14" name="TextBox 13"/>
          <p:cNvSpPr txBox="1"/>
          <p:nvPr/>
        </p:nvSpPr>
        <p:spPr>
          <a:xfrm>
            <a:off x="822960"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Nominate participants</a:t>
            </a:r>
          </a:p>
        </p:txBody>
      </p:sp>
      <p:sp>
        <p:nvSpPr>
          <p:cNvPr id="15" name="TextBox 14"/>
          <p:cNvSpPr txBox="1"/>
          <p:nvPr/>
        </p:nvSpPr>
        <p:spPr>
          <a:xfrm>
            <a:off x="822960"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10 traveling consultants</a:t>
            </a:r>
          </a:p>
        </p:txBody>
      </p:sp>
      <p:sp>
        <p:nvSpPr>
          <p:cNvPr id="16" name="Rounded Rectangle 15"/>
          <p:cNvSpPr/>
          <p:nvPr/>
        </p:nvSpPr>
        <p:spPr>
          <a:xfrm>
            <a:off x="4337304"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11624"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11624"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2</a:t>
            </a:r>
          </a:p>
        </p:txBody>
      </p:sp>
      <p:sp>
        <p:nvSpPr>
          <p:cNvPr id="19" name="TextBox 18"/>
          <p:cNvSpPr txBox="1"/>
          <p:nvPr/>
        </p:nvSpPr>
        <p:spPr>
          <a:xfrm>
            <a:off x="7120128" y="2176272"/>
            <a:ext cx="475488" cy="475488"/>
          </a:xfrm>
          <a:prstGeom prst="rect">
            <a:avLst/>
          </a:prstGeom>
          <a:noFill/>
        </p:spPr>
        <p:txBody>
          <a:bodyPr wrap="none" lIns="0" rIns="0" tIns="0" bIns="0" anchor="ctr">
            <a:spAutoFit/>
          </a:bodyPr>
          <a:lstStyle/>
          <a:p>
            <a:pPr algn="ctr"/>
            <a:r>
              <a:rPr sz="2321">
                <a:solidFill>
                  <a:srgbClr val="107C10"/>
                </a:solidFill>
                <a:latin typeface="Segoe Fluent Icons"/>
              </a:rPr>
              <a:t></a:t>
            </a:r>
          </a:p>
        </p:txBody>
      </p:sp>
      <p:sp>
        <p:nvSpPr>
          <p:cNvPr id="20" name="TextBox 19"/>
          <p:cNvSpPr txBox="1"/>
          <p:nvPr/>
        </p:nvSpPr>
        <p:spPr>
          <a:xfrm>
            <a:off x="4611624"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Authorize the trial</a:t>
            </a:r>
          </a:p>
        </p:txBody>
      </p:sp>
      <p:sp>
        <p:nvSpPr>
          <p:cNvPr id="21" name="TextBox 20"/>
          <p:cNvSpPr txBox="1"/>
          <p:nvPr/>
        </p:nvSpPr>
        <p:spPr>
          <a:xfrm>
            <a:off x="4611624"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2 weeks alongside Microsoft 365 Copilot</a:t>
            </a:r>
          </a:p>
        </p:txBody>
      </p:sp>
      <p:sp>
        <p:nvSpPr>
          <p:cNvPr id="22" name="Rounded Rectangle 21"/>
          <p:cNvSpPr/>
          <p:nvPr/>
        </p:nvSpPr>
        <p:spPr>
          <a:xfrm>
            <a:off x="8125968" y="1828800"/>
            <a:ext cx="3514344"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400288" y="2103120"/>
            <a:ext cx="640080" cy="64008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00288"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3</a:t>
            </a:r>
          </a:p>
        </p:txBody>
      </p:sp>
      <p:sp>
        <p:nvSpPr>
          <p:cNvPr id="25" name="TextBox 24"/>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D83B01"/>
                </a:solidFill>
                <a:latin typeface="Segoe Fluent Icons"/>
              </a:rPr>
              <a:t></a:t>
            </a:r>
          </a:p>
        </p:txBody>
      </p:sp>
      <p:sp>
        <p:nvSpPr>
          <p:cNvPr id="26" name="TextBox 25"/>
          <p:cNvSpPr txBox="1"/>
          <p:nvPr/>
        </p:nvSpPr>
        <p:spPr>
          <a:xfrm>
            <a:off x="8400288"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Agree the scorecard</a:t>
            </a:r>
          </a:p>
        </p:txBody>
      </p:sp>
      <p:sp>
        <p:nvSpPr>
          <p:cNvPr id="27" name="TextBox 26"/>
          <p:cNvSpPr txBox="1"/>
          <p:nvPr/>
        </p:nvSpPr>
        <p:spPr>
          <a:xfrm>
            <a:off x="8400288" y="3657600"/>
            <a:ext cx="2965704" cy="960120"/>
          </a:xfrm>
          <a:prstGeom prst="rect">
            <a:avLst/>
          </a:prstGeom>
          <a:noFill/>
        </p:spPr>
        <p:txBody>
          <a:bodyPr wrap="square" lIns="0" rIns="0" tIns="0" bIns="0" anchor="t">
            <a:noAutofit/>
          </a:bodyPr>
          <a:lstStyle/>
          <a:p>
            <a:pPr algn="l"/>
            <a:r>
              <a:rPr sz="1500" i="0">
                <a:solidFill>
                  <a:srgbClr val="505050"/>
                </a:solidFill>
                <a:latin typeface="Segoe UI"/>
              </a:rPr>
              <a:t>Task time, draft quality and user experience</a:t>
            </a:r>
          </a:p>
        </p:txBody>
      </p:sp>
      <p:sp>
        <p:nvSpPr>
          <p:cNvPr id="28" name="Rounded Rectangle 27"/>
          <p:cNvSpPr/>
          <p:nvPr/>
        </p:nvSpPr>
        <p:spPr>
          <a:xfrm>
            <a:off x="548640" y="5029200"/>
            <a:ext cx="11091672" cy="1143000"/>
          </a:xfrm>
          <a:prstGeom prst="roundRect">
            <a:avLst>
              <a:gd name="adj" fmla="val 48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0" name="TextBox 29"/>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FFFFFF"/>
                </a:solidFill>
                <a:latin typeface="Segoe UI Semibold"/>
              </a:rPr>
              <a:t>Approve the 10-user, 2-week 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Local AI Lane for Contoso</dc:title>
  <dc:subject/>
  <dc:creator>Offline PPTX Forge</dc:creator>
  <cp:keywords/>
  <dc:description>Generated offline; template=microsoft</dc:description>
  <cp:lastModifiedBy>Steve Canny</cp:lastModifiedBy>
  <cp:revision>1</cp:revision>
  <dcterms:created xsi:type="dcterms:W3CDTF">2013-01-27T09:14:16Z</dcterms:created>
  <dcterms:modified xsi:type="dcterms:W3CDTF">2013-01-27T09:15:58Z</dcterms:modified>
  <cp:category/>
</cp:coreProperties>
</file>