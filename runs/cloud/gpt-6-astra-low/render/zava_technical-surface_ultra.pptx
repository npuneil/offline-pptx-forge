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4B5162"/>
            </a:solidFill>
          </c:spPr>
          <c:dPt>
            <c:idx val="0"/>
            <c:spPr>
              <a:solidFill>
                <a:srgbClr val="76B900"/>
              </a:solidFill>
            </c:spPr>
          </c:dPt>
          <c:cat>
            <c:strRef>
              <c:f>Sheet1!$A$2:$A$4</c:f>
              <c:strCache>
                <c:ptCount val="3"/>
                <c:pt idx="0">
                  <c:v>Qwen3-Coder 30B</c:v>
                </c:pt>
                <c:pt idx="1">
                  <c:v>Gemma 4 26B</c:v>
                </c:pt>
                <c:pt idx="2">
                  <c:v>Dense Qwen3.6 27B</c:v>
                </c:pt>
              </c:strCache>
            </c:strRef>
          </c:cat>
          <c:val>
            <c:numRef>
              <c:f>Sheet1!$B$2:$B$4</c:f>
              <c:numCache>
                <c:formatCode>General</c:formatCode>
                <c:ptCount val="3"/>
                <c:pt idx="0">
                  <c:v>86.0</c:v>
                </c:pt>
                <c:pt idx="1">
                  <c:v>72.0</c:v>
                </c:pt>
                <c:pt idx="2">
                  <c:v>13.0</c:v>
                </c:pt>
              </c:numCache>
            </c:numRef>
          </c:val>
        </c:ser>
        <c:dLbls>
          <c:numFmt formatCode="#,##0&quot; tokens/s&quot;" sourceLinked="0"/>
          <c:txPr>
            <a:bodyPr/>
            <a:lstStyle/>
            <a:p>
              <a:pPr>
                <a:defRPr sz="1500" b="1">
                  <a:solidFill>
                    <a:srgbClr val="F4F6FA"/>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F4F6FA"/>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F4F6FA"/>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was generated on this Surface Laptop Ultra by Qwen3-Coder 30B through llama.cpp, with no cloud calls. For Zava's roughly 150 developers and architects, the question is practical: can local assistants support sensitive engineering work while preserving a controlled cloud option?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installed runtimes are llama.cpp build 11573, native ARM64 with CUDA, and Foundry Local with its CUDA execution provider. These are runtime options, not an assertion that every catalog model works identically in both. The catalog occupies disk storage; it is not a simultaneously loaded model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sum these values or label system RAM as dedicated VRAM. They are distinct views, not independent capacity pools. Model files, context caches, runtime allocations and other workloads affect practical fit. The pilot should observe actual memory behavior rather than infer usable capacity by adding reported figures.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Qwen3-Coder 30B is MoE with about 3B active parameters per token. Its Q4_K_M file is 17.3 GiB. Activating selected experts helps explain faster decode than similarly sized dense models. Sparse activation does not mean only active parameters need storage, and speed does not establish answer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throughput measurements are from Local-AI-Bench on this device in October 2026, on a shared machine. They are not guaranteed specifications or comparisons against other devices. Qwen3-Coder also measured about 0.13 seconds to first token. These observations compare decode behavior, not accuracy or equivalent task completion.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right side recommends testing concurrency, not assuming concurrency improves individual latency. Qwen3-Coder 30B and Gemma 4 26B results are approximate Local-AI-Bench observations from October 2026 on this shared device. Aggregate tokens per second is not a per-developer rate, and the pilot cohort does not imply simultaneous streams.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bands are planning estimates in parameters, not accuracy rankings or memory guarantees. Evaluate candidates on Zava tasks, considering quantization, context length, runtime compatibility and observed resource use. A larger model is not automatically better. The local catalog offers candidates rather than a promise of equal suitability.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 a local index over approved internal engineering documents. Retrieve passages within the developer's permissions, then supply that context to the local model. Source references support review but do not guarantee correctness. RAG supplies context at inference time; it is not the same as training the model on Zava's documents.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proposed pilot architecture, not a claim of already implemented controls. IDE requests use local inference for code generation; document questions add permissioned retrieval. Local inference uses llama.cpp or Foundry Local. The policy router permits only approved, nonsensitive payloads to cloud reasoning. Sensitive prompts must not silently fail over to cloud.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Interpret this flow as routing policy checkpoints, not a requirement to send every request through both execution lanes. Sensitive tasks stay local. Heaviest reasoning may use cloud models only with approved payloads. If a request cannot safely leave the device, keep it local or stop. Local execution is not an air-gap or certification claim.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Enroll 10 developers for two weeks. Agree task samples and acceptance definitions before starting. Record acceptance rate, time to first token, completion latency and developer experience, distinguishing code generation from retrieval and noting contention. Review routing behavior and answer sources. Set decision criteria with Zava; no success thresholds or productivity gains are asserted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an engineering owner, participating developers and an approved task and document scope. The device has demonstrated local model execution and generated this deck locally. The pilot now tests whether that capability meets Zava's workflow needs. Expand only after reviewing observed results and IP handling, rather than treating benchmark throughput as a deployment guarantee.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62179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22960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315200" y="1234440"/>
            <a:ext cx="4297680" cy="4297680"/>
          </a:xfrm>
          <a:prstGeom prst="ellipse">
            <a:avLst/>
          </a:prstGeom>
          <a:noFill/>
          <a:ln w="15875">
            <a:solidFill>
              <a:srgbClr val="76B900"/>
            </a:solidFill>
          </a:ln>
          <a:effectLst>
            <a:glow rad="1016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772400" y="1691640"/>
            <a:ext cx="3383280" cy="3383280"/>
          </a:xfrm>
          <a:prstGeom prst="ellipse">
            <a:avLst/>
          </a:prstGeom>
          <a:noFill/>
          <a:ln w="22225">
            <a:solidFill>
              <a:srgbClr val="3DA9FC"/>
            </a:solidFill>
          </a:ln>
          <a:effectLst>
            <a:glow rad="101600">
              <a:srgbClr val="3DA9FC">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8229600" y="2148840"/>
            <a:ext cx="2468880" cy="2468880"/>
          </a:xfrm>
          <a:prstGeom prst="ellipse">
            <a:avLst/>
          </a:prstGeom>
          <a:noFill/>
          <a:ln w="28575">
            <a:solidFill>
              <a:srgbClr val="9B6BFF"/>
            </a:solidFill>
          </a:ln>
          <a:effectLst>
            <a:glow rad="101600">
              <a:srgbClr val="9B6BFF">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595360" y="2514600"/>
            <a:ext cx="1737360" cy="1737360"/>
          </a:xfrm>
          <a:prstGeom prst="ellipse">
            <a:avLst/>
          </a:prstGeom>
          <a:solidFill>
            <a:srgbClr val="141824"/>
          </a:solidFill>
          <a:ln>
            <a:noFill/>
          </a:ln>
          <a:effectLst>
            <a:glow rad="3048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42248" y="2743200"/>
            <a:ext cx="1243584" cy="1243584"/>
          </a:xfrm>
          <a:prstGeom prst="rect">
            <a:avLst/>
          </a:prstGeom>
          <a:noFill/>
        </p:spPr>
        <p:txBody>
          <a:bodyPr wrap="none" lIns="0" rIns="0" tIns="0" bIns="0" anchor="ctr">
            <a:spAutoFit/>
          </a:bodyPr>
          <a:lstStyle/>
          <a:p>
            <a:pPr algn="ctr"/>
            <a:r>
              <a:rPr sz="6071">
                <a:solidFill>
                  <a:srgbClr val="76B900"/>
                </a:solidFill>
                <a:latin typeface="Segoe Fluent Icons"/>
              </a:rPr>
              <a:t></a:t>
            </a:r>
          </a:p>
        </p:txBody>
      </p:sp>
      <p:sp>
        <p:nvSpPr>
          <p:cNvPr id="9" name="Oval 8"/>
          <p:cNvSpPr/>
          <p:nvPr/>
        </p:nvSpPr>
        <p:spPr>
          <a:xfrm>
            <a:off x="6967728" y="3035808"/>
            <a:ext cx="694944" cy="694944"/>
          </a:xfrm>
          <a:prstGeom prst="ellipse">
            <a:avLst/>
          </a:prstGeom>
          <a:solidFill>
            <a:srgbClr val="141824"/>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04888" y="3172968"/>
            <a:ext cx="420624" cy="420624"/>
          </a:xfrm>
          <a:prstGeom prst="rect">
            <a:avLst/>
          </a:prstGeom>
          <a:noFill/>
        </p:spPr>
        <p:txBody>
          <a:bodyPr wrap="none" lIns="0" rIns="0" tIns="0" bIns="0" anchor="ctr">
            <a:spAutoFit/>
          </a:bodyPr>
          <a:lstStyle/>
          <a:p>
            <a:pPr algn="ctr"/>
            <a:r>
              <a:rPr sz="2053">
                <a:solidFill>
                  <a:srgbClr val="76B900"/>
                </a:solidFill>
                <a:latin typeface="Segoe Fluent Icons"/>
              </a:rPr>
              <a:t></a:t>
            </a:r>
          </a:p>
        </p:txBody>
      </p:sp>
      <p:sp>
        <p:nvSpPr>
          <p:cNvPr id="11" name="Oval 10"/>
          <p:cNvSpPr/>
          <p:nvPr/>
        </p:nvSpPr>
        <p:spPr>
          <a:xfrm>
            <a:off x="11265408" y="3035808"/>
            <a:ext cx="694944" cy="694944"/>
          </a:xfrm>
          <a:prstGeom prst="ellipse">
            <a:avLst/>
          </a:prstGeom>
          <a:solidFill>
            <a:srgbClr val="141824"/>
          </a:solidFill>
          <a:ln w="19050">
            <a:solidFill>
              <a:srgbClr val="3DA9F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02568" y="3172968"/>
            <a:ext cx="420624" cy="420624"/>
          </a:xfrm>
          <a:prstGeom prst="rect">
            <a:avLst/>
          </a:prstGeom>
          <a:noFill/>
        </p:spPr>
        <p:txBody>
          <a:bodyPr wrap="none" lIns="0" rIns="0" tIns="0" bIns="0" anchor="ctr">
            <a:spAutoFit/>
          </a:bodyPr>
          <a:lstStyle/>
          <a:p>
            <a:pPr algn="ctr"/>
            <a:r>
              <a:rPr sz="2053">
                <a:solidFill>
                  <a:srgbClr val="3DA9FC"/>
                </a:solidFill>
                <a:latin typeface="Segoe Fluent Icons"/>
              </a:rPr>
              <a:t></a:t>
            </a:r>
          </a:p>
        </p:txBody>
      </p:sp>
      <p:sp>
        <p:nvSpPr>
          <p:cNvPr id="13" name="Oval 12"/>
          <p:cNvSpPr/>
          <p:nvPr/>
        </p:nvSpPr>
        <p:spPr>
          <a:xfrm>
            <a:off x="9116568" y="886968"/>
            <a:ext cx="694944" cy="694944"/>
          </a:xfrm>
          <a:prstGeom prst="ellipse">
            <a:avLst/>
          </a:prstGeom>
          <a:solidFill>
            <a:srgbClr val="141824"/>
          </a:solidFill>
          <a:ln w="19050">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53728" y="1024128"/>
            <a:ext cx="420624" cy="420624"/>
          </a:xfrm>
          <a:prstGeom prst="rect">
            <a:avLst/>
          </a:prstGeom>
          <a:noFill/>
        </p:spPr>
        <p:txBody>
          <a:bodyPr wrap="none" lIns="0" rIns="0" tIns="0" bIns="0" anchor="ctr">
            <a:spAutoFit/>
          </a:bodyPr>
          <a:lstStyle/>
          <a:p>
            <a:pPr algn="ctr"/>
            <a:r>
              <a:rPr sz="2053">
                <a:solidFill>
                  <a:srgbClr val="9B6BFF"/>
                </a:solidFill>
                <a:latin typeface="Segoe Fluent Icons"/>
              </a:rPr>
              <a:t></a:t>
            </a:r>
          </a:p>
        </p:txBody>
      </p:sp>
      <p:sp>
        <p:nvSpPr>
          <p:cNvPr id="15" name="Oval 14"/>
          <p:cNvSpPr/>
          <p:nvPr/>
        </p:nvSpPr>
        <p:spPr>
          <a:xfrm>
            <a:off x="9116568" y="5184648"/>
            <a:ext cx="694944" cy="694944"/>
          </a:xfrm>
          <a:prstGeom prst="ellipse">
            <a:avLst/>
          </a:prstGeom>
          <a:solidFill>
            <a:srgbClr val="141824"/>
          </a:solidFill>
          <a:ln w="19050">
            <a:solidFill>
              <a:srgbClr val="FFB54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53728" y="5321808"/>
            <a:ext cx="420624" cy="420624"/>
          </a:xfrm>
          <a:prstGeom prst="rect">
            <a:avLst/>
          </a:prstGeom>
          <a:noFill/>
        </p:spPr>
        <p:txBody>
          <a:bodyPr wrap="none" lIns="0" rIns="0" tIns="0" bIns="0" anchor="ctr">
            <a:spAutoFit/>
          </a:bodyPr>
          <a:lstStyle/>
          <a:p>
            <a:pPr algn="ctr"/>
            <a:r>
              <a:rPr sz="2053">
                <a:solidFill>
                  <a:srgbClr val="FFB547"/>
                </a:solidFill>
                <a:latin typeface="Segoe Fluent Icons"/>
              </a:rPr>
              <a:t></a:t>
            </a:r>
          </a:p>
        </p:txBody>
      </p:sp>
      <p:sp>
        <p:nvSpPr>
          <p:cNvPr id="17" name="TextBox 16"/>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76B900"/>
                </a:solidFill>
                <a:latin typeface="Segoe UI Semibold"/>
              </a:rPr>
              <a:t>ZAVA ENGINEERING</a:t>
            </a:r>
          </a:p>
        </p:txBody>
      </p:sp>
      <p:sp>
        <p:nvSpPr>
          <p:cNvPr id="18" name="TextBox 17"/>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F4F6FA"/>
                </a:solidFill>
                <a:latin typeface="Segoe UI Semibold"/>
              </a:rPr>
              <a:t>Your IP. Your Local AI Stack.</a:t>
            </a:r>
          </a:p>
        </p:txBody>
      </p:sp>
      <p:sp>
        <p:nvSpPr>
          <p:cNvPr id="19" name="TextBox 18"/>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AEB6C8"/>
                </a:solidFill>
                <a:latin typeface="Segoe UI"/>
              </a:rPr>
              <a:t>Surface Laptop Ultra: local code, grounded answers, selective cloud</a:t>
            </a:r>
          </a:p>
        </p:txBody>
      </p:sp>
      <p:sp>
        <p:nvSpPr>
          <p:cNvPr id="20" name="TextBox 19"/>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6F7890"/>
                </a:solidFill>
                <a:latin typeface="Segoe UI"/>
              </a:rPr>
              <a:t>Surface Laptop Ultra  |  NVIDIA RTX Spark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From Developer Tools To Blackwell</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Local runtimes connect developer workflows to accelerated hardware.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2</a:t>
            </a:r>
          </a:p>
        </p:txBody>
      </p:sp>
      <p:sp>
        <p:nvSpPr>
          <p:cNvPr id="9" name="Rounded Rectangle 8"/>
          <p:cNvSpPr/>
          <p:nvPr/>
        </p:nvSpPr>
        <p:spPr>
          <a:xfrm>
            <a:off x="548640" y="1888236"/>
            <a:ext cx="9262872" cy="960120"/>
          </a:xfrm>
          <a:prstGeom prst="roundRect">
            <a:avLst>
              <a:gd name="adj" fmla="val 13333"/>
            </a:avLst>
          </a:prstGeom>
          <a:solidFill>
            <a:srgbClr val="141824"/>
          </a:solidFill>
          <a:ln w="12700">
            <a:solidFill>
              <a:srgbClr val="40601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640080" y="1979676"/>
            <a:ext cx="777240" cy="777240"/>
          </a:xfrm>
          <a:prstGeom prst="roundRect">
            <a:avLst>
              <a:gd name="adj" fmla="val 14117"/>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79983" y="2119579"/>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2" name="TextBox 11"/>
          <p:cNvSpPr txBox="1"/>
          <p:nvPr/>
        </p:nvSpPr>
        <p:spPr>
          <a:xfrm>
            <a:off x="1618488" y="1961388"/>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Developer workflows</a:t>
            </a:r>
          </a:p>
        </p:txBody>
      </p:sp>
      <p:sp>
        <p:nvSpPr>
          <p:cNvPr id="13" name="TextBox 12"/>
          <p:cNvSpPr txBox="1"/>
          <p:nvPr/>
        </p:nvSpPr>
        <p:spPr>
          <a:xfrm>
            <a:off x="4773168" y="1961388"/>
            <a:ext cx="4855464" cy="813816"/>
          </a:xfrm>
          <a:prstGeom prst="rect">
            <a:avLst/>
          </a:prstGeom>
          <a:noFill/>
        </p:spPr>
        <p:txBody>
          <a:bodyPr wrap="square" lIns="0" rIns="0" tIns="0" bIns="0" anchor="ctr">
            <a:noAutofit/>
          </a:bodyPr>
          <a:lstStyle/>
          <a:p>
            <a:pPr algn="l"/>
            <a:r>
              <a:rPr sz="1600" i="0">
                <a:solidFill>
                  <a:srgbClr val="AEB6C8"/>
                </a:solidFill>
                <a:latin typeface="Segoe UI"/>
              </a:rPr>
              <a:t>Code generation and internal engineering document retrieval</a:t>
            </a:r>
          </a:p>
        </p:txBody>
      </p:sp>
      <p:sp>
        <p:nvSpPr>
          <p:cNvPr id="14" name="Rounded Rectangle 13"/>
          <p:cNvSpPr/>
          <p:nvPr/>
        </p:nvSpPr>
        <p:spPr>
          <a:xfrm>
            <a:off x="548640" y="2976372"/>
            <a:ext cx="9262872" cy="960120"/>
          </a:xfrm>
          <a:prstGeom prst="roundRect">
            <a:avLst>
              <a:gd name="adj" fmla="val 13333"/>
            </a:avLst>
          </a:prstGeom>
          <a:solidFill>
            <a:srgbClr val="141824"/>
          </a:solidFill>
          <a:ln w="12700">
            <a:solidFill>
              <a:srgbClr val="2659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40080" y="3067812"/>
            <a:ext cx="777240" cy="777240"/>
          </a:xfrm>
          <a:prstGeom prst="roundRect">
            <a:avLst>
              <a:gd name="adj" fmla="val 14117"/>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9983" y="3207715"/>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17" name="TextBox 16"/>
          <p:cNvSpPr txBox="1"/>
          <p:nvPr/>
        </p:nvSpPr>
        <p:spPr>
          <a:xfrm>
            <a:off x="1618488" y="3049524"/>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Local model catalog</a:t>
            </a:r>
          </a:p>
        </p:txBody>
      </p:sp>
      <p:sp>
        <p:nvSpPr>
          <p:cNvPr id="18" name="TextBox 17"/>
          <p:cNvSpPr txBox="1"/>
          <p:nvPr/>
        </p:nvSpPr>
        <p:spPr>
          <a:xfrm>
            <a:off x="4773168" y="3049524"/>
            <a:ext cx="4855464" cy="813816"/>
          </a:xfrm>
          <a:prstGeom prst="rect">
            <a:avLst/>
          </a:prstGeom>
          <a:noFill/>
        </p:spPr>
        <p:txBody>
          <a:bodyPr wrap="square" lIns="0" rIns="0" tIns="0" bIns="0" anchor="ctr">
            <a:noAutofit/>
          </a:bodyPr>
          <a:lstStyle/>
          <a:p>
            <a:pPr algn="l"/>
            <a:r>
              <a:rPr sz="1600" i="0">
                <a:solidFill>
                  <a:srgbClr val="AEB6C8"/>
                </a:solidFill>
                <a:latin typeface="Segoe UI"/>
              </a:rPr>
              <a:t>28 open models; 315 GiB on disk</a:t>
            </a:r>
          </a:p>
        </p:txBody>
      </p:sp>
      <p:sp>
        <p:nvSpPr>
          <p:cNvPr id="19" name="Rounded Rectangle 18"/>
          <p:cNvSpPr/>
          <p:nvPr/>
        </p:nvSpPr>
        <p:spPr>
          <a:xfrm>
            <a:off x="548640" y="4064508"/>
            <a:ext cx="9262872" cy="960120"/>
          </a:xfrm>
          <a:prstGeom prst="roundRect">
            <a:avLst>
              <a:gd name="adj" fmla="val 13333"/>
            </a:avLst>
          </a:prstGeom>
          <a:solidFill>
            <a:srgbClr val="141824"/>
          </a:solidFill>
          <a:ln w="12700">
            <a:solidFill>
              <a:srgbClr val="513D8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40080" y="4155948"/>
            <a:ext cx="777240" cy="777240"/>
          </a:xfrm>
          <a:prstGeom prst="roundRect">
            <a:avLst>
              <a:gd name="adj" fmla="val 14117"/>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79983" y="4295851"/>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2" name="TextBox 21"/>
          <p:cNvSpPr txBox="1"/>
          <p:nvPr/>
        </p:nvSpPr>
        <p:spPr>
          <a:xfrm>
            <a:off x="1618488" y="4137660"/>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Accelerated runtimes</a:t>
            </a:r>
          </a:p>
        </p:txBody>
      </p:sp>
      <p:sp>
        <p:nvSpPr>
          <p:cNvPr id="23" name="TextBox 22"/>
          <p:cNvSpPr txBox="1"/>
          <p:nvPr/>
        </p:nvSpPr>
        <p:spPr>
          <a:xfrm>
            <a:off x="4773168" y="4137660"/>
            <a:ext cx="4855464" cy="813816"/>
          </a:xfrm>
          <a:prstGeom prst="rect">
            <a:avLst/>
          </a:prstGeom>
          <a:noFill/>
        </p:spPr>
        <p:txBody>
          <a:bodyPr wrap="square" lIns="0" rIns="0" tIns="0" bIns="0" anchor="ctr">
            <a:noAutofit/>
          </a:bodyPr>
          <a:lstStyle/>
          <a:p>
            <a:pPr algn="l"/>
            <a:r>
              <a:rPr sz="1600" i="0">
                <a:solidFill>
                  <a:srgbClr val="AEB6C8"/>
                </a:solidFill>
                <a:latin typeface="Segoe UI"/>
              </a:rPr>
              <a:t>llama.cpp ARM64 CUDA; Foundry Local CUDA provider</a:t>
            </a:r>
          </a:p>
        </p:txBody>
      </p:sp>
      <p:sp>
        <p:nvSpPr>
          <p:cNvPr id="24" name="Rounded Rectangle 23"/>
          <p:cNvSpPr/>
          <p:nvPr/>
        </p:nvSpPr>
        <p:spPr>
          <a:xfrm>
            <a:off x="548640" y="5152644"/>
            <a:ext cx="9262872" cy="960120"/>
          </a:xfrm>
          <a:prstGeom prst="roundRect">
            <a:avLst>
              <a:gd name="adj" fmla="val 13333"/>
            </a:avLst>
          </a:prstGeom>
          <a:solidFill>
            <a:srgbClr val="141824"/>
          </a:solidFill>
          <a:ln w="12700">
            <a:solidFill>
              <a:srgbClr val="7E5F3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40080" y="5244084"/>
            <a:ext cx="777240" cy="777240"/>
          </a:xfrm>
          <a:prstGeom prst="roundRect">
            <a:avLst>
              <a:gd name="adj" fmla="val 14117"/>
            </a:avLst>
          </a:prstGeom>
          <a:solidFill>
            <a:srgbClr val="FFB547"/>
          </a:solidFill>
          <a:ln>
            <a:noFill/>
          </a:ln>
          <a:effectLst>
            <a:glow rad="101600">
              <a:srgbClr val="FFB547">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79983" y="5383987"/>
            <a:ext cx="497434" cy="497434"/>
          </a:xfrm>
          <a:prstGeom prst="rect">
            <a:avLst/>
          </a:prstGeom>
          <a:noFill/>
        </p:spPr>
        <p:txBody>
          <a:bodyPr wrap="none" lIns="0" rIns="0" tIns="0" bIns="0" anchor="ctr">
            <a:spAutoFit/>
          </a:bodyPr>
          <a:lstStyle/>
          <a:p>
            <a:pPr algn="ctr"/>
            <a:r>
              <a:rPr sz="2428">
                <a:solidFill>
                  <a:srgbClr val="07080C"/>
                </a:solidFill>
                <a:latin typeface="Segoe Fluent Icons"/>
              </a:rPr>
              <a:t></a:t>
            </a:r>
          </a:p>
        </p:txBody>
      </p:sp>
      <p:sp>
        <p:nvSpPr>
          <p:cNvPr id="27" name="TextBox 26"/>
          <p:cNvSpPr txBox="1"/>
          <p:nvPr/>
        </p:nvSpPr>
        <p:spPr>
          <a:xfrm>
            <a:off x="1618488" y="5225796"/>
            <a:ext cx="3017520" cy="813816"/>
          </a:xfrm>
          <a:prstGeom prst="rect">
            <a:avLst/>
          </a:prstGeom>
          <a:noFill/>
        </p:spPr>
        <p:txBody>
          <a:bodyPr wrap="square" lIns="0" rIns="0" tIns="0" bIns="0" anchor="ctr">
            <a:noAutofit/>
          </a:bodyPr>
          <a:lstStyle/>
          <a:p>
            <a:pPr algn="l"/>
            <a:r>
              <a:rPr sz="2100" i="0">
                <a:solidFill>
                  <a:srgbClr val="F4F6FA"/>
                </a:solidFill>
                <a:latin typeface="Segoe UI Semibold"/>
              </a:rPr>
              <a:t>Surface Laptop Ultra</a:t>
            </a:r>
          </a:p>
        </p:txBody>
      </p:sp>
      <p:sp>
        <p:nvSpPr>
          <p:cNvPr id="28" name="TextBox 27"/>
          <p:cNvSpPr txBox="1"/>
          <p:nvPr/>
        </p:nvSpPr>
        <p:spPr>
          <a:xfrm>
            <a:off x="4773168" y="5225796"/>
            <a:ext cx="4855464" cy="813816"/>
          </a:xfrm>
          <a:prstGeom prst="rect">
            <a:avLst/>
          </a:prstGeom>
          <a:noFill/>
        </p:spPr>
        <p:txBody>
          <a:bodyPr wrap="square" lIns="0" rIns="0" tIns="0" bIns="0" anchor="ctr">
            <a:noAutofit/>
          </a:bodyPr>
          <a:lstStyle/>
          <a:p>
            <a:pPr algn="l"/>
            <a:r>
              <a:rPr sz="1600" i="0">
                <a:solidFill>
                  <a:srgbClr val="AEB6C8"/>
                </a:solidFill>
                <a:latin typeface="Segoe UI"/>
              </a:rPr>
              <a:t>NVIDIA RTX Spark N1X; Blackwell; 20 CPU cores</a:t>
            </a:r>
          </a:p>
        </p:txBody>
      </p:sp>
      <p:sp>
        <p:nvSpPr>
          <p:cNvPr id="29" name="Rectangle 28"/>
          <p:cNvSpPr/>
          <p:nvPr/>
        </p:nvSpPr>
        <p:spPr>
          <a:xfrm>
            <a:off x="10085832" y="1888236"/>
            <a:ext cx="73152" cy="4224528"/>
          </a:xfrm>
          <a:prstGeom prst="rect">
            <a:avLst/>
          </a:prstGeom>
          <a:solidFill>
            <a:srgbClr val="76B900"/>
          </a:solidFill>
          <a:ln>
            <a:noFill/>
          </a:ln>
          <a:effectLst>
            <a:glow rad="1270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10314432" y="3314700"/>
            <a:ext cx="1325880" cy="1371600"/>
          </a:xfrm>
          <a:prstGeom prst="roundRect">
            <a:avLst>
              <a:gd name="adj" fmla="val 9655"/>
            </a:avLst>
          </a:prstGeom>
          <a:solidFill>
            <a:srgbClr val="233409"/>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F4F6FA"/>
                </a:solidFill>
                <a:latin typeface="Segoe UI Semibold"/>
              </a:rPr>
              <a:t>Execution stack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Memory Views Are Not Additive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Installed memory, Windows visibility and GPU budget describe distinct views.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3</a:t>
            </a:r>
          </a:p>
        </p:txBody>
      </p:sp>
      <p:sp>
        <p:nvSpPr>
          <p:cNvPr id="9" name="Rounded Rectangle 8"/>
          <p:cNvSpPr/>
          <p:nvPr/>
        </p:nvSpPr>
        <p:spPr>
          <a:xfrm>
            <a:off x="548640" y="2217420"/>
            <a:ext cx="3483864" cy="3566160"/>
          </a:xfrm>
          <a:prstGeom prst="roundRect">
            <a:avLst>
              <a:gd name="adj" fmla="val 3674"/>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48640" y="2217420"/>
            <a:ext cx="3483864" cy="82296"/>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32104" y="2546604"/>
            <a:ext cx="713232" cy="713232"/>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1956"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13" name="TextBox 12"/>
          <p:cNvSpPr txBox="1"/>
          <p:nvPr/>
        </p:nvSpPr>
        <p:spPr>
          <a:xfrm>
            <a:off x="822960" y="3406140"/>
            <a:ext cx="2935224" cy="1234440"/>
          </a:xfrm>
          <a:prstGeom prst="rect">
            <a:avLst/>
          </a:prstGeom>
          <a:noFill/>
        </p:spPr>
        <p:txBody>
          <a:bodyPr wrap="square" lIns="0" rIns="0" tIns="0" bIns="0" anchor="ctr">
            <a:noAutofit/>
          </a:bodyPr>
          <a:lstStyle/>
          <a:p>
            <a:pPr algn="l"/>
            <a:r>
              <a:rPr sz="6000" i="0">
                <a:solidFill>
                  <a:srgbClr val="76B900"/>
                </a:solidFill>
                <a:latin typeface="Segoe UI Black"/>
              </a:rPr>
              <a:t>128 GB</a:t>
            </a:r>
          </a:p>
        </p:txBody>
      </p:sp>
      <p:sp>
        <p:nvSpPr>
          <p:cNvPr id="14" name="TextBox 13"/>
          <p:cNvSpPr txBox="1"/>
          <p:nvPr/>
        </p:nvSpPr>
        <p:spPr>
          <a:xfrm>
            <a:off x="822960"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Installed memory</a:t>
            </a:r>
          </a:p>
        </p:txBody>
      </p:sp>
      <p:sp>
        <p:nvSpPr>
          <p:cNvPr id="15" name="TextBox 14"/>
          <p:cNvSpPr txBox="1"/>
          <p:nvPr/>
        </p:nvSpPr>
        <p:spPr>
          <a:xfrm>
            <a:off x="822960"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Device configuration</a:t>
            </a:r>
          </a:p>
        </p:txBody>
      </p:sp>
      <p:sp>
        <p:nvSpPr>
          <p:cNvPr id="16" name="Rounded Rectangle 15"/>
          <p:cNvSpPr/>
          <p:nvPr/>
        </p:nvSpPr>
        <p:spPr>
          <a:xfrm>
            <a:off x="4352544" y="2217420"/>
            <a:ext cx="3483864" cy="3566160"/>
          </a:xfrm>
          <a:prstGeom prst="roundRect">
            <a:avLst>
              <a:gd name="adj" fmla="val 3674"/>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352544" y="2217420"/>
            <a:ext cx="3483864" cy="82296"/>
          </a:xfrm>
          <a:prstGeom prst="rect">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636008" y="2546604"/>
            <a:ext cx="713232" cy="713232"/>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735860"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0" name="TextBox 19"/>
          <p:cNvSpPr txBox="1"/>
          <p:nvPr/>
        </p:nvSpPr>
        <p:spPr>
          <a:xfrm>
            <a:off x="4626864" y="3406140"/>
            <a:ext cx="2935224" cy="1234440"/>
          </a:xfrm>
          <a:prstGeom prst="rect">
            <a:avLst/>
          </a:prstGeom>
          <a:noFill/>
        </p:spPr>
        <p:txBody>
          <a:bodyPr wrap="square" lIns="0" rIns="0" tIns="0" bIns="0" anchor="ctr">
            <a:noAutofit/>
          </a:bodyPr>
          <a:lstStyle/>
          <a:p>
            <a:pPr algn="l"/>
            <a:r>
              <a:rPr sz="6000" i="0">
                <a:solidFill>
                  <a:srgbClr val="3DA9FC"/>
                </a:solidFill>
                <a:latin typeface="Segoe UI Black"/>
              </a:rPr>
              <a:t>~64 GB</a:t>
            </a:r>
          </a:p>
        </p:txBody>
      </p:sp>
      <p:sp>
        <p:nvSpPr>
          <p:cNvPr id="21" name="TextBox 20"/>
          <p:cNvSpPr txBox="1"/>
          <p:nvPr/>
        </p:nvSpPr>
        <p:spPr>
          <a:xfrm>
            <a:off x="4626864"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Windows visible</a:t>
            </a:r>
          </a:p>
        </p:txBody>
      </p:sp>
      <p:sp>
        <p:nvSpPr>
          <p:cNvPr id="22" name="TextBox 21"/>
          <p:cNvSpPr txBox="1"/>
          <p:nvPr/>
        </p:nvSpPr>
        <p:spPr>
          <a:xfrm>
            <a:off x="4626864"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Windows memory view</a:t>
            </a:r>
          </a:p>
        </p:txBody>
      </p:sp>
      <p:sp>
        <p:nvSpPr>
          <p:cNvPr id="23" name="Rounded Rectangle 22"/>
          <p:cNvSpPr/>
          <p:nvPr/>
        </p:nvSpPr>
        <p:spPr>
          <a:xfrm>
            <a:off x="8156448" y="2217420"/>
            <a:ext cx="3483864" cy="3566160"/>
          </a:xfrm>
          <a:prstGeom prst="roundRect">
            <a:avLst>
              <a:gd name="adj" fmla="val 3674"/>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8156448" y="2217420"/>
            <a:ext cx="3483864" cy="82296"/>
          </a:xfrm>
          <a:prstGeom prst="rect">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439912" y="2546604"/>
            <a:ext cx="713232" cy="713232"/>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539764" y="2646456"/>
            <a:ext cx="513527" cy="513527"/>
          </a:xfrm>
          <a:prstGeom prst="rect">
            <a:avLst/>
          </a:prstGeom>
          <a:noFill/>
        </p:spPr>
        <p:txBody>
          <a:bodyPr wrap="none" lIns="0" rIns="0" tIns="0" bIns="0" anchor="ctr">
            <a:spAutoFit/>
          </a:bodyPr>
          <a:lstStyle/>
          <a:p>
            <a:pPr algn="ctr"/>
            <a:r>
              <a:rPr sz="2506">
                <a:solidFill>
                  <a:srgbClr val="07080C"/>
                </a:solidFill>
                <a:latin typeface="Segoe Fluent Icons"/>
              </a:rPr>
              <a:t></a:t>
            </a:r>
          </a:p>
        </p:txBody>
      </p:sp>
      <p:sp>
        <p:nvSpPr>
          <p:cNvPr id="27" name="TextBox 26"/>
          <p:cNvSpPr txBox="1"/>
          <p:nvPr/>
        </p:nvSpPr>
        <p:spPr>
          <a:xfrm>
            <a:off x="8430768" y="3406140"/>
            <a:ext cx="2935224" cy="1234440"/>
          </a:xfrm>
          <a:prstGeom prst="rect">
            <a:avLst/>
          </a:prstGeom>
          <a:noFill/>
        </p:spPr>
        <p:txBody>
          <a:bodyPr wrap="square" lIns="0" rIns="0" tIns="0" bIns="0" anchor="ctr">
            <a:noAutofit/>
          </a:bodyPr>
          <a:lstStyle/>
          <a:p>
            <a:pPr algn="l"/>
            <a:r>
              <a:rPr sz="4000" i="0">
                <a:solidFill>
                  <a:srgbClr val="9B6BFF"/>
                </a:solidFill>
                <a:latin typeface="Segoe UI Black"/>
              </a:rPr>
              <a:t>64,000 MiB</a:t>
            </a:r>
          </a:p>
        </p:txBody>
      </p:sp>
      <p:sp>
        <p:nvSpPr>
          <p:cNvPr id="28" name="TextBox 27"/>
          <p:cNvSpPr txBox="1"/>
          <p:nvPr/>
        </p:nvSpPr>
        <p:spPr>
          <a:xfrm>
            <a:off x="8430768" y="4640580"/>
            <a:ext cx="2935224" cy="731520"/>
          </a:xfrm>
          <a:prstGeom prst="rect">
            <a:avLst/>
          </a:prstGeom>
          <a:noFill/>
        </p:spPr>
        <p:txBody>
          <a:bodyPr wrap="square" lIns="0" rIns="0" tIns="0" bIns="0" anchor="t">
            <a:noAutofit/>
          </a:bodyPr>
          <a:lstStyle/>
          <a:p>
            <a:pPr algn="l"/>
            <a:r>
              <a:rPr sz="1700" i="0">
                <a:solidFill>
                  <a:srgbClr val="F4F6FA"/>
                </a:solidFill>
                <a:latin typeface="Segoe UI"/>
              </a:rPr>
              <a:t>GPU memory budget</a:t>
            </a:r>
          </a:p>
        </p:txBody>
      </p:sp>
      <p:sp>
        <p:nvSpPr>
          <p:cNvPr id="29" name="TextBox 28"/>
          <p:cNvSpPr txBox="1"/>
          <p:nvPr/>
        </p:nvSpPr>
        <p:spPr>
          <a:xfrm>
            <a:off x="8430768" y="5372100"/>
            <a:ext cx="2935224" cy="320040"/>
          </a:xfrm>
          <a:prstGeom prst="rect">
            <a:avLst/>
          </a:prstGeom>
          <a:noFill/>
        </p:spPr>
        <p:txBody>
          <a:bodyPr wrap="square" lIns="0" rIns="0" tIns="0" bIns="0" anchor="t">
            <a:noAutofit/>
          </a:bodyPr>
          <a:lstStyle/>
          <a:p>
            <a:pPr algn="l"/>
            <a:r>
              <a:rPr sz="1000" i="0">
                <a:solidFill>
                  <a:srgbClr val="6F7890"/>
                </a:solidFill>
                <a:latin typeface="Segoe UI"/>
              </a:rPr>
              <a:t>nvidia-smi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MoE Is A Specialist Workshop</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Selected experts work per token instead of engaging every specialist.</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4</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Mixture of experts</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Specialist workshop</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Model parameters</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Available specialists</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Expert selection</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Dispatch desk</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Active parameters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Assigned specialists</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Dense computation</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Whole workshop engaged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Measured Decode, Not Guaranteed Specs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Single-stream results favor these MoE workloads; validate quality separately.</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5</a:t>
            </a:r>
          </a:p>
        </p:txBody>
      </p:sp>
      <p:graphicFrame>
        <p:nvGraphicFramePr>
          <p:cNvPr id="9" name="Chart 8"/>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0" name="Rounded Rectangle 9"/>
          <p:cNvSpPr/>
          <p:nvPr/>
        </p:nvSpPr>
        <p:spPr>
          <a:xfrm>
            <a:off x="7921630" y="2011680"/>
            <a:ext cx="3718682" cy="3977640"/>
          </a:xfrm>
          <a:prstGeom prst="roundRect">
            <a:avLst>
              <a:gd name="adj" fmla="val 3442"/>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173090" y="2308860"/>
            <a:ext cx="777240" cy="777240"/>
          </a:xfrm>
          <a:prstGeom prst="ellipse">
            <a:avLst/>
          </a:prstGeom>
          <a:solidFill>
            <a:srgbClr val="76B900"/>
          </a:solidFill>
          <a:ln>
            <a:noFill/>
          </a:ln>
          <a:effectLst>
            <a:glow rad="1270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07080C"/>
                </a:solidFill>
                <a:latin typeface="Segoe Fluent Icons"/>
              </a:rPr>
              <a:t></a:t>
            </a:r>
          </a:p>
        </p:txBody>
      </p:sp>
      <p:sp>
        <p:nvSpPr>
          <p:cNvPr id="13" name="TextBox 12"/>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76B900"/>
                </a:solidFill>
                <a:latin typeface="Segoe UI Black"/>
              </a:rPr>
              <a:t>86</a:t>
            </a:r>
          </a:p>
        </p:txBody>
      </p:sp>
      <p:sp>
        <p:nvSpPr>
          <p:cNvPr id="14" name="TextBox 13"/>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AEB6C8"/>
                </a:solidFill>
                <a:latin typeface="Segoe UI"/>
              </a:rPr>
              <a:t>tokens/s  |  Qwen3-Coder 30B</a:t>
            </a:r>
          </a:p>
        </p:txBody>
      </p:sp>
      <p:sp>
        <p:nvSpPr>
          <p:cNvPr id="15" name="TextBox 14"/>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F4F6FA"/>
                </a:solidFill>
                <a:latin typeface="Segoe UI"/>
              </a:rPr>
              <a:t>Approximate single-stream decode; shared device; Local-AI-Bench, October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Concurrency Needs A Separate Test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Use aggregate throughput for capacity exploration, not individual latency promises.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6</a:t>
            </a:r>
          </a:p>
        </p:txBody>
      </p:sp>
      <p:sp>
        <p:nvSpPr>
          <p:cNvPr id="9" name="Rounded Rectangle 8"/>
          <p:cNvSpPr/>
          <p:nvPr/>
        </p:nvSpPr>
        <p:spPr>
          <a:xfrm>
            <a:off x="548640" y="1828800"/>
            <a:ext cx="5088636" cy="3429000"/>
          </a:xfrm>
          <a:prstGeom prst="roundRect">
            <a:avLst>
              <a:gd name="adj" fmla="val 3733"/>
            </a:avLst>
          </a:prstGeom>
          <a:solidFill>
            <a:srgbClr val="141824"/>
          </a:solidFill>
          <a:ln w="12700">
            <a:solidFill>
              <a:srgbClr val="2A31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2020824"/>
            <a:ext cx="749808" cy="749808"/>
          </a:xfrm>
          <a:prstGeom prst="ellipse">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3069" y="2125797"/>
            <a:ext cx="539862" cy="539862"/>
          </a:xfrm>
          <a:prstGeom prst="rect">
            <a:avLst/>
          </a:prstGeom>
          <a:noFill/>
        </p:spPr>
        <p:txBody>
          <a:bodyPr wrap="none" lIns="0" rIns="0" tIns="0" bIns="0" anchor="ctr">
            <a:spAutoFit/>
          </a:bodyPr>
          <a:lstStyle/>
          <a:p>
            <a:pPr algn="ctr"/>
            <a:r>
              <a:rPr sz="2635">
                <a:solidFill>
                  <a:srgbClr val="07080C"/>
                </a:solidFill>
                <a:latin typeface="Segoe Fluent Icons"/>
              </a:rPr>
              <a:t></a:t>
            </a:r>
          </a:p>
        </p:txBody>
      </p:sp>
      <p:sp>
        <p:nvSpPr>
          <p:cNvPr id="12" name="TextBox 11"/>
          <p:cNvSpPr txBox="1"/>
          <p:nvPr/>
        </p:nvSpPr>
        <p:spPr>
          <a:xfrm>
            <a:off x="1645920" y="2029968"/>
            <a:ext cx="3808476" cy="731520"/>
          </a:xfrm>
          <a:prstGeom prst="rect">
            <a:avLst/>
          </a:prstGeom>
          <a:noFill/>
        </p:spPr>
        <p:txBody>
          <a:bodyPr wrap="square" lIns="0" rIns="0" tIns="0" bIns="0" anchor="ctr">
            <a:noAutofit/>
          </a:bodyPr>
          <a:lstStyle/>
          <a:p>
            <a:pPr algn="l"/>
            <a:r>
              <a:rPr sz="2300" i="0">
                <a:solidFill>
                  <a:srgbClr val="F4F6FA"/>
                </a:solidFill>
                <a:latin typeface="Segoe UI Semibold"/>
              </a:rPr>
              <a:t>Single stream</a:t>
            </a:r>
          </a:p>
        </p:txBody>
      </p:sp>
      <p:sp>
        <p:nvSpPr>
          <p:cNvPr id="13" name="TextBox 12"/>
          <p:cNvSpPr txBox="1"/>
          <p:nvPr/>
        </p:nvSpPr>
        <p:spPr>
          <a:xfrm>
            <a:off x="960120" y="321259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4" name="TextBox 13"/>
          <p:cNvSpPr txBox="1"/>
          <p:nvPr/>
        </p:nvSpPr>
        <p:spPr>
          <a:xfrm>
            <a:off x="1417320" y="3017520"/>
            <a:ext cx="3991356" cy="701040"/>
          </a:xfrm>
          <a:prstGeom prst="rect">
            <a:avLst/>
          </a:prstGeom>
          <a:noFill/>
        </p:spPr>
        <p:txBody>
          <a:bodyPr wrap="square" lIns="0" rIns="0" tIns="0" bIns="0" anchor="ctr">
            <a:noAutofit/>
          </a:bodyPr>
          <a:lstStyle/>
          <a:p>
            <a:pPr algn="l"/>
            <a:r>
              <a:rPr sz="1700" i="0">
                <a:solidFill>
                  <a:srgbClr val="AEB6C8"/>
                </a:solidFill>
                <a:latin typeface="Segoe UI"/>
              </a:rPr>
              <a:t>Qwen3-Coder: ~86 tokens/s</a:t>
            </a:r>
          </a:p>
        </p:txBody>
      </p:sp>
      <p:sp>
        <p:nvSpPr>
          <p:cNvPr id="15" name="TextBox 14"/>
          <p:cNvSpPr txBox="1"/>
          <p:nvPr/>
        </p:nvSpPr>
        <p:spPr>
          <a:xfrm>
            <a:off x="960120" y="391363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6" name="TextBox 15"/>
          <p:cNvSpPr txBox="1"/>
          <p:nvPr/>
        </p:nvSpPr>
        <p:spPr>
          <a:xfrm>
            <a:off x="1417320" y="3718560"/>
            <a:ext cx="3991356" cy="701040"/>
          </a:xfrm>
          <a:prstGeom prst="rect">
            <a:avLst/>
          </a:prstGeom>
          <a:noFill/>
        </p:spPr>
        <p:txBody>
          <a:bodyPr wrap="square" lIns="0" rIns="0" tIns="0" bIns="0" anchor="ctr">
            <a:noAutofit/>
          </a:bodyPr>
          <a:lstStyle/>
          <a:p>
            <a:pPr algn="l"/>
            <a:r>
              <a:rPr sz="1700" i="0">
                <a:solidFill>
                  <a:srgbClr val="AEB6C8"/>
                </a:solidFill>
                <a:latin typeface="Segoe UI"/>
              </a:rPr>
              <a:t>Gemma: ~72 tokens/s</a:t>
            </a:r>
          </a:p>
        </p:txBody>
      </p:sp>
      <p:sp>
        <p:nvSpPr>
          <p:cNvPr id="17" name="TextBox 16"/>
          <p:cNvSpPr txBox="1"/>
          <p:nvPr/>
        </p:nvSpPr>
        <p:spPr>
          <a:xfrm>
            <a:off x="960120" y="4614672"/>
            <a:ext cx="310896" cy="310896"/>
          </a:xfrm>
          <a:prstGeom prst="rect">
            <a:avLst/>
          </a:prstGeom>
          <a:noFill/>
        </p:spPr>
        <p:txBody>
          <a:bodyPr wrap="none" lIns="0" rIns="0" tIns="0" bIns="0" anchor="ctr">
            <a:spAutoFit/>
          </a:bodyPr>
          <a:lstStyle/>
          <a:p>
            <a:pPr algn="ctr"/>
            <a:r>
              <a:rPr sz="1517">
                <a:solidFill>
                  <a:srgbClr val="6F7890"/>
                </a:solidFill>
                <a:latin typeface="Segoe Fluent Icons"/>
              </a:rPr>
              <a:t></a:t>
            </a:r>
          </a:p>
        </p:txBody>
      </p:sp>
      <p:sp>
        <p:nvSpPr>
          <p:cNvPr id="18" name="TextBox 17"/>
          <p:cNvSpPr txBox="1"/>
          <p:nvPr/>
        </p:nvSpPr>
        <p:spPr>
          <a:xfrm>
            <a:off x="1417320" y="4419600"/>
            <a:ext cx="3991356" cy="701040"/>
          </a:xfrm>
          <a:prstGeom prst="rect">
            <a:avLst/>
          </a:prstGeom>
          <a:noFill/>
        </p:spPr>
        <p:txBody>
          <a:bodyPr wrap="square" lIns="0" rIns="0" tIns="0" bIns="0" anchor="ctr">
            <a:noAutofit/>
          </a:bodyPr>
          <a:lstStyle/>
          <a:p>
            <a:pPr algn="l"/>
            <a:r>
              <a:rPr sz="1700" i="0">
                <a:solidFill>
                  <a:srgbClr val="AEB6C8"/>
                </a:solidFill>
                <a:latin typeface="Segoe UI"/>
              </a:rPr>
              <a:t>Measures individual decode</a:t>
            </a:r>
          </a:p>
        </p:txBody>
      </p:sp>
      <p:sp>
        <p:nvSpPr>
          <p:cNvPr id="19" name="Rounded Rectangle 18"/>
          <p:cNvSpPr/>
          <p:nvPr/>
        </p:nvSpPr>
        <p:spPr>
          <a:xfrm>
            <a:off x="6551676" y="1828800"/>
            <a:ext cx="5088636" cy="3429000"/>
          </a:xfrm>
          <a:prstGeom prst="roundRect">
            <a:avLst>
              <a:gd name="adj" fmla="val 3733"/>
            </a:avLst>
          </a:prstGeom>
          <a:solidFill>
            <a:srgbClr val="141824"/>
          </a:solidFill>
          <a:ln w="28575">
            <a:solidFill>
              <a:srgbClr val="76B900"/>
            </a:solidFill>
          </a:ln>
          <a:effectLst>
            <a:glow rad="127000">
              <a:srgbClr val="76B900">
                <a:alpha val="3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771132" y="2020824"/>
            <a:ext cx="749808" cy="749808"/>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76105" y="2125797"/>
            <a:ext cx="539862" cy="539862"/>
          </a:xfrm>
          <a:prstGeom prst="rect">
            <a:avLst/>
          </a:prstGeom>
          <a:noFill/>
        </p:spPr>
        <p:txBody>
          <a:bodyPr wrap="none" lIns="0" rIns="0" tIns="0" bIns="0" anchor="ctr">
            <a:spAutoFit/>
          </a:bodyPr>
          <a:lstStyle/>
          <a:p>
            <a:pPr algn="ctr"/>
            <a:r>
              <a:rPr sz="2635">
                <a:solidFill>
                  <a:srgbClr val="07080C"/>
                </a:solidFill>
                <a:latin typeface="Segoe Fluent Icons"/>
              </a:rPr>
              <a:t></a:t>
            </a:r>
          </a:p>
        </p:txBody>
      </p:sp>
      <p:sp>
        <p:nvSpPr>
          <p:cNvPr id="22" name="TextBox 21"/>
          <p:cNvSpPr txBox="1"/>
          <p:nvPr/>
        </p:nvSpPr>
        <p:spPr>
          <a:xfrm>
            <a:off x="7648956" y="2029968"/>
            <a:ext cx="3808476" cy="731520"/>
          </a:xfrm>
          <a:prstGeom prst="rect">
            <a:avLst/>
          </a:prstGeom>
          <a:noFill/>
        </p:spPr>
        <p:txBody>
          <a:bodyPr wrap="square" lIns="0" rIns="0" tIns="0" bIns="0" anchor="ctr">
            <a:noAutofit/>
          </a:bodyPr>
          <a:lstStyle/>
          <a:p>
            <a:pPr algn="l"/>
            <a:r>
              <a:rPr sz="2300" i="0">
                <a:solidFill>
                  <a:srgbClr val="F4F6FA"/>
                </a:solidFill>
                <a:latin typeface="Segoe UI Semibold"/>
              </a:rPr>
              <a:t>Pilot concurrency testing</a:t>
            </a:r>
          </a:p>
        </p:txBody>
      </p:sp>
      <p:sp>
        <p:nvSpPr>
          <p:cNvPr id="23" name="TextBox 22"/>
          <p:cNvSpPr txBox="1"/>
          <p:nvPr/>
        </p:nvSpPr>
        <p:spPr>
          <a:xfrm>
            <a:off x="6963156" y="312496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4" name="TextBox 23"/>
          <p:cNvSpPr txBox="1"/>
          <p:nvPr/>
        </p:nvSpPr>
        <p:spPr>
          <a:xfrm>
            <a:off x="7420356" y="3017520"/>
            <a:ext cx="3991356" cy="525780"/>
          </a:xfrm>
          <a:prstGeom prst="rect">
            <a:avLst/>
          </a:prstGeom>
          <a:noFill/>
        </p:spPr>
        <p:txBody>
          <a:bodyPr wrap="square" lIns="0" rIns="0" tIns="0" bIns="0" anchor="ctr">
            <a:noAutofit/>
          </a:bodyPr>
          <a:lstStyle/>
          <a:p>
            <a:pPr algn="l"/>
            <a:r>
              <a:rPr sz="1700" i="0">
                <a:solidFill>
                  <a:srgbClr val="F4F6FA"/>
                </a:solidFill>
                <a:latin typeface="Segoe UI"/>
              </a:rPr>
              <a:t>Qwen3-Coder: ~140 tokens/s aggregate</a:t>
            </a:r>
          </a:p>
        </p:txBody>
      </p:sp>
      <p:sp>
        <p:nvSpPr>
          <p:cNvPr id="25" name="TextBox 24"/>
          <p:cNvSpPr txBox="1"/>
          <p:nvPr/>
        </p:nvSpPr>
        <p:spPr>
          <a:xfrm>
            <a:off x="6963156" y="365074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6" name="TextBox 25"/>
          <p:cNvSpPr txBox="1"/>
          <p:nvPr/>
        </p:nvSpPr>
        <p:spPr>
          <a:xfrm>
            <a:off x="7420356" y="3543300"/>
            <a:ext cx="3991356" cy="525780"/>
          </a:xfrm>
          <a:prstGeom prst="rect">
            <a:avLst/>
          </a:prstGeom>
          <a:noFill/>
        </p:spPr>
        <p:txBody>
          <a:bodyPr wrap="square" lIns="0" rIns="0" tIns="0" bIns="0" anchor="ctr">
            <a:noAutofit/>
          </a:bodyPr>
          <a:lstStyle/>
          <a:p>
            <a:pPr algn="l"/>
            <a:r>
              <a:rPr sz="1700" i="0">
                <a:solidFill>
                  <a:srgbClr val="F4F6FA"/>
                </a:solidFill>
                <a:latin typeface="Segoe UI"/>
              </a:rPr>
              <a:t>Across 4 concurrent streams</a:t>
            </a:r>
          </a:p>
        </p:txBody>
      </p:sp>
      <p:sp>
        <p:nvSpPr>
          <p:cNvPr id="27" name="TextBox 26"/>
          <p:cNvSpPr txBox="1"/>
          <p:nvPr/>
        </p:nvSpPr>
        <p:spPr>
          <a:xfrm>
            <a:off x="6963156" y="417652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28" name="TextBox 27"/>
          <p:cNvSpPr txBox="1"/>
          <p:nvPr/>
        </p:nvSpPr>
        <p:spPr>
          <a:xfrm>
            <a:off x="7420356" y="4069080"/>
            <a:ext cx="3991356" cy="525780"/>
          </a:xfrm>
          <a:prstGeom prst="rect">
            <a:avLst/>
          </a:prstGeom>
          <a:noFill/>
        </p:spPr>
        <p:txBody>
          <a:bodyPr wrap="square" lIns="0" rIns="0" tIns="0" bIns="0" anchor="ctr">
            <a:noAutofit/>
          </a:bodyPr>
          <a:lstStyle/>
          <a:p>
            <a:pPr algn="l"/>
            <a:r>
              <a:rPr sz="1700" i="0">
                <a:solidFill>
                  <a:srgbClr val="F4F6FA"/>
                </a:solidFill>
                <a:latin typeface="Segoe UI"/>
              </a:rPr>
              <a:t>Gemma: ~245 tokens/s aggregate</a:t>
            </a:r>
          </a:p>
        </p:txBody>
      </p:sp>
      <p:sp>
        <p:nvSpPr>
          <p:cNvPr id="29" name="TextBox 28"/>
          <p:cNvSpPr txBox="1"/>
          <p:nvPr/>
        </p:nvSpPr>
        <p:spPr>
          <a:xfrm>
            <a:off x="6963156" y="4702302"/>
            <a:ext cx="310896" cy="310896"/>
          </a:xfrm>
          <a:prstGeom prst="rect">
            <a:avLst/>
          </a:prstGeom>
          <a:noFill/>
        </p:spPr>
        <p:txBody>
          <a:bodyPr wrap="none" lIns="0" rIns="0" tIns="0" bIns="0" anchor="ctr">
            <a:spAutoFit/>
          </a:bodyPr>
          <a:lstStyle/>
          <a:p>
            <a:pPr algn="ctr"/>
            <a:r>
              <a:rPr sz="1517">
                <a:solidFill>
                  <a:srgbClr val="76B900"/>
                </a:solidFill>
                <a:latin typeface="Segoe Fluent Icons"/>
              </a:rPr>
              <a:t></a:t>
            </a:r>
          </a:p>
        </p:txBody>
      </p:sp>
      <p:sp>
        <p:nvSpPr>
          <p:cNvPr id="30" name="TextBox 29"/>
          <p:cNvSpPr txBox="1"/>
          <p:nvPr/>
        </p:nvSpPr>
        <p:spPr>
          <a:xfrm>
            <a:off x="7420356" y="4594860"/>
            <a:ext cx="3991356" cy="525780"/>
          </a:xfrm>
          <a:prstGeom prst="rect">
            <a:avLst/>
          </a:prstGeom>
          <a:noFill/>
        </p:spPr>
        <p:txBody>
          <a:bodyPr wrap="square" lIns="0" rIns="0" tIns="0" bIns="0" anchor="ctr">
            <a:noAutofit/>
          </a:bodyPr>
          <a:lstStyle/>
          <a:p>
            <a:pPr algn="l"/>
            <a:r>
              <a:rPr sz="1700" i="0">
                <a:solidFill>
                  <a:srgbClr val="F4F6FA"/>
                </a:solidFill>
                <a:latin typeface="Segoe UI"/>
              </a:rPr>
              <a:t>Across 8 concurrent streams</a:t>
            </a:r>
          </a:p>
        </p:txBody>
      </p:sp>
      <p:sp>
        <p:nvSpPr>
          <p:cNvPr id="31" name="Oval 30"/>
          <p:cNvSpPr/>
          <p:nvPr/>
        </p:nvSpPr>
        <p:spPr>
          <a:xfrm>
            <a:off x="5728716" y="3177540"/>
            <a:ext cx="731520" cy="731520"/>
          </a:xfrm>
          <a:prstGeom prst="ellipse">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728716" y="3177540"/>
            <a:ext cx="731520" cy="731520"/>
          </a:xfrm>
          <a:prstGeom prst="rect">
            <a:avLst/>
          </a:prstGeom>
          <a:noFill/>
        </p:spPr>
        <p:txBody>
          <a:bodyPr wrap="square" lIns="0" rIns="0" tIns="0" bIns="0" anchor="ctr">
            <a:noAutofit/>
          </a:bodyPr>
          <a:lstStyle/>
          <a:p>
            <a:pPr algn="ctr"/>
            <a:r>
              <a:rPr sz="1600" i="0">
                <a:solidFill>
                  <a:srgbClr val="07080C"/>
                </a:solidFill>
                <a:latin typeface="Segoe UI Semibold"/>
              </a:rPr>
              <a:t>VS</a:t>
            </a:r>
          </a:p>
        </p:txBody>
      </p:sp>
      <p:sp>
        <p:nvSpPr>
          <p:cNvPr id="33" name="Rounded Rectangle 32"/>
          <p:cNvSpPr/>
          <p:nvPr/>
        </p:nvSpPr>
        <p:spPr>
          <a:xfrm>
            <a:off x="548640" y="5458968"/>
            <a:ext cx="11091672" cy="713232"/>
          </a:xfrm>
          <a:prstGeom prst="roundRect">
            <a:avLst>
              <a:gd name="adj" fmla="val 17948"/>
            </a:avLst>
          </a:prstGeom>
          <a:solidFill>
            <a:srgbClr val="76B900"/>
          </a:solidFill>
          <a:ln>
            <a:noFill/>
          </a:ln>
          <a:effectLst>
            <a:glow rad="1270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2960" y="5614416"/>
            <a:ext cx="402336" cy="402336"/>
          </a:xfrm>
          <a:prstGeom prst="rect">
            <a:avLst/>
          </a:prstGeom>
          <a:noFill/>
        </p:spPr>
        <p:txBody>
          <a:bodyPr wrap="none" lIns="0" rIns="0" tIns="0" bIns="0" anchor="ctr">
            <a:spAutoFit/>
          </a:bodyPr>
          <a:lstStyle/>
          <a:p>
            <a:pPr algn="ctr"/>
            <a:r>
              <a:rPr sz="1964">
                <a:solidFill>
                  <a:srgbClr val="07080C"/>
                </a:solidFill>
                <a:latin typeface="Segoe Fluent Icons"/>
              </a:rPr>
              <a:t></a:t>
            </a:r>
          </a:p>
        </p:txBody>
      </p:sp>
      <p:sp>
        <p:nvSpPr>
          <p:cNvPr id="35" name="TextBox 34"/>
          <p:cNvSpPr txBox="1"/>
          <p:nvPr/>
        </p:nvSpPr>
        <p:spPr>
          <a:xfrm>
            <a:off x="1417320" y="5513832"/>
            <a:ext cx="9994392" cy="603504"/>
          </a:xfrm>
          <a:prstGeom prst="rect">
            <a:avLst/>
          </a:prstGeom>
          <a:noFill/>
        </p:spPr>
        <p:txBody>
          <a:bodyPr wrap="square" lIns="0" rIns="0" tIns="0" bIns="0" anchor="ctr">
            <a:noAutofit/>
          </a:bodyPr>
          <a:lstStyle/>
          <a:p>
            <a:pPr algn="l"/>
            <a:r>
              <a:rPr sz="2000" i="0">
                <a:solidFill>
                  <a:srgbClr val="07080C"/>
                </a:solidFill>
                <a:latin typeface="Segoe UI Semibold"/>
              </a:rPr>
              <a:t>Measure latency under contention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Size Bands Guide Model Trials</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Parameter bands help plan deployment; they are not accuracy tiers.</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7</a:t>
            </a:r>
          </a:p>
        </p:txBody>
      </p:sp>
      <p:cxnSp>
        <p:nvCxnSpPr>
          <p:cNvPr id="9" name="Connector 8"/>
          <p:cNvCxnSpPr/>
          <p:nvPr/>
        </p:nvCxnSpPr>
        <p:spPr>
          <a:xfrm flipV="1">
            <a:off x="6094476" y="224028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4476" y="4000500"/>
            <a:ext cx="4174236" cy="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4476" y="4000500"/>
            <a:ext cx="0" cy="176022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920240" y="4000500"/>
            <a:ext cx="4174236" cy="0"/>
          </a:xfrm>
          <a:prstGeom prst="line">
            <a:avLst/>
          </a:prstGeom>
          <a:ln w="22225">
            <a:solidFill>
              <a:srgbClr val="446905"/>
            </a:solidFill>
            <a:prstDash val="dash"/>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4910328" y="2816352"/>
            <a:ext cx="2368296" cy="2368296"/>
          </a:xfrm>
          <a:prstGeom prst="ellipse">
            <a:avLst/>
          </a:prstGeom>
          <a:solidFill>
            <a:srgbClr val="76B900">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111496" y="3017520"/>
            <a:ext cx="1965960" cy="1965960"/>
          </a:xfrm>
          <a:prstGeom prst="ellipse">
            <a:avLst/>
          </a:prstGeom>
          <a:solidFill>
            <a:srgbClr val="76B900"/>
          </a:solidFill>
          <a:ln>
            <a:noFill/>
          </a:ln>
          <a:effectLst>
            <a:glow rad="2286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710428" y="3287268"/>
            <a:ext cx="768096" cy="768096"/>
          </a:xfrm>
          <a:prstGeom prst="rect">
            <a:avLst/>
          </a:prstGeom>
          <a:noFill/>
        </p:spPr>
        <p:txBody>
          <a:bodyPr wrap="none" lIns="0" rIns="0" tIns="0" bIns="0" anchor="ctr">
            <a:spAutoFit/>
          </a:bodyPr>
          <a:lstStyle/>
          <a:p>
            <a:pPr algn="ctr"/>
            <a:r>
              <a:rPr sz="3749">
                <a:solidFill>
                  <a:srgbClr val="07080C"/>
                </a:solidFill>
                <a:latin typeface="Segoe Fluent Icons"/>
              </a:rPr>
              <a:t></a:t>
            </a:r>
          </a:p>
        </p:txBody>
      </p:sp>
      <p:sp>
        <p:nvSpPr>
          <p:cNvPr id="16" name="TextBox 15"/>
          <p:cNvSpPr txBox="1"/>
          <p:nvPr/>
        </p:nvSpPr>
        <p:spPr>
          <a:xfrm>
            <a:off x="5294376" y="4073652"/>
            <a:ext cx="1600200" cy="685800"/>
          </a:xfrm>
          <a:prstGeom prst="rect">
            <a:avLst/>
          </a:prstGeom>
          <a:noFill/>
        </p:spPr>
        <p:txBody>
          <a:bodyPr wrap="square" lIns="0" rIns="0" tIns="0" bIns="0" anchor="t">
            <a:noAutofit/>
          </a:bodyPr>
          <a:lstStyle/>
          <a:p>
            <a:pPr algn="ctr"/>
            <a:r>
              <a:rPr sz="1800" i="0">
                <a:solidFill>
                  <a:srgbClr val="07080C"/>
                </a:solidFill>
                <a:latin typeface="Segoe UI Semibold"/>
              </a:rPr>
              <a:t>Workload fit</a:t>
            </a:r>
          </a:p>
        </p:txBody>
      </p:sp>
      <p:sp>
        <p:nvSpPr>
          <p:cNvPr id="17" name="Rounded Rectangle 16"/>
          <p:cNvSpPr/>
          <p:nvPr/>
        </p:nvSpPr>
        <p:spPr>
          <a:xfrm>
            <a:off x="4837176" y="1865376"/>
            <a:ext cx="2514600" cy="749808"/>
          </a:xfrm>
          <a:prstGeom prst="roundRect">
            <a:avLst>
              <a:gd name="adj" fmla="val 50000"/>
            </a:avLst>
          </a:prstGeom>
          <a:solidFill>
            <a:srgbClr val="141824"/>
          </a:solidFill>
          <a:ln w="12700">
            <a:solidFill>
              <a:srgbClr val="2D6F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4910328" y="1938528"/>
            <a:ext cx="603504" cy="603504"/>
          </a:xfrm>
          <a:prstGeom prst="ellipse">
            <a:avLst/>
          </a:prstGeom>
          <a:solidFill>
            <a:srgbClr val="3DA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94819" y="202301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0" name="TextBox 19"/>
          <p:cNvSpPr txBox="1"/>
          <p:nvPr/>
        </p:nvSpPr>
        <p:spPr>
          <a:xfrm>
            <a:off x="5605272" y="192024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S: 1–4B</a:t>
            </a:r>
          </a:p>
        </p:txBody>
      </p:sp>
      <p:sp>
        <p:nvSpPr>
          <p:cNvPr id="21" name="Rounded Rectangle 20"/>
          <p:cNvSpPr/>
          <p:nvPr/>
        </p:nvSpPr>
        <p:spPr>
          <a:xfrm>
            <a:off x="9011412" y="3625596"/>
            <a:ext cx="2514600" cy="749808"/>
          </a:xfrm>
          <a:prstGeom prst="roundRect">
            <a:avLst>
              <a:gd name="adj" fmla="val 50000"/>
            </a:avLst>
          </a:prstGeom>
          <a:solidFill>
            <a:srgbClr val="141824"/>
          </a:solidFill>
          <a:ln w="12700">
            <a:solidFill>
              <a:srgbClr val="654A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084564" y="3698748"/>
            <a:ext cx="603504" cy="603504"/>
          </a:xfrm>
          <a:prstGeom prst="ellipse">
            <a:avLst/>
          </a:prstGeom>
          <a:solidFill>
            <a:srgbClr val="9B6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69055" y="378323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4" name="TextBox 23"/>
          <p:cNvSpPr txBox="1"/>
          <p:nvPr/>
        </p:nvSpPr>
        <p:spPr>
          <a:xfrm>
            <a:off x="9779508" y="368046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M: 7–8B</a:t>
            </a:r>
          </a:p>
        </p:txBody>
      </p:sp>
      <p:sp>
        <p:nvSpPr>
          <p:cNvPr id="25" name="Rounded Rectangle 24"/>
          <p:cNvSpPr/>
          <p:nvPr/>
        </p:nvSpPr>
        <p:spPr>
          <a:xfrm>
            <a:off x="4837176" y="5385816"/>
            <a:ext cx="2514600" cy="749808"/>
          </a:xfrm>
          <a:prstGeom prst="roundRect">
            <a:avLst>
              <a:gd name="adj" fmla="val 50000"/>
            </a:avLst>
          </a:prstGeom>
          <a:solidFill>
            <a:srgbClr val="141824"/>
          </a:solidFill>
          <a:ln w="12700">
            <a:solidFill>
              <a:srgbClr val="A1763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910328" y="5458968"/>
            <a:ext cx="603504" cy="603504"/>
          </a:xfrm>
          <a:prstGeom prst="ellipse">
            <a:avLst/>
          </a:prstGeom>
          <a:solidFill>
            <a:srgbClr val="FFB5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94819" y="554345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28" name="TextBox 27"/>
          <p:cNvSpPr txBox="1"/>
          <p:nvPr/>
        </p:nvSpPr>
        <p:spPr>
          <a:xfrm>
            <a:off x="5605272" y="544068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L: 14–20B</a:t>
            </a:r>
          </a:p>
        </p:txBody>
      </p:sp>
      <p:sp>
        <p:nvSpPr>
          <p:cNvPr id="29" name="Rounded Rectangle 28"/>
          <p:cNvSpPr/>
          <p:nvPr/>
        </p:nvSpPr>
        <p:spPr>
          <a:xfrm>
            <a:off x="662940" y="3625596"/>
            <a:ext cx="2514600" cy="749808"/>
          </a:xfrm>
          <a:prstGeom prst="roundRect">
            <a:avLst>
              <a:gd name="adj" fmla="val 50000"/>
            </a:avLst>
          </a:prstGeom>
          <a:solidFill>
            <a:srgbClr val="141824"/>
          </a:solidFill>
          <a:ln w="12700">
            <a:solidFill>
              <a:srgbClr val="A1416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736092" y="3698748"/>
            <a:ext cx="603504" cy="603504"/>
          </a:xfrm>
          <a:prstGeom prst="ellipse">
            <a:avLst/>
          </a:prstGeom>
          <a:solidFill>
            <a:srgbClr val="FF5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20583" y="3783239"/>
            <a:ext cx="434523" cy="434523"/>
          </a:xfrm>
          <a:prstGeom prst="rect">
            <a:avLst/>
          </a:prstGeom>
          <a:noFill/>
        </p:spPr>
        <p:txBody>
          <a:bodyPr wrap="none" lIns="0" rIns="0" tIns="0" bIns="0" anchor="ctr">
            <a:spAutoFit/>
          </a:bodyPr>
          <a:lstStyle/>
          <a:p>
            <a:pPr algn="ctr"/>
            <a:r>
              <a:rPr sz="2121">
                <a:solidFill>
                  <a:srgbClr val="07080C"/>
                </a:solidFill>
                <a:latin typeface="Segoe Fluent Icons"/>
              </a:rPr>
              <a:t></a:t>
            </a:r>
          </a:p>
        </p:txBody>
      </p:sp>
      <p:sp>
        <p:nvSpPr>
          <p:cNvPr id="32" name="TextBox 31"/>
          <p:cNvSpPr txBox="1"/>
          <p:nvPr/>
        </p:nvSpPr>
        <p:spPr>
          <a:xfrm>
            <a:off x="1431036" y="3680460"/>
            <a:ext cx="1636776" cy="640080"/>
          </a:xfrm>
          <a:prstGeom prst="rect">
            <a:avLst/>
          </a:prstGeom>
          <a:noFill/>
        </p:spPr>
        <p:txBody>
          <a:bodyPr wrap="square" lIns="0" rIns="0" tIns="0" bIns="0" anchor="ctr">
            <a:noAutofit/>
          </a:bodyPr>
          <a:lstStyle/>
          <a:p>
            <a:pPr algn="l"/>
            <a:r>
              <a:rPr sz="1500" i="0">
                <a:solidFill>
                  <a:srgbClr val="F4F6FA"/>
                </a:solidFill>
                <a:latin typeface="Segoe UI Semibold"/>
              </a:rPr>
              <a:t>XL: 24–32B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RAG Is An Engineering Librarian</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Retrieve relevant passages before asking the model to answer.</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8</a:t>
            </a:r>
          </a:p>
        </p:txBody>
      </p:sp>
      <p:sp>
        <p:nvSpPr>
          <p:cNvPr id="9" name="Oval 8"/>
          <p:cNvSpPr/>
          <p:nvPr/>
        </p:nvSpPr>
        <p:spPr>
          <a:xfrm>
            <a:off x="617220" y="1851660"/>
            <a:ext cx="960120" cy="960120"/>
          </a:xfrm>
          <a:prstGeom prst="ellipse">
            <a:avLst/>
          </a:prstGeom>
          <a:solidFill>
            <a:srgbClr val="76B900"/>
          </a:solidFill>
          <a:ln>
            <a:noFill/>
          </a:ln>
          <a:effectLst>
            <a:glow rad="1524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1" name="TextBox 10"/>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F4F6FA"/>
                </a:solidFill>
                <a:latin typeface="Segoe UI Semibold"/>
              </a:rPr>
              <a:t>Internal document RAG</a:t>
            </a:r>
          </a:p>
        </p:txBody>
      </p:sp>
      <p:sp>
        <p:nvSpPr>
          <p:cNvPr id="12" name="Oval 11"/>
          <p:cNvSpPr/>
          <p:nvPr/>
        </p:nvSpPr>
        <p:spPr>
          <a:xfrm>
            <a:off x="10611612" y="1851660"/>
            <a:ext cx="960120" cy="960120"/>
          </a:xfrm>
          <a:prstGeom prst="ellipse">
            <a:avLst/>
          </a:prstGeom>
          <a:solidFill>
            <a:srgbClr val="9B6BFF"/>
          </a:solidFill>
          <a:ln>
            <a:noFill/>
          </a:ln>
          <a:effectLst>
            <a:glow rad="1524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07080C"/>
                </a:solidFill>
                <a:latin typeface="Segoe Fluent Icons"/>
              </a:rPr>
              <a:t></a:t>
            </a:r>
          </a:p>
        </p:txBody>
      </p:sp>
      <p:sp>
        <p:nvSpPr>
          <p:cNvPr id="14" name="TextBox 13"/>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F4F6FA"/>
                </a:solidFill>
                <a:latin typeface="Segoe UI Semibold"/>
              </a:rPr>
              <a:t>Engineering librarian</a:t>
            </a:r>
          </a:p>
        </p:txBody>
      </p:sp>
      <p:sp>
        <p:nvSpPr>
          <p:cNvPr id="15" name="TextBox 14"/>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6F7890"/>
                </a:solidFill>
                <a:latin typeface="Segoe UI"/>
              </a:rPr>
              <a:t>is like</a:t>
            </a:r>
          </a:p>
        </p:txBody>
      </p:sp>
      <p:sp>
        <p:nvSpPr>
          <p:cNvPr id="16" name="Rounded Rectangle 15"/>
          <p:cNvSpPr/>
          <p:nvPr/>
        </p:nvSpPr>
        <p:spPr>
          <a:xfrm>
            <a:off x="548640" y="3108960"/>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2960"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Document index</a:t>
            </a:r>
          </a:p>
        </p:txBody>
      </p:sp>
      <p:cxnSp>
        <p:nvCxnSpPr>
          <p:cNvPr id="18" name="Connector 17"/>
          <p:cNvCxnSpPr/>
          <p:nvPr/>
        </p:nvCxnSpPr>
        <p:spPr>
          <a:xfrm>
            <a:off x="5481828" y="3450717"/>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780276" y="3108960"/>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054596" y="3145536"/>
            <a:ext cx="4311396" cy="610362"/>
          </a:xfrm>
          <a:prstGeom prst="rect">
            <a:avLst/>
          </a:prstGeom>
          <a:noFill/>
        </p:spPr>
        <p:txBody>
          <a:bodyPr wrap="square" lIns="0" rIns="0" tIns="0" bIns="0" anchor="ctr">
            <a:noAutofit/>
          </a:bodyPr>
          <a:lstStyle/>
          <a:p>
            <a:pPr algn="ctr"/>
            <a:r>
              <a:rPr sz="1700" i="0">
                <a:solidFill>
                  <a:srgbClr val="F4F6FA"/>
                </a:solidFill>
                <a:latin typeface="Segoe UI"/>
              </a:rPr>
              <a:t>Library catalog</a:t>
            </a:r>
          </a:p>
        </p:txBody>
      </p:sp>
      <p:sp>
        <p:nvSpPr>
          <p:cNvPr id="21" name="Rounded Rectangle 20"/>
          <p:cNvSpPr/>
          <p:nvPr/>
        </p:nvSpPr>
        <p:spPr>
          <a:xfrm>
            <a:off x="548640" y="3902202"/>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22960"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Retrieval query</a:t>
            </a:r>
          </a:p>
        </p:txBody>
      </p:sp>
      <p:cxnSp>
        <p:nvCxnSpPr>
          <p:cNvPr id="23" name="Connector 22"/>
          <p:cNvCxnSpPr/>
          <p:nvPr/>
        </p:nvCxnSpPr>
        <p:spPr>
          <a:xfrm>
            <a:off x="5481828" y="4243959"/>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780276" y="3902202"/>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054596" y="3938778"/>
            <a:ext cx="4311396" cy="610362"/>
          </a:xfrm>
          <a:prstGeom prst="rect">
            <a:avLst/>
          </a:prstGeom>
          <a:noFill/>
        </p:spPr>
        <p:txBody>
          <a:bodyPr wrap="square" lIns="0" rIns="0" tIns="0" bIns="0" anchor="ctr">
            <a:noAutofit/>
          </a:bodyPr>
          <a:lstStyle/>
          <a:p>
            <a:pPr algn="ctr"/>
            <a:r>
              <a:rPr sz="1700" i="0">
                <a:solidFill>
                  <a:srgbClr val="F4F6FA"/>
                </a:solidFill>
                <a:latin typeface="Segoe UI"/>
              </a:rPr>
              <a:t>Reference request</a:t>
            </a:r>
          </a:p>
        </p:txBody>
      </p:sp>
      <p:sp>
        <p:nvSpPr>
          <p:cNvPr id="26" name="Rounded Rectangle 25"/>
          <p:cNvSpPr/>
          <p:nvPr/>
        </p:nvSpPr>
        <p:spPr>
          <a:xfrm>
            <a:off x="548640" y="4695444"/>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Retrieved passages</a:t>
            </a:r>
          </a:p>
        </p:txBody>
      </p:sp>
      <p:cxnSp>
        <p:nvCxnSpPr>
          <p:cNvPr id="28" name="Connector 27"/>
          <p:cNvCxnSpPr/>
          <p:nvPr/>
        </p:nvCxnSpPr>
        <p:spPr>
          <a:xfrm>
            <a:off x="5481828" y="5037201"/>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80276" y="4695444"/>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54596" y="4732020"/>
            <a:ext cx="4311396" cy="610362"/>
          </a:xfrm>
          <a:prstGeom prst="rect">
            <a:avLst/>
          </a:prstGeom>
          <a:noFill/>
        </p:spPr>
        <p:txBody>
          <a:bodyPr wrap="square" lIns="0" rIns="0" tIns="0" bIns="0" anchor="ctr">
            <a:noAutofit/>
          </a:bodyPr>
          <a:lstStyle/>
          <a:p>
            <a:pPr algn="ctr"/>
            <a:r>
              <a:rPr sz="1700" i="0">
                <a:solidFill>
                  <a:srgbClr val="F4F6FA"/>
                </a:solidFill>
                <a:latin typeface="Segoe UI"/>
              </a:rPr>
              <a:t>Selected pages</a:t>
            </a:r>
          </a:p>
        </p:txBody>
      </p:sp>
      <p:sp>
        <p:nvSpPr>
          <p:cNvPr id="31" name="Rounded Rectangle 30"/>
          <p:cNvSpPr/>
          <p:nvPr/>
        </p:nvSpPr>
        <p:spPr>
          <a:xfrm>
            <a:off x="548640" y="5488686"/>
            <a:ext cx="4860036" cy="683514"/>
          </a:xfrm>
          <a:prstGeom prst="roundRect">
            <a:avLst>
              <a:gd name="adj" fmla="val 50000"/>
            </a:avLst>
          </a:prstGeom>
          <a:solidFill>
            <a:srgbClr val="141824"/>
          </a:solidFill>
          <a:ln w="15875">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2960"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Source citations</a:t>
            </a:r>
          </a:p>
        </p:txBody>
      </p:sp>
      <p:cxnSp>
        <p:nvCxnSpPr>
          <p:cNvPr id="33" name="Connector 32"/>
          <p:cNvCxnSpPr/>
          <p:nvPr/>
        </p:nvCxnSpPr>
        <p:spPr>
          <a:xfrm>
            <a:off x="5481828" y="5830443"/>
            <a:ext cx="1225296" cy="0"/>
          </a:xfrm>
          <a:prstGeom prst="line">
            <a:avLst/>
          </a:prstGeom>
          <a:ln w="25400">
            <a:solidFill>
              <a:srgbClr val="6F789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780276" y="5488686"/>
            <a:ext cx="4860036" cy="683514"/>
          </a:xfrm>
          <a:prstGeom prst="roundRect">
            <a:avLst>
              <a:gd name="adj" fmla="val 50000"/>
            </a:avLst>
          </a:prstGeom>
          <a:solidFill>
            <a:srgbClr val="141824"/>
          </a:solidFill>
          <a:ln w="15875">
            <a:solidFill>
              <a:srgbClr val="9B6B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054596" y="5525262"/>
            <a:ext cx="4311396" cy="610362"/>
          </a:xfrm>
          <a:prstGeom prst="rect">
            <a:avLst/>
          </a:prstGeom>
          <a:noFill/>
        </p:spPr>
        <p:txBody>
          <a:bodyPr wrap="square" lIns="0" rIns="0" tIns="0" bIns="0" anchor="ctr">
            <a:noAutofit/>
          </a:bodyPr>
          <a:lstStyle/>
          <a:p>
            <a:pPr algn="ctr"/>
            <a:r>
              <a:rPr sz="1700" i="0">
                <a:solidFill>
                  <a:srgbClr val="F4F6FA"/>
                </a:solidFill>
                <a:latin typeface="Segoe UI"/>
              </a:rPr>
              <a:t>Page references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Proposed Local Stack And Routing Boundary</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Keep sensitive context local; gate cloud requests before transmission.</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9</a:t>
            </a:r>
          </a:p>
        </p:txBody>
      </p:sp>
      <p:cxnSp>
        <p:nvCxnSpPr>
          <p:cNvPr id="9" name="Connector 8"/>
          <p:cNvCxnSpPr/>
          <p:nvPr/>
        </p:nvCxnSpPr>
        <p:spPr>
          <a:xfrm>
            <a:off x="2674544" y="3059430"/>
            <a:ext cx="647014"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170170" y="3059430"/>
            <a:ext cx="739445" cy="0"/>
          </a:xfrm>
          <a:prstGeom prst="line">
            <a:avLst/>
          </a:prstGeom>
          <a:ln w="28575">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674544" y="5086350"/>
            <a:ext cx="647014" cy="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170170" y="5086350"/>
            <a:ext cx="739445" cy="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926351" y="3421380"/>
            <a:ext cx="0" cy="1303020"/>
          </a:xfrm>
          <a:prstGeom prst="line">
            <a:avLst/>
          </a:prstGeom>
          <a:ln w="28575">
            <a:solidFill>
              <a:srgbClr val="9B6B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20511" y="3688842"/>
            <a:ext cx="2011680" cy="329184"/>
          </a:xfrm>
          <a:prstGeom prst="rect">
            <a:avLst/>
          </a:prstGeom>
          <a:noFill/>
        </p:spPr>
        <p:txBody>
          <a:bodyPr wrap="square" lIns="0" rIns="0" tIns="0" bIns="0" anchor="t">
            <a:noAutofit/>
          </a:bodyPr>
          <a:lstStyle/>
          <a:p>
            <a:pPr algn="ctr"/>
            <a:r>
              <a:rPr sz="1200" i="0">
                <a:solidFill>
                  <a:srgbClr val="AEB6C8"/>
                </a:solidFill>
                <a:latin typeface="Segoe UI"/>
              </a:rPr>
              <a:t>Context</a:t>
            </a:r>
          </a:p>
        </p:txBody>
      </p:sp>
      <p:cxnSp>
        <p:nvCxnSpPr>
          <p:cNvPr id="15" name="Connector 14"/>
          <p:cNvCxnSpPr/>
          <p:nvPr/>
        </p:nvCxnSpPr>
        <p:spPr>
          <a:xfrm>
            <a:off x="4245864" y="3421380"/>
            <a:ext cx="0" cy="1303020"/>
          </a:xfrm>
          <a:prstGeom prst="line">
            <a:avLst/>
          </a:prstGeom>
          <a:ln w="28575">
            <a:solidFill>
              <a:srgbClr val="3DA9F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40024" y="3688842"/>
            <a:ext cx="2011680" cy="329184"/>
          </a:xfrm>
          <a:prstGeom prst="rect">
            <a:avLst/>
          </a:prstGeom>
          <a:noFill/>
        </p:spPr>
        <p:txBody>
          <a:bodyPr wrap="square" lIns="0" rIns="0" tIns="0" bIns="0" anchor="t">
            <a:noAutofit/>
          </a:bodyPr>
          <a:lstStyle/>
          <a:p>
            <a:pPr algn="ctr"/>
            <a:r>
              <a:rPr sz="1200" i="0">
                <a:solidFill>
                  <a:srgbClr val="AEB6C8"/>
                </a:solidFill>
                <a:latin typeface="Segoe UI"/>
              </a:rPr>
              <a:t>Doc query</a:t>
            </a:r>
          </a:p>
        </p:txBody>
      </p:sp>
      <p:cxnSp>
        <p:nvCxnSpPr>
          <p:cNvPr id="17" name="Connector 16"/>
          <p:cNvCxnSpPr/>
          <p:nvPr/>
        </p:nvCxnSpPr>
        <p:spPr>
          <a:xfrm>
            <a:off x="5170170" y="3421380"/>
            <a:ext cx="3697224" cy="651510"/>
          </a:xfrm>
          <a:prstGeom prst="line">
            <a:avLst/>
          </a:prstGeom>
          <a:ln w="28575">
            <a:solidFill>
              <a:srgbClr val="5A627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012942" y="3363087"/>
            <a:ext cx="2011680" cy="329184"/>
          </a:xfrm>
          <a:prstGeom prst="rect">
            <a:avLst/>
          </a:prstGeom>
          <a:noFill/>
        </p:spPr>
        <p:txBody>
          <a:bodyPr wrap="square" lIns="0" rIns="0" tIns="0" bIns="0" anchor="t">
            <a:noAutofit/>
          </a:bodyPr>
          <a:lstStyle/>
          <a:p>
            <a:pPr algn="ctr"/>
            <a:r>
              <a:rPr sz="1200" i="0">
                <a:solidFill>
                  <a:srgbClr val="AEB6C8"/>
                </a:solidFill>
                <a:latin typeface="Segoe UI"/>
              </a:rPr>
              <a:t>Approved payload only</a:t>
            </a:r>
          </a:p>
        </p:txBody>
      </p:sp>
      <p:sp>
        <p:nvSpPr>
          <p:cNvPr id="19" name="Rounded Rectangle 18"/>
          <p:cNvSpPr/>
          <p:nvPr/>
        </p:nvSpPr>
        <p:spPr>
          <a:xfrm>
            <a:off x="548640" y="1828800"/>
            <a:ext cx="7764170" cy="4343400"/>
          </a:xfrm>
          <a:prstGeom prst="roundRect">
            <a:avLst>
              <a:gd name="adj" fmla="val 2947"/>
            </a:avLst>
          </a:prstGeom>
          <a:solidFill>
            <a:srgbClr val="141824"/>
          </a:solidFill>
          <a:ln w="12700">
            <a:solidFill>
              <a:srgbClr val="2830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5932" y="1901190"/>
            <a:ext cx="7024726" cy="361950"/>
          </a:xfrm>
          <a:prstGeom prst="rect">
            <a:avLst/>
          </a:prstGeom>
          <a:noFill/>
        </p:spPr>
        <p:txBody>
          <a:bodyPr wrap="square" lIns="0" rIns="0" tIns="0" bIns="0" anchor="t">
            <a:noAutofit/>
          </a:bodyPr>
          <a:lstStyle/>
          <a:p>
            <a:pPr algn="l"/>
            <a:r>
              <a:rPr sz="2000" i="0">
                <a:solidFill>
                  <a:srgbClr val="76B900"/>
                </a:solidFill>
                <a:latin typeface="Segoe UI Semibold"/>
              </a:rPr>
              <a:t>Surface local boundary</a:t>
            </a:r>
          </a:p>
        </p:txBody>
      </p:sp>
      <p:sp>
        <p:nvSpPr>
          <p:cNvPr id="21" name="Rounded Rectangle 20"/>
          <p:cNvSpPr/>
          <p:nvPr/>
        </p:nvSpPr>
        <p:spPr>
          <a:xfrm>
            <a:off x="825932" y="2697480"/>
            <a:ext cx="1848612" cy="723900"/>
          </a:xfrm>
          <a:prstGeom prst="roundRect">
            <a:avLst>
              <a:gd name="adj" fmla="val 17684"/>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1380" y="286035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23" name="TextBox 22"/>
          <p:cNvSpPr txBox="1"/>
          <p:nvPr/>
        </p:nvSpPr>
        <p:spPr>
          <a:xfrm>
            <a:off x="1498397" y="2807208"/>
            <a:ext cx="1084707" cy="504444"/>
          </a:xfrm>
          <a:prstGeom prst="rect">
            <a:avLst/>
          </a:prstGeom>
          <a:noFill/>
        </p:spPr>
        <p:txBody>
          <a:bodyPr wrap="square" lIns="0" rIns="0" tIns="0" bIns="0" anchor="ctr">
            <a:noAutofit/>
          </a:bodyPr>
          <a:lstStyle/>
          <a:p>
            <a:pPr algn="l"/>
            <a:r>
              <a:rPr sz="1600" i="0">
                <a:solidFill>
                  <a:srgbClr val="07080C"/>
                </a:solidFill>
                <a:latin typeface="Segoe UI Semibold"/>
              </a:rPr>
              <a:t>IDE / chat</a:t>
            </a:r>
          </a:p>
        </p:txBody>
      </p:sp>
      <p:sp>
        <p:nvSpPr>
          <p:cNvPr id="24" name="Rounded Rectangle 23"/>
          <p:cNvSpPr/>
          <p:nvPr/>
        </p:nvSpPr>
        <p:spPr>
          <a:xfrm>
            <a:off x="3321558" y="2697480"/>
            <a:ext cx="1848612" cy="723900"/>
          </a:xfrm>
          <a:prstGeom prst="roundRect">
            <a:avLst>
              <a:gd name="adj" fmla="val 17684"/>
            </a:avLst>
          </a:prstGeom>
          <a:solidFill>
            <a:srgbClr val="3DA9FC"/>
          </a:solidFill>
          <a:ln>
            <a:noFill/>
          </a:ln>
          <a:effectLst>
            <a:glow rad="101600">
              <a:srgbClr val="3DA9FC">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3477006" y="286035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26" name="TextBox 25"/>
          <p:cNvSpPr txBox="1"/>
          <p:nvPr/>
        </p:nvSpPr>
        <p:spPr>
          <a:xfrm>
            <a:off x="3994023" y="2807208"/>
            <a:ext cx="1084707" cy="504444"/>
          </a:xfrm>
          <a:prstGeom prst="rect">
            <a:avLst/>
          </a:prstGeom>
          <a:noFill/>
        </p:spPr>
        <p:txBody>
          <a:bodyPr wrap="square" lIns="0" rIns="0" tIns="0" bIns="0" anchor="ctr">
            <a:noAutofit/>
          </a:bodyPr>
          <a:lstStyle/>
          <a:p>
            <a:pPr algn="l"/>
            <a:r>
              <a:rPr sz="1500" i="0">
                <a:solidFill>
                  <a:srgbClr val="07080C"/>
                </a:solidFill>
                <a:latin typeface="Segoe UI Semibold"/>
              </a:rPr>
              <a:t>Policy router</a:t>
            </a:r>
          </a:p>
        </p:txBody>
      </p:sp>
      <p:sp>
        <p:nvSpPr>
          <p:cNvPr id="27" name="Rounded Rectangle 26"/>
          <p:cNvSpPr/>
          <p:nvPr/>
        </p:nvSpPr>
        <p:spPr>
          <a:xfrm>
            <a:off x="5909615" y="2697480"/>
            <a:ext cx="2033473" cy="723900"/>
          </a:xfrm>
          <a:prstGeom prst="roundRect">
            <a:avLst>
              <a:gd name="adj" fmla="val 17684"/>
            </a:avLst>
          </a:prstGeom>
          <a:solidFill>
            <a:srgbClr val="76B900"/>
          </a:solidFill>
          <a:ln>
            <a:noFill/>
          </a:ln>
          <a:effectLst>
            <a:glow rad="101600">
              <a:srgbClr val="76B900">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065063" y="286035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29" name="TextBox 28"/>
          <p:cNvSpPr txBox="1"/>
          <p:nvPr/>
        </p:nvSpPr>
        <p:spPr>
          <a:xfrm>
            <a:off x="6582080" y="2807208"/>
            <a:ext cx="1269568" cy="504444"/>
          </a:xfrm>
          <a:prstGeom prst="rect">
            <a:avLst/>
          </a:prstGeom>
          <a:noFill/>
        </p:spPr>
        <p:txBody>
          <a:bodyPr wrap="square" lIns="0" rIns="0" tIns="0" bIns="0" anchor="ctr">
            <a:noAutofit/>
          </a:bodyPr>
          <a:lstStyle/>
          <a:p>
            <a:pPr algn="l"/>
            <a:r>
              <a:rPr sz="1500" i="0">
                <a:solidFill>
                  <a:srgbClr val="07080C"/>
                </a:solidFill>
                <a:latin typeface="Segoe UI Semibold"/>
              </a:rPr>
              <a:t>Local inference</a:t>
            </a:r>
          </a:p>
        </p:txBody>
      </p:sp>
      <p:sp>
        <p:nvSpPr>
          <p:cNvPr id="30" name="Rounded Rectangle 29"/>
          <p:cNvSpPr/>
          <p:nvPr/>
        </p:nvSpPr>
        <p:spPr>
          <a:xfrm>
            <a:off x="825932" y="4724400"/>
            <a:ext cx="1848612" cy="723900"/>
          </a:xfrm>
          <a:prstGeom prst="roundRect">
            <a:avLst>
              <a:gd name="adj" fmla="val 17684"/>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81380" y="4887277"/>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32" name="TextBox 31"/>
          <p:cNvSpPr txBox="1"/>
          <p:nvPr/>
        </p:nvSpPr>
        <p:spPr>
          <a:xfrm>
            <a:off x="1498397" y="4834128"/>
            <a:ext cx="1084707" cy="504444"/>
          </a:xfrm>
          <a:prstGeom prst="rect">
            <a:avLst/>
          </a:prstGeom>
          <a:noFill/>
        </p:spPr>
        <p:txBody>
          <a:bodyPr wrap="square" lIns="0" rIns="0" tIns="0" bIns="0" anchor="ctr">
            <a:noAutofit/>
          </a:bodyPr>
          <a:lstStyle/>
          <a:p>
            <a:pPr algn="l"/>
            <a:r>
              <a:rPr sz="1500" i="0">
                <a:solidFill>
                  <a:srgbClr val="07080C"/>
                </a:solidFill>
                <a:latin typeface="Segoe UI Semibold"/>
              </a:rPr>
              <a:t>Approved docs</a:t>
            </a:r>
          </a:p>
        </p:txBody>
      </p:sp>
      <p:sp>
        <p:nvSpPr>
          <p:cNvPr id="33" name="Rounded Rectangle 32"/>
          <p:cNvSpPr/>
          <p:nvPr/>
        </p:nvSpPr>
        <p:spPr>
          <a:xfrm>
            <a:off x="3321558" y="4724400"/>
            <a:ext cx="1848612" cy="723900"/>
          </a:xfrm>
          <a:prstGeom prst="roundRect">
            <a:avLst>
              <a:gd name="adj" fmla="val 17684"/>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477006" y="4887277"/>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35" name="TextBox 34"/>
          <p:cNvSpPr txBox="1"/>
          <p:nvPr/>
        </p:nvSpPr>
        <p:spPr>
          <a:xfrm>
            <a:off x="3994023" y="4834128"/>
            <a:ext cx="1084707" cy="504444"/>
          </a:xfrm>
          <a:prstGeom prst="rect">
            <a:avLst/>
          </a:prstGeom>
          <a:noFill/>
        </p:spPr>
        <p:txBody>
          <a:bodyPr wrap="square" lIns="0" rIns="0" tIns="0" bIns="0" anchor="ctr">
            <a:noAutofit/>
          </a:bodyPr>
          <a:lstStyle/>
          <a:p>
            <a:pPr algn="l"/>
            <a:r>
              <a:rPr sz="1600" i="0">
                <a:solidFill>
                  <a:srgbClr val="07080C"/>
                </a:solidFill>
                <a:latin typeface="Segoe UI Semibold"/>
              </a:rPr>
              <a:t>Local index</a:t>
            </a:r>
          </a:p>
        </p:txBody>
      </p:sp>
      <p:sp>
        <p:nvSpPr>
          <p:cNvPr id="36" name="Rounded Rectangle 35"/>
          <p:cNvSpPr/>
          <p:nvPr/>
        </p:nvSpPr>
        <p:spPr>
          <a:xfrm>
            <a:off x="5909615" y="4724400"/>
            <a:ext cx="2033473" cy="723900"/>
          </a:xfrm>
          <a:prstGeom prst="roundRect">
            <a:avLst>
              <a:gd name="adj" fmla="val 17684"/>
            </a:avLst>
          </a:prstGeom>
          <a:solidFill>
            <a:srgbClr val="9B6BFF"/>
          </a:solidFill>
          <a:ln>
            <a:noFill/>
          </a:ln>
          <a:effectLst>
            <a:glow rad="101600">
              <a:srgbClr val="9B6BFF">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065063" y="4887277"/>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38" name="TextBox 37"/>
          <p:cNvSpPr txBox="1"/>
          <p:nvPr/>
        </p:nvSpPr>
        <p:spPr>
          <a:xfrm>
            <a:off x="6582080" y="4834128"/>
            <a:ext cx="1269568" cy="504444"/>
          </a:xfrm>
          <a:prstGeom prst="rect">
            <a:avLst/>
          </a:prstGeom>
          <a:noFill/>
        </p:spPr>
        <p:txBody>
          <a:bodyPr wrap="square" lIns="0" rIns="0" tIns="0" bIns="0" anchor="ctr">
            <a:noAutofit/>
          </a:bodyPr>
          <a:lstStyle/>
          <a:p>
            <a:pPr algn="l"/>
            <a:r>
              <a:rPr sz="1500" i="0">
                <a:solidFill>
                  <a:srgbClr val="07080C"/>
                </a:solidFill>
                <a:latin typeface="Segoe UI Semibold"/>
              </a:rPr>
              <a:t>Permissioned retrieval</a:t>
            </a:r>
          </a:p>
        </p:txBody>
      </p:sp>
      <p:sp>
        <p:nvSpPr>
          <p:cNvPr id="39" name="Rounded Rectangle 38"/>
          <p:cNvSpPr/>
          <p:nvPr/>
        </p:nvSpPr>
        <p:spPr>
          <a:xfrm>
            <a:off x="8867394" y="3710940"/>
            <a:ext cx="2495626" cy="723900"/>
          </a:xfrm>
          <a:prstGeom prst="roundRect">
            <a:avLst>
              <a:gd name="adj" fmla="val 17684"/>
            </a:avLst>
          </a:prstGeom>
          <a:solidFill>
            <a:srgbClr val="5A6276"/>
          </a:solidFill>
          <a:ln>
            <a:noFill/>
          </a:ln>
          <a:effectLst>
            <a:glow rad="101600">
              <a:srgbClr val="5A6276">
                <a:alpha val="3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022842" y="3873818"/>
            <a:ext cx="398145" cy="398145"/>
          </a:xfrm>
          <a:prstGeom prst="rect">
            <a:avLst/>
          </a:prstGeom>
          <a:noFill/>
        </p:spPr>
        <p:txBody>
          <a:bodyPr wrap="none" lIns="0" rIns="0" tIns="0" bIns="0" anchor="ctr">
            <a:spAutoFit/>
          </a:bodyPr>
          <a:lstStyle/>
          <a:p>
            <a:pPr algn="ctr"/>
            <a:r>
              <a:rPr sz="1943">
                <a:solidFill>
                  <a:srgbClr val="07080C"/>
                </a:solidFill>
                <a:latin typeface="Segoe Fluent Icons"/>
              </a:rPr>
              <a:t></a:t>
            </a:r>
          </a:p>
        </p:txBody>
      </p:sp>
      <p:sp>
        <p:nvSpPr>
          <p:cNvPr id="41" name="TextBox 40"/>
          <p:cNvSpPr txBox="1"/>
          <p:nvPr/>
        </p:nvSpPr>
        <p:spPr>
          <a:xfrm>
            <a:off x="9539859" y="3820668"/>
            <a:ext cx="1731721" cy="504444"/>
          </a:xfrm>
          <a:prstGeom prst="rect">
            <a:avLst/>
          </a:prstGeom>
          <a:noFill/>
        </p:spPr>
        <p:txBody>
          <a:bodyPr wrap="square" lIns="0" rIns="0" tIns="0" bIns="0" anchor="ctr">
            <a:noAutofit/>
          </a:bodyPr>
          <a:lstStyle/>
          <a:p>
            <a:pPr algn="l"/>
            <a:r>
              <a:rPr sz="1600" i="0">
                <a:solidFill>
                  <a:srgbClr val="07080C"/>
                </a:solidFill>
                <a:latin typeface="Segoe UI Semibold"/>
              </a:rPr>
              <a:t>Cloud reasoning</a:t>
            </a:r>
          </a:p>
        </p:txBody>
      </p:sp>
      <p:sp>
        <p:nvSpPr>
          <p:cNvPr id="42" name="TextBox 41"/>
          <p:cNvSpPr txBox="1"/>
          <p:nvPr/>
        </p:nvSpPr>
        <p:spPr>
          <a:xfrm>
            <a:off x="918362" y="5665470"/>
            <a:ext cx="6932295" cy="361950"/>
          </a:xfrm>
          <a:prstGeom prst="rect">
            <a:avLst/>
          </a:prstGeom>
          <a:noFill/>
        </p:spPr>
        <p:txBody>
          <a:bodyPr wrap="square" lIns="0" rIns="0" tIns="0" bIns="0" anchor="t">
            <a:noAutofit/>
          </a:bodyPr>
          <a:lstStyle/>
          <a:p>
            <a:pPr algn="l"/>
            <a:r>
              <a:rPr sz="1400" i="0">
                <a:solidFill>
                  <a:srgbClr val="F4F6FA"/>
                </a:solidFill>
                <a:latin typeface="Segoe UI"/>
              </a:rPr>
              <a:t>Sensitive code and context remain local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Make Hybrid Routing An Explicit Decision</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Task complexity alone must never override the IP boundary.</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10</a:t>
            </a:r>
          </a:p>
        </p:txBody>
      </p:sp>
      <p:sp>
        <p:nvSpPr>
          <p:cNvPr id="9" name="Rounded Rectangle 8"/>
          <p:cNvSpPr/>
          <p:nvPr/>
        </p:nvSpPr>
        <p:spPr>
          <a:xfrm>
            <a:off x="548640" y="2583180"/>
            <a:ext cx="2395728" cy="3291840"/>
          </a:xfrm>
          <a:prstGeom prst="roundRect">
            <a:avLst>
              <a:gd name="adj" fmla="val 5343"/>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289304" y="2125980"/>
            <a:ext cx="914400" cy="914400"/>
          </a:xfrm>
          <a:prstGeom prst="ellipse">
            <a:avLst/>
          </a:prstGeom>
          <a:solidFill>
            <a:srgbClr val="76B900"/>
          </a:solidFill>
          <a:ln>
            <a:noFill/>
          </a:ln>
          <a:effectLst>
            <a:glow rad="127000">
              <a:srgbClr val="76B900">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17320"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2" name="TextBox 11"/>
          <p:cNvSpPr txBox="1"/>
          <p:nvPr/>
        </p:nvSpPr>
        <p:spPr>
          <a:xfrm>
            <a:off x="731520" y="3150108"/>
            <a:ext cx="2029968" cy="274320"/>
          </a:xfrm>
          <a:prstGeom prst="rect">
            <a:avLst/>
          </a:prstGeom>
          <a:noFill/>
        </p:spPr>
        <p:txBody>
          <a:bodyPr wrap="square" lIns="0" rIns="0" tIns="0" bIns="0" anchor="t">
            <a:noAutofit/>
          </a:bodyPr>
          <a:lstStyle/>
          <a:p>
            <a:pPr algn="ctr"/>
            <a:r>
              <a:rPr sz="1200" i="0">
                <a:solidFill>
                  <a:srgbClr val="76B900"/>
                </a:solidFill>
                <a:latin typeface="Segoe UI Semibold"/>
              </a:rPr>
              <a:t>01</a:t>
            </a:r>
          </a:p>
        </p:txBody>
      </p:sp>
      <p:sp>
        <p:nvSpPr>
          <p:cNvPr id="13" name="TextBox 12"/>
          <p:cNvSpPr txBox="1"/>
          <p:nvPr/>
        </p:nvSpPr>
        <p:spPr>
          <a:xfrm>
            <a:off x="713232" y="3451860"/>
            <a:ext cx="2066544" cy="868680"/>
          </a:xfrm>
          <a:prstGeom prst="rect">
            <a:avLst/>
          </a:prstGeom>
          <a:noFill/>
        </p:spPr>
        <p:txBody>
          <a:bodyPr wrap="square" lIns="0" rIns="0" tIns="0" bIns="0" anchor="ctr">
            <a:noAutofit/>
          </a:bodyPr>
          <a:lstStyle/>
          <a:p>
            <a:pPr algn="ctr"/>
            <a:r>
              <a:rPr sz="2000" i="0">
                <a:solidFill>
                  <a:srgbClr val="F4F6FA"/>
                </a:solidFill>
                <a:latin typeface="Segoe UI Semibold"/>
              </a:rPr>
              <a:t>Classify request</a:t>
            </a:r>
          </a:p>
        </p:txBody>
      </p:sp>
      <p:sp>
        <p:nvSpPr>
          <p:cNvPr id="14" name="TextBox 13"/>
          <p:cNvSpPr txBox="1"/>
          <p:nvPr/>
        </p:nvSpPr>
        <p:spPr>
          <a:xfrm>
            <a:off x="731520" y="4366260"/>
            <a:ext cx="2029968" cy="1371600"/>
          </a:xfrm>
          <a:prstGeom prst="rect">
            <a:avLst/>
          </a:prstGeom>
          <a:noFill/>
        </p:spPr>
        <p:txBody>
          <a:bodyPr wrap="square" lIns="0" rIns="0" tIns="0" bIns="0" anchor="t">
            <a:noAutofit/>
          </a:bodyPr>
          <a:lstStyle/>
          <a:p>
            <a:pPr algn="ctr"/>
            <a:r>
              <a:rPr sz="1500" i="0">
                <a:solidFill>
                  <a:srgbClr val="AEB6C8"/>
                </a:solidFill>
                <a:latin typeface="Segoe UI"/>
              </a:rPr>
              <a:t>Identify sensitive code, CAD/PLM data and documents</a:t>
            </a:r>
          </a:p>
        </p:txBody>
      </p:sp>
      <p:sp>
        <p:nvSpPr>
          <p:cNvPr id="15" name="Chevron 14"/>
          <p:cNvSpPr/>
          <p:nvPr/>
        </p:nvSpPr>
        <p:spPr>
          <a:xfrm>
            <a:off x="3081528"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3447288" y="2583180"/>
            <a:ext cx="2395728" cy="3291840"/>
          </a:xfrm>
          <a:prstGeom prst="roundRect">
            <a:avLst>
              <a:gd name="adj" fmla="val 5343"/>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187952" y="2125980"/>
            <a:ext cx="914400" cy="914400"/>
          </a:xfrm>
          <a:prstGeom prst="ellipse">
            <a:avLst/>
          </a:prstGeom>
          <a:solidFill>
            <a:srgbClr val="3DA9FC"/>
          </a:solidFill>
          <a:ln>
            <a:noFill/>
          </a:ln>
          <a:effectLst>
            <a:glow rad="127000">
              <a:srgbClr val="3DA9FC">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315968"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19" name="TextBox 18"/>
          <p:cNvSpPr txBox="1"/>
          <p:nvPr/>
        </p:nvSpPr>
        <p:spPr>
          <a:xfrm>
            <a:off x="3630168" y="3150108"/>
            <a:ext cx="2029968" cy="274320"/>
          </a:xfrm>
          <a:prstGeom prst="rect">
            <a:avLst/>
          </a:prstGeom>
          <a:noFill/>
        </p:spPr>
        <p:txBody>
          <a:bodyPr wrap="square" lIns="0" rIns="0" tIns="0" bIns="0" anchor="t">
            <a:noAutofit/>
          </a:bodyPr>
          <a:lstStyle/>
          <a:p>
            <a:pPr algn="ctr"/>
            <a:r>
              <a:rPr sz="1200" i="0">
                <a:solidFill>
                  <a:srgbClr val="3DA9FC"/>
                </a:solidFill>
                <a:latin typeface="Segoe UI Semibold"/>
              </a:rPr>
              <a:t>02</a:t>
            </a:r>
          </a:p>
        </p:txBody>
      </p:sp>
      <p:sp>
        <p:nvSpPr>
          <p:cNvPr id="20" name="TextBox 19"/>
          <p:cNvSpPr txBox="1"/>
          <p:nvPr/>
        </p:nvSpPr>
        <p:spPr>
          <a:xfrm>
            <a:off x="3611880" y="3451860"/>
            <a:ext cx="2066544" cy="868680"/>
          </a:xfrm>
          <a:prstGeom prst="rect">
            <a:avLst/>
          </a:prstGeom>
          <a:noFill/>
        </p:spPr>
        <p:txBody>
          <a:bodyPr wrap="square" lIns="0" rIns="0" tIns="0" bIns="0" anchor="ctr">
            <a:noAutofit/>
          </a:bodyPr>
          <a:lstStyle/>
          <a:p>
            <a:pPr algn="ctr"/>
            <a:r>
              <a:rPr sz="2000" i="0">
                <a:solidFill>
                  <a:srgbClr val="F4F6FA"/>
                </a:solidFill>
                <a:latin typeface="Segoe UI Semibold"/>
              </a:rPr>
              <a:t>Choose local</a:t>
            </a:r>
          </a:p>
        </p:txBody>
      </p:sp>
      <p:sp>
        <p:nvSpPr>
          <p:cNvPr id="21" name="TextBox 20"/>
          <p:cNvSpPr txBox="1"/>
          <p:nvPr/>
        </p:nvSpPr>
        <p:spPr>
          <a:xfrm>
            <a:off x="3630168" y="4366260"/>
            <a:ext cx="2029968" cy="1371600"/>
          </a:xfrm>
          <a:prstGeom prst="rect">
            <a:avLst/>
          </a:prstGeom>
          <a:noFill/>
        </p:spPr>
        <p:txBody>
          <a:bodyPr wrap="square" lIns="0" rIns="0" tIns="0" bIns="0" anchor="t">
            <a:noAutofit/>
          </a:bodyPr>
          <a:lstStyle/>
          <a:p>
            <a:pPr algn="ctr"/>
            <a:r>
              <a:rPr sz="1500" i="0">
                <a:solidFill>
                  <a:srgbClr val="AEB6C8"/>
                </a:solidFill>
                <a:latin typeface="Segoe UI"/>
              </a:rPr>
              <a:t>Serve sensitive and frequent work on device</a:t>
            </a:r>
          </a:p>
        </p:txBody>
      </p:sp>
      <p:sp>
        <p:nvSpPr>
          <p:cNvPr id="22" name="Chevron 21"/>
          <p:cNvSpPr/>
          <p:nvPr/>
        </p:nvSpPr>
        <p:spPr>
          <a:xfrm>
            <a:off x="5980176"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345936" y="2583180"/>
            <a:ext cx="2395728" cy="3291840"/>
          </a:xfrm>
          <a:prstGeom prst="roundRect">
            <a:avLst>
              <a:gd name="adj" fmla="val 5343"/>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086600" y="2125980"/>
            <a:ext cx="914400" cy="914400"/>
          </a:xfrm>
          <a:prstGeom prst="ellipse">
            <a:avLst/>
          </a:prstGeom>
          <a:solidFill>
            <a:srgbClr val="9B6BFF"/>
          </a:solidFill>
          <a:ln>
            <a:noFill/>
          </a:ln>
          <a:effectLst>
            <a:glow rad="127000">
              <a:srgbClr val="9B6BFF">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214616"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26" name="TextBox 25"/>
          <p:cNvSpPr txBox="1"/>
          <p:nvPr/>
        </p:nvSpPr>
        <p:spPr>
          <a:xfrm>
            <a:off x="6528816" y="3150108"/>
            <a:ext cx="2029968" cy="274320"/>
          </a:xfrm>
          <a:prstGeom prst="rect">
            <a:avLst/>
          </a:prstGeom>
          <a:noFill/>
        </p:spPr>
        <p:txBody>
          <a:bodyPr wrap="square" lIns="0" rIns="0" tIns="0" bIns="0" anchor="t">
            <a:noAutofit/>
          </a:bodyPr>
          <a:lstStyle/>
          <a:p>
            <a:pPr algn="ctr"/>
            <a:r>
              <a:rPr sz="1200" i="0">
                <a:solidFill>
                  <a:srgbClr val="9B6BFF"/>
                </a:solidFill>
                <a:latin typeface="Segoe UI Semibold"/>
              </a:rPr>
              <a:t>03</a:t>
            </a:r>
          </a:p>
        </p:txBody>
      </p:sp>
      <p:sp>
        <p:nvSpPr>
          <p:cNvPr id="27" name="TextBox 26"/>
          <p:cNvSpPr txBox="1"/>
          <p:nvPr/>
        </p:nvSpPr>
        <p:spPr>
          <a:xfrm>
            <a:off x="6510528" y="3451860"/>
            <a:ext cx="2066544" cy="868680"/>
          </a:xfrm>
          <a:prstGeom prst="rect">
            <a:avLst/>
          </a:prstGeom>
          <a:noFill/>
        </p:spPr>
        <p:txBody>
          <a:bodyPr wrap="square" lIns="0" rIns="0" tIns="0" bIns="0" anchor="ctr">
            <a:noAutofit/>
          </a:bodyPr>
          <a:lstStyle/>
          <a:p>
            <a:pPr algn="ctr"/>
            <a:r>
              <a:rPr sz="2000" i="0">
                <a:solidFill>
                  <a:srgbClr val="F4F6FA"/>
                </a:solidFill>
                <a:latin typeface="Segoe UI Semibold"/>
              </a:rPr>
              <a:t>Gate cloud</a:t>
            </a:r>
          </a:p>
        </p:txBody>
      </p:sp>
      <p:sp>
        <p:nvSpPr>
          <p:cNvPr id="28" name="TextBox 27"/>
          <p:cNvSpPr txBox="1"/>
          <p:nvPr/>
        </p:nvSpPr>
        <p:spPr>
          <a:xfrm>
            <a:off x="6528816" y="4366260"/>
            <a:ext cx="2029968" cy="1371600"/>
          </a:xfrm>
          <a:prstGeom prst="rect">
            <a:avLst/>
          </a:prstGeom>
          <a:noFill/>
        </p:spPr>
        <p:txBody>
          <a:bodyPr wrap="square" lIns="0" rIns="0" tIns="0" bIns="0" anchor="t">
            <a:noAutofit/>
          </a:bodyPr>
          <a:lstStyle/>
          <a:p>
            <a:pPr algn="ctr"/>
            <a:r>
              <a:rPr sz="1500" i="0">
                <a:solidFill>
                  <a:srgbClr val="AEB6C8"/>
                </a:solidFill>
                <a:latin typeface="Segoe UI"/>
              </a:rPr>
              <a:t>Approve nonsensitive payloads for heaviest reasoning</a:t>
            </a:r>
          </a:p>
        </p:txBody>
      </p:sp>
      <p:sp>
        <p:nvSpPr>
          <p:cNvPr id="29" name="Chevron 28"/>
          <p:cNvSpPr/>
          <p:nvPr/>
        </p:nvSpPr>
        <p:spPr>
          <a:xfrm>
            <a:off x="8878824" y="4027932"/>
            <a:ext cx="228600" cy="402336"/>
          </a:xfrm>
          <a:prstGeom prst="chevron">
            <a:avLst/>
          </a:prstGeom>
          <a:solidFill>
            <a:srgbClr val="6F78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9244584" y="2583180"/>
            <a:ext cx="2395728" cy="3291840"/>
          </a:xfrm>
          <a:prstGeom prst="roundRect">
            <a:avLst>
              <a:gd name="adj" fmla="val 5343"/>
            </a:avLst>
          </a:prstGeom>
          <a:solidFill>
            <a:srgbClr val="141824"/>
          </a:solidFill>
          <a:ln w="12700">
            <a:solidFill>
              <a:srgbClr val="8A663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9985248" y="2125980"/>
            <a:ext cx="914400" cy="914400"/>
          </a:xfrm>
          <a:prstGeom prst="ellipse">
            <a:avLst/>
          </a:prstGeom>
          <a:solidFill>
            <a:srgbClr val="FFB547"/>
          </a:solidFill>
          <a:ln>
            <a:noFill/>
          </a:ln>
          <a:effectLst>
            <a:glow rad="127000">
              <a:srgbClr val="FFB547">
                <a:alpha val="45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113264" y="2253996"/>
            <a:ext cx="658368" cy="658368"/>
          </a:xfrm>
          <a:prstGeom prst="rect">
            <a:avLst/>
          </a:prstGeom>
          <a:noFill/>
        </p:spPr>
        <p:txBody>
          <a:bodyPr wrap="none" lIns="0" rIns="0" tIns="0" bIns="0" anchor="ctr">
            <a:spAutoFit/>
          </a:bodyPr>
          <a:lstStyle/>
          <a:p>
            <a:pPr algn="ctr"/>
            <a:r>
              <a:rPr sz="3214">
                <a:solidFill>
                  <a:srgbClr val="07080C"/>
                </a:solidFill>
                <a:latin typeface="Segoe Fluent Icons"/>
              </a:rPr>
              <a:t></a:t>
            </a:r>
          </a:p>
        </p:txBody>
      </p:sp>
      <p:sp>
        <p:nvSpPr>
          <p:cNvPr id="33" name="TextBox 32"/>
          <p:cNvSpPr txBox="1"/>
          <p:nvPr/>
        </p:nvSpPr>
        <p:spPr>
          <a:xfrm>
            <a:off x="9427464" y="3150108"/>
            <a:ext cx="2029968" cy="274320"/>
          </a:xfrm>
          <a:prstGeom prst="rect">
            <a:avLst/>
          </a:prstGeom>
          <a:noFill/>
        </p:spPr>
        <p:txBody>
          <a:bodyPr wrap="square" lIns="0" rIns="0" tIns="0" bIns="0" anchor="t">
            <a:noAutofit/>
          </a:bodyPr>
          <a:lstStyle/>
          <a:p>
            <a:pPr algn="ctr"/>
            <a:r>
              <a:rPr sz="1200" i="0">
                <a:solidFill>
                  <a:srgbClr val="FFB547"/>
                </a:solidFill>
                <a:latin typeface="Segoe UI Semibold"/>
              </a:rPr>
              <a:t>04</a:t>
            </a:r>
          </a:p>
        </p:txBody>
      </p:sp>
      <p:sp>
        <p:nvSpPr>
          <p:cNvPr id="34" name="TextBox 33"/>
          <p:cNvSpPr txBox="1"/>
          <p:nvPr/>
        </p:nvSpPr>
        <p:spPr>
          <a:xfrm>
            <a:off x="9409176" y="3451860"/>
            <a:ext cx="2066544" cy="868680"/>
          </a:xfrm>
          <a:prstGeom prst="rect">
            <a:avLst/>
          </a:prstGeom>
          <a:noFill/>
        </p:spPr>
        <p:txBody>
          <a:bodyPr wrap="square" lIns="0" rIns="0" tIns="0" bIns="0" anchor="ctr">
            <a:noAutofit/>
          </a:bodyPr>
          <a:lstStyle/>
          <a:p>
            <a:pPr algn="ctr"/>
            <a:r>
              <a:rPr sz="2000" i="0">
                <a:solidFill>
                  <a:srgbClr val="F4F6FA"/>
                </a:solidFill>
                <a:latin typeface="Segoe UI Semibold"/>
              </a:rPr>
              <a:t>Review output</a:t>
            </a:r>
          </a:p>
        </p:txBody>
      </p:sp>
      <p:sp>
        <p:nvSpPr>
          <p:cNvPr id="35" name="TextBox 34"/>
          <p:cNvSpPr txBox="1"/>
          <p:nvPr/>
        </p:nvSpPr>
        <p:spPr>
          <a:xfrm>
            <a:off x="9427464" y="4366260"/>
            <a:ext cx="2029968" cy="1371600"/>
          </a:xfrm>
          <a:prstGeom prst="rect">
            <a:avLst/>
          </a:prstGeom>
          <a:noFill/>
        </p:spPr>
        <p:txBody>
          <a:bodyPr wrap="square" lIns="0" rIns="0" tIns="0" bIns="0" anchor="t">
            <a:noAutofit/>
          </a:bodyPr>
          <a:lstStyle/>
          <a:p>
            <a:pPr algn="ctr"/>
            <a:r>
              <a:rPr sz="1500" i="0">
                <a:solidFill>
                  <a:srgbClr val="AEB6C8"/>
                </a:solidFill>
                <a:latin typeface="Segoe UI"/>
              </a:rPr>
              <a:t>Check code, citations and developer acceptance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Turn Device Results Into Zava Evidence</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A bounded pilot measures workflow value alongside latency and acceptance.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11</a:t>
            </a:r>
          </a:p>
        </p:txBody>
      </p:sp>
      <p:sp>
        <p:nvSpPr>
          <p:cNvPr id="9" name="Rectangle 8"/>
          <p:cNvSpPr/>
          <p:nvPr/>
        </p:nvSpPr>
        <p:spPr>
          <a:xfrm>
            <a:off x="731520" y="3968496"/>
            <a:ext cx="10725912" cy="64008"/>
          </a:xfrm>
          <a:prstGeom prst="rect">
            <a:avLst/>
          </a:prstGeom>
          <a:solidFill>
            <a:srgbClr val="3E60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0" name="Connector 9"/>
          <p:cNvCxnSpPr/>
          <p:nvPr/>
        </p:nvCxnSpPr>
        <p:spPr>
          <a:xfrm flipV="1">
            <a:off x="2580132" y="3616452"/>
            <a:ext cx="0" cy="384048"/>
          </a:xfrm>
          <a:prstGeom prst="line">
            <a:avLst/>
          </a:prstGeom>
          <a:ln w="19050">
            <a:solidFill>
              <a:srgbClr val="76B900"/>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2397252" y="3817620"/>
            <a:ext cx="365760" cy="365760"/>
          </a:xfrm>
          <a:prstGeom prst="ellipse">
            <a:avLst/>
          </a:prstGeom>
          <a:solidFill>
            <a:srgbClr val="76B900"/>
          </a:solidFill>
          <a:ln>
            <a:noFill/>
          </a:ln>
          <a:effectLst>
            <a:glow rad="127000">
              <a:srgbClr val="76B900">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254252" y="2244852"/>
            <a:ext cx="2651760" cy="1371600"/>
          </a:xfrm>
          <a:prstGeom prst="roundRect">
            <a:avLst>
              <a:gd name="adj" fmla="val 9333"/>
            </a:avLst>
          </a:prstGeom>
          <a:solidFill>
            <a:srgbClr val="141824"/>
          </a:solidFill>
          <a:ln w="12700">
            <a:solidFill>
              <a:srgbClr val="4F79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391412" y="2382012"/>
            <a:ext cx="365760" cy="365760"/>
          </a:xfrm>
          <a:prstGeom prst="rect">
            <a:avLst/>
          </a:prstGeom>
          <a:noFill/>
        </p:spPr>
        <p:txBody>
          <a:bodyPr wrap="none" lIns="0" rIns="0" tIns="0" bIns="0" anchor="ctr">
            <a:spAutoFit/>
          </a:bodyPr>
          <a:lstStyle/>
          <a:p>
            <a:pPr algn="ctr"/>
            <a:r>
              <a:rPr sz="1785">
                <a:solidFill>
                  <a:srgbClr val="76B900"/>
                </a:solidFill>
                <a:latin typeface="Segoe Fluent Icons"/>
              </a:rPr>
              <a:t></a:t>
            </a:r>
          </a:p>
        </p:txBody>
      </p:sp>
      <p:sp>
        <p:nvSpPr>
          <p:cNvPr id="14" name="TextBox 13"/>
          <p:cNvSpPr txBox="1"/>
          <p:nvPr/>
        </p:nvSpPr>
        <p:spPr>
          <a:xfrm>
            <a:off x="1821180" y="2354580"/>
            <a:ext cx="1965960" cy="411480"/>
          </a:xfrm>
          <a:prstGeom prst="rect">
            <a:avLst/>
          </a:prstGeom>
          <a:noFill/>
        </p:spPr>
        <p:txBody>
          <a:bodyPr wrap="square" lIns="0" rIns="0" tIns="0" bIns="0" anchor="ctr">
            <a:noAutofit/>
          </a:bodyPr>
          <a:lstStyle/>
          <a:p>
            <a:pPr algn="l"/>
            <a:r>
              <a:rPr sz="1500" i="0">
                <a:solidFill>
                  <a:srgbClr val="76B900"/>
                </a:solidFill>
                <a:latin typeface="Segoe UI Semibold"/>
              </a:rPr>
              <a:t>Pilot start</a:t>
            </a:r>
          </a:p>
        </p:txBody>
      </p:sp>
      <p:sp>
        <p:nvSpPr>
          <p:cNvPr id="15" name="TextBox 14"/>
          <p:cNvSpPr txBox="1"/>
          <p:nvPr/>
        </p:nvSpPr>
        <p:spPr>
          <a:xfrm>
            <a:off x="1391412" y="2811780"/>
            <a:ext cx="2377440" cy="731520"/>
          </a:xfrm>
          <a:prstGeom prst="rect">
            <a:avLst/>
          </a:prstGeom>
          <a:noFill/>
        </p:spPr>
        <p:txBody>
          <a:bodyPr wrap="square" lIns="0" rIns="0" tIns="0" bIns="0" anchor="t">
            <a:noAutofit/>
          </a:bodyPr>
          <a:lstStyle/>
          <a:p>
            <a:pPr algn="l"/>
            <a:r>
              <a:rPr sz="1500" i="0">
                <a:solidFill>
                  <a:srgbClr val="F4F6FA"/>
                </a:solidFill>
                <a:latin typeface="Segoe UI"/>
              </a:rPr>
              <a:t>Agree task set</a:t>
            </a:r>
          </a:p>
        </p:txBody>
      </p:sp>
      <p:cxnSp>
        <p:nvCxnSpPr>
          <p:cNvPr id="16" name="Connector 15"/>
          <p:cNvCxnSpPr/>
          <p:nvPr/>
        </p:nvCxnSpPr>
        <p:spPr>
          <a:xfrm>
            <a:off x="6094476" y="4000500"/>
            <a:ext cx="0" cy="384048"/>
          </a:xfrm>
          <a:prstGeom prst="line">
            <a:avLst/>
          </a:prstGeom>
          <a:ln w="19050">
            <a:solidFill>
              <a:srgbClr val="3DA9FC"/>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911596" y="3817620"/>
            <a:ext cx="365760" cy="365760"/>
          </a:xfrm>
          <a:prstGeom prst="ellipse">
            <a:avLst/>
          </a:prstGeom>
          <a:solidFill>
            <a:srgbClr val="3DA9FC"/>
          </a:solidFill>
          <a:ln>
            <a:noFill/>
          </a:ln>
          <a:effectLst>
            <a:glow rad="127000">
              <a:srgbClr val="3DA9FC">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4768596" y="4384548"/>
            <a:ext cx="2651760" cy="1371600"/>
          </a:xfrm>
          <a:prstGeom prst="roundRect">
            <a:avLst>
              <a:gd name="adj" fmla="val 9333"/>
            </a:avLst>
          </a:prstGeom>
          <a:solidFill>
            <a:srgbClr val="141824"/>
          </a:solidFill>
          <a:ln w="12700">
            <a:solidFill>
              <a:srgbClr val="2D6F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905756" y="4521708"/>
            <a:ext cx="365760" cy="365760"/>
          </a:xfrm>
          <a:prstGeom prst="rect">
            <a:avLst/>
          </a:prstGeom>
          <a:noFill/>
        </p:spPr>
        <p:txBody>
          <a:bodyPr wrap="none" lIns="0" rIns="0" tIns="0" bIns="0" anchor="ctr">
            <a:spAutoFit/>
          </a:bodyPr>
          <a:lstStyle/>
          <a:p>
            <a:pPr algn="ctr"/>
            <a:r>
              <a:rPr sz="1785">
                <a:solidFill>
                  <a:srgbClr val="3DA9FC"/>
                </a:solidFill>
                <a:latin typeface="Segoe Fluent Icons"/>
              </a:rPr>
              <a:t></a:t>
            </a:r>
          </a:p>
        </p:txBody>
      </p:sp>
      <p:sp>
        <p:nvSpPr>
          <p:cNvPr id="20" name="TextBox 19"/>
          <p:cNvSpPr txBox="1"/>
          <p:nvPr/>
        </p:nvSpPr>
        <p:spPr>
          <a:xfrm>
            <a:off x="5335524" y="4494276"/>
            <a:ext cx="1965960" cy="411480"/>
          </a:xfrm>
          <a:prstGeom prst="rect">
            <a:avLst/>
          </a:prstGeom>
          <a:noFill/>
        </p:spPr>
        <p:txBody>
          <a:bodyPr wrap="square" lIns="0" rIns="0" tIns="0" bIns="0" anchor="ctr">
            <a:noAutofit/>
          </a:bodyPr>
          <a:lstStyle/>
          <a:p>
            <a:pPr algn="l"/>
            <a:r>
              <a:rPr sz="1500" i="0">
                <a:solidFill>
                  <a:srgbClr val="3DA9FC"/>
                </a:solidFill>
                <a:latin typeface="Segoe UI Semibold"/>
              </a:rPr>
              <a:t>During 2 weeks</a:t>
            </a:r>
          </a:p>
        </p:txBody>
      </p:sp>
      <p:sp>
        <p:nvSpPr>
          <p:cNvPr id="21" name="TextBox 20"/>
          <p:cNvSpPr txBox="1"/>
          <p:nvPr/>
        </p:nvSpPr>
        <p:spPr>
          <a:xfrm>
            <a:off x="4905756" y="4951476"/>
            <a:ext cx="2377440" cy="731520"/>
          </a:xfrm>
          <a:prstGeom prst="rect">
            <a:avLst/>
          </a:prstGeom>
          <a:noFill/>
        </p:spPr>
        <p:txBody>
          <a:bodyPr wrap="square" lIns="0" rIns="0" tIns="0" bIns="0" anchor="t">
            <a:noAutofit/>
          </a:bodyPr>
          <a:lstStyle/>
          <a:p>
            <a:pPr algn="l"/>
            <a:r>
              <a:rPr sz="1500" i="0">
                <a:solidFill>
                  <a:srgbClr val="F4F6FA"/>
                </a:solidFill>
                <a:latin typeface="Segoe UI"/>
              </a:rPr>
              <a:t>Observe real workflows</a:t>
            </a:r>
          </a:p>
        </p:txBody>
      </p:sp>
      <p:cxnSp>
        <p:nvCxnSpPr>
          <p:cNvPr id="22" name="Connector 21"/>
          <p:cNvCxnSpPr/>
          <p:nvPr/>
        </p:nvCxnSpPr>
        <p:spPr>
          <a:xfrm flipV="1">
            <a:off x="9608820" y="3616452"/>
            <a:ext cx="0" cy="384048"/>
          </a:xfrm>
          <a:prstGeom prst="line">
            <a:avLst/>
          </a:prstGeom>
          <a:ln w="19050">
            <a:solidFill>
              <a:srgbClr val="9B6BFF"/>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9425940" y="3817620"/>
            <a:ext cx="365760" cy="365760"/>
          </a:xfrm>
          <a:prstGeom prst="ellipse">
            <a:avLst/>
          </a:prstGeom>
          <a:solidFill>
            <a:srgbClr val="9B6BFF"/>
          </a:solidFill>
          <a:ln>
            <a:noFill/>
          </a:ln>
          <a:effectLst>
            <a:glow rad="127000">
              <a:srgbClr val="9B6B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282940" y="2244852"/>
            <a:ext cx="2651760" cy="1371600"/>
          </a:xfrm>
          <a:prstGeom prst="roundRect">
            <a:avLst>
              <a:gd name="adj" fmla="val 9333"/>
            </a:avLst>
          </a:prstGeom>
          <a:solidFill>
            <a:srgbClr val="141824"/>
          </a:solidFill>
          <a:ln w="12700">
            <a:solidFill>
              <a:srgbClr val="654AA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20100" y="2382012"/>
            <a:ext cx="365760" cy="365760"/>
          </a:xfrm>
          <a:prstGeom prst="rect">
            <a:avLst/>
          </a:prstGeom>
          <a:noFill/>
        </p:spPr>
        <p:txBody>
          <a:bodyPr wrap="none" lIns="0" rIns="0" tIns="0" bIns="0" anchor="ctr">
            <a:spAutoFit/>
          </a:bodyPr>
          <a:lstStyle/>
          <a:p>
            <a:pPr algn="ctr"/>
            <a:r>
              <a:rPr sz="1785">
                <a:solidFill>
                  <a:srgbClr val="9B6BFF"/>
                </a:solidFill>
                <a:latin typeface="Segoe Fluent Icons"/>
              </a:rPr>
              <a:t></a:t>
            </a:r>
          </a:p>
        </p:txBody>
      </p:sp>
      <p:sp>
        <p:nvSpPr>
          <p:cNvPr id="26" name="TextBox 25"/>
          <p:cNvSpPr txBox="1"/>
          <p:nvPr/>
        </p:nvSpPr>
        <p:spPr>
          <a:xfrm>
            <a:off x="8849868" y="2354580"/>
            <a:ext cx="1965960" cy="411480"/>
          </a:xfrm>
          <a:prstGeom prst="rect">
            <a:avLst/>
          </a:prstGeom>
          <a:noFill/>
        </p:spPr>
        <p:txBody>
          <a:bodyPr wrap="square" lIns="0" rIns="0" tIns="0" bIns="0" anchor="ctr">
            <a:noAutofit/>
          </a:bodyPr>
          <a:lstStyle/>
          <a:p>
            <a:pPr algn="l"/>
            <a:r>
              <a:rPr sz="1500" i="0">
                <a:solidFill>
                  <a:srgbClr val="9B6BFF"/>
                </a:solidFill>
                <a:latin typeface="Segoe UI Semibold"/>
              </a:rPr>
              <a:t>After 14 days</a:t>
            </a:r>
          </a:p>
        </p:txBody>
      </p:sp>
      <p:sp>
        <p:nvSpPr>
          <p:cNvPr id="27" name="TextBox 26"/>
          <p:cNvSpPr txBox="1"/>
          <p:nvPr/>
        </p:nvSpPr>
        <p:spPr>
          <a:xfrm>
            <a:off x="8420100" y="2811780"/>
            <a:ext cx="2377440" cy="731520"/>
          </a:xfrm>
          <a:prstGeom prst="rect">
            <a:avLst/>
          </a:prstGeom>
          <a:noFill/>
        </p:spPr>
        <p:txBody>
          <a:bodyPr wrap="square" lIns="0" rIns="0" tIns="0" bIns="0" anchor="t">
            <a:noAutofit/>
          </a:bodyPr>
          <a:lstStyle/>
          <a:p>
            <a:pPr algn="l"/>
            <a:r>
              <a:rPr sz="1500" i="0">
                <a:solidFill>
                  <a:srgbClr val="F4F6FA"/>
                </a:solidFill>
                <a:latin typeface="Segoe UI"/>
              </a:rPr>
              <a:t>Review pilot evidence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7080C"/>
            </a:gs>
            <a:gs pos="100000">
              <a:srgbClr val="121521"/>
            </a:gs>
          </a:gsLst>
          <a:lin scaled="0" ang="13500000"/>
        </a:gradFill>
        <a:effectLst/>
      </p:bgPr>
    </p:bg>
    <p:spTree>
      <p:nvGrpSpPr>
        <p:cNvPr id="1" name=""/>
        <p:cNvGrpSpPr/>
        <p:nvPr/>
      </p:nvGrpSpPr>
      <p:grpSpPr/>
      <p:sp>
        <p:nvSpPr>
          <p:cNvPr id="2" name="Oval 1"/>
          <p:cNvSpPr/>
          <p:nvPr/>
        </p:nvSpPr>
        <p:spPr>
          <a:xfrm>
            <a:off x="8961120" y="-2743200"/>
            <a:ext cx="6400800" cy="6400800"/>
          </a:xfrm>
          <a:prstGeom prst="ellipse">
            <a:avLst/>
          </a:prstGeom>
          <a:solidFill>
            <a:srgbClr val="76B900">
              <a:alpha val="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1371600"/>
            <a:ext cx="4114800" cy="4114800"/>
          </a:xfrm>
          <a:prstGeom prst="ellipse">
            <a:avLst/>
          </a:prstGeom>
          <a:solidFill>
            <a:srgbClr val="3DA9FC">
              <a:alpha val="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548640" y="292608"/>
            <a:ext cx="685800" cy="54864"/>
          </a:xfrm>
          <a:prstGeom prst="rect">
            <a:avLst/>
          </a:prstGeom>
          <a:solidFill>
            <a:srgbClr val="76B900"/>
          </a:solidFill>
          <a:ln>
            <a:noFill/>
          </a:ln>
          <a:effectLst>
            <a:glow rad="76200">
              <a:srgbClr val="76B900">
                <a:alpha val="6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F4F6FA"/>
                </a:solidFill>
                <a:latin typeface="Segoe UI Semibold"/>
              </a:rPr>
              <a:t>Approve The Technical Pilot</a:t>
            </a:r>
          </a:p>
        </p:txBody>
      </p:sp>
      <p:sp>
        <p:nvSpPr>
          <p:cNvPr id="6" name="TextBox 5"/>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AEB6C8"/>
                </a:solidFill>
                <a:latin typeface="Segoe UI"/>
              </a:rPr>
              <a:t>Commit 10 developers for 2 weeks; decide from measured evidence.</a:t>
            </a:r>
          </a:p>
        </p:txBody>
      </p:sp>
      <p:sp>
        <p:nvSpPr>
          <p:cNvPr id="7" name="TextBox 6"/>
          <p:cNvSpPr txBox="1"/>
          <p:nvPr/>
        </p:nvSpPr>
        <p:spPr>
          <a:xfrm>
            <a:off x="548640" y="6419088"/>
            <a:ext cx="7315200" cy="274320"/>
          </a:xfrm>
          <a:prstGeom prst="rect">
            <a:avLst/>
          </a:prstGeom>
          <a:noFill/>
        </p:spPr>
        <p:txBody>
          <a:bodyPr wrap="square" lIns="0" rIns="0" tIns="0" bIns="0" anchor="t">
            <a:noAutofit/>
          </a:bodyPr>
          <a:lstStyle/>
          <a:p>
            <a:pPr algn="l"/>
            <a:r>
              <a:rPr sz="1000" i="0">
                <a:solidFill>
                  <a:srgbClr val="6F7890"/>
                </a:solidFill>
                <a:latin typeface="Segoe UI"/>
              </a:rPr>
              <a:t>Surface Laptop Ultra  |  NVIDIA RTX Spark  |  Zava</a:t>
            </a:r>
          </a:p>
        </p:txBody>
      </p:sp>
      <p:sp>
        <p:nvSpPr>
          <p:cNvPr id="8" name="TextBox 7"/>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6F7890"/>
                </a:solidFill>
                <a:latin typeface="Segoe UI"/>
              </a:rPr>
              <a:t>12</a:t>
            </a:r>
          </a:p>
        </p:txBody>
      </p:sp>
      <p:sp>
        <p:nvSpPr>
          <p:cNvPr id="9" name="Rounded Rectangle 8"/>
          <p:cNvSpPr/>
          <p:nvPr/>
        </p:nvSpPr>
        <p:spPr>
          <a:xfrm>
            <a:off x="548640" y="1828800"/>
            <a:ext cx="3514344" cy="2926080"/>
          </a:xfrm>
          <a:prstGeom prst="roundRect">
            <a:avLst>
              <a:gd name="adj" fmla="val 4375"/>
            </a:avLst>
          </a:prstGeom>
          <a:solidFill>
            <a:srgbClr val="141824"/>
          </a:solidFill>
          <a:ln w="12700">
            <a:solidFill>
              <a:srgbClr val="45681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103120"/>
            <a:ext cx="640080" cy="640080"/>
          </a:xfrm>
          <a:prstGeom prst="ellipse">
            <a:avLst/>
          </a:prstGeom>
          <a:solidFill>
            <a:srgbClr val="76B900"/>
          </a:solidFill>
          <a:ln>
            <a:noFill/>
          </a:ln>
          <a:effectLst>
            <a:glow rad="1016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1</a:t>
            </a:r>
          </a:p>
        </p:txBody>
      </p:sp>
      <p:sp>
        <p:nvSpPr>
          <p:cNvPr id="12" name="TextBox 11"/>
          <p:cNvSpPr txBox="1"/>
          <p:nvPr/>
        </p:nvSpPr>
        <p:spPr>
          <a:xfrm>
            <a:off x="3331464" y="2176272"/>
            <a:ext cx="475488" cy="475488"/>
          </a:xfrm>
          <a:prstGeom prst="rect">
            <a:avLst/>
          </a:prstGeom>
          <a:noFill/>
        </p:spPr>
        <p:txBody>
          <a:bodyPr wrap="none" lIns="0" rIns="0" tIns="0" bIns="0" anchor="ctr">
            <a:spAutoFit/>
          </a:bodyPr>
          <a:lstStyle/>
          <a:p>
            <a:pPr algn="ctr"/>
            <a:r>
              <a:rPr sz="2321">
                <a:solidFill>
                  <a:srgbClr val="76B900"/>
                </a:solidFill>
                <a:latin typeface="Segoe Fluent Icons"/>
              </a:rPr>
              <a:t></a:t>
            </a:r>
          </a:p>
        </p:txBody>
      </p:sp>
      <p:sp>
        <p:nvSpPr>
          <p:cNvPr id="13" name="TextBox 12"/>
          <p:cNvSpPr txBox="1"/>
          <p:nvPr/>
        </p:nvSpPr>
        <p:spPr>
          <a:xfrm>
            <a:off x="822960"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Nominate developers</a:t>
            </a:r>
          </a:p>
        </p:txBody>
      </p:sp>
      <p:sp>
        <p:nvSpPr>
          <p:cNvPr id="14" name="TextBox 13"/>
          <p:cNvSpPr txBox="1"/>
          <p:nvPr/>
        </p:nvSpPr>
        <p:spPr>
          <a:xfrm>
            <a:off x="822960"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Select 10 participants and an engineering owner</a:t>
            </a:r>
          </a:p>
        </p:txBody>
      </p:sp>
      <p:sp>
        <p:nvSpPr>
          <p:cNvPr id="15" name="Rounded Rectangle 14"/>
          <p:cNvSpPr/>
          <p:nvPr/>
        </p:nvSpPr>
        <p:spPr>
          <a:xfrm>
            <a:off x="4337304" y="1828800"/>
            <a:ext cx="3514344" cy="2926080"/>
          </a:xfrm>
          <a:prstGeom prst="roundRect">
            <a:avLst>
              <a:gd name="adj" fmla="val 4375"/>
            </a:avLst>
          </a:prstGeom>
          <a:solidFill>
            <a:srgbClr val="141824"/>
          </a:solidFill>
          <a:ln w="12700">
            <a:solidFill>
              <a:srgbClr val="28609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11624" y="2103120"/>
            <a:ext cx="640080" cy="640080"/>
          </a:xfrm>
          <a:prstGeom prst="ellipse">
            <a:avLst/>
          </a:prstGeom>
          <a:solidFill>
            <a:srgbClr val="3DA9FC"/>
          </a:solidFill>
          <a:ln>
            <a:noFill/>
          </a:ln>
          <a:effectLst>
            <a:glow rad="101600">
              <a:srgbClr val="3DA9FC">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11624"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2</a:t>
            </a:r>
          </a:p>
        </p:txBody>
      </p:sp>
      <p:sp>
        <p:nvSpPr>
          <p:cNvPr id="18" name="TextBox 17"/>
          <p:cNvSpPr txBox="1"/>
          <p:nvPr/>
        </p:nvSpPr>
        <p:spPr>
          <a:xfrm>
            <a:off x="7120128" y="2176272"/>
            <a:ext cx="475488" cy="475488"/>
          </a:xfrm>
          <a:prstGeom prst="rect">
            <a:avLst/>
          </a:prstGeom>
          <a:noFill/>
        </p:spPr>
        <p:txBody>
          <a:bodyPr wrap="none" lIns="0" rIns="0" tIns="0" bIns="0" anchor="ctr">
            <a:spAutoFit/>
          </a:bodyPr>
          <a:lstStyle/>
          <a:p>
            <a:pPr algn="ctr"/>
            <a:r>
              <a:rPr sz="2321">
                <a:solidFill>
                  <a:srgbClr val="3DA9FC"/>
                </a:solidFill>
                <a:latin typeface="Segoe Fluent Icons"/>
              </a:rPr>
              <a:t></a:t>
            </a:r>
          </a:p>
        </p:txBody>
      </p:sp>
      <p:sp>
        <p:nvSpPr>
          <p:cNvPr id="19" name="TextBox 18"/>
          <p:cNvSpPr txBox="1"/>
          <p:nvPr/>
        </p:nvSpPr>
        <p:spPr>
          <a:xfrm>
            <a:off x="4611624"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Approve local scope</a:t>
            </a:r>
          </a:p>
        </p:txBody>
      </p:sp>
      <p:sp>
        <p:nvSpPr>
          <p:cNvPr id="20" name="TextBox 19"/>
          <p:cNvSpPr txBox="1"/>
          <p:nvPr/>
        </p:nvSpPr>
        <p:spPr>
          <a:xfrm>
            <a:off x="4611624"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Choose repositories, documents and cloud routing policy</a:t>
            </a:r>
          </a:p>
        </p:txBody>
      </p:sp>
      <p:sp>
        <p:nvSpPr>
          <p:cNvPr id="21" name="Rounded Rectangle 20"/>
          <p:cNvSpPr/>
          <p:nvPr/>
        </p:nvSpPr>
        <p:spPr>
          <a:xfrm>
            <a:off x="8125968" y="1828800"/>
            <a:ext cx="3514344" cy="2926080"/>
          </a:xfrm>
          <a:prstGeom prst="roundRect">
            <a:avLst>
              <a:gd name="adj" fmla="val 4375"/>
            </a:avLst>
          </a:prstGeom>
          <a:solidFill>
            <a:srgbClr val="141824"/>
          </a:solidFill>
          <a:ln w="12700">
            <a:solidFill>
              <a:srgbClr val="58429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400288" y="2103120"/>
            <a:ext cx="640080" cy="640080"/>
          </a:xfrm>
          <a:prstGeom prst="ellipse">
            <a:avLst/>
          </a:prstGeom>
          <a:solidFill>
            <a:srgbClr val="9B6BFF"/>
          </a:solidFill>
          <a:ln>
            <a:noFill/>
          </a:ln>
          <a:effectLst>
            <a:glow rad="101600">
              <a:srgbClr val="9B6B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00288" y="2103120"/>
            <a:ext cx="640080" cy="640080"/>
          </a:xfrm>
          <a:prstGeom prst="rect">
            <a:avLst/>
          </a:prstGeom>
          <a:noFill/>
        </p:spPr>
        <p:txBody>
          <a:bodyPr wrap="square" lIns="0" rIns="0" tIns="0" bIns="0" anchor="ctr">
            <a:noAutofit/>
          </a:bodyPr>
          <a:lstStyle/>
          <a:p>
            <a:pPr algn="ctr"/>
            <a:r>
              <a:rPr sz="2200" i="0">
                <a:solidFill>
                  <a:srgbClr val="07080C"/>
                </a:solidFill>
                <a:latin typeface="Segoe UI Semibold"/>
              </a:rPr>
              <a:t>3</a:t>
            </a:r>
          </a:p>
        </p:txBody>
      </p:sp>
      <p:sp>
        <p:nvSpPr>
          <p:cNvPr id="24" name="TextBox 23"/>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9B6BFF"/>
                </a:solidFill>
                <a:latin typeface="Segoe Fluent Icons"/>
              </a:rPr>
              <a:t></a:t>
            </a:r>
          </a:p>
        </p:txBody>
      </p:sp>
      <p:sp>
        <p:nvSpPr>
          <p:cNvPr id="25" name="TextBox 24"/>
          <p:cNvSpPr txBox="1"/>
          <p:nvPr/>
        </p:nvSpPr>
        <p:spPr>
          <a:xfrm>
            <a:off x="8400288" y="2880360"/>
            <a:ext cx="2965704" cy="777240"/>
          </a:xfrm>
          <a:prstGeom prst="rect">
            <a:avLst/>
          </a:prstGeom>
          <a:noFill/>
        </p:spPr>
        <p:txBody>
          <a:bodyPr wrap="square" lIns="0" rIns="0" tIns="0" bIns="0" anchor="t">
            <a:noAutofit/>
          </a:bodyPr>
          <a:lstStyle/>
          <a:p>
            <a:pPr algn="l"/>
            <a:r>
              <a:rPr sz="2000" i="0">
                <a:solidFill>
                  <a:srgbClr val="F4F6FA"/>
                </a:solidFill>
                <a:latin typeface="Segoe UI Semibold"/>
              </a:rPr>
              <a:t>Review measured outcomes</a:t>
            </a:r>
          </a:p>
        </p:txBody>
      </p:sp>
      <p:sp>
        <p:nvSpPr>
          <p:cNvPr id="26" name="TextBox 25"/>
          <p:cNvSpPr txBox="1"/>
          <p:nvPr/>
        </p:nvSpPr>
        <p:spPr>
          <a:xfrm>
            <a:off x="8400288" y="3657600"/>
            <a:ext cx="2965704" cy="960120"/>
          </a:xfrm>
          <a:prstGeom prst="rect">
            <a:avLst/>
          </a:prstGeom>
          <a:noFill/>
        </p:spPr>
        <p:txBody>
          <a:bodyPr wrap="square" lIns="0" rIns="0" tIns="0" bIns="0" anchor="t">
            <a:noAutofit/>
          </a:bodyPr>
          <a:lstStyle/>
          <a:p>
            <a:pPr algn="l"/>
            <a:r>
              <a:rPr sz="1500" i="0">
                <a:solidFill>
                  <a:srgbClr val="AEB6C8"/>
                </a:solidFill>
                <a:latin typeface="Segoe UI"/>
              </a:rPr>
              <a:t>Assess acceptance rate, latency and developer experience</a:t>
            </a:r>
          </a:p>
        </p:txBody>
      </p:sp>
      <p:sp>
        <p:nvSpPr>
          <p:cNvPr id="27" name="Rounded Rectangle 26"/>
          <p:cNvSpPr/>
          <p:nvPr/>
        </p:nvSpPr>
        <p:spPr>
          <a:xfrm>
            <a:off x="548640" y="5029200"/>
            <a:ext cx="11091672" cy="1143000"/>
          </a:xfrm>
          <a:prstGeom prst="roundRect">
            <a:avLst>
              <a:gd name="adj" fmla="val 11200"/>
            </a:avLst>
          </a:prstGeom>
          <a:gradFill rotWithShape="1">
            <a:gsLst>
              <a:gs pos="0">
                <a:srgbClr val="76B900"/>
              </a:gs>
              <a:gs pos="100000">
                <a:srgbClr val="54AF97"/>
              </a:gs>
            </a:gsLst>
            <a:lin scaled="0" ang="0"/>
          </a:gradFill>
          <a:ln>
            <a:noFill/>
          </a:ln>
          <a:effectLst>
            <a:glow rad="177800">
              <a:srgbClr val="76B900">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07080C"/>
                </a:solidFill>
                <a:latin typeface="Segoe Fluent Icons"/>
              </a:rPr>
              <a:t></a:t>
            </a:r>
          </a:p>
        </p:txBody>
      </p:sp>
      <p:sp>
        <p:nvSpPr>
          <p:cNvPr id="29" name="TextBox 28"/>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07080C"/>
                </a:solidFill>
                <a:latin typeface="Segoe UI Semibold"/>
              </a:rPr>
              <a:t>Approve a 10-developer, 2-week technical 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Zava's Local AI Developer Stack</dc:title>
  <dc:subject/>
  <dc:creator>Offline PPTX Forge</dc:creator>
  <cp:keywords/>
  <dc:description>Generated offline; template=surface_ultra</dc:description>
  <cp:lastModifiedBy>Steve Canny</cp:lastModifiedBy>
  <cp:revision>1</cp:revision>
  <dcterms:created xsi:type="dcterms:W3CDTF">2013-01-27T09:14:16Z</dcterms:created>
  <dcterms:modified xsi:type="dcterms:W3CDTF">2013-01-27T09:15:58Z</dcterms:modified>
  <cp:category/>
</cp:coreProperties>
</file>