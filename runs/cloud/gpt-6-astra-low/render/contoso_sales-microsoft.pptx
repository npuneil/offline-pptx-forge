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Approve a focused pilot of an additional local AI lane for traveling consultants. Contoso keeps Microsoft 365 Copilot. The opportunity is sensitive, repeated drafting on the device, with disconnected use validated rather than assumed.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Contoso has 4,000 employees, including 1,200 traveling consultants. Each writes about 6 summaries weekly, taking about 25 minutes per draft. About 30% of client sites restrict guest Wi-Fi. These facts establish the workflow to test; they do not establish that local AI will save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workbench analogy explains the proposed local drafting path: bring the tools and approved materials onto the device, then inspect the result. We will validate disconnected use in the pilot, including model readiness and file availability. This is not an air-gap or offline certification claim.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decision is not local AI versus Copilot. Keep Microsoft 365 Copilot and its established workflows. Add a device-local path for approved sensitive material and repeated drafts. Define routing rules with IT so users understand which lane to choose and when moving content requires approval.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proposed architecture, not a security certification. Approved local files feed on-device inference and a locally reviewed draft. Copilot remains a separate lane; no automatic transfer is shown. IT should validate actual data flows, storage, synchronization settings and disconnected behavior before sensitive client material enters the pilot.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device is Surface Laptop Ultra with NVIDIA RTX Spark. Local-AI-Bench, October 2026, reports single-stream decoding of about 72 tokens per second for Gemma 4 26B and 86 for Qwen3-Coder 30B. These are model benchmarks, not evidence of draft quality or consultant time savings. The pilot must establish workflow results.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illustration multiplies 1,200 consultants by 6 summaries weekly, 5 assumed minutes saved and 46 working weeks, then converts minutes to hours: 27,600 hours annually. This is an estimate to validate, not a forecast, financial saving or guaranteed outcome. A short pilot measures task time and quality before considering broader applicability.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 processing does not make generated text automatically correct. Treat the model like a junior drafter: useful for preparation, dependent on good evidence, and subject to review. Measure total task time including fact checking and corrections. A faster first draft is not a win if it creates more review work.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pilot method: use comparable summary tasks and capture completion time through review, draft quality and user experience. Include restricted-connectivity scenarios, validating disconnected behavior explicitly. The Consulting lead defines acceptable output; IT validates the local configuration. Sponsors review evidence before deciding whether to expand, adjust or stop.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ask is a 10-user, 2-week pilot, not an enterprise rollout. Test Surface Laptop Ultra with NVIDIA RTX Spark alongside Microsoft 365 Copilot. Measure task time, draft quality and user experience, and validate disconnected use. Return to sponsors with observed outcomes and a recommendation; do not treat illustrative capacity as proven savings.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566928"/>
            <a:ext cx="155448" cy="155448"/>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22960" y="566928"/>
            <a:ext cx="155448" cy="155448"/>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640080" y="749808"/>
            <a:ext cx="155448" cy="155448"/>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22960" y="749808"/>
            <a:ext cx="155448" cy="155448"/>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1560" y="530352"/>
            <a:ext cx="2743200" cy="384048"/>
          </a:xfrm>
          <a:prstGeom prst="rect">
            <a:avLst/>
          </a:prstGeom>
          <a:noFill/>
        </p:spPr>
        <p:txBody>
          <a:bodyPr wrap="square" lIns="0" rIns="0" tIns="0" bIns="0" anchor="ctr">
            <a:noAutofit/>
          </a:bodyPr>
          <a:lstStyle/>
          <a:p>
            <a:pPr algn="l"/>
            <a:r>
              <a:rPr sz="1900" i="0">
                <a:solidFill>
                  <a:srgbClr val="737373"/>
                </a:solidFill>
                <a:latin typeface="Segoe UI Semibold"/>
              </a:rPr>
              <a:t>Microsoft</a:t>
            </a:r>
          </a:p>
        </p:txBody>
      </p:sp>
      <p:sp>
        <p:nvSpPr>
          <p:cNvPr id="7" name="Rectangle 6"/>
          <p:cNvSpPr/>
          <p:nvPr/>
        </p:nvSpPr>
        <p:spPr>
          <a:xfrm>
            <a:off x="8001000" y="1600200"/>
            <a:ext cx="1600200" cy="1600200"/>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401050" y="2000250"/>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9" name="Rectangle 8"/>
          <p:cNvSpPr/>
          <p:nvPr/>
        </p:nvSpPr>
        <p:spPr>
          <a:xfrm>
            <a:off x="9747504" y="1600200"/>
            <a:ext cx="1600200" cy="1600200"/>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147554" y="2000250"/>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11" name="Rectangle 10"/>
          <p:cNvSpPr/>
          <p:nvPr/>
        </p:nvSpPr>
        <p:spPr>
          <a:xfrm>
            <a:off x="8001000" y="3346704"/>
            <a:ext cx="1600200" cy="1600200"/>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01050" y="3746754"/>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13" name="Rectangle 12"/>
          <p:cNvSpPr/>
          <p:nvPr/>
        </p:nvSpPr>
        <p:spPr>
          <a:xfrm>
            <a:off x="9747504" y="3346704"/>
            <a:ext cx="1600200" cy="1600200"/>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7554" y="3746754"/>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15" name="TextBox 14"/>
          <p:cNvSpPr txBox="1"/>
          <p:nvPr/>
        </p:nvSpPr>
        <p:spPr>
          <a:xfrm>
            <a:off x="640080" y="1691640"/>
            <a:ext cx="6766560" cy="411480"/>
          </a:xfrm>
          <a:prstGeom prst="rect">
            <a:avLst/>
          </a:prstGeom>
          <a:noFill/>
        </p:spPr>
        <p:txBody>
          <a:bodyPr wrap="square" lIns="0" rIns="0" tIns="0" bIns="0" anchor="t">
            <a:noAutofit/>
          </a:bodyPr>
          <a:lstStyle/>
          <a:p>
            <a:pPr algn="l"/>
            <a:r>
              <a:rPr sz="1500" i="0">
                <a:solidFill>
                  <a:srgbClr val="0078D4"/>
                </a:solidFill>
                <a:latin typeface="Segoe UI Semibold"/>
              </a:rPr>
              <a:t>CONTOSO • CONSULTING</a:t>
            </a:r>
          </a:p>
        </p:txBody>
      </p:sp>
      <p:sp>
        <p:nvSpPr>
          <p:cNvPr id="16" name="TextBox 15"/>
          <p:cNvSpPr txBox="1"/>
          <p:nvPr/>
        </p:nvSpPr>
        <p:spPr>
          <a:xfrm>
            <a:off x="640080" y="2148840"/>
            <a:ext cx="6400800" cy="2194560"/>
          </a:xfrm>
          <a:prstGeom prst="rect">
            <a:avLst/>
          </a:prstGeom>
          <a:noFill/>
        </p:spPr>
        <p:txBody>
          <a:bodyPr wrap="square" lIns="0" rIns="0" tIns="0" bIns="0" anchor="t">
            <a:noAutofit/>
          </a:bodyPr>
          <a:lstStyle/>
          <a:p>
            <a:pPr algn="l"/>
            <a:r>
              <a:rPr sz="5000" i="0">
                <a:solidFill>
                  <a:srgbClr val="1B1B1B"/>
                </a:solidFill>
                <a:latin typeface="Segoe UI Semibold"/>
              </a:rPr>
              <a:t>Keep Client Drafting Moving</a:t>
            </a:r>
          </a:p>
        </p:txBody>
      </p:sp>
      <p:sp>
        <p:nvSpPr>
          <p:cNvPr id="17" name="TextBox 16"/>
          <p:cNvSpPr txBox="1"/>
          <p:nvPr/>
        </p:nvSpPr>
        <p:spPr>
          <a:xfrm>
            <a:off x="640080" y="4434840"/>
            <a:ext cx="6583680" cy="914400"/>
          </a:xfrm>
          <a:prstGeom prst="rect">
            <a:avLst/>
          </a:prstGeom>
          <a:noFill/>
        </p:spPr>
        <p:txBody>
          <a:bodyPr wrap="square" lIns="0" rIns="0" tIns="0" bIns="0" anchor="t">
            <a:noAutofit/>
          </a:bodyPr>
          <a:lstStyle/>
          <a:p>
            <a:pPr algn="l"/>
            <a:r>
              <a:rPr sz="2000" i="0">
                <a:solidFill>
                  <a:srgbClr val="505050"/>
                </a:solidFill>
                <a:latin typeface="Segoe UI"/>
              </a:rPr>
              <a:t>Pilot Surface Laptop Ultra with NVIDIA RTX Spark alongside Microsoft 365 Copilot.</a:t>
            </a:r>
          </a:p>
        </p:txBody>
      </p:sp>
      <p:sp>
        <p:nvSpPr>
          <p:cNvPr id="18" name="TextBox 17"/>
          <p:cNvSpPr txBox="1"/>
          <p:nvPr/>
        </p:nvSpPr>
        <p:spPr>
          <a:xfrm>
            <a:off x="640080" y="6035040"/>
            <a:ext cx="6400800" cy="320040"/>
          </a:xfrm>
          <a:prstGeom prst="rect">
            <a:avLst/>
          </a:prstGeom>
          <a:noFill/>
        </p:spPr>
        <p:txBody>
          <a:bodyPr wrap="square" lIns="0" rIns="0" tIns="0" bIns="0" anchor="t">
            <a:noAutofit/>
          </a:bodyPr>
          <a:lstStyle/>
          <a:p>
            <a:pPr algn="l"/>
            <a:r>
              <a:rPr sz="1200" i="0">
                <a:solidFill>
                  <a:srgbClr val="8A8A8A"/>
                </a:solidFill>
                <a:latin typeface="Segoe UI"/>
              </a:rPr>
              <a:t>Microsoft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Drafting Meets Travel Friction</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Repeated summaries and restricted guest Wi-Fi create a clear pilot use case.</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2</a:t>
            </a:r>
          </a:p>
        </p:txBody>
      </p:sp>
      <p:sp>
        <p:nvSpPr>
          <p:cNvPr id="10" name="Rounded Rectangle 9"/>
          <p:cNvSpPr/>
          <p:nvPr/>
        </p:nvSpPr>
        <p:spPr>
          <a:xfrm>
            <a:off x="548640" y="2217420"/>
            <a:ext cx="2532888" cy="3566160"/>
          </a:xfrm>
          <a:prstGeom prst="roundRect">
            <a:avLst>
              <a:gd name="adj" fmla="val 2166"/>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48640" y="2217420"/>
            <a:ext cx="2532888" cy="8229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32104" y="2546604"/>
            <a:ext cx="713232" cy="71323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1956"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14" name="TextBox 13"/>
          <p:cNvSpPr txBox="1"/>
          <p:nvPr/>
        </p:nvSpPr>
        <p:spPr>
          <a:xfrm>
            <a:off x="822960" y="3406140"/>
            <a:ext cx="1984248" cy="1234440"/>
          </a:xfrm>
          <a:prstGeom prst="rect">
            <a:avLst/>
          </a:prstGeom>
          <a:noFill/>
        </p:spPr>
        <p:txBody>
          <a:bodyPr wrap="square" lIns="0" rIns="0" tIns="0" bIns="0" anchor="ctr">
            <a:noAutofit/>
          </a:bodyPr>
          <a:lstStyle/>
          <a:p>
            <a:pPr algn="l"/>
            <a:r>
              <a:rPr sz="6000" i="0">
                <a:solidFill>
                  <a:srgbClr val="0078D4"/>
                </a:solidFill>
                <a:latin typeface="Segoe UI Semibold"/>
              </a:rPr>
              <a:t>1,200</a:t>
            </a:r>
          </a:p>
        </p:txBody>
      </p:sp>
      <p:sp>
        <p:nvSpPr>
          <p:cNvPr id="15" name="TextBox 14"/>
          <p:cNvSpPr txBox="1"/>
          <p:nvPr/>
        </p:nvSpPr>
        <p:spPr>
          <a:xfrm>
            <a:off x="822960" y="4640580"/>
            <a:ext cx="1984248" cy="731520"/>
          </a:xfrm>
          <a:prstGeom prst="rect">
            <a:avLst/>
          </a:prstGeom>
          <a:noFill/>
        </p:spPr>
        <p:txBody>
          <a:bodyPr wrap="square" lIns="0" rIns="0" tIns="0" bIns="0" anchor="t">
            <a:noAutofit/>
          </a:bodyPr>
          <a:lstStyle/>
          <a:p>
            <a:pPr algn="l"/>
            <a:r>
              <a:rPr sz="1700" i="0">
                <a:solidFill>
                  <a:srgbClr val="1B1B1B"/>
                </a:solidFill>
                <a:latin typeface="Segoe UI"/>
              </a:rPr>
              <a:t>Traveling consultants</a:t>
            </a:r>
          </a:p>
        </p:txBody>
      </p:sp>
      <p:sp>
        <p:nvSpPr>
          <p:cNvPr id="16" name="TextBox 15"/>
          <p:cNvSpPr txBox="1"/>
          <p:nvPr/>
        </p:nvSpPr>
        <p:spPr>
          <a:xfrm>
            <a:off x="822960" y="5372100"/>
            <a:ext cx="1984248" cy="320040"/>
          </a:xfrm>
          <a:prstGeom prst="rect">
            <a:avLst/>
          </a:prstGeom>
          <a:noFill/>
        </p:spPr>
        <p:txBody>
          <a:bodyPr wrap="square" lIns="0" rIns="0" tIns="0" bIns="0" anchor="t">
            <a:noAutofit/>
          </a:bodyPr>
          <a:lstStyle/>
          <a:p>
            <a:pPr algn="l"/>
            <a:r>
              <a:rPr sz="900" i="0">
                <a:solidFill>
                  <a:srgbClr val="8A8A8A"/>
                </a:solidFill>
                <a:latin typeface="Segoe UI"/>
              </a:rPr>
              <a:t>Contoso brief: traveling consultant population.</a:t>
            </a:r>
          </a:p>
        </p:txBody>
      </p:sp>
      <p:sp>
        <p:nvSpPr>
          <p:cNvPr id="17" name="Rounded Rectangle 16"/>
          <p:cNvSpPr/>
          <p:nvPr/>
        </p:nvSpPr>
        <p:spPr>
          <a:xfrm>
            <a:off x="3401568" y="2217420"/>
            <a:ext cx="2532888" cy="3566160"/>
          </a:xfrm>
          <a:prstGeom prst="roundRect">
            <a:avLst>
              <a:gd name="adj" fmla="val 2166"/>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401568" y="2217420"/>
            <a:ext cx="2532888" cy="82296"/>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3685032" y="2546604"/>
            <a:ext cx="713232" cy="713232"/>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784884"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21" name="TextBox 20"/>
          <p:cNvSpPr txBox="1"/>
          <p:nvPr/>
        </p:nvSpPr>
        <p:spPr>
          <a:xfrm>
            <a:off x="3675888" y="3406140"/>
            <a:ext cx="1984248" cy="1234440"/>
          </a:xfrm>
          <a:prstGeom prst="rect">
            <a:avLst/>
          </a:prstGeom>
          <a:noFill/>
        </p:spPr>
        <p:txBody>
          <a:bodyPr wrap="square" lIns="0" rIns="0" tIns="0" bIns="0" anchor="ctr">
            <a:noAutofit/>
          </a:bodyPr>
          <a:lstStyle/>
          <a:p>
            <a:pPr algn="l"/>
            <a:r>
              <a:rPr sz="6000" i="0">
                <a:solidFill>
                  <a:srgbClr val="107C10"/>
                </a:solidFill>
                <a:latin typeface="Segoe UI Semibold"/>
              </a:rPr>
              <a:t>6</a:t>
            </a:r>
          </a:p>
        </p:txBody>
      </p:sp>
      <p:sp>
        <p:nvSpPr>
          <p:cNvPr id="22" name="TextBox 21"/>
          <p:cNvSpPr txBox="1"/>
          <p:nvPr/>
        </p:nvSpPr>
        <p:spPr>
          <a:xfrm>
            <a:off x="3675888" y="4640580"/>
            <a:ext cx="1984248" cy="731520"/>
          </a:xfrm>
          <a:prstGeom prst="rect">
            <a:avLst/>
          </a:prstGeom>
          <a:noFill/>
        </p:spPr>
        <p:txBody>
          <a:bodyPr wrap="square" lIns="0" rIns="0" tIns="0" bIns="0" anchor="t">
            <a:noAutofit/>
          </a:bodyPr>
          <a:lstStyle/>
          <a:p>
            <a:pPr algn="l"/>
            <a:r>
              <a:rPr sz="1700" i="0">
                <a:solidFill>
                  <a:srgbClr val="1B1B1B"/>
                </a:solidFill>
                <a:latin typeface="Segoe UI"/>
              </a:rPr>
              <a:t>Summaries weekly</a:t>
            </a:r>
          </a:p>
        </p:txBody>
      </p:sp>
      <p:sp>
        <p:nvSpPr>
          <p:cNvPr id="23" name="TextBox 22"/>
          <p:cNvSpPr txBox="1"/>
          <p:nvPr/>
        </p:nvSpPr>
        <p:spPr>
          <a:xfrm>
            <a:off x="3675888" y="5372100"/>
            <a:ext cx="1984248" cy="320040"/>
          </a:xfrm>
          <a:prstGeom prst="rect">
            <a:avLst/>
          </a:prstGeom>
          <a:noFill/>
        </p:spPr>
        <p:txBody>
          <a:bodyPr wrap="square" lIns="0" rIns="0" tIns="0" bIns="0" anchor="t">
            <a:noAutofit/>
          </a:bodyPr>
          <a:lstStyle/>
          <a:p>
            <a:pPr algn="l"/>
            <a:r>
              <a:rPr sz="900" i="0">
                <a:solidFill>
                  <a:srgbClr val="8A8A8A"/>
                </a:solidFill>
                <a:latin typeface="Segoe UI"/>
              </a:rPr>
              <a:t>Contoso brief: approximate summaries per consultant per week.</a:t>
            </a:r>
          </a:p>
        </p:txBody>
      </p:sp>
      <p:sp>
        <p:nvSpPr>
          <p:cNvPr id="24" name="Rounded Rectangle 23"/>
          <p:cNvSpPr/>
          <p:nvPr/>
        </p:nvSpPr>
        <p:spPr>
          <a:xfrm>
            <a:off x="6254496" y="2217420"/>
            <a:ext cx="2532888" cy="3566160"/>
          </a:xfrm>
          <a:prstGeom prst="roundRect">
            <a:avLst>
              <a:gd name="adj" fmla="val 2166"/>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54496" y="2217420"/>
            <a:ext cx="2532888" cy="82296"/>
          </a:xfrm>
          <a:prstGeom prst="rect">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537960" y="2546604"/>
            <a:ext cx="713232" cy="713232"/>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37812"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28" name="TextBox 27"/>
          <p:cNvSpPr txBox="1"/>
          <p:nvPr/>
        </p:nvSpPr>
        <p:spPr>
          <a:xfrm>
            <a:off x="6528816" y="3406140"/>
            <a:ext cx="1984248" cy="1234440"/>
          </a:xfrm>
          <a:prstGeom prst="rect">
            <a:avLst/>
          </a:prstGeom>
          <a:noFill/>
        </p:spPr>
        <p:txBody>
          <a:bodyPr wrap="square" lIns="0" rIns="0" tIns="0" bIns="0" anchor="ctr">
            <a:noAutofit/>
          </a:bodyPr>
          <a:lstStyle/>
          <a:p>
            <a:pPr algn="l"/>
            <a:r>
              <a:rPr sz="3700" i="0">
                <a:solidFill>
                  <a:srgbClr val="D83B01"/>
                </a:solidFill>
                <a:latin typeface="Segoe UI Semibold"/>
              </a:rPr>
              <a:t>25 minutes</a:t>
            </a:r>
          </a:p>
        </p:txBody>
      </p:sp>
      <p:sp>
        <p:nvSpPr>
          <p:cNvPr id="29" name="TextBox 28"/>
          <p:cNvSpPr txBox="1"/>
          <p:nvPr/>
        </p:nvSpPr>
        <p:spPr>
          <a:xfrm>
            <a:off x="6528816" y="4640580"/>
            <a:ext cx="1984248" cy="731520"/>
          </a:xfrm>
          <a:prstGeom prst="rect">
            <a:avLst/>
          </a:prstGeom>
          <a:noFill/>
        </p:spPr>
        <p:txBody>
          <a:bodyPr wrap="square" lIns="0" rIns="0" tIns="0" bIns="0" anchor="t">
            <a:noAutofit/>
          </a:bodyPr>
          <a:lstStyle/>
          <a:p>
            <a:pPr algn="l"/>
            <a:r>
              <a:rPr sz="1700" i="0">
                <a:solidFill>
                  <a:srgbClr val="1B1B1B"/>
                </a:solidFill>
                <a:latin typeface="Segoe UI"/>
              </a:rPr>
              <a:t>Drafting today</a:t>
            </a:r>
          </a:p>
        </p:txBody>
      </p:sp>
      <p:sp>
        <p:nvSpPr>
          <p:cNvPr id="30" name="TextBox 29"/>
          <p:cNvSpPr txBox="1"/>
          <p:nvPr/>
        </p:nvSpPr>
        <p:spPr>
          <a:xfrm>
            <a:off x="6528816" y="5372100"/>
            <a:ext cx="1984248" cy="320040"/>
          </a:xfrm>
          <a:prstGeom prst="rect">
            <a:avLst/>
          </a:prstGeom>
          <a:noFill/>
        </p:spPr>
        <p:txBody>
          <a:bodyPr wrap="square" lIns="0" rIns="0" tIns="0" bIns="0" anchor="t">
            <a:noAutofit/>
          </a:bodyPr>
          <a:lstStyle/>
          <a:p>
            <a:pPr algn="l"/>
            <a:r>
              <a:rPr sz="900" i="0">
                <a:solidFill>
                  <a:srgbClr val="8A8A8A"/>
                </a:solidFill>
                <a:latin typeface="Segoe UI"/>
              </a:rPr>
              <a:t>Contoso brief: approximate drafting time per summary.</a:t>
            </a:r>
          </a:p>
        </p:txBody>
      </p:sp>
      <p:sp>
        <p:nvSpPr>
          <p:cNvPr id="31" name="Rounded Rectangle 30"/>
          <p:cNvSpPr/>
          <p:nvPr/>
        </p:nvSpPr>
        <p:spPr>
          <a:xfrm>
            <a:off x="9107424" y="2217420"/>
            <a:ext cx="2532888" cy="3566160"/>
          </a:xfrm>
          <a:prstGeom prst="roundRect">
            <a:avLst>
              <a:gd name="adj" fmla="val 2166"/>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9107424" y="2217420"/>
            <a:ext cx="2532888"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9390888" y="2546604"/>
            <a:ext cx="713232" cy="713232"/>
          </a:xfrm>
          <a:prstGeom prst="ellipse">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90740"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35" name="TextBox 34"/>
          <p:cNvSpPr txBox="1"/>
          <p:nvPr/>
        </p:nvSpPr>
        <p:spPr>
          <a:xfrm>
            <a:off x="9381744" y="3406140"/>
            <a:ext cx="1984248" cy="1234440"/>
          </a:xfrm>
          <a:prstGeom prst="rect">
            <a:avLst/>
          </a:prstGeom>
          <a:noFill/>
        </p:spPr>
        <p:txBody>
          <a:bodyPr wrap="square" lIns="0" rIns="0" tIns="0" bIns="0" anchor="ctr">
            <a:noAutofit/>
          </a:bodyPr>
          <a:lstStyle/>
          <a:p>
            <a:pPr algn="l"/>
            <a:r>
              <a:rPr sz="6000" i="0">
                <a:solidFill>
                  <a:srgbClr val="1B1B1B"/>
                </a:solidFill>
                <a:latin typeface="Segoe UI Semibold"/>
              </a:rPr>
              <a:t>30%</a:t>
            </a:r>
          </a:p>
        </p:txBody>
      </p:sp>
      <p:sp>
        <p:nvSpPr>
          <p:cNvPr id="36" name="TextBox 35"/>
          <p:cNvSpPr txBox="1"/>
          <p:nvPr/>
        </p:nvSpPr>
        <p:spPr>
          <a:xfrm>
            <a:off x="9381744" y="4640580"/>
            <a:ext cx="1984248" cy="731520"/>
          </a:xfrm>
          <a:prstGeom prst="rect">
            <a:avLst/>
          </a:prstGeom>
          <a:noFill/>
        </p:spPr>
        <p:txBody>
          <a:bodyPr wrap="square" lIns="0" rIns="0" tIns="0" bIns="0" anchor="t">
            <a:noAutofit/>
          </a:bodyPr>
          <a:lstStyle/>
          <a:p>
            <a:pPr algn="l"/>
            <a:r>
              <a:rPr sz="1700" i="0">
                <a:solidFill>
                  <a:srgbClr val="1B1B1B"/>
                </a:solidFill>
                <a:latin typeface="Segoe UI"/>
              </a:rPr>
              <a:t>Guest Wi-Fi restricted</a:t>
            </a:r>
          </a:p>
        </p:txBody>
      </p:sp>
      <p:sp>
        <p:nvSpPr>
          <p:cNvPr id="37" name="TextBox 36"/>
          <p:cNvSpPr txBox="1"/>
          <p:nvPr/>
        </p:nvSpPr>
        <p:spPr>
          <a:xfrm>
            <a:off x="9381744" y="5372100"/>
            <a:ext cx="1984248" cy="320040"/>
          </a:xfrm>
          <a:prstGeom prst="rect">
            <a:avLst/>
          </a:prstGeom>
          <a:noFill/>
        </p:spPr>
        <p:txBody>
          <a:bodyPr wrap="square" lIns="0" rIns="0" tIns="0" bIns="0" anchor="t">
            <a:noAutofit/>
          </a:bodyPr>
          <a:lstStyle/>
          <a:p>
            <a:pPr algn="l"/>
            <a:r>
              <a:rPr sz="900" i="0">
                <a:solidFill>
                  <a:srgbClr val="8A8A8A"/>
                </a:solidFill>
                <a:latin typeface="Segoe UI"/>
              </a:rPr>
              <a:t>Contoso brief: approximate share of client sites.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Bring the Drafting Desk Along</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A local assistant is a portable workbench, not a dependency on guest Wi-Fi.</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3</a:t>
            </a:r>
          </a:p>
        </p:txBody>
      </p:sp>
      <p:sp>
        <p:nvSpPr>
          <p:cNvPr id="10" name="Oval 9"/>
          <p:cNvSpPr/>
          <p:nvPr/>
        </p:nvSpPr>
        <p:spPr>
          <a:xfrm>
            <a:off x="617220" y="1851660"/>
            <a:ext cx="960120" cy="96012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2" name="TextBox 11"/>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1B1B1B"/>
                </a:solidFill>
                <a:latin typeface="Segoe UI Semibold"/>
              </a:rPr>
              <a:t>Local AI</a:t>
            </a:r>
          </a:p>
        </p:txBody>
      </p:sp>
      <p:sp>
        <p:nvSpPr>
          <p:cNvPr id="13" name="Oval 12"/>
          <p:cNvSpPr/>
          <p:nvPr/>
        </p:nvSpPr>
        <p:spPr>
          <a:xfrm>
            <a:off x="10611612" y="1851660"/>
            <a:ext cx="960120" cy="96012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5" name="TextBox 14"/>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1B1B1B"/>
                </a:solidFill>
                <a:latin typeface="Segoe UI Semibold"/>
              </a:rPr>
              <a:t>Portable workbench</a:t>
            </a:r>
          </a:p>
        </p:txBody>
      </p:sp>
      <p:sp>
        <p:nvSpPr>
          <p:cNvPr id="16" name="TextBox 15"/>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8A8A8A"/>
                </a:solidFill>
                <a:latin typeface="Segoe UI"/>
              </a:rPr>
              <a:t>is like</a:t>
            </a:r>
          </a:p>
        </p:txBody>
      </p:sp>
      <p:sp>
        <p:nvSpPr>
          <p:cNvPr id="17" name="Rounded Rectangle 16"/>
          <p:cNvSpPr/>
          <p:nvPr/>
        </p:nvSpPr>
        <p:spPr>
          <a:xfrm>
            <a:off x="548640" y="3108960"/>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60" y="3145536"/>
            <a:ext cx="4311396" cy="610362"/>
          </a:xfrm>
          <a:prstGeom prst="rect">
            <a:avLst/>
          </a:prstGeom>
          <a:noFill/>
        </p:spPr>
        <p:txBody>
          <a:bodyPr wrap="square" lIns="0" rIns="0" tIns="0" bIns="0" anchor="ctr">
            <a:noAutofit/>
          </a:bodyPr>
          <a:lstStyle/>
          <a:p>
            <a:pPr algn="ctr"/>
            <a:r>
              <a:rPr sz="1700" i="0">
                <a:solidFill>
                  <a:srgbClr val="1B1B1B"/>
                </a:solidFill>
                <a:latin typeface="Segoe UI"/>
              </a:rPr>
              <a:t>Local model</a:t>
            </a:r>
          </a:p>
        </p:txBody>
      </p:sp>
      <p:cxnSp>
        <p:nvCxnSpPr>
          <p:cNvPr id="19" name="Connector 18"/>
          <p:cNvCxnSpPr/>
          <p:nvPr/>
        </p:nvCxnSpPr>
        <p:spPr>
          <a:xfrm>
            <a:off x="5481828" y="3450717"/>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80276" y="3108960"/>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54596" y="3145536"/>
            <a:ext cx="4311396" cy="610362"/>
          </a:xfrm>
          <a:prstGeom prst="rect">
            <a:avLst/>
          </a:prstGeom>
          <a:noFill/>
        </p:spPr>
        <p:txBody>
          <a:bodyPr wrap="square" lIns="0" rIns="0" tIns="0" bIns="0" anchor="ctr">
            <a:noAutofit/>
          </a:bodyPr>
          <a:lstStyle/>
          <a:p>
            <a:pPr algn="ctr"/>
            <a:r>
              <a:rPr sz="1700" i="0">
                <a:solidFill>
                  <a:srgbClr val="1B1B1B"/>
                </a:solidFill>
                <a:latin typeface="Segoe UI"/>
              </a:rPr>
              <a:t>Packed tools</a:t>
            </a:r>
          </a:p>
        </p:txBody>
      </p:sp>
      <p:sp>
        <p:nvSpPr>
          <p:cNvPr id="22" name="Rounded Rectangle 21"/>
          <p:cNvSpPr/>
          <p:nvPr/>
        </p:nvSpPr>
        <p:spPr>
          <a:xfrm>
            <a:off x="548640" y="3902202"/>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960" y="3938778"/>
            <a:ext cx="4311396" cy="610362"/>
          </a:xfrm>
          <a:prstGeom prst="rect">
            <a:avLst/>
          </a:prstGeom>
          <a:noFill/>
        </p:spPr>
        <p:txBody>
          <a:bodyPr wrap="square" lIns="0" rIns="0" tIns="0" bIns="0" anchor="ctr">
            <a:noAutofit/>
          </a:bodyPr>
          <a:lstStyle/>
          <a:p>
            <a:pPr algn="ctr"/>
            <a:r>
              <a:rPr sz="1700" i="0">
                <a:solidFill>
                  <a:srgbClr val="1B1B1B"/>
                </a:solidFill>
                <a:latin typeface="Segoe UI"/>
              </a:rPr>
              <a:t>Approved client files</a:t>
            </a:r>
          </a:p>
        </p:txBody>
      </p:sp>
      <p:cxnSp>
        <p:nvCxnSpPr>
          <p:cNvPr id="24" name="Connector 23"/>
          <p:cNvCxnSpPr/>
          <p:nvPr/>
        </p:nvCxnSpPr>
        <p:spPr>
          <a:xfrm>
            <a:off x="5481828" y="4243959"/>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780276" y="3902202"/>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54596" y="3938778"/>
            <a:ext cx="4311396" cy="610362"/>
          </a:xfrm>
          <a:prstGeom prst="rect">
            <a:avLst/>
          </a:prstGeom>
          <a:noFill/>
        </p:spPr>
        <p:txBody>
          <a:bodyPr wrap="square" lIns="0" rIns="0" tIns="0" bIns="0" anchor="ctr">
            <a:noAutofit/>
          </a:bodyPr>
          <a:lstStyle/>
          <a:p>
            <a:pPr algn="ctr"/>
            <a:r>
              <a:rPr sz="1700" i="0">
                <a:solidFill>
                  <a:srgbClr val="1B1B1B"/>
                </a:solidFill>
                <a:latin typeface="Segoe UI"/>
              </a:rPr>
              <a:t>Materials at hand</a:t>
            </a:r>
          </a:p>
        </p:txBody>
      </p:sp>
      <p:sp>
        <p:nvSpPr>
          <p:cNvPr id="27" name="Rounded Rectangle 26"/>
          <p:cNvSpPr/>
          <p:nvPr/>
        </p:nvSpPr>
        <p:spPr>
          <a:xfrm>
            <a:off x="548640" y="4695444"/>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4732020"/>
            <a:ext cx="4311396" cy="610362"/>
          </a:xfrm>
          <a:prstGeom prst="rect">
            <a:avLst/>
          </a:prstGeom>
          <a:noFill/>
        </p:spPr>
        <p:txBody>
          <a:bodyPr wrap="square" lIns="0" rIns="0" tIns="0" bIns="0" anchor="ctr">
            <a:noAutofit/>
          </a:bodyPr>
          <a:lstStyle/>
          <a:p>
            <a:pPr algn="ctr"/>
            <a:r>
              <a:rPr sz="1700" i="0">
                <a:solidFill>
                  <a:srgbClr val="1B1B1B"/>
                </a:solidFill>
                <a:latin typeface="Segoe UI"/>
              </a:rPr>
              <a:t>Draft generation</a:t>
            </a:r>
          </a:p>
        </p:txBody>
      </p:sp>
      <p:cxnSp>
        <p:nvCxnSpPr>
          <p:cNvPr id="29" name="Connector 28"/>
          <p:cNvCxnSpPr/>
          <p:nvPr/>
        </p:nvCxnSpPr>
        <p:spPr>
          <a:xfrm>
            <a:off x="5481828" y="5037201"/>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780276" y="4695444"/>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054596" y="4732020"/>
            <a:ext cx="4311396" cy="610362"/>
          </a:xfrm>
          <a:prstGeom prst="rect">
            <a:avLst/>
          </a:prstGeom>
          <a:noFill/>
        </p:spPr>
        <p:txBody>
          <a:bodyPr wrap="square" lIns="0" rIns="0" tIns="0" bIns="0" anchor="ctr">
            <a:noAutofit/>
          </a:bodyPr>
          <a:lstStyle/>
          <a:p>
            <a:pPr algn="ctr"/>
            <a:r>
              <a:rPr sz="1700" i="0">
                <a:solidFill>
                  <a:srgbClr val="1B1B1B"/>
                </a:solidFill>
                <a:latin typeface="Segoe UI"/>
              </a:rPr>
              <a:t>Workbench assembly</a:t>
            </a:r>
          </a:p>
        </p:txBody>
      </p:sp>
      <p:sp>
        <p:nvSpPr>
          <p:cNvPr id="32" name="Rounded Rectangle 31"/>
          <p:cNvSpPr/>
          <p:nvPr/>
        </p:nvSpPr>
        <p:spPr>
          <a:xfrm>
            <a:off x="548640" y="5488686"/>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2960" y="5525262"/>
            <a:ext cx="4311396" cy="610362"/>
          </a:xfrm>
          <a:prstGeom prst="rect">
            <a:avLst/>
          </a:prstGeom>
          <a:noFill/>
        </p:spPr>
        <p:txBody>
          <a:bodyPr wrap="square" lIns="0" rIns="0" tIns="0" bIns="0" anchor="ctr">
            <a:noAutofit/>
          </a:bodyPr>
          <a:lstStyle/>
          <a:p>
            <a:pPr algn="ctr"/>
            <a:r>
              <a:rPr sz="1700" i="0">
                <a:solidFill>
                  <a:srgbClr val="1B1B1B"/>
                </a:solidFill>
                <a:latin typeface="Segoe UI"/>
              </a:rPr>
              <a:t>Consultant review</a:t>
            </a:r>
          </a:p>
        </p:txBody>
      </p:sp>
      <p:cxnSp>
        <p:nvCxnSpPr>
          <p:cNvPr id="34" name="Connector 33"/>
          <p:cNvCxnSpPr/>
          <p:nvPr/>
        </p:nvCxnSpPr>
        <p:spPr>
          <a:xfrm>
            <a:off x="5481828" y="5830443"/>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780276" y="5488686"/>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054596" y="5525262"/>
            <a:ext cx="4311396" cy="610362"/>
          </a:xfrm>
          <a:prstGeom prst="rect">
            <a:avLst/>
          </a:prstGeom>
          <a:noFill/>
        </p:spPr>
        <p:txBody>
          <a:bodyPr wrap="square" lIns="0" rIns="0" tIns="0" bIns="0" anchor="ctr">
            <a:noAutofit/>
          </a:bodyPr>
          <a:lstStyle/>
          <a:p>
            <a:pPr algn="ctr"/>
            <a:r>
              <a:rPr sz="1700" i="0">
                <a:solidFill>
                  <a:srgbClr val="1B1B1B"/>
                </a:solidFill>
                <a:latin typeface="Segoe UI"/>
              </a:rPr>
              <a:t>Craftsperson inspection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Add a Lane, Keep Copilot</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The recommended hybrid approach retains Microsoft 365 Copilot and adds local drafting.</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4</a:t>
            </a:r>
          </a:p>
        </p:txBody>
      </p:sp>
      <p:sp>
        <p:nvSpPr>
          <p:cNvPr id="10" name="Rounded Rectangle 9"/>
          <p:cNvSpPr/>
          <p:nvPr/>
        </p:nvSpPr>
        <p:spPr>
          <a:xfrm>
            <a:off x="548640" y="1828800"/>
            <a:ext cx="5088636" cy="3429000"/>
          </a:xfrm>
          <a:prstGeom prst="roundRect">
            <a:avLst>
              <a:gd name="adj" fmla="val 160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68096" y="2020824"/>
            <a:ext cx="749808" cy="74980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73069" y="2125797"/>
            <a:ext cx="539862" cy="539862"/>
          </a:xfrm>
          <a:prstGeom prst="rect">
            <a:avLst/>
          </a:prstGeom>
          <a:noFill/>
        </p:spPr>
        <p:txBody>
          <a:bodyPr wrap="none" lIns="0" rIns="0" tIns="0" bIns="0" anchor="ctr">
            <a:spAutoFit/>
          </a:bodyPr>
          <a:lstStyle/>
          <a:p>
            <a:pPr algn="ctr"/>
            <a:r>
              <a:rPr sz="2635">
                <a:solidFill>
                  <a:srgbClr val="FFFFFF"/>
                </a:solidFill>
                <a:latin typeface="Segoe Fluent Icons"/>
              </a:rPr>
              <a:t></a:t>
            </a:r>
          </a:p>
        </p:txBody>
      </p:sp>
      <p:sp>
        <p:nvSpPr>
          <p:cNvPr id="13" name="TextBox 12"/>
          <p:cNvSpPr txBox="1"/>
          <p:nvPr/>
        </p:nvSpPr>
        <p:spPr>
          <a:xfrm>
            <a:off x="1645920" y="2029968"/>
            <a:ext cx="3808476" cy="731520"/>
          </a:xfrm>
          <a:prstGeom prst="rect">
            <a:avLst/>
          </a:prstGeom>
          <a:noFill/>
        </p:spPr>
        <p:txBody>
          <a:bodyPr wrap="square" lIns="0" rIns="0" tIns="0" bIns="0" anchor="ctr">
            <a:noAutofit/>
          </a:bodyPr>
          <a:lstStyle/>
          <a:p>
            <a:pPr algn="l"/>
            <a:r>
              <a:rPr sz="2300" i="0">
                <a:solidFill>
                  <a:srgbClr val="1B1B1B"/>
                </a:solidFill>
                <a:latin typeface="Segoe UI Semibold"/>
              </a:rPr>
              <a:t>Existing lane</a:t>
            </a:r>
          </a:p>
        </p:txBody>
      </p:sp>
      <p:sp>
        <p:nvSpPr>
          <p:cNvPr id="14" name="TextBox 13"/>
          <p:cNvSpPr txBox="1"/>
          <p:nvPr/>
        </p:nvSpPr>
        <p:spPr>
          <a:xfrm>
            <a:off x="960120" y="3212592"/>
            <a:ext cx="310896" cy="310896"/>
          </a:xfrm>
          <a:prstGeom prst="rect">
            <a:avLst/>
          </a:prstGeom>
          <a:noFill/>
        </p:spPr>
        <p:txBody>
          <a:bodyPr wrap="none" lIns="0" rIns="0" tIns="0" bIns="0" anchor="ctr">
            <a:spAutoFit/>
          </a:bodyPr>
          <a:lstStyle/>
          <a:p>
            <a:pPr algn="ctr"/>
            <a:r>
              <a:rPr sz="1517">
                <a:solidFill>
                  <a:srgbClr val="8A8A8A"/>
                </a:solidFill>
                <a:latin typeface="Segoe Fluent Icons"/>
              </a:rPr>
              <a:t></a:t>
            </a:r>
          </a:p>
        </p:txBody>
      </p:sp>
      <p:sp>
        <p:nvSpPr>
          <p:cNvPr id="15" name="TextBox 14"/>
          <p:cNvSpPr txBox="1"/>
          <p:nvPr/>
        </p:nvSpPr>
        <p:spPr>
          <a:xfrm>
            <a:off x="1417320" y="3017520"/>
            <a:ext cx="3991356" cy="701040"/>
          </a:xfrm>
          <a:prstGeom prst="rect">
            <a:avLst/>
          </a:prstGeom>
          <a:noFill/>
        </p:spPr>
        <p:txBody>
          <a:bodyPr wrap="square" lIns="0" rIns="0" tIns="0" bIns="0" anchor="ctr">
            <a:noAutofit/>
          </a:bodyPr>
          <a:lstStyle/>
          <a:p>
            <a:pPr algn="l"/>
            <a:r>
              <a:rPr sz="1700" i="0">
                <a:solidFill>
                  <a:srgbClr val="505050"/>
                </a:solidFill>
                <a:latin typeface="Segoe UI"/>
              </a:rPr>
              <a:t>Microsoft 365 Copilot</a:t>
            </a:r>
          </a:p>
        </p:txBody>
      </p:sp>
      <p:sp>
        <p:nvSpPr>
          <p:cNvPr id="16" name="TextBox 15"/>
          <p:cNvSpPr txBox="1"/>
          <p:nvPr/>
        </p:nvSpPr>
        <p:spPr>
          <a:xfrm>
            <a:off x="960120" y="3913632"/>
            <a:ext cx="310896" cy="310896"/>
          </a:xfrm>
          <a:prstGeom prst="rect">
            <a:avLst/>
          </a:prstGeom>
          <a:noFill/>
        </p:spPr>
        <p:txBody>
          <a:bodyPr wrap="none" lIns="0" rIns="0" tIns="0" bIns="0" anchor="ctr">
            <a:spAutoFit/>
          </a:bodyPr>
          <a:lstStyle/>
          <a:p>
            <a:pPr algn="ctr"/>
            <a:r>
              <a:rPr sz="1517">
                <a:solidFill>
                  <a:srgbClr val="8A8A8A"/>
                </a:solidFill>
                <a:latin typeface="Segoe Fluent Icons"/>
              </a:rPr>
              <a:t></a:t>
            </a:r>
          </a:p>
        </p:txBody>
      </p:sp>
      <p:sp>
        <p:nvSpPr>
          <p:cNvPr id="17" name="TextBox 16"/>
          <p:cNvSpPr txBox="1"/>
          <p:nvPr/>
        </p:nvSpPr>
        <p:spPr>
          <a:xfrm>
            <a:off x="1417320" y="3718560"/>
            <a:ext cx="3991356" cy="701040"/>
          </a:xfrm>
          <a:prstGeom prst="rect">
            <a:avLst/>
          </a:prstGeom>
          <a:noFill/>
        </p:spPr>
        <p:txBody>
          <a:bodyPr wrap="square" lIns="0" rIns="0" tIns="0" bIns="0" anchor="ctr">
            <a:noAutofit/>
          </a:bodyPr>
          <a:lstStyle/>
          <a:p>
            <a:pPr algn="l"/>
            <a:r>
              <a:rPr sz="1700" i="0">
                <a:solidFill>
                  <a:srgbClr val="505050"/>
                </a:solidFill>
                <a:latin typeface="Segoe UI"/>
              </a:rPr>
              <a:t>Keep established workflows</a:t>
            </a:r>
          </a:p>
        </p:txBody>
      </p:sp>
      <p:sp>
        <p:nvSpPr>
          <p:cNvPr id="18" name="TextBox 17"/>
          <p:cNvSpPr txBox="1"/>
          <p:nvPr/>
        </p:nvSpPr>
        <p:spPr>
          <a:xfrm>
            <a:off x="960120" y="4614672"/>
            <a:ext cx="310896" cy="310896"/>
          </a:xfrm>
          <a:prstGeom prst="rect">
            <a:avLst/>
          </a:prstGeom>
          <a:noFill/>
        </p:spPr>
        <p:txBody>
          <a:bodyPr wrap="none" lIns="0" rIns="0" tIns="0" bIns="0" anchor="ctr">
            <a:spAutoFit/>
          </a:bodyPr>
          <a:lstStyle/>
          <a:p>
            <a:pPr algn="ctr"/>
            <a:r>
              <a:rPr sz="1517">
                <a:solidFill>
                  <a:srgbClr val="8A8A8A"/>
                </a:solidFill>
                <a:latin typeface="Segoe Fluent Icons"/>
              </a:rPr>
              <a:t></a:t>
            </a:r>
          </a:p>
        </p:txBody>
      </p:sp>
      <p:sp>
        <p:nvSpPr>
          <p:cNvPr id="19" name="TextBox 18"/>
          <p:cNvSpPr txBox="1"/>
          <p:nvPr/>
        </p:nvSpPr>
        <p:spPr>
          <a:xfrm>
            <a:off x="1417320" y="4419600"/>
            <a:ext cx="3991356" cy="701040"/>
          </a:xfrm>
          <a:prstGeom prst="rect">
            <a:avLst/>
          </a:prstGeom>
          <a:noFill/>
        </p:spPr>
        <p:txBody>
          <a:bodyPr wrap="square" lIns="0" rIns="0" tIns="0" bIns="0" anchor="ctr">
            <a:noAutofit/>
          </a:bodyPr>
          <a:lstStyle/>
          <a:p>
            <a:pPr algn="l"/>
            <a:r>
              <a:rPr sz="1700" i="0">
                <a:solidFill>
                  <a:srgbClr val="505050"/>
                </a:solidFill>
                <a:latin typeface="Segoe UI"/>
              </a:rPr>
              <a:t>No replacement proposed</a:t>
            </a:r>
          </a:p>
        </p:txBody>
      </p:sp>
      <p:sp>
        <p:nvSpPr>
          <p:cNvPr id="20" name="Rounded Rectangle 19"/>
          <p:cNvSpPr/>
          <p:nvPr/>
        </p:nvSpPr>
        <p:spPr>
          <a:xfrm>
            <a:off x="6551676" y="1828800"/>
            <a:ext cx="5088636" cy="3429000"/>
          </a:xfrm>
          <a:prstGeom prst="roundRect">
            <a:avLst>
              <a:gd name="adj" fmla="val 1600"/>
            </a:avLst>
          </a:prstGeom>
          <a:solidFill>
            <a:srgbClr val="F3F3F3"/>
          </a:solidFill>
          <a:ln w="28575">
            <a:solidFill>
              <a:srgbClr val="0078D4"/>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771132" y="2020824"/>
            <a:ext cx="749808" cy="749808"/>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76105" y="2125797"/>
            <a:ext cx="539862" cy="539862"/>
          </a:xfrm>
          <a:prstGeom prst="rect">
            <a:avLst/>
          </a:prstGeom>
          <a:noFill/>
        </p:spPr>
        <p:txBody>
          <a:bodyPr wrap="none" lIns="0" rIns="0" tIns="0" bIns="0" anchor="ctr">
            <a:spAutoFit/>
          </a:bodyPr>
          <a:lstStyle/>
          <a:p>
            <a:pPr algn="ctr"/>
            <a:r>
              <a:rPr sz="2635">
                <a:solidFill>
                  <a:srgbClr val="FFFFFF"/>
                </a:solidFill>
                <a:latin typeface="Segoe Fluent Icons"/>
              </a:rPr>
              <a:t></a:t>
            </a:r>
          </a:p>
        </p:txBody>
      </p:sp>
      <p:sp>
        <p:nvSpPr>
          <p:cNvPr id="23" name="TextBox 22"/>
          <p:cNvSpPr txBox="1"/>
          <p:nvPr/>
        </p:nvSpPr>
        <p:spPr>
          <a:xfrm>
            <a:off x="7648956" y="2029968"/>
            <a:ext cx="3808476" cy="731520"/>
          </a:xfrm>
          <a:prstGeom prst="rect">
            <a:avLst/>
          </a:prstGeom>
          <a:noFill/>
        </p:spPr>
        <p:txBody>
          <a:bodyPr wrap="square" lIns="0" rIns="0" tIns="0" bIns="0" anchor="ctr">
            <a:noAutofit/>
          </a:bodyPr>
          <a:lstStyle/>
          <a:p>
            <a:pPr algn="l"/>
            <a:r>
              <a:rPr sz="2300" i="0">
                <a:solidFill>
                  <a:srgbClr val="1B1B1B"/>
                </a:solidFill>
                <a:latin typeface="Segoe UI Semibold"/>
              </a:rPr>
              <a:t>Hybrid approach</a:t>
            </a:r>
          </a:p>
        </p:txBody>
      </p:sp>
      <p:sp>
        <p:nvSpPr>
          <p:cNvPr id="24" name="TextBox 23"/>
          <p:cNvSpPr txBox="1"/>
          <p:nvPr/>
        </p:nvSpPr>
        <p:spPr>
          <a:xfrm>
            <a:off x="6963156" y="3212592"/>
            <a:ext cx="310896" cy="310896"/>
          </a:xfrm>
          <a:prstGeom prst="rect">
            <a:avLst/>
          </a:prstGeom>
          <a:noFill/>
        </p:spPr>
        <p:txBody>
          <a:bodyPr wrap="none" lIns="0" rIns="0" tIns="0" bIns="0" anchor="ctr">
            <a:spAutoFit/>
          </a:bodyPr>
          <a:lstStyle/>
          <a:p>
            <a:pPr algn="ctr"/>
            <a:r>
              <a:rPr sz="1517">
                <a:solidFill>
                  <a:srgbClr val="0078D4"/>
                </a:solidFill>
                <a:latin typeface="Segoe Fluent Icons"/>
              </a:rPr>
              <a:t></a:t>
            </a:r>
          </a:p>
        </p:txBody>
      </p:sp>
      <p:sp>
        <p:nvSpPr>
          <p:cNvPr id="25" name="TextBox 24"/>
          <p:cNvSpPr txBox="1"/>
          <p:nvPr/>
        </p:nvSpPr>
        <p:spPr>
          <a:xfrm>
            <a:off x="7420356" y="3017520"/>
            <a:ext cx="3991356" cy="701040"/>
          </a:xfrm>
          <a:prstGeom prst="rect">
            <a:avLst/>
          </a:prstGeom>
          <a:noFill/>
        </p:spPr>
        <p:txBody>
          <a:bodyPr wrap="square" lIns="0" rIns="0" tIns="0" bIns="0" anchor="ctr">
            <a:noAutofit/>
          </a:bodyPr>
          <a:lstStyle/>
          <a:p>
            <a:pPr algn="l"/>
            <a:r>
              <a:rPr sz="1700" i="0">
                <a:solidFill>
                  <a:srgbClr val="1B1B1B"/>
                </a:solidFill>
                <a:latin typeface="Segoe UI"/>
              </a:rPr>
              <a:t>Microsoft 365 Copilot retained</a:t>
            </a:r>
          </a:p>
        </p:txBody>
      </p:sp>
      <p:sp>
        <p:nvSpPr>
          <p:cNvPr id="26" name="TextBox 25"/>
          <p:cNvSpPr txBox="1"/>
          <p:nvPr/>
        </p:nvSpPr>
        <p:spPr>
          <a:xfrm>
            <a:off x="6963156" y="3913632"/>
            <a:ext cx="310896" cy="310896"/>
          </a:xfrm>
          <a:prstGeom prst="rect">
            <a:avLst/>
          </a:prstGeom>
          <a:noFill/>
        </p:spPr>
        <p:txBody>
          <a:bodyPr wrap="none" lIns="0" rIns="0" tIns="0" bIns="0" anchor="ctr">
            <a:spAutoFit/>
          </a:bodyPr>
          <a:lstStyle/>
          <a:p>
            <a:pPr algn="ctr"/>
            <a:r>
              <a:rPr sz="1517">
                <a:solidFill>
                  <a:srgbClr val="0078D4"/>
                </a:solidFill>
                <a:latin typeface="Segoe Fluent Icons"/>
              </a:rPr>
              <a:t></a:t>
            </a:r>
          </a:p>
        </p:txBody>
      </p:sp>
      <p:sp>
        <p:nvSpPr>
          <p:cNvPr id="27" name="TextBox 26"/>
          <p:cNvSpPr txBox="1"/>
          <p:nvPr/>
        </p:nvSpPr>
        <p:spPr>
          <a:xfrm>
            <a:off x="7420356" y="3718560"/>
            <a:ext cx="3991356" cy="701040"/>
          </a:xfrm>
          <a:prstGeom prst="rect">
            <a:avLst/>
          </a:prstGeom>
          <a:noFill/>
        </p:spPr>
        <p:txBody>
          <a:bodyPr wrap="square" lIns="0" rIns="0" tIns="0" bIns="0" anchor="ctr">
            <a:noAutofit/>
          </a:bodyPr>
          <a:lstStyle/>
          <a:p>
            <a:pPr algn="l"/>
            <a:r>
              <a:rPr sz="1700" i="0">
                <a:solidFill>
                  <a:srgbClr val="1B1B1B"/>
                </a:solidFill>
                <a:latin typeface="Segoe UI"/>
              </a:rPr>
              <a:t>Local sensitive drafting</a:t>
            </a:r>
          </a:p>
        </p:txBody>
      </p:sp>
      <p:sp>
        <p:nvSpPr>
          <p:cNvPr id="28" name="TextBox 27"/>
          <p:cNvSpPr txBox="1"/>
          <p:nvPr/>
        </p:nvSpPr>
        <p:spPr>
          <a:xfrm>
            <a:off x="6963156" y="4614672"/>
            <a:ext cx="310896" cy="310896"/>
          </a:xfrm>
          <a:prstGeom prst="rect">
            <a:avLst/>
          </a:prstGeom>
          <a:noFill/>
        </p:spPr>
        <p:txBody>
          <a:bodyPr wrap="none" lIns="0" rIns="0" tIns="0" bIns="0" anchor="ctr">
            <a:spAutoFit/>
          </a:bodyPr>
          <a:lstStyle/>
          <a:p>
            <a:pPr algn="ctr"/>
            <a:r>
              <a:rPr sz="1517">
                <a:solidFill>
                  <a:srgbClr val="0078D4"/>
                </a:solidFill>
                <a:latin typeface="Segoe Fluent Icons"/>
              </a:rPr>
              <a:t></a:t>
            </a:r>
          </a:p>
        </p:txBody>
      </p:sp>
      <p:sp>
        <p:nvSpPr>
          <p:cNvPr id="29" name="TextBox 28"/>
          <p:cNvSpPr txBox="1"/>
          <p:nvPr/>
        </p:nvSpPr>
        <p:spPr>
          <a:xfrm>
            <a:off x="7420356" y="4419600"/>
            <a:ext cx="3991356" cy="701040"/>
          </a:xfrm>
          <a:prstGeom prst="rect">
            <a:avLst/>
          </a:prstGeom>
          <a:noFill/>
        </p:spPr>
        <p:txBody>
          <a:bodyPr wrap="square" lIns="0" rIns="0" tIns="0" bIns="0" anchor="ctr">
            <a:noAutofit/>
          </a:bodyPr>
          <a:lstStyle/>
          <a:p>
            <a:pPr algn="l"/>
            <a:r>
              <a:rPr sz="1700" i="0">
                <a:solidFill>
                  <a:srgbClr val="1B1B1B"/>
                </a:solidFill>
                <a:latin typeface="Segoe UI"/>
              </a:rPr>
              <a:t>Disconnected use: validate</a:t>
            </a:r>
          </a:p>
        </p:txBody>
      </p:sp>
      <p:sp>
        <p:nvSpPr>
          <p:cNvPr id="30" name="Oval 29"/>
          <p:cNvSpPr/>
          <p:nvPr/>
        </p:nvSpPr>
        <p:spPr>
          <a:xfrm>
            <a:off x="5728716" y="3177540"/>
            <a:ext cx="731520" cy="731520"/>
          </a:xfrm>
          <a:prstGeom prst="ellipse">
            <a:avLst/>
          </a:prstGeom>
          <a:solidFill>
            <a:srgbClr val="1B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728716" y="3177540"/>
            <a:ext cx="731520" cy="731520"/>
          </a:xfrm>
          <a:prstGeom prst="rect">
            <a:avLst/>
          </a:prstGeom>
          <a:noFill/>
        </p:spPr>
        <p:txBody>
          <a:bodyPr wrap="square" lIns="0" rIns="0" tIns="0" bIns="0" anchor="ctr">
            <a:noAutofit/>
          </a:bodyPr>
          <a:lstStyle/>
          <a:p>
            <a:pPr algn="ctr"/>
            <a:r>
              <a:rPr sz="1600" i="0">
                <a:solidFill>
                  <a:srgbClr val="FFFFFF"/>
                </a:solidFill>
                <a:latin typeface="Segoe UI Semibold"/>
              </a:rPr>
              <a:t>VS</a:t>
            </a:r>
          </a:p>
        </p:txBody>
      </p:sp>
      <p:sp>
        <p:nvSpPr>
          <p:cNvPr id="32" name="Rounded Rectangle 31"/>
          <p:cNvSpPr/>
          <p:nvPr/>
        </p:nvSpPr>
        <p:spPr>
          <a:xfrm>
            <a:off x="548640" y="5458968"/>
            <a:ext cx="11091672" cy="713232"/>
          </a:xfrm>
          <a:prstGeom prst="roundRect">
            <a:avLst>
              <a:gd name="adj" fmla="val 7692"/>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2960" y="5614416"/>
            <a:ext cx="402336" cy="402336"/>
          </a:xfrm>
          <a:prstGeom prst="rect">
            <a:avLst/>
          </a:prstGeom>
          <a:noFill/>
        </p:spPr>
        <p:txBody>
          <a:bodyPr wrap="none" lIns="0" rIns="0" tIns="0" bIns="0" anchor="ctr">
            <a:spAutoFit/>
          </a:bodyPr>
          <a:lstStyle/>
          <a:p>
            <a:pPr algn="ctr"/>
            <a:r>
              <a:rPr sz="1964">
                <a:solidFill>
                  <a:srgbClr val="FFFFFF"/>
                </a:solidFill>
                <a:latin typeface="Segoe Fluent Icons"/>
              </a:rPr>
              <a:t></a:t>
            </a:r>
          </a:p>
        </p:txBody>
      </p:sp>
      <p:sp>
        <p:nvSpPr>
          <p:cNvPr id="34" name="TextBox 33"/>
          <p:cNvSpPr txBox="1"/>
          <p:nvPr/>
        </p:nvSpPr>
        <p:spPr>
          <a:xfrm>
            <a:off x="1417320" y="5513832"/>
            <a:ext cx="9994392" cy="603504"/>
          </a:xfrm>
          <a:prstGeom prst="rect">
            <a:avLst/>
          </a:prstGeom>
          <a:noFill/>
        </p:spPr>
        <p:txBody>
          <a:bodyPr wrap="square" lIns="0" rIns="0" tIns="0" bIns="0" anchor="ctr">
            <a:noAutofit/>
          </a:bodyPr>
          <a:lstStyle/>
          <a:p>
            <a:pPr algn="l"/>
            <a:r>
              <a:rPr sz="2000" i="0">
                <a:solidFill>
                  <a:srgbClr val="FFFFFF"/>
                </a:solidFill>
                <a:latin typeface="Segoe UI Semibold"/>
              </a:rPr>
              <a:t>Add capability; retain existing subscriptions.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The Proposed Local Drafting Boundary</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Keep source documents and inference on-device; review drafts before any sharing.</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5</a:t>
            </a:r>
          </a:p>
        </p:txBody>
      </p:sp>
      <p:cxnSp>
        <p:nvCxnSpPr>
          <p:cNvPr id="10" name="Connector 9"/>
          <p:cNvCxnSpPr/>
          <p:nvPr/>
        </p:nvCxnSpPr>
        <p:spPr>
          <a:xfrm>
            <a:off x="3136697" y="3566160"/>
            <a:ext cx="647014" cy="0"/>
          </a:xfrm>
          <a:prstGeom prst="line">
            <a:avLst/>
          </a:prstGeom>
          <a:ln w="28575">
            <a:solidFill>
              <a:srgbClr val="007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817184" y="3566160"/>
            <a:ext cx="554584" cy="0"/>
          </a:xfrm>
          <a:prstGeom prst="line">
            <a:avLst/>
          </a:prstGeom>
          <a:ln w="28575">
            <a:solidFill>
              <a:srgbClr val="007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25932" y="2118360"/>
            <a:ext cx="7671740" cy="3691890"/>
          </a:xfrm>
          <a:prstGeom prst="roundRect">
            <a:avLst>
              <a:gd name="adj" fmla="val 1486"/>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103224" y="2335530"/>
            <a:ext cx="6932295" cy="361950"/>
          </a:xfrm>
          <a:prstGeom prst="rect">
            <a:avLst/>
          </a:prstGeom>
          <a:noFill/>
        </p:spPr>
        <p:txBody>
          <a:bodyPr wrap="square" lIns="0" rIns="0" tIns="0" bIns="0" anchor="t">
            <a:noAutofit/>
          </a:bodyPr>
          <a:lstStyle/>
          <a:p>
            <a:pPr algn="l"/>
            <a:r>
              <a:rPr sz="2000" i="0">
                <a:solidFill>
                  <a:srgbClr val="0078D4"/>
                </a:solidFill>
                <a:latin typeface="Segoe UI Semibold"/>
              </a:rPr>
              <a:t>On-device drafting boundary</a:t>
            </a:r>
          </a:p>
        </p:txBody>
      </p:sp>
      <p:sp>
        <p:nvSpPr>
          <p:cNvPr id="14" name="Rounded Rectangle 13"/>
          <p:cNvSpPr/>
          <p:nvPr/>
        </p:nvSpPr>
        <p:spPr>
          <a:xfrm>
            <a:off x="1195654" y="3131820"/>
            <a:ext cx="1848612" cy="868680"/>
          </a:xfrm>
          <a:prstGeom prst="roundRect">
            <a:avLst>
              <a:gd name="adj" fmla="val 6315"/>
            </a:avLst>
          </a:prstGeom>
          <a:solidFill>
            <a:srgbClr val="107C10"/>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51102" y="3327273"/>
            <a:ext cx="477774" cy="477774"/>
          </a:xfrm>
          <a:prstGeom prst="rect">
            <a:avLst/>
          </a:prstGeom>
          <a:noFill/>
        </p:spPr>
        <p:txBody>
          <a:bodyPr wrap="none" lIns="0" rIns="0" tIns="0" bIns="0" anchor="ctr">
            <a:spAutoFit/>
          </a:bodyPr>
          <a:lstStyle/>
          <a:p>
            <a:pPr algn="ctr"/>
            <a:r>
              <a:rPr sz="2332">
                <a:solidFill>
                  <a:srgbClr val="FFFFFF"/>
                </a:solidFill>
                <a:latin typeface="Segoe Fluent Icons"/>
              </a:rPr>
              <a:t></a:t>
            </a:r>
          </a:p>
        </p:txBody>
      </p:sp>
      <p:sp>
        <p:nvSpPr>
          <p:cNvPr id="16" name="TextBox 15"/>
          <p:cNvSpPr txBox="1"/>
          <p:nvPr/>
        </p:nvSpPr>
        <p:spPr>
          <a:xfrm>
            <a:off x="1947748" y="3241548"/>
            <a:ext cx="1005078" cy="649224"/>
          </a:xfrm>
          <a:prstGeom prst="rect">
            <a:avLst/>
          </a:prstGeom>
          <a:noFill/>
        </p:spPr>
        <p:txBody>
          <a:bodyPr wrap="square" lIns="0" rIns="0" tIns="0" bIns="0" anchor="ctr">
            <a:noAutofit/>
          </a:bodyPr>
          <a:lstStyle/>
          <a:p>
            <a:pPr algn="l"/>
            <a:r>
              <a:rPr sz="1600" i="0">
                <a:solidFill>
                  <a:srgbClr val="FFFFFF"/>
                </a:solidFill>
                <a:latin typeface="Segoe UI Semibold"/>
              </a:rPr>
              <a:t>Approved local files</a:t>
            </a:r>
          </a:p>
        </p:txBody>
      </p:sp>
      <p:sp>
        <p:nvSpPr>
          <p:cNvPr id="17" name="Rounded Rectangle 16"/>
          <p:cNvSpPr/>
          <p:nvPr/>
        </p:nvSpPr>
        <p:spPr>
          <a:xfrm>
            <a:off x="3876142" y="3131820"/>
            <a:ext cx="1848612" cy="868680"/>
          </a:xfrm>
          <a:prstGeom prst="roundRect">
            <a:avLst>
              <a:gd name="adj" fmla="val 6315"/>
            </a:avLst>
          </a:prstGeom>
          <a:solidFill>
            <a:srgbClr val="0078D4"/>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031590" y="3327273"/>
            <a:ext cx="477774" cy="477774"/>
          </a:xfrm>
          <a:prstGeom prst="rect">
            <a:avLst/>
          </a:prstGeom>
          <a:noFill/>
        </p:spPr>
        <p:txBody>
          <a:bodyPr wrap="none" lIns="0" rIns="0" tIns="0" bIns="0" anchor="ctr">
            <a:spAutoFit/>
          </a:bodyPr>
          <a:lstStyle/>
          <a:p>
            <a:pPr algn="ctr"/>
            <a:r>
              <a:rPr sz="2332">
                <a:solidFill>
                  <a:srgbClr val="FFFFFF"/>
                </a:solidFill>
                <a:latin typeface="Segoe Fluent Icons"/>
              </a:rPr>
              <a:t></a:t>
            </a:r>
          </a:p>
        </p:txBody>
      </p:sp>
      <p:sp>
        <p:nvSpPr>
          <p:cNvPr id="19" name="TextBox 18"/>
          <p:cNvSpPr txBox="1"/>
          <p:nvPr/>
        </p:nvSpPr>
        <p:spPr>
          <a:xfrm>
            <a:off x="4628236" y="3241548"/>
            <a:ext cx="1005078" cy="649224"/>
          </a:xfrm>
          <a:prstGeom prst="rect">
            <a:avLst/>
          </a:prstGeom>
          <a:noFill/>
        </p:spPr>
        <p:txBody>
          <a:bodyPr wrap="square" lIns="0" rIns="0" tIns="0" bIns="0" anchor="ctr">
            <a:noAutofit/>
          </a:bodyPr>
          <a:lstStyle/>
          <a:p>
            <a:pPr algn="l"/>
            <a:r>
              <a:rPr sz="1600" i="0">
                <a:solidFill>
                  <a:srgbClr val="FFFFFF"/>
                </a:solidFill>
                <a:latin typeface="Segoe UI Semibold"/>
              </a:rPr>
              <a:t>Local model</a:t>
            </a:r>
          </a:p>
        </p:txBody>
      </p:sp>
      <p:sp>
        <p:nvSpPr>
          <p:cNvPr id="20" name="Rounded Rectangle 19"/>
          <p:cNvSpPr/>
          <p:nvPr/>
        </p:nvSpPr>
        <p:spPr>
          <a:xfrm>
            <a:off x="6464198" y="3131820"/>
            <a:ext cx="1756181" cy="868680"/>
          </a:xfrm>
          <a:prstGeom prst="roundRect">
            <a:avLst>
              <a:gd name="adj" fmla="val 6315"/>
            </a:avLst>
          </a:prstGeom>
          <a:solidFill>
            <a:srgbClr val="D83B01"/>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619646" y="3327273"/>
            <a:ext cx="477774" cy="477774"/>
          </a:xfrm>
          <a:prstGeom prst="rect">
            <a:avLst/>
          </a:prstGeom>
          <a:noFill/>
        </p:spPr>
        <p:txBody>
          <a:bodyPr wrap="none" lIns="0" rIns="0" tIns="0" bIns="0" anchor="ctr">
            <a:spAutoFit/>
          </a:bodyPr>
          <a:lstStyle/>
          <a:p>
            <a:pPr algn="ctr"/>
            <a:r>
              <a:rPr sz="2332">
                <a:solidFill>
                  <a:srgbClr val="FFFFFF"/>
                </a:solidFill>
                <a:latin typeface="Segoe Fluent Icons"/>
              </a:rPr>
              <a:t></a:t>
            </a:r>
          </a:p>
        </p:txBody>
      </p:sp>
      <p:sp>
        <p:nvSpPr>
          <p:cNvPr id="22" name="TextBox 21"/>
          <p:cNvSpPr txBox="1"/>
          <p:nvPr/>
        </p:nvSpPr>
        <p:spPr>
          <a:xfrm>
            <a:off x="7216292" y="3241548"/>
            <a:ext cx="912647" cy="649224"/>
          </a:xfrm>
          <a:prstGeom prst="rect">
            <a:avLst/>
          </a:prstGeom>
          <a:noFill/>
        </p:spPr>
        <p:txBody>
          <a:bodyPr wrap="square" lIns="0" rIns="0" tIns="0" bIns="0" anchor="ctr">
            <a:noAutofit/>
          </a:bodyPr>
          <a:lstStyle/>
          <a:p>
            <a:pPr algn="l"/>
            <a:r>
              <a:rPr sz="1600" i="0">
                <a:solidFill>
                  <a:srgbClr val="FFFFFF"/>
                </a:solidFill>
                <a:latin typeface="Segoe UI Semibold"/>
              </a:rPr>
              <a:t>Review draft</a:t>
            </a:r>
          </a:p>
        </p:txBody>
      </p:sp>
      <p:sp>
        <p:nvSpPr>
          <p:cNvPr id="23" name="Rounded Rectangle 22"/>
          <p:cNvSpPr/>
          <p:nvPr/>
        </p:nvSpPr>
        <p:spPr>
          <a:xfrm>
            <a:off x="2674544" y="4507230"/>
            <a:ext cx="4251808" cy="579120"/>
          </a:xfrm>
          <a:prstGeom prst="roundRect">
            <a:avLst>
              <a:gd name="adj" fmla="val 50000"/>
            </a:avLst>
          </a:prstGeom>
          <a:solidFill>
            <a:srgbClr val="FFB900"/>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829992" y="4637532"/>
            <a:ext cx="318516" cy="318516"/>
          </a:xfrm>
          <a:prstGeom prst="rect">
            <a:avLst/>
          </a:prstGeom>
          <a:noFill/>
        </p:spPr>
        <p:txBody>
          <a:bodyPr wrap="none" lIns="0" rIns="0" tIns="0" bIns="0" anchor="ctr">
            <a:spAutoFit/>
          </a:bodyPr>
          <a:lstStyle/>
          <a:p>
            <a:pPr algn="ctr"/>
            <a:r>
              <a:rPr sz="1554">
                <a:solidFill>
                  <a:srgbClr val="FFFFFF"/>
                </a:solidFill>
                <a:latin typeface="Segoe Fluent Icons"/>
              </a:rPr>
              <a:t></a:t>
            </a:r>
          </a:p>
        </p:txBody>
      </p:sp>
      <p:sp>
        <p:nvSpPr>
          <p:cNvPr id="25" name="TextBox 24"/>
          <p:cNvSpPr txBox="1"/>
          <p:nvPr/>
        </p:nvSpPr>
        <p:spPr>
          <a:xfrm>
            <a:off x="3267380" y="4616958"/>
            <a:ext cx="3567532" cy="359664"/>
          </a:xfrm>
          <a:prstGeom prst="rect">
            <a:avLst/>
          </a:prstGeom>
          <a:noFill/>
        </p:spPr>
        <p:txBody>
          <a:bodyPr wrap="square" lIns="0" rIns="0" tIns="0" bIns="0" anchor="ctr">
            <a:noAutofit/>
          </a:bodyPr>
          <a:lstStyle/>
          <a:p>
            <a:pPr algn="l"/>
            <a:r>
              <a:rPr sz="1600" i="0">
                <a:solidFill>
                  <a:srgbClr val="FFFFFF"/>
                </a:solidFill>
                <a:latin typeface="Segoe UI Semibold"/>
              </a:rPr>
              <a:t>NVIDIA RTX Spark</a:t>
            </a:r>
          </a:p>
        </p:txBody>
      </p:sp>
      <p:sp>
        <p:nvSpPr>
          <p:cNvPr id="26" name="TextBox 25"/>
          <p:cNvSpPr txBox="1"/>
          <p:nvPr/>
        </p:nvSpPr>
        <p:spPr>
          <a:xfrm>
            <a:off x="1195654" y="5303520"/>
            <a:ext cx="6839864" cy="289560"/>
          </a:xfrm>
          <a:prstGeom prst="rect">
            <a:avLst/>
          </a:prstGeom>
          <a:noFill/>
        </p:spPr>
        <p:txBody>
          <a:bodyPr wrap="square" lIns="0" rIns="0" tIns="0" bIns="0" anchor="t">
            <a:noAutofit/>
          </a:bodyPr>
          <a:lstStyle/>
          <a:p>
            <a:pPr algn="l"/>
            <a:r>
              <a:rPr sz="1400" i="0">
                <a:solidFill>
                  <a:srgbClr val="1B1B1B"/>
                </a:solidFill>
                <a:latin typeface="Segoe UI"/>
              </a:rPr>
              <a:t>Validate disconnected use</a:t>
            </a:r>
          </a:p>
        </p:txBody>
      </p:sp>
      <p:sp>
        <p:nvSpPr>
          <p:cNvPr id="27" name="Rounded Rectangle 26"/>
          <p:cNvSpPr/>
          <p:nvPr/>
        </p:nvSpPr>
        <p:spPr>
          <a:xfrm>
            <a:off x="8867394" y="3059430"/>
            <a:ext cx="2495626" cy="1085850"/>
          </a:xfrm>
          <a:prstGeom prst="roundRect">
            <a:avLst>
              <a:gd name="adj" fmla="val 5052"/>
            </a:avLst>
          </a:prstGeom>
          <a:solidFill>
            <a:srgbClr val="5C2D91"/>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022842" y="3350895"/>
            <a:ext cx="502920" cy="502920"/>
          </a:xfrm>
          <a:prstGeom prst="rect">
            <a:avLst/>
          </a:prstGeom>
          <a:noFill/>
        </p:spPr>
        <p:txBody>
          <a:bodyPr wrap="none" lIns="0" rIns="0" tIns="0" bIns="0" anchor="ctr">
            <a:spAutoFit/>
          </a:bodyPr>
          <a:lstStyle/>
          <a:p>
            <a:pPr algn="ctr"/>
            <a:r>
              <a:rPr sz="2455">
                <a:solidFill>
                  <a:srgbClr val="FFFFFF"/>
                </a:solidFill>
                <a:latin typeface="Segoe Fluent Icons"/>
              </a:rPr>
              <a:t></a:t>
            </a:r>
          </a:p>
        </p:txBody>
      </p:sp>
      <p:sp>
        <p:nvSpPr>
          <p:cNvPr id="29" name="TextBox 28"/>
          <p:cNvSpPr txBox="1"/>
          <p:nvPr/>
        </p:nvSpPr>
        <p:spPr>
          <a:xfrm>
            <a:off x="9644634" y="3169158"/>
            <a:ext cx="1626946" cy="866394"/>
          </a:xfrm>
          <a:prstGeom prst="rect">
            <a:avLst/>
          </a:prstGeom>
          <a:noFill/>
        </p:spPr>
        <p:txBody>
          <a:bodyPr wrap="square" lIns="0" rIns="0" tIns="0" bIns="0" anchor="ctr">
            <a:noAutofit/>
          </a:bodyPr>
          <a:lstStyle/>
          <a:p>
            <a:pPr algn="l"/>
            <a:r>
              <a:rPr sz="1600" i="0">
                <a:solidFill>
                  <a:srgbClr val="FFFFFF"/>
                </a:solidFill>
                <a:latin typeface="Segoe UI Semibold"/>
              </a:rPr>
              <a:t>Microsoft 365 Copilot</a:t>
            </a:r>
          </a:p>
        </p:txBody>
      </p:sp>
      <p:sp>
        <p:nvSpPr>
          <p:cNvPr id="30" name="TextBox 29"/>
          <p:cNvSpPr txBox="1"/>
          <p:nvPr/>
        </p:nvSpPr>
        <p:spPr>
          <a:xfrm>
            <a:off x="8867394" y="4434840"/>
            <a:ext cx="2495626" cy="651510"/>
          </a:xfrm>
          <a:prstGeom prst="rect">
            <a:avLst/>
          </a:prstGeom>
          <a:noFill/>
        </p:spPr>
        <p:txBody>
          <a:bodyPr wrap="square" lIns="0" rIns="0" tIns="0" bIns="0" anchor="t">
            <a:noAutofit/>
          </a:bodyPr>
          <a:lstStyle/>
          <a:p>
            <a:pPr algn="l"/>
            <a:r>
              <a:rPr sz="1400" i="0">
                <a:solidFill>
                  <a:srgbClr val="1B1B1B"/>
                </a:solidFill>
                <a:latin typeface="Segoe UI"/>
              </a:rPr>
              <a:t>Separate existing lane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Surface Laptop Ultra Powers Local Drafting</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NVIDIA RTX Spark provides the device foundation; the pilot tests workflow suitability.</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6</a:t>
            </a:r>
          </a:p>
        </p:txBody>
      </p:sp>
      <p:sp>
        <p:nvSpPr>
          <p:cNvPr id="10" name="Rounded Rectangle 9"/>
          <p:cNvSpPr/>
          <p:nvPr/>
        </p:nvSpPr>
        <p:spPr>
          <a:xfrm>
            <a:off x="548640" y="1888236"/>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40080" y="1979676"/>
            <a:ext cx="777240" cy="777240"/>
          </a:xfrm>
          <a:prstGeom prst="roundRect">
            <a:avLst>
              <a:gd name="adj" fmla="val 14117"/>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9983" y="2119579"/>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13" name="TextBox 12"/>
          <p:cNvSpPr txBox="1"/>
          <p:nvPr/>
        </p:nvSpPr>
        <p:spPr>
          <a:xfrm>
            <a:off x="1618488" y="1961388"/>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Consultant workspace</a:t>
            </a:r>
          </a:p>
        </p:txBody>
      </p:sp>
      <p:sp>
        <p:nvSpPr>
          <p:cNvPr id="14" name="TextBox 13"/>
          <p:cNvSpPr txBox="1"/>
          <p:nvPr/>
        </p:nvSpPr>
        <p:spPr>
          <a:xfrm>
            <a:off x="4773168" y="1961388"/>
            <a:ext cx="4855464" cy="813816"/>
          </a:xfrm>
          <a:prstGeom prst="rect">
            <a:avLst/>
          </a:prstGeom>
          <a:noFill/>
        </p:spPr>
        <p:txBody>
          <a:bodyPr wrap="square" lIns="0" rIns="0" tIns="0" bIns="0" anchor="ctr">
            <a:noAutofit/>
          </a:bodyPr>
          <a:lstStyle/>
          <a:p>
            <a:pPr algn="l"/>
            <a:r>
              <a:rPr sz="1600" i="0">
                <a:solidFill>
                  <a:srgbClr val="505050"/>
                </a:solidFill>
                <a:latin typeface="Segoe UI"/>
              </a:rPr>
              <a:t>Approved documents, local drafts, human review</a:t>
            </a:r>
          </a:p>
        </p:txBody>
      </p:sp>
      <p:sp>
        <p:nvSpPr>
          <p:cNvPr id="15" name="Rounded Rectangle 14"/>
          <p:cNvSpPr/>
          <p:nvPr/>
        </p:nvSpPr>
        <p:spPr>
          <a:xfrm>
            <a:off x="548640" y="2976372"/>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640080" y="3067812"/>
            <a:ext cx="777240" cy="777240"/>
          </a:xfrm>
          <a:prstGeom prst="roundRect">
            <a:avLst>
              <a:gd name="adj" fmla="val 14117"/>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9983" y="3207715"/>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18" name="TextBox 17"/>
          <p:cNvSpPr txBox="1"/>
          <p:nvPr/>
        </p:nvSpPr>
        <p:spPr>
          <a:xfrm>
            <a:off x="1618488" y="3049524"/>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Local model catalog</a:t>
            </a:r>
          </a:p>
        </p:txBody>
      </p:sp>
      <p:sp>
        <p:nvSpPr>
          <p:cNvPr id="19" name="TextBox 18"/>
          <p:cNvSpPr txBox="1"/>
          <p:nvPr/>
        </p:nvSpPr>
        <p:spPr>
          <a:xfrm>
            <a:off x="4773168" y="3049524"/>
            <a:ext cx="4855464" cy="813816"/>
          </a:xfrm>
          <a:prstGeom prst="rect">
            <a:avLst/>
          </a:prstGeom>
          <a:noFill/>
        </p:spPr>
        <p:txBody>
          <a:bodyPr wrap="square" lIns="0" rIns="0" tIns="0" bIns="0" anchor="ctr">
            <a:noAutofit/>
          </a:bodyPr>
          <a:lstStyle/>
          <a:p>
            <a:pPr algn="l"/>
            <a:r>
              <a:rPr sz="1600" i="0">
                <a:solidFill>
                  <a:srgbClr val="505050"/>
                </a:solidFill>
                <a:latin typeface="Segoe UI"/>
              </a:rPr>
              <a:t>28 open models installed</a:t>
            </a:r>
          </a:p>
        </p:txBody>
      </p:sp>
      <p:sp>
        <p:nvSpPr>
          <p:cNvPr id="20" name="Rounded Rectangle 19"/>
          <p:cNvSpPr/>
          <p:nvPr/>
        </p:nvSpPr>
        <p:spPr>
          <a:xfrm>
            <a:off x="548640" y="4064508"/>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0080" y="4155948"/>
            <a:ext cx="777240" cy="777240"/>
          </a:xfrm>
          <a:prstGeom prst="roundRect">
            <a:avLst>
              <a:gd name="adj" fmla="val 14117"/>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79983" y="4295851"/>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23" name="TextBox 22"/>
          <p:cNvSpPr txBox="1"/>
          <p:nvPr/>
        </p:nvSpPr>
        <p:spPr>
          <a:xfrm>
            <a:off x="1618488" y="4137660"/>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NVIDIA RTX Spark</a:t>
            </a:r>
          </a:p>
        </p:txBody>
      </p:sp>
      <p:sp>
        <p:nvSpPr>
          <p:cNvPr id="24" name="TextBox 23"/>
          <p:cNvSpPr txBox="1"/>
          <p:nvPr/>
        </p:nvSpPr>
        <p:spPr>
          <a:xfrm>
            <a:off x="4773168" y="4137660"/>
            <a:ext cx="4855464" cy="813816"/>
          </a:xfrm>
          <a:prstGeom prst="rect">
            <a:avLst/>
          </a:prstGeom>
          <a:noFill/>
        </p:spPr>
        <p:txBody>
          <a:bodyPr wrap="square" lIns="0" rIns="0" tIns="0" bIns="0" anchor="ctr">
            <a:noAutofit/>
          </a:bodyPr>
          <a:lstStyle/>
          <a:p>
            <a:pPr algn="l"/>
            <a:r>
              <a:rPr sz="1600" i="0">
                <a:solidFill>
                  <a:srgbClr val="505050"/>
                </a:solidFill>
                <a:latin typeface="Segoe UI"/>
              </a:rPr>
              <a:t>Blackwell RTX GPU</a:t>
            </a:r>
          </a:p>
        </p:txBody>
      </p:sp>
      <p:sp>
        <p:nvSpPr>
          <p:cNvPr id="25" name="Rounded Rectangle 24"/>
          <p:cNvSpPr/>
          <p:nvPr/>
        </p:nvSpPr>
        <p:spPr>
          <a:xfrm>
            <a:off x="548640" y="5152644"/>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40080" y="5244084"/>
            <a:ext cx="777240" cy="777240"/>
          </a:xfrm>
          <a:prstGeom prst="roundRect">
            <a:avLst>
              <a:gd name="adj" fmla="val 14117"/>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9983" y="5383987"/>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28" name="TextBox 27"/>
          <p:cNvSpPr txBox="1"/>
          <p:nvPr/>
        </p:nvSpPr>
        <p:spPr>
          <a:xfrm>
            <a:off x="1618488" y="5225796"/>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Compute and memory</a:t>
            </a:r>
          </a:p>
        </p:txBody>
      </p:sp>
      <p:sp>
        <p:nvSpPr>
          <p:cNvPr id="29" name="TextBox 28"/>
          <p:cNvSpPr txBox="1"/>
          <p:nvPr/>
        </p:nvSpPr>
        <p:spPr>
          <a:xfrm>
            <a:off x="4773168" y="5225796"/>
            <a:ext cx="4855464" cy="813816"/>
          </a:xfrm>
          <a:prstGeom prst="rect">
            <a:avLst/>
          </a:prstGeom>
          <a:noFill/>
        </p:spPr>
        <p:txBody>
          <a:bodyPr wrap="square" lIns="0" rIns="0" tIns="0" bIns="0" anchor="ctr">
            <a:noAutofit/>
          </a:bodyPr>
          <a:lstStyle/>
          <a:p>
            <a:pPr algn="l"/>
            <a:r>
              <a:rPr sz="1600" i="0">
                <a:solidFill>
                  <a:srgbClr val="505050"/>
                </a:solidFill>
                <a:latin typeface="Segoe UI"/>
              </a:rPr>
              <a:t>20 CPU cores; 128 GB installed memory</a:t>
            </a:r>
          </a:p>
        </p:txBody>
      </p:sp>
      <p:sp>
        <p:nvSpPr>
          <p:cNvPr id="30" name="Rectangle 29"/>
          <p:cNvSpPr/>
          <p:nvPr/>
        </p:nvSpPr>
        <p:spPr>
          <a:xfrm>
            <a:off x="10085832" y="1888236"/>
            <a:ext cx="73152" cy="422452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10314432" y="3314700"/>
            <a:ext cx="1325880" cy="1371600"/>
          </a:xfrm>
          <a:prstGeom prst="roundRect">
            <a:avLst>
              <a:gd name="adj" fmla="val 4137"/>
            </a:avLst>
          </a:prstGeom>
          <a:solidFill>
            <a:srgbClr val="D9EBF9"/>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387584" y="3360420"/>
            <a:ext cx="1179576" cy="1280160"/>
          </a:xfrm>
          <a:prstGeom prst="rect">
            <a:avLst/>
          </a:prstGeom>
          <a:noFill/>
        </p:spPr>
        <p:txBody>
          <a:bodyPr wrap="square" lIns="0" rIns="0" tIns="0" bIns="0" anchor="ctr">
            <a:noAutofit/>
          </a:bodyPr>
          <a:lstStyle/>
          <a:p>
            <a:pPr algn="ctr"/>
            <a:r>
              <a:rPr sz="1700" i="0">
                <a:solidFill>
                  <a:srgbClr val="1B1B1B"/>
                </a:solidFill>
                <a:latin typeface="Segoe UI Semibold"/>
              </a:rPr>
              <a:t>Device foundation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Illustrative Capacity, Not Proven Savings</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The annual capacity estimate is unvalidated; the pilot measures actual task-time change.</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7</a:t>
            </a:r>
          </a:p>
        </p:txBody>
      </p:sp>
      <p:sp>
        <p:nvSpPr>
          <p:cNvPr id="10" name="Rounded Rectangle 9"/>
          <p:cNvSpPr/>
          <p:nvPr/>
        </p:nvSpPr>
        <p:spPr>
          <a:xfrm>
            <a:off x="548640" y="2217420"/>
            <a:ext cx="5385816" cy="3566160"/>
          </a:xfrm>
          <a:prstGeom prst="roundRect">
            <a:avLst>
              <a:gd name="adj" fmla="val 1538"/>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48640" y="2217420"/>
            <a:ext cx="5385816" cy="8229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32104" y="2546604"/>
            <a:ext cx="713232" cy="71323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1956"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14" name="TextBox 13"/>
          <p:cNvSpPr txBox="1"/>
          <p:nvPr/>
        </p:nvSpPr>
        <p:spPr>
          <a:xfrm>
            <a:off x="822960" y="3406140"/>
            <a:ext cx="4837176" cy="1234440"/>
          </a:xfrm>
          <a:prstGeom prst="rect">
            <a:avLst/>
          </a:prstGeom>
          <a:noFill/>
        </p:spPr>
        <p:txBody>
          <a:bodyPr wrap="square" lIns="0" rIns="0" tIns="0" bIns="0" anchor="ctr">
            <a:noAutofit/>
          </a:bodyPr>
          <a:lstStyle/>
          <a:p>
            <a:pPr algn="l"/>
            <a:r>
              <a:rPr sz="6000" i="0">
                <a:solidFill>
                  <a:srgbClr val="0078D4"/>
                </a:solidFill>
                <a:latin typeface="Segoe UI Semibold"/>
              </a:rPr>
              <a:t>5 minutes</a:t>
            </a:r>
          </a:p>
        </p:txBody>
      </p:sp>
      <p:sp>
        <p:nvSpPr>
          <p:cNvPr id="15" name="TextBox 14"/>
          <p:cNvSpPr txBox="1"/>
          <p:nvPr/>
        </p:nvSpPr>
        <p:spPr>
          <a:xfrm>
            <a:off x="822960" y="4640580"/>
            <a:ext cx="4837176" cy="731520"/>
          </a:xfrm>
          <a:prstGeom prst="rect">
            <a:avLst/>
          </a:prstGeom>
          <a:noFill/>
        </p:spPr>
        <p:txBody>
          <a:bodyPr wrap="square" lIns="0" rIns="0" tIns="0" bIns="0" anchor="t">
            <a:noAutofit/>
          </a:bodyPr>
          <a:lstStyle/>
          <a:p>
            <a:pPr algn="l"/>
            <a:r>
              <a:rPr sz="1700" i="0">
                <a:solidFill>
                  <a:srgbClr val="1B1B1B"/>
                </a:solidFill>
                <a:latin typeface="Segoe UI"/>
              </a:rPr>
              <a:t>Assumed time saved</a:t>
            </a:r>
          </a:p>
        </p:txBody>
      </p:sp>
      <p:sp>
        <p:nvSpPr>
          <p:cNvPr id="16" name="TextBox 15"/>
          <p:cNvSpPr txBox="1"/>
          <p:nvPr/>
        </p:nvSpPr>
        <p:spPr>
          <a:xfrm>
            <a:off x="822960" y="5372100"/>
            <a:ext cx="4837176" cy="320040"/>
          </a:xfrm>
          <a:prstGeom prst="rect">
            <a:avLst/>
          </a:prstGeom>
          <a:noFill/>
        </p:spPr>
        <p:txBody>
          <a:bodyPr wrap="square" lIns="0" rIns="0" tIns="0" bIns="0" anchor="t">
            <a:noAutofit/>
          </a:bodyPr>
          <a:lstStyle/>
          <a:p>
            <a:pPr algn="l"/>
            <a:r>
              <a:rPr sz="1000" i="0">
                <a:solidFill>
                  <a:srgbClr val="8A8A8A"/>
                </a:solidFill>
                <a:latin typeface="Segoe UI"/>
              </a:rPr>
              <a:t>Brief: illustrative assumption per summary, not measured.</a:t>
            </a:r>
          </a:p>
        </p:txBody>
      </p:sp>
      <p:sp>
        <p:nvSpPr>
          <p:cNvPr id="17" name="Rounded Rectangle 16"/>
          <p:cNvSpPr/>
          <p:nvPr/>
        </p:nvSpPr>
        <p:spPr>
          <a:xfrm>
            <a:off x="6254496" y="2217420"/>
            <a:ext cx="5385816" cy="3566160"/>
          </a:xfrm>
          <a:prstGeom prst="roundRect">
            <a:avLst>
              <a:gd name="adj" fmla="val 1538"/>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54496" y="2217420"/>
            <a:ext cx="5385816" cy="82296"/>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537960" y="2546604"/>
            <a:ext cx="713232" cy="713232"/>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637812"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21" name="TextBox 20"/>
          <p:cNvSpPr txBox="1"/>
          <p:nvPr/>
        </p:nvSpPr>
        <p:spPr>
          <a:xfrm>
            <a:off x="6528816" y="3406140"/>
            <a:ext cx="4837176" cy="1234440"/>
          </a:xfrm>
          <a:prstGeom prst="rect">
            <a:avLst/>
          </a:prstGeom>
          <a:noFill/>
        </p:spPr>
        <p:txBody>
          <a:bodyPr wrap="square" lIns="0" rIns="0" tIns="0" bIns="0" anchor="ctr">
            <a:noAutofit/>
          </a:bodyPr>
          <a:lstStyle/>
          <a:p>
            <a:pPr algn="l"/>
            <a:r>
              <a:rPr sz="4600" i="0">
                <a:solidFill>
                  <a:srgbClr val="107C10"/>
                </a:solidFill>
                <a:latin typeface="Segoe UI Semibold"/>
              </a:rPr>
              <a:t>27,600 hours/year</a:t>
            </a:r>
          </a:p>
        </p:txBody>
      </p:sp>
      <p:sp>
        <p:nvSpPr>
          <p:cNvPr id="22" name="TextBox 21"/>
          <p:cNvSpPr txBox="1"/>
          <p:nvPr/>
        </p:nvSpPr>
        <p:spPr>
          <a:xfrm>
            <a:off x="6528816" y="4640580"/>
            <a:ext cx="4837176" cy="731520"/>
          </a:xfrm>
          <a:prstGeom prst="rect">
            <a:avLst/>
          </a:prstGeom>
          <a:noFill/>
        </p:spPr>
        <p:txBody>
          <a:bodyPr wrap="square" lIns="0" rIns="0" tIns="0" bIns="0" anchor="t">
            <a:noAutofit/>
          </a:bodyPr>
          <a:lstStyle/>
          <a:p>
            <a:pPr algn="l"/>
            <a:r>
              <a:rPr sz="1700" i="0">
                <a:solidFill>
                  <a:srgbClr val="1B1B1B"/>
                </a:solidFill>
                <a:latin typeface="Segoe UI"/>
              </a:rPr>
              <a:t>Estimate to validate</a:t>
            </a:r>
          </a:p>
        </p:txBody>
      </p:sp>
      <p:sp>
        <p:nvSpPr>
          <p:cNvPr id="23" name="TextBox 22"/>
          <p:cNvSpPr txBox="1"/>
          <p:nvPr/>
        </p:nvSpPr>
        <p:spPr>
          <a:xfrm>
            <a:off x="6528816" y="5372100"/>
            <a:ext cx="4837176" cy="320040"/>
          </a:xfrm>
          <a:prstGeom prst="rect">
            <a:avLst/>
          </a:prstGeom>
          <a:noFill/>
        </p:spPr>
        <p:txBody>
          <a:bodyPr wrap="square" lIns="0" rIns="0" tIns="0" bIns="0" anchor="t">
            <a:noAutofit/>
          </a:bodyPr>
          <a:lstStyle/>
          <a:p>
            <a:pPr algn="l"/>
            <a:r>
              <a:rPr sz="1000" i="0">
                <a:solidFill>
                  <a:srgbClr val="8A8A8A"/>
                </a:solidFill>
                <a:latin typeface="Segoe UI"/>
              </a:rPr>
              <a:t>Brief: unvalidated illustrative annual capacity estimate.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A Junior Drafter, Not the Signatory</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The assistant prepares material; the consultant remains responsible for the client-ready summary.</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8</a:t>
            </a:r>
          </a:p>
        </p:txBody>
      </p:sp>
      <p:sp>
        <p:nvSpPr>
          <p:cNvPr id="10" name="Oval 9"/>
          <p:cNvSpPr/>
          <p:nvPr/>
        </p:nvSpPr>
        <p:spPr>
          <a:xfrm>
            <a:off x="617220" y="1851660"/>
            <a:ext cx="960120" cy="96012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2" name="TextBox 11"/>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1B1B1B"/>
                </a:solidFill>
                <a:latin typeface="Segoe UI Semibold"/>
              </a:rPr>
              <a:t>AI drafting workflow</a:t>
            </a:r>
          </a:p>
        </p:txBody>
      </p:sp>
      <p:sp>
        <p:nvSpPr>
          <p:cNvPr id="13" name="Oval 12"/>
          <p:cNvSpPr/>
          <p:nvPr/>
        </p:nvSpPr>
        <p:spPr>
          <a:xfrm>
            <a:off x="10611612" y="1851660"/>
            <a:ext cx="960120" cy="96012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5" name="TextBox 14"/>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1B1B1B"/>
                </a:solidFill>
                <a:latin typeface="Segoe UI Semibold"/>
              </a:rPr>
              <a:t>Consulting review team</a:t>
            </a:r>
          </a:p>
        </p:txBody>
      </p:sp>
      <p:sp>
        <p:nvSpPr>
          <p:cNvPr id="16" name="TextBox 15"/>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8A8A8A"/>
                </a:solidFill>
                <a:latin typeface="Segoe UI"/>
              </a:rPr>
              <a:t>is like</a:t>
            </a:r>
          </a:p>
        </p:txBody>
      </p:sp>
      <p:sp>
        <p:nvSpPr>
          <p:cNvPr id="17" name="Rounded Rectangle 16"/>
          <p:cNvSpPr/>
          <p:nvPr/>
        </p:nvSpPr>
        <p:spPr>
          <a:xfrm>
            <a:off x="548640" y="3108960"/>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60" y="3145536"/>
            <a:ext cx="4311396" cy="610362"/>
          </a:xfrm>
          <a:prstGeom prst="rect">
            <a:avLst/>
          </a:prstGeom>
          <a:noFill/>
        </p:spPr>
        <p:txBody>
          <a:bodyPr wrap="square" lIns="0" rIns="0" tIns="0" bIns="0" anchor="ctr">
            <a:noAutofit/>
          </a:bodyPr>
          <a:lstStyle/>
          <a:p>
            <a:pPr algn="ctr"/>
            <a:r>
              <a:rPr sz="1700" i="0">
                <a:solidFill>
                  <a:srgbClr val="1B1B1B"/>
                </a:solidFill>
                <a:latin typeface="Segoe UI"/>
              </a:rPr>
              <a:t>Approved source documents</a:t>
            </a:r>
          </a:p>
        </p:txBody>
      </p:sp>
      <p:cxnSp>
        <p:nvCxnSpPr>
          <p:cNvPr id="19" name="Connector 18"/>
          <p:cNvCxnSpPr/>
          <p:nvPr/>
        </p:nvCxnSpPr>
        <p:spPr>
          <a:xfrm>
            <a:off x="5481828" y="3450717"/>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80276" y="3108960"/>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54596" y="3145536"/>
            <a:ext cx="4311396" cy="610362"/>
          </a:xfrm>
          <a:prstGeom prst="rect">
            <a:avLst/>
          </a:prstGeom>
          <a:noFill/>
        </p:spPr>
        <p:txBody>
          <a:bodyPr wrap="square" lIns="0" rIns="0" tIns="0" bIns="0" anchor="ctr">
            <a:noAutofit/>
          </a:bodyPr>
          <a:lstStyle/>
          <a:p>
            <a:pPr algn="ctr"/>
            <a:r>
              <a:rPr sz="1700" i="0">
                <a:solidFill>
                  <a:srgbClr val="1B1B1B"/>
                </a:solidFill>
                <a:latin typeface="Segoe UI"/>
              </a:rPr>
              <a:t>Interview evidence</a:t>
            </a:r>
          </a:p>
        </p:txBody>
      </p:sp>
      <p:sp>
        <p:nvSpPr>
          <p:cNvPr id="22" name="Rounded Rectangle 21"/>
          <p:cNvSpPr/>
          <p:nvPr/>
        </p:nvSpPr>
        <p:spPr>
          <a:xfrm>
            <a:off x="548640" y="3902202"/>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960" y="3938778"/>
            <a:ext cx="4311396" cy="610362"/>
          </a:xfrm>
          <a:prstGeom prst="rect">
            <a:avLst/>
          </a:prstGeom>
          <a:noFill/>
        </p:spPr>
        <p:txBody>
          <a:bodyPr wrap="square" lIns="0" rIns="0" tIns="0" bIns="0" anchor="ctr">
            <a:noAutofit/>
          </a:bodyPr>
          <a:lstStyle/>
          <a:p>
            <a:pPr algn="ctr"/>
            <a:r>
              <a:rPr sz="1700" i="0">
                <a:solidFill>
                  <a:srgbClr val="1B1B1B"/>
                </a:solidFill>
                <a:latin typeface="Segoe UI"/>
              </a:rPr>
              <a:t>Generated first draft</a:t>
            </a:r>
          </a:p>
        </p:txBody>
      </p:sp>
      <p:cxnSp>
        <p:nvCxnSpPr>
          <p:cNvPr id="24" name="Connector 23"/>
          <p:cNvCxnSpPr/>
          <p:nvPr/>
        </p:nvCxnSpPr>
        <p:spPr>
          <a:xfrm>
            <a:off x="5481828" y="4243959"/>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780276" y="3902202"/>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54596" y="3938778"/>
            <a:ext cx="4311396" cy="610362"/>
          </a:xfrm>
          <a:prstGeom prst="rect">
            <a:avLst/>
          </a:prstGeom>
          <a:noFill/>
        </p:spPr>
        <p:txBody>
          <a:bodyPr wrap="square" lIns="0" rIns="0" tIns="0" bIns="0" anchor="ctr">
            <a:noAutofit/>
          </a:bodyPr>
          <a:lstStyle/>
          <a:p>
            <a:pPr algn="ctr"/>
            <a:r>
              <a:rPr sz="1700" i="0">
                <a:solidFill>
                  <a:srgbClr val="1B1B1B"/>
                </a:solidFill>
                <a:latin typeface="Segoe UI"/>
              </a:rPr>
              <a:t>Junior colleague's draft</a:t>
            </a:r>
          </a:p>
        </p:txBody>
      </p:sp>
      <p:sp>
        <p:nvSpPr>
          <p:cNvPr id="27" name="Rounded Rectangle 26"/>
          <p:cNvSpPr/>
          <p:nvPr/>
        </p:nvSpPr>
        <p:spPr>
          <a:xfrm>
            <a:off x="548640" y="4695444"/>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4732020"/>
            <a:ext cx="4311396" cy="610362"/>
          </a:xfrm>
          <a:prstGeom prst="rect">
            <a:avLst/>
          </a:prstGeom>
          <a:noFill/>
        </p:spPr>
        <p:txBody>
          <a:bodyPr wrap="square" lIns="0" rIns="0" tIns="0" bIns="0" anchor="ctr">
            <a:noAutofit/>
          </a:bodyPr>
          <a:lstStyle/>
          <a:p>
            <a:pPr algn="ctr"/>
            <a:r>
              <a:rPr sz="1700" i="0">
                <a:solidFill>
                  <a:srgbClr val="1B1B1B"/>
                </a:solidFill>
                <a:latin typeface="Segoe UI"/>
              </a:rPr>
              <a:t>Source verification</a:t>
            </a:r>
          </a:p>
        </p:txBody>
      </p:sp>
      <p:cxnSp>
        <p:nvCxnSpPr>
          <p:cNvPr id="29" name="Connector 28"/>
          <p:cNvCxnSpPr/>
          <p:nvPr/>
        </p:nvCxnSpPr>
        <p:spPr>
          <a:xfrm>
            <a:off x="5481828" y="5037201"/>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780276" y="4695444"/>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054596" y="4732020"/>
            <a:ext cx="4311396" cy="610362"/>
          </a:xfrm>
          <a:prstGeom prst="rect">
            <a:avLst/>
          </a:prstGeom>
          <a:noFill/>
        </p:spPr>
        <p:txBody>
          <a:bodyPr wrap="square" lIns="0" rIns="0" tIns="0" bIns="0" anchor="ctr">
            <a:noAutofit/>
          </a:bodyPr>
          <a:lstStyle/>
          <a:p>
            <a:pPr algn="ctr"/>
            <a:r>
              <a:rPr sz="1700" i="0">
                <a:solidFill>
                  <a:srgbClr val="1B1B1B"/>
                </a:solidFill>
                <a:latin typeface="Segoe UI"/>
              </a:rPr>
              <a:t>Manager's fact check</a:t>
            </a:r>
          </a:p>
        </p:txBody>
      </p:sp>
      <p:sp>
        <p:nvSpPr>
          <p:cNvPr id="32" name="Rounded Rectangle 31"/>
          <p:cNvSpPr/>
          <p:nvPr/>
        </p:nvSpPr>
        <p:spPr>
          <a:xfrm>
            <a:off x="548640" y="5488686"/>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2960" y="5525262"/>
            <a:ext cx="4311396" cy="610362"/>
          </a:xfrm>
          <a:prstGeom prst="rect">
            <a:avLst/>
          </a:prstGeom>
          <a:noFill/>
        </p:spPr>
        <p:txBody>
          <a:bodyPr wrap="square" lIns="0" rIns="0" tIns="0" bIns="0" anchor="ctr">
            <a:noAutofit/>
          </a:bodyPr>
          <a:lstStyle/>
          <a:p>
            <a:pPr algn="ctr"/>
            <a:r>
              <a:rPr sz="1700" i="0">
                <a:solidFill>
                  <a:srgbClr val="1B1B1B"/>
                </a:solidFill>
                <a:latin typeface="Segoe UI"/>
              </a:rPr>
              <a:t>Consultant approval</a:t>
            </a:r>
          </a:p>
        </p:txBody>
      </p:sp>
      <p:cxnSp>
        <p:nvCxnSpPr>
          <p:cNvPr id="34" name="Connector 33"/>
          <p:cNvCxnSpPr/>
          <p:nvPr/>
        </p:nvCxnSpPr>
        <p:spPr>
          <a:xfrm>
            <a:off x="5481828" y="5830443"/>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780276" y="5488686"/>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054596" y="5525262"/>
            <a:ext cx="4311396" cy="610362"/>
          </a:xfrm>
          <a:prstGeom prst="rect">
            <a:avLst/>
          </a:prstGeom>
          <a:noFill/>
        </p:spPr>
        <p:txBody>
          <a:bodyPr wrap="square" lIns="0" rIns="0" tIns="0" bIns="0" anchor="ctr">
            <a:noAutofit/>
          </a:bodyPr>
          <a:lstStyle/>
          <a:p>
            <a:pPr algn="ctr"/>
            <a:r>
              <a:rPr sz="1700" i="0">
                <a:solidFill>
                  <a:srgbClr val="1B1B1B"/>
                </a:solidFill>
                <a:latin typeface="Segoe UI"/>
              </a:rPr>
              <a:t>Engagement sign-off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Measure the Workflow Before Scaling</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Test task time, draft quality and user experience, including disconnected use.</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9</a:t>
            </a:r>
          </a:p>
        </p:txBody>
      </p:sp>
      <p:sp>
        <p:nvSpPr>
          <p:cNvPr id="10" name="Rounded Rectangle 9"/>
          <p:cNvSpPr/>
          <p:nvPr/>
        </p:nvSpPr>
        <p:spPr>
          <a:xfrm>
            <a:off x="548640" y="2583180"/>
            <a:ext cx="2395728" cy="3291840"/>
          </a:xfrm>
          <a:prstGeom prst="roundRect">
            <a:avLst>
              <a:gd name="adj" fmla="val 229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89304" y="2125980"/>
            <a:ext cx="914400" cy="91440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417320"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13" name="TextBox 12"/>
          <p:cNvSpPr txBox="1"/>
          <p:nvPr/>
        </p:nvSpPr>
        <p:spPr>
          <a:xfrm>
            <a:off x="731520" y="3150108"/>
            <a:ext cx="2029968" cy="274320"/>
          </a:xfrm>
          <a:prstGeom prst="rect">
            <a:avLst/>
          </a:prstGeom>
          <a:noFill/>
        </p:spPr>
        <p:txBody>
          <a:bodyPr wrap="square" lIns="0" rIns="0" tIns="0" bIns="0" anchor="t">
            <a:noAutofit/>
          </a:bodyPr>
          <a:lstStyle/>
          <a:p>
            <a:pPr algn="ctr"/>
            <a:r>
              <a:rPr sz="1200" i="0">
                <a:solidFill>
                  <a:srgbClr val="0078D4"/>
                </a:solidFill>
                <a:latin typeface="Segoe UI Semibold"/>
              </a:rPr>
              <a:t>01</a:t>
            </a:r>
          </a:p>
        </p:txBody>
      </p:sp>
      <p:sp>
        <p:nvSpPr>
          <p:cNvPr id="14" name="TextBox 13"/>
          <p:cNvSpPr txBox="1"/>
          <p:nvPr/>
        </p:nvSpPr>
        <p:spPr>
          <a:xfrm>
            <a:off x="713232" y="3451860"/>
            <a:ext cx="2066544" cy="868680"/>
          </a:xfrm>
          <a:prstGeom prst="rect">
            <a:avLst/>
          </a:prstGeom>
          <a:noFill/>
        </p:spPr>
        <p:txBody>
          <a:bodyPr wrap="square" lIns="0" rIns="0" tIns="0" bIns="0" anchor="ctr">
            <a:noAutofit/>
          </a:bodyPr>
          <a:lstStyle/>
          <a:p>
            <a:pPr algn="ctr"/>
            <a:r>
              <a:rPr sz="2000" i="0">
                <a:solidFill>
                  <a:srgbClr val="1B1B1B"/>
                </a:solidFill>
                <a:latin typeface="Segoe UI Semibold"/>
              </a:rPr>
              <a:t>Prepare</a:t>
            </a:r>
          </a:p>
        </p:txBody>
      </p:sp>
      <p:sp>
        <p:nvSpPr>
          <p:cNvPr id="15" name="TextBox 14"/>
          <p:cNvSpPr txBox="1"/>
          <p:nvPr/>
        </p:nvSpPr>
        <p:spPr>
          <a:xfrm>
            <a:off x="731520" y="4366260"/>
            <a:ext cx="2029968" cy="1371600"/>
          </a:xfrm>
          <a:prstGeom prst="rect">
            <a:avLst/>
          </a:prstGeom>
          <a:noFill/>
        </p:spPr>
        <p:txBody>
          <a:bodyPr wrap="square" lIns="0" rIns="0" tIns="0" bIns="0" anchor="t">
            <a:noAutofit/>
          </a:bodyPr>
          <a:lstStyle/>
          <a:p>
            <a:pPr algn="ctr"/>
            <a:r>
              <a:rPr sz="1500" i="0">
                <a:solidFill>
                  <a:srgbClr val="505050"/>
                </a:solidFill>
                <a:latin typeface="Segoe UI"/>
              </a:rPr>
              <a:t>Approve files, tasks and local configuration</a:t>
            </a:r>
          </a:p>
        </p:txBody>
      </p:sp>
      <p:sp>
        <p:nvSpPr>
          <p:cNvPr id="16" name="Chevron 15"/>
          <p:cNvSpPr/>
          <p:nvPr/>
        </p:nvSpPr>
        <p:spPr>
          <a:xfrm>
            <a:off x="3081528" y="4027932"/>
            <a:ext cx="228600" cy="402336"/>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3447288" y="2583180"/>
            <a:ext cx="2395728" cy="3291840"/>
          </a:xfrm>
          <a:prstGeom prst="roundRect">
            <a:avLst>
              <a:gd name="adj" fmla="val 229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4187952" y="2125980"/>
            <a:ext cx="914400" cy="914400"/>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315968"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20" name="TextBox 19"/>
          <p:cNvSpPr txBox="1"/>
          <p:nvPr/>
        </p:nvSpPr>
        <p:spPr>
          <a:xfrm>
            <a:off x="3630168" y="3150108"/>
            <a:ext cx="2029968" cy="274320"/>
          </a:xfrm>
          <a:prstGeom prst="rect">
            <a:avLst/>
          </a:prstGeom>
          <a:noFill/>
        </p:spPr>
        <p:txBody>
          <a:bodyPr wrap="square" lIns="0" rIns="0" tIns="0" bIns="0" anchor="t">
            <a:noAutofit/>
          </a:bodyPr>
          <a:lstStyle/>
          <a:p>
            <a:pPr algn="ctr"/>
            <a:r>
              <a:rPr sz="1200" i="0">
                <a:solidFill>
                  <a:srgbClr val="107C10"/>
                </a:solidFill>
                <a:latin typeface="Segoe UI Semibold"/>
              </a:rPr>
              <a:t>02</a:t>
            </a:r>
          </a:p>
        </p:txBody>
      </p:sp>
      <p:sp>
        <p:nvSpPr>
          <p:cNvPr id="21" name="TextBox 20"/>
          <p:cNvSpPr txBox="1"/>
          <p:nvPr/>
        </p:nvSpPr>
        <p:spPr>
          <a:xfrm>
            <a:off x="3611880" y="3451860"/>
            <a:ext cx="2066544" cy="868680"/>
          </a:xfrm>
          <a:prstGeom prst="rect">
            <a:avLst/>
          </a:prstGeom>
          <a:noFill/>
        </p:spPr>
        <p:txBody>
          <a:bodyPr wrap="square" lIns="0" rIns="0" tIns="0" bIns="0" anchor="ctr">
            <a:noAutofit/>
          </a:bodyPr>
          <a:lstStyle/>
          <a:p>
            <a:pPr algn="ctr"/>
            <a:r>
              <a:rPr sz="2000" i="0">
                <a:solidFill>
                  <a:srgbClr val="1B1B1B"/>
                </a:solidFill>
                <a:latin typeface="Segoe UI Semibold"/>
              </a:rPr>
              <a:t>Establish baseline</a:t>
            </a:r>
          </a:p>
        </p:txBody>
      </p:sp>
      <p:sp>
        <p:nvSpPr>
          <p:cNvPr id="22" name="TextBox 21"/>
          <p:cNvSpPr txBox="1"/>
          <p:nvPr/>
        </p:nvSpPr>
        <p:spPr>
          <a:xfrm>
            <a:off x="3630168" y="4366260"/>
            <a:ext cx="2029968" cy="1371600"/>
          </a:xfrm>
          <a:prstGeom prst="rect">
            <a:avLst/>
          </a:prstGeom>
          <a:noFill/>
        </p:spPr>
        <p:txBody>
          <a:bodyPr wrap="square" lIns="0" rIns="0" tIns="0" bIns="0" anchor="t">
            <a:noAutofit/>
          </a:bodyPr>
          <a:lstStyle/>
          <a:p>
            <a:pPr algn="ctr"/>
            <a:r>
              <a:rPr sz="1500" i="0">
                <a:solidFill>
                  <a:srgbClr val="505050"/>
                </a:solidFill>
                <a:latin typeface="Segoe UI"/>
              </a:rPr>
              <a:t>Record current task time and draft quality</a:t>
            </a:r>
          </a:p>
        </p:txBody>
      </p:sp>
      <p:sp>
        <p:nvSpPr>
          <p:cNvPr id="23" name="Chevron 22"/>
          <p:cNvSpPr/>
          <p:nvPr/>
        </p:nvSpPr>
        <p:spPr>
          <a:xfrm>
            <a:off x="5980176" y="4027932"/>
            <a:ext cx="228600" cy="402336"/>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6345936" y="2583180"/>
            <a:ext cx="2395728" cy="3291840"/>
          </a:xfrm>
          <a:prstGeom prst="roundRect">
            <a:avLst>
              <a:gd name="adj" fmla="val 229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086600" y="2125980"/>
            <a:ext cx="914400" cy="91440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214616"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27" name="TextBox 26"/>
          <p:cNvSpPr txBox="1"/>
          <p:nvPr/>
        </p:nvSpPr>
        <p:spPr>
          <a:xfrm>
            <a:off x="6528816" y="3150108"/>
            <a:ext cx="2029968" cy="274320"/>
          </a:xfrm>
          <a:prstGeom prst="rect">
            <a:avLst/>
          </a:prstGeom>
          <a:noFill/>
        </p:spPr>
        <p:txBody>
          <a:bodyPr wrap="square" lIns="0" rIns="0" tIns="0" bIns="0" anchor="t">
            <a:noAutofit/>
          </a:bodyPr>
          <a:lstStyle/>
          <a:p>
            <a:pPr algn="ctr"/>
            <a:r>
              <a:rPr sz="1200" i="0">
                <a:solidFill>
                  <a:srgbClr val="D83B01"/>
                </a:solidFill>
                <a:latin typeface="Segoe UI Semibold"/>
              </a:rPr>
              <a:t>03</a:t>
            </a:r>
          </a:p>
        </p:txBody>
      </p:sp>
      <p:sp>
        <p:nvSpPr>
          <p:cNvPr id="28" name="TextBox 27"/>
          <p:cNvSpPr txBox="1"/>
          <p:nvPr/>
        </p:nvSpPr>
        <p:spPr>
          <a:xfrm>
            <a:off x="6510528" y="3451860"/>
            <a:ext cx="2066544" cy="868680"/>
          </a:xfrm>
          <a:prstGeom prst="rect">
            <a:avLst/>
          </a:prstGeom>
          <a:noFill/>
        </p:spPr>
        <p:txBody>
          <a:bodyPr wrap="square" lIns="0" rIns="0" tIns="0" bIns="0" anchor="ctr">
            <a:noAutofit/>
          </a:bodyPr>
          <a:lstStyle/>
          <a:p>
            <a:pPr algn="ctr"/>
            <a:r>
              <a:rPr sz="2000" i="0">
                <a:solidFill>
                  <a:srgbClr val="1B1B1B"/>
                </a:solidFill>
                <a:latin typeface="Segoe UI Semibold"/>
              </a:rPr>
              <a:t>Run local tasks</a:t>
            </a:r>
          </a:p>
        </p:txBody>
      </p:sp>
      <p:sp>
        <p:nvSpPr>
          <p:cNvPr id="29" name="TextBox 28"/>
          <p:cNvSpPr txBox="1"/>
          <p:nvPr/>
        </p:nvSpPr>
        <p:spPr>
          <a:xfrm>
            <a:off x="6528816" y="4366260"/>
            <a:ext cx="2029968" cy="1371600"/>
          </a:xfrm>
          <a:prstGeom prst="rect">
            <a:avLst/>
          </a:prstGeom>
          <a:noFill/>
        </p:spPr>
        <p:txBody>
          <a:bodyPr wrap="square" lIns="0" rIns="0" tIns="0" bIns="0" anchor="t">
            <a:noAutofit/>
          </a:bodyPr>
          <a:lstStyle/>
          <a:p>
            <a:pPr algn="ctr"/>
            <a:r>
              <a:rPr sz="1500" i="0">
                <a:solidFill>
                  <a:srgbClr val="505050"/>
                </a:solidFill>
                <a:latin typeface="Segoe UI"/>
              </a:rPr>
              <a:t>Validate disconnected use and capture user experience</a:t>
            </a:r>
          </a:p>
        </p:txBody>
      </p:sp>
      <p:sp>
        <p:nvSpPr>
          <p:cNvPr id="30" name="Chevron 29"/>
          <p:cNvSpPr/>
          <p:nvPr/>
        </p:nvSpPr>
        <p:spPr>
          <a:xfrm>
            <a:off x="8878824" y="4027932"/>
            <a:ext cx="228600" cy="402336"/>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9244584" y="2583180"/>
            <a:ext cx="2395728" cy="3291840"/>
          </a:xfrm>
          <a:prstGeom prst="roundRect">
            <a:avLst>
              <a:gd name="adj" fmla="val 229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9985248" y="2125980"/>
            <a:ext cx="914400" cy="914400"/>
          </a:xfrm>
          <a:prstGeom prst="ellipse">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13264"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34" name="TextBox 33"/>
          <p:cNvSpPr txBox="1"/>
          <p:nvPr/>
        </p:nvSpPr>
        <p:spPr>
          <a:xfrm>
            <a:off x="9427464" y="3150108"/>
            <a:ext cx="2029968" cy="274320"/>
          </a:xfrm>
          <a:prstGeom prst="rect">
            <a:avLst/>
          </a:prstGeom>
          <a:noFill/>
        </p:spPr>
        <p:txBody>
          <a:bodyPr wrap="square" lIns="0" rIns="0" tIns="0" bIns="0" anchor="t">
            <a:noAutofit/>
          </a:bodyPr>
          <a:lstStyle/>
          <a:p>
            <a:pPr algn="ctr"/>
            <a:r>
              <a:rPr sz="1200" i="0">
                <a:solidFill>
                  <a:srgbClr val="FFB900"/>
                </a:solidFill>
                <a:latin typeface="Segoe UI Semibold"/>
              </a:rPr>
              <a:t>04</a:t>
            </a:r>
          </a:p>
        </p:txBody>
      </p:sp>
      <p:sp>
        <p:nvSpPr>
          <p:cNvPr id="35" name="TextBox 34"/>
          <p:cNvSpPr txBox="1"/>
          <p:nvPr/>
        </p:nvSpPr>
        <p:spPr>
          <a:xfrm>
            <a:off x="9409176" y="3451860"/>
            <a:ext cx="2066544" cy="868680"/>
          </a:xfrm>
          <a:prstGeom prst="rect">
            <a:avLst/>
          </a:prstGeom>
          <a:noFill/>
        </p:spPr>
        <p:txBody>
          <a:bodyPr wrap="square" lIns="0" rIns="0" tIns="0" bIns="0" anchor="ctr">
            <a:noAutofit/>
          </a:bodyPr>
          <a:lstStyle/>
          <a:p>
            <a:pPr algn="ctr"/>
            <a:r>
              <a:rPr sz="2000" i="0">
                <a:solidFill>
                  <a:srgbClr val="1B1B1B"/>
                </a:solidFill>
                <a:latin typeface="Segoe UI Semibold"/>
              </a:rPr>
              <a:t>Review evidence</a:t>
            </a:r>
          </a:p>
        </p:txBody>
      </p:sp>
      <p:sp>
        <p:nvSpPr>
          <p:cNvPr id="36" name="TextBox 35"/>
          <p:cNvSpPr txBox="1"/>
          <p:nvPr/>
        </p:nvSpPr>
        <p:spPr>
          <a:xfrm>
            <a:off x="9427464" y="4366260"/>
            <a:ext cx="2029968" cy="1371600"/>
          </a:xfrm>
          <a:prstGeom prst="rect">
            <a:avLst/>
          </a:prstGeom>
          <a:noFill/>
        </p:spPr>
        <p:txBody>
          <a:bodyPr wrap="square" lIns="0" rIns="0" tIns="0" bIns="0" anchor="t">
            <a:noAutofit/>
          </a:bodyPr>
          <a:lstStyle/>
          <a:p>
            <a:pPr algn="ctr"/>
            <a:r>
              <a:rPr sz="1500" i="0">
                <a:solidFill>
                  <a:srgbClr val="505050"/>
                </a:solidFill>
                <a:latin typeface="Segoe UI"/>
              </a:rPr>
              <a:t>Compare outcomes, corrections and practical constraints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Approve the Contoso Local AI Pilot</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Authorize 10 users for 2 weeks while keeping Microsoft 365 Copilot in place.</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10</a:t>
            </a:r>
          </a:p>
        </p:txBody>
      </p:sp>
      <p:sp>
        <p:nvSpPr>
          <p:cNvPr id="10" name="Rounded Rectangle 9"/>
          <p:cNvSpPr/>
          <p:nvPr/>
        </p:nvSpPr>
        <p:spPr>
          <a:xfrm>
            <a:off x="548640" y="1828800"/>
            <a:ext cx="3514344" cy="2926080"/>
          </a:xfrm>
          <a:prstGeom prst="roundRect">
            <a:avLst>
              <a:gd name="adj" fmla="val 1875"/>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22960" y="2103120"/>
            <a:ext cx="640080" cy="64008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60" y="2103120"/>
            <a:ext cx="640080" cy="640080"/>
          </a:xfrm>
          <a:prstGeom prst="rect">
            <a:avLst/>
          </a:prstGeom>
          <a:noFill/>
        </p:spPr>
        <p:txBody>
          <a:bodyPr wrap="square" lIns="0" rIns="0" tIns="0" bIns="0" anchor="ctr">
            <a:noAutofit/>
          </a:bodyPr>
          <a:lstStyle/>
          <a:p>
            <a:pPr algn="ctr"/>
            <a:r>
              <a:rPr sz="2200" i="0">
                <a:solidFill>
                  <a:srgbClr val="FFFFFF"/>
                </a:solidFill>
                <a:latin typeface="Segoe UI Semibold"/>
              </a:rPr>
              <a:t>1</a:t>
            </a:r>
          </a:p>
        </p:txBody>
      </p:sp>
      <p:sp>
        <p:nvSpPr>
          <p:cNvPr id="13" name="TextBox 12"/>
          <p:cNvSpPr txBox="1"/>
          <p:nvPr/>
        </p:nvSpPr>
        <p:spPr>
          <a:xfrm>
            <a:off x="3331464" y="2176272"/>
            <a:ext cx="475488" cy="475488"/>
          </a:xfrm>
          <a:prstGeom prst="rect">
            <a:avLst/>
          </a:prstGeom>
          <a:noFill/>
        </p:spPr>
        <p:txBody>
          <a:bodyPr wrap="none" lIns="0" rIns="0" tIns="0" bIns="0" anchor="ctr">
            <a:spAutoFit/>
          </a:bodyPr>
          <a:lstStyle/>
          <a:p>
            <a:pPr algn="ctr"/>
            <a:r>
              <a:rPr sz="2321">
                <a:solidFill>
                  <a:srgbClr val="0078D4"/>
                </a:solidFill>
                <a:latin typeface="Segoe Fluent Icons"/>
              </a:rPr>
              <a:t></a:t>
            </a:r>
          </a:p>
        </p:txBody>
      </p:sp>
      <p:sp>
        <p:nvSpPr>
          <p:cNvPr id="14" name="TextBox 13"/>
          <p:cNvSpPr txBox="1"/>
          <p:nvPr/>
        </p:nvSpPr>
        <p:spPr>
          <a:xfrm>
            <a:off x="822960" y="2880360"/>
            <a:ext cx="2965704" cy="777240"/>
          </a:xfrm>
          <a:prstGeom prst="rect">
            <a:avLst/>
          </a:prstGeom>
          <a:noFill/>
        </p:spPr>
        <p:txBody>
          <a:bodyPr wrap="square" lIns="0" rIns="0" tIns="0" bIns="0" anchor="t">
            <a:noAutofit/>
          </a:bodyPr>
          <a:lstStyle/>
          <a:p>
            <a:pPr algn="l"/>
            <a:r>
              <a:rPr sz="2000" i="0">
                <a:solidFill>
                  <a:srgbClr val="1B1B1B"/>
                </a:solidFill>
                <a:latin typeface="Segoe UI Semibold"/>
              </a:rPr>
              <a:t>COO sponsorship</a:t>
            </a:r>
          </a:p>
        </p:txBody>
      </p:sp>
      <p:sp>
        <p:nvSpPr>
          <p:cNvPr id="15" name="TextBox 14"/>
          <p:cNvSpPr txBox="1"/>
          <p:nvPr/>
        </p:nvSpPr>
        <p:spPr>
          <a:xfrm>
            <a:off x="822960" y="3657600"/>
            <a:ext cx="2965704" cy="960120"/>
          </a:xfrm>
          <a:prstGeom prst="rect">
            <a:avLst/>
          </a:prstGeom>
          <a:noFill/>
        </p:spPr>
        <p:txBody>
          <a:bodyPr wrap="square" lIns="0" rIns="0" tIns="0" bIns="0" anchor="t">
            <a:noAutofit/>
          </a:bodyPr>
          <a:lstStyle/>
          <a:p>
            <a:pPr algn="l"/>
            <a:r>
              <a:rPr sz="1500" i="0">
                <a:solidFill>
                  <a:srgbClr val="505050"/>
                </a:solidFill>
                <a:latin typeface="Segoe UI"/>
              </a:rPr>
              <a:t>Approve scope and evidence-based review</a:t>
            </a:r>
          </a:p>
        </p:txBody>
      </p:sp>
      <p:sp>
        <p:nvSpPr>
          <p:cNvPr id="16" name="Rounded Rectangle 15"/>
          <p:cNvSpPr/>
          <p:nvPr/>
        </p:nvSpPr>
        <p:spPr>
          <a:xfrm>
            <a:off x="4337304" y="1828800"/>
            <a:ext cx="3514344" cy="2926080"/>
          </a:xfrm>
          <a:prstGeom prst="roundRect">
            <a:avLst>
              <a:gd name="adj" fmla="val 1875"/>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611624" y="2103120"/>
            <a:ext cx="640080" cy="640080"/>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611624" y="2103120"/>
            <a:ext cx="640080" cy="640080"/>
          </a:xfrm>
          <a:prstGeom prst="rect">
            <a:avLst/>
          </a:prstGeom>
          <a:noFill/>
        </p:spPr>
        <p:txBody>
          <a:bodyPr wrap="square" lIns="0" rIns="0" tIns="0" bIns="0" anchor="ctr">
            <a:noAutofit/>
          </a:bodyPr>
          <a:lstStyle/>
          <a:p>
            <a:pPr algn="ctr"/>
            <a:r>
              <a:rPr sz="2200" i="0">
                <a:solidFill>
                  <a:srgbClr val="FFFFFF"/>
                </a:solidFill>
                <a:latin typeface="Segoe UI Semibold"/>
              </a:rPr>
              <a:t>2</a:t>
            </a:r>
          </a:p>
        </p:txBody>
      </p:sp>
      <p:sp>
        <p:nvSpPr>
          <p:cNvPr id="19" name="TextBox 18"/>
          <p:cNvSpPr txBox="1"/>
          <p:nvPr/>
        </p:nvSpPr>
        <p:spPr>
          <a:xfrm>
            <a:off x="7120128" y="2176272"/>
            <a:ext cx="475488" cy="475488"/>
          </a:xfrm>
          <a:prstGeom prst="rect">
            <a:avLst/>
          </a:prstGeom>
          <a:noFill/>
        </p:spPr>
        <p:txBody>
          <a:bodyPr wrap="none" lIns="0" rIns="0" tIns="0" bIns="0" anchor="ctr">
            <a:spAutoFit/>
          </a:bodyPr>
          <a:lstStyle/>
          <a:p>
            <a:pPr algn="ctr"/>
            <a:r>
              <a:rPr sz="2321">
                <a:solidFill>
                  <a:srgbClr val="107C10"/>
                </a:solidFill>
                <a:latin typeface="Segoe Fluent Icons"/>
              </a:rPr>
              <a:t></a:t>
            </a:r>
          </a:p>
        </p:txBody>
      </p:sp>
      <p:sp>
        <p:nvSpPr>
          <p:cNvPr id="20" name="TextBox 19"/>
          <p:cNvSpPr txBox="1"/>
          <p:nvPr/>
        </p:nvSpPr>
        <p:spPr>
          <a:xfrm>
            <a:off x="4611624" y="2880360"/>
            <a:ext cx="2965704" cy="777240"/>
          </a:xfrm>
          <a:prstGeom prst="rect">
            <a:avLst/>
          </a:prstGeom>
          <a:noFill/>
        </p:spPr>
        <p:txBody>
          <a:bodyPr wrap="square" lIns="0" rIns="0" tIns="0" bIns="0" anchor="t">
            <a:noAutofit/>
          </a:bodyPr>
          <a:lstStyle/>
          <a:p>
            <a:pPr algn="l"/>
            <a:r>
              <a:rPr sz="2000" i="0">
                <a:solidFill>
                  <a:srgbClr val="1B1B1B"/>
                </a:solidFill>
                <a:latin typeface="Segoe UI Semibold"/>
              </a:rPr>
              <a:t>CIO readiness</a:t>
            </a:r>
          </a:p>
        </p:txBody>
      </p:sp>
      <p:sp>
        <p:nvSpPr>
          <p:cNvPr id="21" name="TextBox 20"/>
          <p:cNvSpPr txBox="1"/>
          <p:nvPr/>
        </p:nvSpPr>
        <p:spPr>
          <a:xfrm>
            <a:off x="4611624" y="3657600"/>
            <a:ext cx="2965704" cy="960120"/>
          </a:xfrm>
          <a:prstGeom prst="rect">
            <a:avLst/>
          </a:prstGeom>
          <a:noFill/>
        </p:spPr>
        <p:txBody>
          <a:bodyPr wrap="square" lIns="0" rIns="0" tIns="0" bIns="0" anchor="t">
            <a:noAutofit/>
          </a:bodyPr>
          <a:lstStyle/>
          <a:p>
            <a:pPr algn="l"/>
            <a:r>
              <a:rPr sz="1500" i="0">
                <a:solidFill>
                  <a:srgbClr val="505050"/>
                </a:solidFill>
                <a:latin typeface="Segoe UI"/>
              </a:rPr>
              <a:t>Validate local configuration and data handling</a:t>
            </a:r>
          </a:p>
        </p:txBody>
      </p:sp>
      <p:sp>
        <p:nvSpPr>
          <p:cNvPr id="22" name="Rounded Rectangle 21"/>
          <p:cNvSpPr/>
          <p:nvPr/>
        </p:nvSpPr>
        <p:spPr>
          <a:xfrm>
            <a:off x="8125968" y="1828800"/>
            <a:ext cx="3514344" cy="2926080"/>
          </a:xfrm>
          <a:prstGeom prst="roundRect">
            <a:avLst>
              <a:gd name="adj" fmla="val 1875"/>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8400288" y="2103120"/>
            <a:ext cx="640080" cy="64008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400288" y="2103120"/>
            <a:ext cx="640080" cy="640080"/>
          </a:xfrm>
          <a:prstGeom prst="rect">
            <a:avLst/>
          </a:prstGeom>
          <a:noFill/>
        </p:spPr>
        <p:txBody>
          <a:bodyPr wrap="square" lIns="0" rIns="0" tIns="0" bIns="0" anchor="ctr">
            <a:noAutofit/>
          </a:bodyPr>
          <a:lstStyle/>
          <a:p>
            <a:pPr algn="ctr"/>
            <a:r>
              <a:rPr sz="2200" i="0">
                <a:solidFill>
                  <a:srgbClr val="FFFFFF"/>
                </a:solidFill>
                <a:latin typeface="Segoe UI Semibold"/>
              </a:rPr>
              <a:t>3</a:t>
            </a:r>
          </a:p>
        </p:txBody>
      </p:sp>
      <p:sp>
        <p:nvSpPr>
          <p:cNvPr id="25" name="TextBox 24"/>
          <p:cNvSpPr txBox="1"/>
          <p:nvPr/>
        </p:nvSpPr>
        <p:spPr>
          <a:xfrm>
            <a:off x="10908792" y="2176272"/>
            <a:ext cx="475488" cy="475488"/>
          </a:xfrm>
          <a:prstGeom prst="rect">
            <a:avLst/>
          </a:prstGeom>
          <a:noFill/>
        </p:spPr>
        <p:txBody>
          <a:bodyPr wrap="none" lIns="0" rIns="0" tIns="0" bIns="0" anchor="ctr">
            <a:spAutoFit/>
          </a:bodyPr>
          <a:lstStyle/>
          <a:p>
            <a:pPr algn="ctr"/>
            <a:r>
              <a:rPr sz="2321">
                <a:solidFill>
                  <a:srgbClr val="D83B01"/>
                </a:solidFill>
                <a:latin typeface="Segoe Fluent Icons"/>
              </a:rPr>
              <a:t></a:t>
            </a:r>
          </a:p>
        </p:txBody>
      </p:sp>
      <p:sp>
        <p:nvSpPr>
          <p:cNvPr id="26" name="TextBox 25"/>
          <p:cNvSpPr txBox="1"/>
          <p:nvPr/>
        </p:nvSpPr>
        <p:spPr>
          <a:xfrm>
            <a:off x="8400288" y="2880360"/>
            <a:ext cx="2965704" cy="777240"/>
          </a:xfrm>
          <a:prstGeom prst="rect">
            <a:avLst/>
          </a:prstGeom>
          <a:noFill/>
        </p:spPr>
        <p:txBody>
          <a:bodyPr wrap="square" lIns="0" rIns="0" tIns="0" bIns="0" anchor="t">
            <a:noAutofit/>
          </a:bodyPr>
          <a:lstStyle/>
          <a:p>
            <a:pPr algn="l"/>
            <a:r>
              <a:rPr sz="2000" i="0">
                <a:solidFill>
                  <a:srgbClr val="1B1B1B"/>
                </a:solidFill>
                <a:latin typeface="Segoe UI Semibold"/>
              </a:rPr>
              <a:t>Consulting ownership</a:t>
            </a:r>
          </a:p>
        </p:txBody>
      </p:sp>
      <p:sp>
        <p:nvSpPr>
          <p:cNvPr id="27" name="TextBox 26"/>
          <p:cNvSpPr txBox="1"/>
          <p:nvPr/>
        </p:nvSpPr>
        <p:spPr>
          <a:xfrm>
            <a:off x="8400288" y="3657600"/>
            <a:ext cx="2965704" cy="960120"/>
          </a:xfrm>
          <a:prstGeom prst="rect">
            <a:avLst/>
          </a:prstGeom>
          <a:noFill/>
        </p:spPr>
        <p:txBody>
          <a:bodyPr wrap="square" lIns="0" rIns="0" tIns="0" bIns="0" anchor="t">
            <a:noAutofit/>
          </a:bodyPr>
          <a:lstStyle/>
          <a:p>
            <a:pPr algn="l"/>
            <a:r>
              <a:rPr sz="1500" i="0">
                <a:solidFill>
                  <a:srgbClr val="505050"/>
                </a:solidFill>
                <a:latin typeface="Segoe UI"/>
              </a:rPr>
              <a:t>Select 10 users and representative drafting tasks</a:t>
            </a:r>
          </a:p>
        </p:txBody>
      </p:sp>
      <p:sp>
        <p:nvSpPr>
          <p:cNvPr id="28" name="Rounded Rectangle 27"/>
          <p:cNvSpPr/>
          <p:nvPr/>
        </p:nvSpPr>
        <p:spPr>
          <a:xfrm>
            <a:off x="548640" y="5029200"/>
            <a:ext cx="11091672" cy="1143000"/>
          </a:xfrm>
          <a:prstGeom prst="roundRect">
            <a:avLst>
              <a:gd name="adj" fmla="val 48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14400" y="5349240"/>
            <a:ext cx="502920" cy="502920"/>
          </a:xfrm>
          <a:prstGeom prst="rect">
            <a:avLst/>
          </a:prstGeom>
          <a:noFill/>
        </p:spPr>
        <p:txBody>
          <a:bodyPr wrap="none" lIns="0" rIns="0" tIns="0" bIns="0" anchor="ctr">
            <a:spAutoFit/>
          </a:bodyPr>
          <a:lstStyle/>
          <a:p>
            <a:pPr algn="ctr"/>
            <a:r>
              <a:rPr sz="2455">
                <a:solidFill>
                  <a:srgbClr val="FFFFFF"/>
                </a:solidFill>
                <a:latin typeface="Segoe Fluent Icons"/>
              </a:rPr>
              <a:t></a:t>
            </a:r>
          </a:p>
        </p:txBody>
      </p:sp>
      <p:sp>
        <p:nvSpPr>
          <p:cNvPr id="30" name="TextBox 29"/>
          <p:cNvSpPr txBox="1"/>
          <p:nvPr/>
        </p:nvSpPr>
        <p:spPr>
          <a:xfrm>
            <a:off x="1645920" y="5138928"/>
            <a:ext cx="9720072" cy="914400"/>
          </a:xfrm>
          <a:prstGeom prst="rect">
            <a:avLst/>
          </a:prstGeom>
          <a:noFill/>
        </p:spPr>
        <p:txBody>
          <a:bodyPr wrap="square" lIns="0" rIns="0" tIns="0" bIns="0" anchor="ctr">
            <a:noAutofit/>
          </a:bodyPr>
          <a:lstStyle/>
          <a:p>
            <a:pPr algn="l"/>
            <a:r>
              <a:rPr sz="2400" i="0">
                <a:solidFill>
                  <a:srgbClr val="FFFFFF"/>
                </a:solidFill>
                <a:latin typeface="Segoe UI Semibold"/>
              </a:rPr>
              <a:t>Approve the 2-week pilot; review evidence before expansion.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Local AI Lane for Contoso</dc:title>
  <dc:subject/>
  <dc:creator>Offline PPTX Forge</dc:creator>
  <cp:keywords/>
  <dc:description>Generated offline; template=microsoft</dc:description>
  <cp:lastModifiedBy>Steve Canny</cp:lastModifiedBy>
  <cp:revision>1</cp:revision>
  <dcterms:created xsi:type="dcterms:W3CDTF">2013-01-27T09:14:16Z</dcterms:created>
  <dcterms:modified xsi:type="dcterms:W3CDTF">2013-01-27T09:15:58Z</dcterms:modified>
  <cp:category/>
</cp:coreProperties>
</file>