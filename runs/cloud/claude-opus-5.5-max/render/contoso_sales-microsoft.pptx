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Series</c:v>
                </c:pt>
              </c:strCache>
            </c:strRef>
          </c:tx>
          <c:spPr>
            <a:solidFill>
              <a:srgbClr val="B3B3B3"/>
            </a:solidFill>
          </c:spPr>
          <c:dPt>
            <c:idx val="0"/>
            <c:spPr>
              <a:solidFill>
                <a:srgbClr val="0078D4"/>
              </a:solidFill>
            </c:spPr>
          </c:dPt>
          <c:cat>
            <c:strRef>
              <c:f>Sheet1!$A$2:$A$3</c:f>
              <c:strCache>
                <c:ptCount val="2"/>
                <c:pt idx="0">
                  <c:v>Gemma 4 26B</c:v>
                </c:pt>
                <c:pt idx="1">
                  <c:v>Qwen3-Coder 30B</c:v>
                </c:pt>
              </c:strCache>
            </c:strRef>
          </c:cat>
          <c:val>
            <c:numRef>
              <c:f>Sheet1!$B$2:$B$3</c:f>
              <c:numCache>
                <c:formatCode>General</c:formatCode>
                <c:ptCount val="2"/>
                <c:pt idx="0">
                  <c:v>72.0</c:v>
                </c:pt>
                <c:pt idx="1">
                  <c:v>86.0</c:v>
                </c:pt>
              </c:numCache>
            </c:numRef>
          </c:val>
        </c:ser>
        <c:dLbls>
          <c:numFmt formatCode="#,##0&quot; tokens/sec&quot;" sourceLinked="0"/>
          <c:txPr>
            <a:bodyPr/>
            <a:lstStyle/>
            <a:p>
              <a:pPr>
                <a:defRPr sz="1500" b="1">
                  <a:solidFill>
                    <a:srgbClr val="1B1B1B"/>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noFill/>
          </a:ln>
        </c:spPr>
        <c:txPr>
          <a:bodyPr/>
          <a:lstStyle/>
          <a:p>
            <a:pPr>
              <a:defRPr sz="1500">
                <a:solidFill>
                  <a:srgbClr val="1B1B1B"/>
                </a:solidFill>
              </a:defRPr>
            </a:pPr>
          </a:p>
        </c:txPr>
        <c:crossAx val="-2113994440"/>
        <c:crosses val="autoZero"/>
        <c:auto val="1"/>
        <c:lblAlgn val="ctr"/>
        <c:lblOffset val="100"/>
        <c:noMultiLvlLbl val="0"/>
      </c:catAx>
      <c:valAx>
        <c:axId val="-2113994440"/>
        <c:scaling>
          <c:max val="111.8"/>
          <c:min val="0.0"/>
        </c:scaling>
        <c:delete/>
        <c:axPos val="b"/>
        <c:majorTickMark val="out"/>
        <c:minorTickMark val="none"/>
        <c:tickLblPos val="nextTo"/>
        <c:crossAx val="-2068027336"/>
        <c:crosses val="autoZero"/>
      </c:valAx>
    </c:plotArea>
    <c:dispBlanksAs val="gap"/>
  </c:chart>
  <c:txPr>
    <a:bodyPr/>
    <a:lstStyle/>
    <a:p>
      <a:pPr>
        <a:defRPr sz="1500">
          <a:solidFill>
            <a:srgbClr val="1B1B1B"/>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time. The proposal is simple: give traveling consultants a local AI lane on their laptop for sensitive, repeated drafting, while Microsoft 365 Copilot stays exactly where it is. We'll cover the pain, how it works, the capacity at stake, and a small pilot to test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consultant's week. Of Contoso's 4,000 employees, 1,200 are traveling consultants. Each writes about 6 client summaries a week, and each takes about 25 minutes to draft today. The inputs are sensitive interview notes and site documents, and the work repeats every week. That's the job a local AI lane targets.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heart of the proposal. Microsoft 365 Copilot stays in place for everyday work; nothing is switched off. We add a second lane on the device for a specific job: sensitive, repeated drafting, like turning interview notes into client summaries. Hybrid, not either-or.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of client sites restrict guest Wi-Fi. Think of a long flight: you download shows before boarding, so you can watch without cabin Wi-Fi. Local AI works the same way: 28 models already live on the laptop. Copilot picks up when you're connected, and the pilot validates disconnected use in real conditions.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Consultants know the hotel safe. Your passport stays in your room; you don't hand it to the front desk. Local AI works the same way: the model runs on the laptop, so interview notes and site documents can be drafted into summaries without uploading them. Copilot, like the concierge, still handles everything else.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architecture at a glance. Everyday Microsoft 365 work keeps flowing through Copilot in the cloud lane, exactly as today. Sensitive, repeated drafting takes the local lane: notes go to a model on the laptop's GPU, and the draft stays on the device. The consultant chooses the lane; the pilot tests that split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makes it possible. Surface Laptop Ultra pairs 20 CPU cores and 128 GB of installed memory with NVIDIA RTX Spark, a Blackwell RTX GPU. Think of memory as desk space: more room lets bigger models fit. 28 open models are already installed in the local catalog. Consultants only see the top layer: drafting.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Speed decides whether people actually use it. On this device, Gemma 4 26B generates about 72 tokens per second, and Qwen3-Coder 30B about 86, single stream, per Local-AI-Bench, October 2026. In plain terms, a draft appears while you watch. The pilot shows whether that speed turns into time saved on real summaries.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illustrative math, and it's only an estimate to validate. If a local assistant saved 5 minutes per summary: 1,200 consultants times 6 summaries times 5 minutes times 46 working weeks equals 27,600 hours a year. We're not claiming that number. The pilot measures the real one, so any decision rests on Contoso's own data.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ask is deliberately small: 10 consultants for 2 weeks of real client work. We'll measure task time, draft quality and user experience, and validate disconnected use at sites with restricted Wi-Fi. Copilot stays in place throughout. After 14 days, you decide with Contoso's own numbers, not ours.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ask today: approve a 2-week pilot for 10 traveling consultants on Surface Laptop Ultra with NVIDIA RTX Spark, running local AI alongside Microsoft 365 Copilot. Help us pick consultants, agree on success measures, and join the readout. If the data holds up, we'll plan next steps together.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566928"/>
            <a:ext cx="155448" cy="155448"/>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822960" y="566928"/>
            <a:ext cx="155448" cy="155448"/>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640080" y="749808"/>
            <a:ext cx="155448" cy="155448"/>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822960" y="749808"/>
            <a:ext cx="155448" cy="155448"/>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1560" y="530352"/>
            <a:ext cx="2743200" cy="384048"/>
          </a:xfrm>
          <a:prstGeom prst="rect">
            <a:avLst/>
          </a:prstGeom>
          <a:noFill/>
        </p:spPr>
        <p:txBody>
          <a:bodyPr wrap="square" lIns="0" rIns="0" tIns="0" bIns="0" anchor="ctr">
            <a:noAutofit/>
          </a:bodyPr>
          <a:lstStyle/>
          <a:p>
            <a:pPr algn="l"/>
            <a:r>
              <a:rPr sz="1900" i="0">
                <a:solidFill>
                  <a:srgbClr val="737373"/>
                </a:solidFill>
                <a:latin typeface="Segoe UI Semibold"/>
              </a:rPr>
              <a:t>Microsoft</a:t>
            </a:r>
          </a:p>
        </p:txBody>
      </p:sp>
      <p:sp>
        <p:nvSpPr>
          <p:cNvPr id="7" name="Rectangle 6"/>
          <p:cNvSpPr/>
          <p:nvPr/>
        </p:nvSpPr>
        <p:spPr>
          <a:xfrm>
            <a:off x="8001000" y="1600200"/>
            <a:ext cx="1600200" cy="1600200"/>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401050" y="2000250"/>
            <a:ext cx="800100" cy="800100"/>
          </a:xfrm>
          <a:prstGeom prst="rect">
            <a:avLst/>
          </a:prstGeom>
          <a:noFill/>
        </p:spPr>
        <p:txBody>
          <a:bodyPr wrap="none" lIns="0" rIns="0" tIns="0" bIns="0" anchor="ctr">
            <a:spAutoFit/>
          </a:bodyPr>
          <a:lstStyle/>
          <a:p>
            <a:pPr algn="ctr"/>
            <a:r>
              <a:rPr sz="3906">
                <a:solidFill>
                  <a:srgbClr val="FFFFFF"/>
                </a:solidFill>
                <a:latin typeface="Segoe Fluent Icons"/>
              </a:rPr>
              <a:t></a:t>
            </a:r>
          </a:p>
        </p:txBody>
      </p:sp>
      <p:sp>
        <p:nvSpPr>
          <p:cNvPr id="9" name="Rectangle 8"/>
          <p:cNvSpPr/>
          <p:nvPr/>
        </p:nvSpPr>
        <p:spPr>
          <a:xfrm>
            <a:off x="9747504" y="1600200"/>
            <a:ext cx="1600200" cy="1600200"/>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147554" y="2000250"/>
            <a:ext cx="800100" cy="800100"/>
          </a:xfrm>
          <a:prstGeom prst="rect">
            <a:avLst/>
          </a:prstGeom>
          <a:noFill/>
        </p:spPr>
        <p:txBody>
          <a:bodyPr wrap="none" lIns="0" rIns="0" tIns="0" bIns="0" anchor="ctr">
            <a:spAutoFit/>
          </a:bodyPr>
          <a:lstStyle/>
          <a:p>
            <a:pPr algn="ctr"/>
            <a:r>
              <a:rPr sz="3906">
                <a:solidFill>
                  <a:srgbClr val="FFFFFF"/>
                </a:solidFill>
                <a:latin typeface="Segoe Fluent Icons"/>
              </a:rPr>
              <a:t></a:t>
            </a:r>
          </a:p>
        </p:txBody>
      </p:sp>
      <p:sp>
        <p:nvSpPr>
          <p:cNvPr id="11" name="Rectangle 10"/>
          <p:cNvSpPr/>
          <p:nvPr/>
        </p:nvSpPr>
        <p:spPr>
          <a:xfrm>
            <a:off x="8001000" y="3346704"/>
            <a:ext cx="1600200" cy="1600200"/>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401050" y="3746754"/>
            <a:ext cx="800100" cy="800100"/>
          </a:xfrm>
          <a:prstGeom prst="rect">
            <a:avLst/>
          </a:prstGeom>
          <a:noFill/>
        </p:spPr>
        <p:txBody>
          <a:bodyPr wrap="none" lIns="0" rIns="0" tIns="0" bIns="0" anchor="ctr">
            <a:spAutoFit/>
          </a:bodyPr>
          <a:lstStyle/>
          <a:p>
            <a:pPr algn="ctr"/>
            <a:r>
              <a:rPr sz="3906">
                <a:solidFill>
                  <a:srgbClr val="FFFFFF"/>
                </a:solidFill>
                <a:latin typeface="Segoe Fluent Icons"/>
              </a:rPr>
              <a:t></a:t>
            </a:r>
          </a:p>
        </p:txBody>
      </p:sp>
      <p:sp>
        <p:nvSpPr>
          <p:cNvPr id="13" name="Rectangle 12"/>
          <p:cNvSpPr/>
          <p:nvPr/>
        </p:nvSpPr>
        <p:spPr>
          <a:xfrm>
            <a:off x="9747504" y="3346704"/>
            <a:ext cx="1600200" cy="1600200"/>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7554" y="3746754"/>
            <a:ext cx="800100" cy="800100"/>
          </a:xfrm>
          <a:prstGeom prst="rect">
            <a:avLst/>
          </a:prstGeom>
          <a:noFill/>
        </p:spPr>
        <p:txBody>
          <a:bodyPr wrap="none" lIns="0" rIns="0" tIns="0" bIns="0" anchor="ctr">
            <a:spAutoFit/>
          </a:bodyPr>
          <a:lstStyle/>
          <a:p>
            <a:pPr algn="ctr"/>
            <a:r>
              <a:rPr sz="3906">
                <a:solidFill>
                  <a:srgbClr val="FFFFFF"/>
                </a:solidFill>
                <a:latin typeface="Segoe Fluent Icons"/>
              </a:rPr>
              <a:t></a:t>
            </a:r>
          </a:p>
        </p:txBody>
      </p:sp>
      <p:sp>
        <p:nvSpPr>
          <p:cNvPr id="15" name="TextBox 14"/>
          <p:cNvSpPr txBox="1"/>
          <p:nvPr/>
        </p:nvSpPr>
        <p:spPr>
          <a:xfrm>
            <a:off x="640080" y="1691640"/>
            <a:ext cx="6766560" cy="411480"/>
          </a:xfrm>
          <a:prstGeom prst="rect">
            <a:avLst/>
          </a:prstGeom>
          <a:noFill/>
        </p:spPr>
        <p:txBody>
          <a:bodyPr wrap="square" lIns="0" rIns="0" tIns="0" bIns="0" anchor="t">
            <a:noAutofit/>
          </a:bodyPr>
          <a:lstStyle/>
          <a:p>
            <a:pPr algn="l"/>
            <a:r>
              <a:rPr sz="1500" i="0">
                <a:solidFill>
                  <a:srgbClr val="0078D4"/>
                </a:solidFill>
                <a:latin typeface="Segoe UI Semibold"/>
              </a:rPr>
              <a:t>CONTOSO PILOT PROPOSAL</a:t>
            </a:r>
          </a:p>
        </p:txBody>
      </p:sp>
      <p:sp>
        <p:nvSpPr>
          <p:cNvPr id="16" name="TextBox 15"/>
          <p:cNvSpPr txBox="1"/>
          <p:nvPr/>
        </p:nvSpPr>
        <p:spPr>
          <a:xfrm>
            <a:off x="640080" y="2148840"/>
            <a:ext cx="6400800" cy="2194560"/>
          </a:xfrm>
          <a:prstGeom prst="rect">
            <a:avLst/>
          </a:prstGeom>
          <a:noFill/>
        </p:spPr>
        <p:txBody>
          <a:bodyPr wrap="square" lIns="0" rIns="0" tIns="0" bIns="0" anchor="t">
            <a:noAutofit/>
          </a:bodyPr>
          <a:lstStyle/>
          <a:p>
            <a:pPr algn="l"/>
            <a:r>
              <a:rPr sz="5000" i="0">
                <a:solidFill>
                  <a:srgbClr val="1B1B1B"/>
                </a:solidFill>
                <a:latin typeface="Segoe UI Semibold"/>
              </a:rPr>
              <a:t>A Local AI Lane for Traveling Consultants</a:t>
            </a:r>
          </a:p>
        </p:txBody>
      </p:sp>
      <p:sp>
        <p:nvSpPr>
          <p:cNvPr id="17" name="TextBox 16"/>
          <p:cNvSpPr txBox="1"/>
          <p:nvPr/>
        </p:nvSpPr>
        <p:spPr>
          <a:xfrm>
            <a:off x="640080" y="4434840"/>
            <a:ext cx="6583680" cy="914400"/>
          </a:xfrm>
          <a:prstGeom prst="rect">
            <a:avLst/>
          </a:prstGeom>
          <a:noFill/>
        </p:spPr>
        <p:txBody>
          <a:bodyPr wrap="square" lIns="0" rIns="0" tIns="0" bIns="0" anchor="t">
            <a:noAutofit/>
          </a:bodyPr>
          <a:lstStyle/>
          <a:p>
            <a:pPr algn="l"/>
            <a:r>
              <a:rPr sz="2000" i="0">
                <a:solidFill>
                  <a:srgbClr val="505050"/>
                </a:solidFill>
                <a:latin typeface="Segoe UI"/>
              </a:rPr>
              <a:t>Surface Laptop Ultra with NVIDIA RTX Spark, working alongside Microsoft 365 Copilot</a:t>
            </a:r>
          </a:p>
        </p:txBody>
      </p:sp>
      <p:sp>
        <p:nvSpPr>
          <p:cNvPr id="18" name="TextBox 17"/>
          <p:cNvSpPr txBox="1"/>
          <p:nvPr/>
        </p:nvSpPr>
        <p:spPr>
          <a:xfrm>
            <a:off x="640080" y="6035040"/>
            <a:ext cx="6400800" cy="320040"/>
          </a:xfrm>
          <a:prstGeom prst="rect">
            <a:avLst/>
          </a:prstGeom>
          <a:noFill/>
        </p:spPr>
        <p:txBody>
          <a:bodyPr wrap="square" lIns="0" rIns="0" tIns="0" bIns="0" anchor="t">
            <a:noAutofit/>
          </a:bodyPr>
          <a:lstStyle/>
          <a:p>
            <a:pPr algn="l"/>
            <a:r>
              <a:rPr sz="1200" i="0">
                <a:solidFill>
                  <a:srgbClr val="8A8A8A"/>
                </a:solidFill>
                <a:latin typeface="Segoe UI"/>
              </a:rPr>
              <a:t>Microsoft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Summaries Eat Consultant Time</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Turning interview notes into client summaries is frequent, repeated, and sensitive work.</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2</a:t>
            </a:r>
          </a:p>
        </p:txBody>
      </p:sp>
      <p:sp>
        <p:nvSpPr>
          <p:cNvPr id="10" name="Rounded Rectangle 9"/>
          <p:cNvSpPr/>
          <p:nvPr/>
        </p:nvSpPr>
        <p:spPr>
          <a:xfrm>
            <a:off x="548640" y="2217420"/>
            <a:ext cx="3483864" cy="3566160"/>
          </a:xfrm>
          <a:prstGeom prst="roundRect">
            <a:avLst>
              <a:gd name="adj" fmla="val 1574"/>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48640" y="2217420"/>
            <a:ext cx="3483864" cy="8229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832104" y="2546604"/>
            <a:ext cx="713232" cy="713232"/>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1956" y="2646456"/>
            <a:ext cx="513527" cy="513527"/>
          </a:xfrm>
          <a:prstGeom prst="rect">
            <a:avLst/>
          </a:prstGeom>
          <a:noFill/>
        </p:spPr>
        <p:txBody>
          <a:bodyPr wrap="none" lIns="0" rIns="0" tIns="0" bIns="0" anchor="ctr">
            <a:spAutoFit/>
          </a:bodyPr>
          <a:lstStyle/>
          <a:p>
            <a:pPr algn="ctr"/>
            <a:r>
              <a:rPr sz="2506">
                <a:solidFill>
                  <a:srgbClr val="FFFFFF"/>
                </a:solidFill>
                <a:latin typeface="Segoe Fluent Icons"/>
              </a:rPr>
              <a:t></a:t>
            </a:r>
          </a:p>
        </p:txBody>
      </p:sp>
      <p:sp>
        <p:nvSpPr>
          <p:cNvPr id="14" name="TextBox 13"/>
          <p:cNvSpPr txBox="1"/>
          <p:nvPr/>
        </p:nvSpPr>
        <p:spPr>
          <a:xfrm>
            <a:off x="822960" y="3406140"/>
            <a:ext cx="2935224" cy="1234440"/>
          </a:xfrm>
          <a:prstGeom prst="rect">
            <a:avLst/>
          </a:prstGeom>
          <a:noFill/>
        </p:spPr>
        <p:txBody>
          <a:bodyPr wrap="square" lIns="0" rIns="0" tIns="0" bIns="0" anchor="ctr">
            <a:noAutofit/>
          </a:bodyPr>
          <a:lstStyle/>
          <a:p>
            <a:pPr algn="l"/>
            <a:r>
              <a:rPr sz="6000" i="0">
                <a:solidFill>
                  <a:srgbClr val="0078D4"/>
                </a:solidFill>
                <a:latin typeface="Segoe UI Semibold"/>
              </a:rPr>
              <a:t>1,200</a:t>
            </a:r>
          </a:p>
        </p:txBody>
      </p:sp>
      <p:sp>
        <p:nvSpPr>
          <p:cNvPr id="15" name="TextBox 14"/>
          <p:cNvSpPr txBox="1"/>
          <p:nvPr/>
        </p:nvSpPr>
        <p:spPr>
          <a:xfrm>
            <a:off x="822960" y="4640580"/>
            <a:ext cx="2935224" cy="731520"/>
          </a:xfrm>
          <a:prstGeom prst="rect">
            <a:avLst/>
          </a:prstGeom>
          <a:noFill/>
        </p:spPr>
        <p:txBody>
          <a:bodyPr wrap="square" lIns="0" rIns="0" tIns="0" bIns="0" anchor="t">
            <a:noAutofit/>
          </a:bodyPr>
          <a:lstStyle/>
          <a:p>
            <a:pPr algn="l"/>
            <a:r>
              <a:rPr sz="1700" i="0">
                <a:solidFill>
                  <a:srgbClr val="1B1B1B"/>
                </a:solidFill>
                <a:latin typeface="Segoe UI"/>
              </a:rPr>
              <a:t>Traveling consultants</a:t>
            </a:r>
          </a:p>
        </p:txBody>
      </p:sp>
      <p:sp>
        <p:nvSpPr>
          <p:cNvPr id="16" name="TextBox 15"/>
          <p:cNvSpPr txBox="1"/>
          <p:nvPr/>
        </p:nvSpPr>
        <p:spPr>
          <a:xfrm>
            <a:off x="822960" y="5372100"/>
            <a:ext cx="2935224" cy="320040"/>
          </a:xfrm>
          <a:prstGeom prst="rect">
            <a:avLst/>
          </a:prstGeom>
          <a:noFill/>
        </p:spPr>
        <p:txBody>
          <a:bodyPr wrap="square" lIns="0" rIns="0" tIns="0" bIns="0" anchor="t">
            <a:noAutofit/>
          </a:bodyPr>
          <a:lstStyle/>
          <a:p>
            <a:pPr algn="l"/>
            <a:r>
              <a:rPr sz="1000" i="0">
                <a:solidFill>
                  <a:srgbClr val="8A8A8A"/>
                </a:solidFill>
                <a:latin typeface="Segoe UI"/>
              </a:rPr>
              <a:t>Of 4,000 Contoso employees</a:t>
            </a:r>
          </a:p>
        </p:txBody>
      </p:sp>
      <p:sp>
        <p:nvSpPr>
          <p:cNvPr id="17" name="Rounded Rectangle 16"/>
          <p:cNvSpPr/>
          <p:nvPr/>
        </p:nvSpPr>
        <p:spPr>
          <a:xfrm>
            <a:off x="4352544" y="2217420"/>
            <a:ext cx="3483864" cy="3566160"/>
          </a:xfrm>
          <a:prstGeom prst="roundRect">
            <a:avLst>
              <a:gd name="adj" fmla="val 1574"/>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352544" y="2217420"/>
            <a:ext cx="3483864" cy="82296"/>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4636008" y="2546604"/>
            <a:ext cx="713232" cy="713232"/>
          </a:xfrm>
          <a:prstGeom prst="ellipse">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735860" y="2646456"/>
            <a:ext cx="513527" cy="513527"/>
          </a:xfrm>
          <a:prstGeom prst="rect">
            <a:avLst/>
          </a:prstGeom>
          <a:noFill/>
        </p:spPr>
        <p:txBody>
          <a:bodyPr wrap="none" lIns="0" rIns="0" tIns="0" bIns="0" anchor="ctr">
            <a:spAutoFit/>
          </a:bodyPr>
          <a:lstStyle/>
          <a:p>
            <a:pPr algn="ctr"/>
            <a:r>
              <a:rPr sz="2506">
                <a:solidFill>
                  <a:srgbClr val="FFFFFF"/>
                </a:solidFill>
                <a:latin typeface="Segoe Fluent Icons"/>
              </a:rPr>
              <a:t></a:t>
            </a:r>
          </a:p>
        </p:txBody>
      </p:sp>
      <p:sp>
        <p:nvSpPr>
          <p:cNvPr id="21" name="TextBox 20"/>
          <p:cNvSpPr txBox="1"/>
          <p:nvPr/>
        </p:nvSpPr>
        <p:spPr>
          <a:xfrm>
            <a:off x="4626864" y="3406140"/>
            <a:ext cx="2935224" cy="1234440"/>
          </a:xfrm>
          <a:prstGeom prst="rect">
            <a:avLst/>
          </a:prstGeom>
          <a:noFill/>
        </p:spPr>
        <p:txBody>
          <a:bodyPr wrap="square" lIns="0" rIns="0" tIns="0" bIns="0" anchor="ctr">
            <a:noAutofit/>
          </a:bodyPr>
          <a:lstStyle/>
          <a:p>
            <a:pPr algn="l"/>
            <a:r>
              <a:rPr sz="6000" i="0">
                <a:solidFill>
                  <a:srgbClr val="107C10"/>
                </a:solidFill>
                <a:latin typeface="Segoe UI Semibold"/>
              </a:rPr>
              <a:t>~6</a:t>
            </a:r>
          </a:p>
        </p:txBody>
      </p:sp>
      <p:sp>
        <p:nvSpPr>
          <p:cNvPr id="22" name="TextBox 21"/>
          <p:cNvSpPr txBox="1"/>
          <p:nvPr/>
        </p:nvSpPr>
        <p:spPr>
          <a:xfrm>
            <a:off x="4626864" y="4640580"/>
            <a:ext cx="2935224" cy="731520"/>
          </a:xfrm>
          <a:prstGeom prst="rect">
            <a:avLst/>
          </a:prstGeom>
          <a:noFill/>
        </p:spPr>
        <p:txBody>
          <a:bodyPr wrap="square" lIns="0" rIns="0" tIns="0" bIns="0" anchor="t">
            <a:noAutofit/>
          </a:bodyPr>
          <a:lstStyle/>
          <a:p>
            <a:pPr algn="l"/>
            <a:r>
              <a:rPr sz="1700" i="0">
                <a:solidFill>
                  <a:srgbClr val="1B1B1B"/>
                </a:solidFill>
                <a:latin typeface="Segoe UI"/>
              </a:rPr>
              <a:t>Summaries per consultant weekly</a:t>
            </a:r>
          </a:p>
        </p:txBody>
      </p:sp>
      <p:sp>
        <p:nvSpPr>
          <p:cNvPr id="23" name="TextBox 22"/>
          <p:cNvSpPr txBox="1"/>
          <p:nvPr/>
        </p:nvSpPr>
        <p:spPr>
          <a:xfrm>
            <a:off x="4626864" y="5372100"/>
            <a:ext cx="2935224" cy="320040"/>
          </a:xfrm>
          <a:prstGeom prst="rect">
            <a:avLst/>
          </a:prstGeom>
          <a:noFill/>
        </p:spPr>
        <p:txBody>
          <a:bodyPr wrap="square" lIns="0" rIns="0" tIns="0" bIns="0" anchor="t">
            <a:noAutofit/>
          </a:bodyPr>
          <a:lstStyle/>
          <a:p>
            <a:pPr algn="l"/>
            <a:r>
              <a:rPr sz="1000" i="0">
                <a:solidFill>
                  <a:srgbClr val="8A8A8A"/>
                </a:solidFill>
                <a:latin typeface="Segoe UI"/>
              </a:rPr>
              <a:t>Contoso data, approximate</a:t>
            </a:r>
          </a:p>
        </p:txBody>
      </p:sp>
      <p:sp>
        <p:nvSpPr>
          <p:cNvPr id="24" name="Rounded Rectangle 23"/>
          <p:cNvSpPr/>
          <p:nvPr/>
        </p:nvSpPr>
        <p:spPr>
          <a:xfrm>
            <a:off x="8156448" y="2217420"/>
            <a:ext cx="3483864" cy="3566160"/>
          </a:xfrm>
          <a:prstGeom prst="roundRect">
            <a:avLst>
              <a:gd name="adj" fmla="val 1574"/>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156448" y="2217420"/>
            <a:ext cx="3483864" cy="82296"/>
          </a:xfrm>
          <a:prstGeom prst="rect">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8439912" y="2546604"/>
            <a:ext cx="713232" cy="713232"/>
          </a:xfrm>
          <a:prstGeom prst="ellipse">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539764" y="2646456"/>
            <a:ext cx="513527" cy="513527"/>
          </a:xfrm>
          <a:prstGeom prst="rect">
            <a:avLst/>
          </a:prstGeom>
          <a:noFill/>
        </p:spPr>
        <p:txBody>
          <a:bodyPr wrap="none" lIns="0" rIns="0" tIns="0" bIns="0" anchor="ctr">
            <a:spAutoFit/>
          </a:bodyPr>
          <a:lstStyle/>
          <a:p>
            <a:pPr algn="ctr"/>
            <a:r>
              <a:rPr sz="2506">
                <a:solidFill>
                  <a:srgbClr val="FFFFFF"/>
                </a:solidFill>
                <a:latin typeface="Segoe Fluent Icons"/>
              </a:rPr>
              <a:t></a:t>
            </a:r>
          </a:p>
        </p:txBody>
      </p:sp>
      <p:sp>
        <p:nvSpPr>
          <p:cNvPr id="28" name="TextBox 27"/>
          <p:cNvSpPr txBox="1"/>
          <p:nvPr/>
        </p:nvSpPr>
        <p:spPr>
          <a:xfrm>
            <a:off x="8430768" y="3406140"/>
            <a:ext cx="2935224" cy="1234440"/>
          </a:xfrm>
          <a:prstGeom prst="rect">
            <a:avLst/>
          </a:prstGeom>
          <a:noFill/>
        </p:spPr>
        <p:txBody>
          <a:bodyPr wrap="square" lIns="0" rIns="0" tIns="0" bIns="0" anchor="ctr">
            <a:noAutofit/>
          </a:bodyPr>
          <a:lstStyle/>
          <a:p>
            <a:pPr algn="l"/>
            <a:r>
              <a:rPr sz="6000" i="0">
                <a:solidFill>
                  <a:srgbClr val="D83B01"/>
                </a:solidFill>
                <a:latin typeface="Segoe UI Semibold"/>
              </a:rPr>
              <a:t>~25 min</a:t>
            </a:r>
          </a:p>
        </p:txBody>
      </p:sp>
      <p:sp>
        <p:nvSpPr>
          <p:cNvPr id="29" name="TextBox 28"/>
          <p:cNvSpPr txBox="1"/>
          <p:nvPr/>
        </p:nvSpPr>
        <p:spPr>
          <a:xfrm>
            <a:off x="8430768" y="4640580"/>
            <a:ext cx="2935224" cy="731520"/>
          </a:xfrm>
          <a:prstGeom prst="rect">
            <a:avLst/>
          </a:prstGeom>
          <a:noFill/>
        </p:spPr>
        <p:txBody>
          <a:bodyPr wrap="square" lIns="0" rIns="0" tIns="0" bIns="0" anchor="t">
            <a:noAutofit/>
          </a:bodyPr>
          <a:lstStyle/>
          <a:p>
            <a:pPr algn="l"/>
            <a:r>
              <a:rPr sz="1700" i="0">
                <a:solidFill>
                  <a:srgbClr val="1B1B1B"/>
                </a:solidFill>
                <a:latin typeface="Segoe UI"/>
              </a:rPr>
              <a:t>To draft each summary</a:t>
            </a:r>
          </a:p>
        </p:txBody>
      </p:sp>
      <p:sp>
        <p:nvSpPr>
          <p:cNvPr id="30" name="TextBox 29"/>
          <p:cNvSpPr txBox="1"/>
          <p:nvPr/>
        </p:nvSpPr>
        <p:spPr>
          <a:xfrm>
            <a:off x="8430768" y="5372100"/>
            <a:ext cx="2935224" cy="320040"/>
          </a:xfrm>
          <a:prstGeom prst="rect">
            <a:avLst/>
          </a:prstGeom>
          <a:noFill/>
        </p:spPr>
        <p:txBody>
          <a:bodyPr wrap="square" lIns="0" rIns="0" tIns="0" bIns="0" anchor="t">
            <a:noAutofit/>
          </a:bodyPr>
          <a:lstStyle/>
          <a:p>
            <a:pPr algn="l"/>
            <a:r>
              <a:rPr sz="1000" i="0">
                <a:solidFill>
                  <a:srgbClr val="8A8A8A"/>
                </a:solidFill>
                <a:latin typeface="Segoe UI"/>
              </a:rPr>
              <a:t>Contoso data, today's process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Hybrid by Design</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Microsoft 365 Copilot stays in place; local AI adds a second lane.</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3</a:t>
            </a:r>
          </a:p>
        </p:txBody>
      </p:sp>
      <p:sp>
        <p:nvSpPr>
          <p:cNvPr id="10" name="Oval 9"/>
          <p:cNvSpPr/>
          <p:nvPr/>
        </p:nvSpPr>
        <p:spPr>
          <a:xfrm>
            <a:off x="5500116" y="1920240"/>
            <a:ext cx="1188720" cy="118872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666537" y="2086661"/>
            <a:ext cx="855878" cy="855878"/>
          </a:xfrm>
          <a:prstGeom prst="rect">
            <a:avLst/>
          </a:prstGeom>
          <a:noFill/>
        </p:spPr>
        <p:txBody>
          <a:bodyPr wrap="none" lIns="0" rIns="0" tIns="0" bIns="0" anchor="ctr">
            <a:spAutoFit/>
          </a:bodyPr>
          <a:lstStyle/>
          <a:p>
            <a:pPr algn="ctr"/>
            <a:r>
              <a:rPr sz="4178">
                <a:solidFill>
                  <a:srgbClr val="FFFFFF"/>
                </a:solidFill>
                <a:latin typeface="Segoe Fluent Icons"/>
              </a:rPr>
              <a:t></a:t>
            </a:r>
          </a:p>
        </p:txBody>
      </p:sp>
      <p:sp>
        <p:nvSpPr>
          <p:cNvPr id="12" name="TextBox 11"/>
          <p:cNvSpPr txBox="1"/>
          <p:nvPr/>
        </p:nvSpPr>
        <p:spPr>
          <a:xfrm>
            <a:off x="1280160" y="3337560"/>
            <a:ext cx="9628632" cy="1645920"/>
          </a:xfrm>
          <a:prstGeom prst="rect">
            <a:avLst/>
          </a:prstGeom>
          <a:noFill/>
        </p:spPr>
        <p:txBody>
          <a:bodyPr wrap="square" lIns="0" rIns="0" tIns="0" bIns="0" anchor="ctr">
            <a:noAutofit/>
          </a:bodyPr>
          <a:lstStyle/>
          <a:p>
            <a:pPr algn="ctr"/>
            <a:r>
              <a:rPr sz="4000" i="0">
                <a:solidFill>
                  <a:srgbClr val="1B1B1B"/>
                </a:solidFill>
                <a:latin typeface="Segoe UI Semibold"/>
              </a:rPr>
              <a:t>Keep Copilot. Add a local lane.</a:t>
            </a:r>
          </a:p>
        </p:txBody>
      </p:sp>
      <p:sp>
        <p:nvSpPr>
          <p:cNvPr id="13" name="TextBox 12"/>
          <p:cNvSpPr txBox="1"/>
          <p:nvPr/>
        </p:nvSpPr>
        <p:spPr>
          <a:xfrm>
            <a:off x="1920240" y="5074920"/>
            <a:ext cx="8348472" cy="822960"/>
          </a:xfrm>
          <a:prstGeom prst="rect">
            <a:avLst/>
          </a:prstGeom>
          <a:noFill/>
        </p:spPr>
        <p:txBody>
          <a:bodyPr wrap="square" lIns="0" rIns="0" tIns="0" bIns="0" anchor="t">
            <a:noAutofit/>
          </a:bodyPr>
          <a:lstStyle/>
          <a:p>
            <a:pPr algn="ctr"/>
            <a:r>
              <a:rPr sz="1800" i="0">
                <a:solidFill>
                  <a:srgbClr val="505050"/>
                </a:solidFill>
                <a:latin typeface="Segoe UI"/>
              </a:rPr>
              <a:t>Sensitive, repeated drafting runs on the laptop; everything else stays as today.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Like Downloads Before a Flight</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About 30% of client sites restrict guest Wi-Fi; the model runs on-device.</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4</a:t>
            </a:r>
          </a:p>
        </p:txBody>
      </p:sp>
      <p:sp>
        <p:nvSpPr>
          <p:cNvPr id="10" name="Oval 9"/>
          <p:cNvSpPr/>
          <p:nvPr/>
        </p:nvSpPr>
        <p:spPr>
          <a:xfrm>
            <a:off x="617220" y="1851660"/>
            <a:ext cx="960120" cy="96012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1637" y="1986077"/>
            <a:ext cx="691286" cy="691286"/>
          </a:xfrm>
          <a:prstGeom prst="rect">
            <a:avLst/>
          </a:prstGeom>
          <a:noFill/>
        </p:spPr>
        <p:txBody>
          <a:bodyPr wrap="none" lIns="0" rIns="0" tIns="0" bIns="0" anchor="ctr">
            <a:spAutoFit/>
          </a:bodyPr>
          <a:lstStyle/>
          <a:p>
            <a:pPr algn="ctr"/>
            <a:r>
              <a:rPr sz="3374">
                <a:solidFill>
                  <a:srgbClr val="FFFFFF"/>
                </a:solidFill>
                <a:latin typeface="Segoe Fluent Icons"/>
              </a:rPr>
              <a:t></a:t>
            </a:r>
          </a:p>
        </p:txBody>
      </p:sp>
      <p:sp>
        <p:nvSpPr>
          <p:cNvPr id="12" name="TextBox 11"/>
          <p:cNvSpPr txBox="1"/>
          <p:nvPr/>
        </p:nvSpPr>
        <p:spPr>
          <a:xfrm>
            <a:off x="1737360" y="1920240"/>
            <a:ext cx="3625596" cy="822960"/>
          </a:xfrm>
          <a:prstGeom prst="rect">
            <a:avLst/>
          </a:prstGeom>
          <a:noFill/>
        </p:spPr>
        <p:txBody>
          <a:bodyPr wrap="square" lIns="0" rIns="0" tIns="0" bIns="0" anchor="ctr">
            <a:noAutofit/>
          </a:bodyPr>
          <a:lstStyle/>
          <a:p>
            <a:pPr algn="l"/>
            <a:r>
              <a:rPr sz="2400" i="0">
                <a:solidFill>
                  <a:srgbClr val="1B1B1B"/>
                </a:solidFill>
                <a:latin typeface="Segoe UI Semibold"/>
              </a:rPr>
              <a:t>On-device AI model</a:t>
            </a:r>
          </a:p>
        </p:txBody>
      </p:sp>
      <p:sp>
        <p:nvSpPr>
          <p:cNvPr id="13" name="Oval 12"/>
          <p:cNvSpPr/>
          <p:nvPr/>
        </p:nvSpPr>
        <p:spPr>
          <a:xfrm>
            <a:off x="10611612" y="1851660"/>
            <a:ext cx="960120" cy="960120"/>
          </a:xfrm>
          <a:prstGeom prst="ellipse">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746029" y="1986077"/>
            <a:ext cx="691286" cy="691286"/>
          </a:xfrm>
          <a:prstGeom prst="rect">
            <a:avLst/>
          </a:prstGeom>
          <a:noFill/>
        </p:spPr>
        <p:txBody>
          <a:bodyPr wrap="none" lIns="0" rIns="0" tIns="0" bIns="0" anchor="ctr">
            <a:spAutoFit/>
          </a:bodyPr>
          <a:lstStyle/>
          <a:p>
            <a:pPr algn="ctr"/>
            <a:r>
              <a:rPr sz="3374">
                <a:solidFill>
                  <a:srgbClr val="FFFFFF"/>
                </a:solidFill>
                <a:latin typeface="Segoe Fluent Icons"/>
              </a:rPr>
              <a:t></a:t>
            </a:r>
          </a:p>
        </p:txBody>
      </p:sp>
      <p:sp>
        <p:nvSpPr>
          <p:cNvPr id="15" name="TextBox 14"/>
          <p:cNvSpPr txBox="1"/>
          <p:nvPr/>
        </p:nvSpPr>
        <p:spPr>
          <a:xfrm>
            <a:off x="6780276" y="1920240"/>
            <a:ext cx="3625596" cy="822960"/>
          </a:xfrm>
          <a:prstGeom prst="rect">
            <a:avLst/>
          </a:prstGeom>
          <a:noFill/>
        </p:spPr>
        <p:txBody>
          <a:bodyPr wrap="square" lIns="0" rIns="0" tIns="0" bIns="0" anchor="ctr">
            <a:noAutofit/>
          </a:bodyPr>
          <a:lstStyle/>
          <a:p>
            <a:pPr algn="r"/>
            <a:r>
              <a:rPr sz="2400" i="0">
                <a:solidFill>
                  <a:srgbClr val="1B1B1B"/>
                </a:solidFill>
                <a:latin typeface="Segoe UI Semibold"/>
              </a:rPr>
              <a:t>In-flight downloads</a:t>
            </a:r>
          </a:p>
        </p:txBody>
      </p:sp>
      <p:sp>
        <p:nvSpPr>
          <p:cNvPr id="16" name="TextBox 15"/>
          <p:cNvSpPr txBox="1"/>
          <p:nvPr/>
        </p:nvSpPr>
        <p:spPr>
          <a:xfrm>
            <a:off x="5408676" y="2057400"/>
            <a:ext cx="1371600" cy="548640"/>
          </a:xfrm>
          <a:prstGeom prst="rect">
            <a:avLst/>
          </a:prstGeom>
          <a:noFill/>
        </p:spPr>
        <p:txBody>
          <a:bodyPr wrap="square" lIns="0" rIns="0" tIns="0" bIns="0" anchor="ctr">
            <a:noAutofit/>
          </a:bodyPr>
          <a:lstStyle/>
          <a:p>
            <a:pPr algn="ctr"/>
            <a:r>
              <a:rPr sz="1600" i="1">
                <a:solidFill>
                  <a:srgbClr val="8A8A8A"/>
                </a:solidFill>
                <a:latin typeface="Segoe UI"/>
              </a:rPr>
              <a:t>is like</a:t>
            </a:r>
          </a:p>
        </p:txBody>
      </p:sp>
      <p:sp>
        <p:nvSpPr>
          <p:cNvPr id="17" name="Rounded Rectangle 16"/>
          <p:cNvSpPr/>
          <p:nvPr/>
        </p:nvSpPr>
        <p:spPr>
          <a:xfrm>
            <a:off x="548640" y="3108960"/>
            <a:ext cx="4860036" cy="683514"/>
          </a:xfrm>
          <a:prstGeom prst="roundRect">
            <a:avLst>
              <a:gd name="adj" fmla="val 50000"/>
            </a:avLst>
          </a:prstGeom>
          <a:solidFill>
            <a:srgbClr val="E0EFFA"/>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2960" y="3145536"/>
            <a:ext cx="4311396" cy="610362"/>
          </a:xfrm>
          <a:prstGeom prst="rect">
            <a:avLst/>
          </a:prstGeom>
          <a:noFill/>
        </p:spPr>
        <p:txBody>
          <a:bodyPr wrap="square" lIns="0" rIns="0" tIns="0" bIns="0" anchor="ctr">
            <a:noAutofit/>
          </a:bodyPr>
          <a:lstStyle/>
          <a:p>
            <a:pPr algn="ctr"/>
            <a:r>
              <a:rPr sz="1700" i="0">
                <a:solidFill>
                  <a:srgbClr val="1B1B1B"/>
                </a:solidFill>
                <a:latin typeface="Segoe UI"/>
              </a:rPr>
              <a:t>Models stored on laptop</a:t>
            </a:r>
          </a:p>
        </p:txBody>
      </p:sp>
      <p:cxnSp>
        <p:nvCxnSpPr>
          <p:cNvPr id="19" name="Connector 18"/>
          <p:cNvCxnSpPr/>
          <p:nvPr/>
        </p:nvCxnSpPr>
        <p:spPr>
          <a:xfrm>
            <a:off x="5481828" y="3450717"/>
            <a:ext cx="1225296" cy="0"/>
          </a:xfrm>
          <a:prstGeom prst="line">
            <a:avLst/>
          </a:prstGeom>
          <a:ln w="25400">
            <a:solidFill>
              <a:srgbClr val="8A8A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780276" y="3108960"/>
            <a:ext cx="4860036" cy="683514"/>
          </a:xfrm>
          <a:prstGeom prst="roundRect">
            <a:avLst>
              <a:gd name="adj" fmla="val 50000"/>
            </a:avLst>
          </a:prstGeom>
          <a:solidFill>
            <a:srgbClr val="FAE4DB"/>
          </a:solidFill>
          <a:ln w="15875">
            <a:solidFill>
              <a:srgbClr val="D83B0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54596" y="3145536"/>
            <a:ext cx="4311396" cy="610362"/>
          </a:xfrm>
          <a:prstGeom prst="rect">
            <a:avLst/>
          </a:prstGeom>
          <a:noFill/>
        </p:spPr>
        <p:txBody>
          <a:bodyPr wrap="square" lIns="0" rIns="0" tIns="0" bIns="0" anchor="ctr">
            <a:noAutofit/>
          </a:bodyPr>
          <a:lstStyle/>
          <a:p>
            <a:pPr algn="ctr"/>
            <a:r>
              <a:rPr sz="1700" i="0">
                <a:solidFill>
                  <a:srgbClr val="1B1B1B"/>
                </a:solidFill>
                <a:latin typeface="Segoe UI"/>
              </a:rPr>
              <a:t>Shows saved before boarding</a:t>
            </a:r>
          </a:p>
        </p:txBody>
      </p:sp>
      <p:sp>
        <p:nvSpPr>
          <p:cNvPr id="22" name="Rounded Rectangle 21"/>
          <p:cNvSpPr/>
          <p:nvPr/>
        </p:nvSpPr>
        <p:spPr>
          <a:xfrm>
            <a:off x="548640" y="3902202"/>
            <a:ext cx="4860036" cy="683514"/>
          </a:xfrm>
          <a:prstGeom prst="roundRect">
            <a:avLst>
              <a:gd name="adj" fmla="val 50000"/>
            </a:avLst>
          </a:prstGeom>
          <a:solidFill>
            <a:srgbClr val="E0EFFA"/>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22960" y="3938778"/>
            <a:ext cx="4311396" cy="610362"/>
          </a:xfrm>
          <a:prstGeom prst="rect">
            <a:avLst/>
          </a:prstGeom>
          <a:noFill/>
        </p:spPr>
        <p:txBody>
          <a:bodyPr wrap="square" lIns="0" rIns="0" tIns="0" bIns="0" anchor="ctr">
            <a:noAutofit/>
          </a:bodyPr>
          <a:lstStyle/>
          <a:p>
            <a:pPr algn="ctr"/>
            <a:r>
              <a:rPr sz="1700" i="0">
                <a:solidFill>
                  <a:srgbClr val="1B1B1B"/>
                </a:solidFill>
                <a:latin typeface="Segoe UI"/>
              </a:rPr>
              <a:t>Drafting despite restricted Wi-Fi</a:t>
            </a:r>
          </a:p>
        </p:txBody>
      </p:sp>
      <p:cxnSp>
        <p:nvCxnSpPr>
          <p:cNvPr id="24" name="Connector 23"/>
          <p:cNvCxnSpPr/>
          <p:nvPr/>
        </p:nvCxnSpPr>
        <p:spPr>
          <a:xfrm>
            <a:off x="5481828" y="4243959"/>
            <a:ext cx="1225296" cy="0"/>
          </a:xfrm>
          <a:prstGeom prst="line">
            <a:avLst/>
          </a:prstGeom>
          <a:ln w="25400">
            <a:solidFill>
              <a:srgbClr val="8A8A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780276" y="3902202"/>
            <a:ext cx="4860036" cy="683514"/>
          </a:xfrm>
          <a:prstGeom prst="roundRect">
            <a:avLst>
              <a:gd name="adj" fmla="val 50000"/>
            </a:avLst>
          </a:prstGeom>
          <a:solidFill>
            <a:srgbClr val="FAE4DB"/>
          </a:solidFill>
          <a:ln w="15875">
            <a:solidFill>
              <a:srgbClr val="D83B0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054596" y="3938778"/>
            <a:ext cx="4311396" cy="610362"/>
          </a:xfrm>
          <a:prstGeom prst="rect">
            <a:avLst/>
          </a:prstGeom>
          <a:noFill/>
        </p:spPr>
        <p:txBody>
          <a:bodyPr wrap="square" lIns="0" rIns="0" tIns="0" bIns="0" anchor="ctr">
            <a:noAutofit/>
          </a:bodyPr>
          <a:lstStyle/>
          <a:p>
            <a:pPr algn="ctr"/>
            <a:r>
              <a:rPr sz="1700" i="0">
                <a:solidFill>
                  <a:srgbClr val="1B1B1B"/>
                </a:solidFill>
                <a:latin typeface="Segoe UI"/>
              </a:rPr>
              <a:t>Watching without cabin Wi-Fi</a:t>
            </a:r>
          </a:p>
        </p:txBody>
      </p:sp>
      <p:sp>
        <p:nvSpPr>
          <p:cNvPr id="27" name="Rounded Rectangle 26"/>
          <p:cNvSpPr/>
          <p:nvPr/>
        </p:nvSpPr>
        <p:spPr>
          <a:xfrm>
            <a:off x="548640" y="4695444"/>
            <a:ext cx="4860036" cy="683514"/>
          </a:xfrm>
          <a:prstGeom prst="roundRect">
            <a:avLst>
              <a:gd name="adj" fmla="val 50000"/>
            </a:avLst>
          </a:prstGeom>
          <a:solidFill>
            <a:srgbClr val="E0EFFA"/>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2960" y="4732020"/>
            <a:ext cx="4311396" cy="610362"/>
          </a:xfrm>
          <a:prstGeom prst="rect">
            <a:avLst/>
          </a:prstGeom>
          <a:noFill/>
        </p:spPr>
        <p:txBody>
          <a:bodyPr wrap="square" lIns="0" rIns="0" tIns="0" bIns="0" anchor="ctr">
            <a:noAutofit/>
          </a:bodyPr>
          <a:lstStyle/>
          <a:p>
            <a:pPr algn="ctr"/>
            <a:r>
              <a:rPr sz="1700" i="0">
                <a:solidFill>
                  <a:srgbClr val="1B1B1B"/>
                </a:solidFill>
                <a:latin typeface="Segoe UI"/>
              </a:rPr>
              <a:t>28 open models installed</a:t>
            </a:r>
          </a:p>
        </p:txBody>
      </p:sp>
      <p:cxnSp>
        <p:nvCxnSpPr>
          <p:cNvPr id="29" name="Connector 28"/>
          <p:cNvCxnSpPr/>
          <p:nvPr/>
        </p:nvCxnSpPr>
        <p:spPr>
          <a:xfrm>
            <a:off x="5481828" y="5037201"/>
            <a:ext cx="1225296" cy="0"/>
          </a:xfrm>
          <a:prstGeom prst="line">
            <a:avLst/>
          </a:prstGeom>
          <a:ln w="25400">
            <a:solidFill>
              <a:srgbClr val="8A8A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780276" y="4695444"/>
            <a:ext cx="4860036" cy="683514"/>
          </a:xfrm>
          <a:prstGeom prst="roundRect">
            <a:avLst>
              <a:gd name="adj" fmla="val 50000"/>
            </a:avLst>
          </a:prstGeom>
          <a:solidFill>
            <a:srgbClr val="FAE4DB"/>
          </a:solidFill>
          <a:ln w="15875">
            <a:solidFill>
              <a:srgbClr val="D83B0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054596" y="4732020"/>
            <a:ext cx="4311396" cy="610362"/>
          </a:xfrm>
          <a:prstGeom prst="rect">
            <a:avLst/>
          </a:prstGeom>
          <a:noFill/>
        </p:spPr>
        <p:txBody>
          <a:bodyPr wrap="square" lIns="0" rIns="0" tIns="0" bIns="0" anchor="ctr">
            <a:noAutofit/>
          </a:bodyPr>
          <a:lstStyle/>
          <a:p>
            <a:pPr algn="ctr"/>
            <a:r>
              <a:rPr sz="1700" i="0">
                <a:solidFill>
                  <a:srgbClr val="1B1B1B"/>
                </a:solidFill>
                <a:latin typeface="Segoe UI"/>
              </a:rPr>
              <a:t>A full downloaded library</a:t>
            </a:r>
          </a:p>
        </p:txBody>
      </p:sp>
      <p:sp>
        <p:nvSpPr>
          <p:cNvPr id="32" name="Rounded Rectangle 31"/>
          <p:cNvSpPr/>
          <p:nvPr/>
        </p:nvSpPr>
        <p:spPr>
          <a:xfrm>
            <a:off x="548640" y="5488686"/>
            <a:ext cx="4860036" cy="683514"/>
          </a:xfrm>
          <a:prstGeom prst="roundRect">
            <a:avLst>
              <a:gd name="adj" fmla="val 50000"/>
            </a:avLst>
          </a:prstGeom>
          <a:solidFill>
            <a:srgbClr val="E0EFFA"/>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22960" y="5525262"/>
            <a:ext cx="4311396" cy="610362"/>
          </a:xfrm>
          <a:prstGeom prst="rect">
            <a:avLst/>
          </a:prstGeom>
          <a:noFill/>
        </p:spPr>
        <p:txBody>
          <a:bodyPr wrap="square" lIns="0" rIns="0" tIns="0" bIns="0" anchor="ctr">
            <a:noAutofit/>
          </a:bodyPr>
          <a:lstStyle/>
          <a:p>
            <a:pPr algn="ctr"/>
            <a:r>
              <a:rPr sz="1700" i="0">
                <a:solidFill>
                  <a:srgbClr val="1B1B1B"/>
                </a:solidFill>
                <a:latin typeface="Segoe UI"/>
              </a:rPr>
              <a:t>Copilot when connected</a:t>
            </a:r>
          </a:p>
        </p:txBody>
      </p:sp>
      <p:cxnSp>
        <p:nvCxnSpPr>
          <p:cNvPr id="34" name="Connector 33"/>
          <p:cNvCxnSpPr/>
          <p:nvPr/>
        </p:nvCxnSpPr>
        <p:spPr>
          <a:xfrm>
            <a:off x="5481828" y="5830443"/>
            <a:ext cx="1225296" cy="0"/>
          </a:xfrm>
          <a:prstGeom prst="line">
            <a:avLst/>
          </a:prstGeom>
          <a:ln w="25400">
            <a:solidFill>
              <a:srgbClr val="8A8A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6780276" y="5488686"/>
            <a:ext cx="4860036" cy="683514"/>
          </a:xfrm>
          <a:prstGeom prst="roundRect">
            <a:avLst>
              <a:gd name="adj" fmla="val 50000"/>
            </a:avLst>
          </a:prstGeom>
          <a:solidFill>
            <a:srgbClr val="FAE4DB"/>
          </a:solidFill>
          <a:ln w="15875">
            <a:solidFill>
              <a:srgbClr val="D83B0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054596" y="5525262"/>
            <a:ext cx="4311396" cy="610362"/>
          </a:xfrm>
          <a:prstGeom prst="rect">
            <a:avLst/>
          </a:prstGeom>
          <a:noFill/>
        </p:spPr>
        <p:txBody>
          <a:bodyPr wrap="square" lIns="0" rIns="0" tIns="0" bIns="0" anchor="ctr">
            <a:noAutofit/>
          </a:bodyPr>
          <a:lstStyle/>
          <a:p>
            <a:pPr algn="ctr"/>
            <a:r>
              <a:rPr sz="1700" i="0">
                <a:solidFill>
                  <a:srgbClr val="1B1B1B"/>
                </a:solidFill>
                <a:latin typeface="Segoe UI"/>
              </a:rPr>
              <a:t>Streaming after landing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Like the Safe in Your Hotel Room</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Drafting runs on the laptop, so sensitive client notes needn't leave the device.</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5</a:t>
            </a:r>
          </a:p>
        </p:txBody>
      </p:sp>
      <p:sp>
        <p:nvSpPr>
          <p:cNvPr id="10" name="Oval 9"/>
          <p:cNvSpPr/>
          <p:nvPr/>
        </p:nvSpPr>
        <p:spPr>
          <a:xfrm>
            <a:off x="617220" y="1851660"/>
            <a:ext cx="960120" cy="96012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1637" y="1986077"/>
            <a:ext cx="691286" cy="691286"/>
          </a:xfrm>
          <a:prstGeom prst="rect">
            <a:avLst/>
          </a:prstGeom>
          <a:noFill/>
        </p:spPr>
        <p:txBody>
          <a:bodyPr wrap="none" lIns="0" rIns="0" tIns="0" bIns="0" anchor="ctr">
            <a:spAutoFit/>
          </a:bodyPr>
          <a:lstStyle/>
          <a:p>
            <a:pPr algn="ctr"/>
            <a:r>
              <a:rPr sz="3374">
                <a:solidFill>
                  <a:srgbClr val="FFFFFF"/>
                </a:solidFill>
                <a:latin typeface="Segoe Fluent Icons"/>
              </a:rPr>
              <a:t></a:t>
            </a:r>
          </a:p>
        </p:txBody>
      </p:sp>
      <p:sp>
        <p:nvSpPr>
          <p:cNvPr id="12" name="TextBox 11"/>
          <p:cNvSpPr txBox="1"/>
          <p:nvPr/>
        </p:nvSpPr>
        <p:spPr>
          <a:xfrm>
            <a:off x="1737360" y="1920240"/>
            <a:ext cx="3625596" cy="822960"/>
          </a:xfrm>
          <a:prstGeom prst="rect">
            <a:avLst/>
          </a:prstGeom>
          <a:noFill/>
        </p:spPr>
        <p:txBody>
          <a:bodyPr wrap="square" lIns="0" rIns="0" tIns="0" bIns="0" anchor="ctr">
            <a:noAutofit/>
          </a:bodyPr>
          <a:lstStyle/>
          <a:p>
            <a:pPr algn="l"/>
            <a:r>
              <a:rPr sz="2400" i="0">
                <a:solidFill>
                  <a:srgbClr val="1B1B1B"/>
                </a:solidFill>
                <a:latin typeface="Segoe UI Semibold"/>
              </a:rPr>
              <a:t>On-device drafting</a:t>
            </a:r>
          </a:p>
        </p:txBody>
      </p:sp>
      <p:sp>
        <p:nvSpPr>
          <p:cNvPr id="13" name="Oval 12"/>
          <p:cNvSpPr/>
          <p:nvPr/>
        </p:nvSpPr>
        <p:spPr>
          <a:xfrm>
            <a:off x="10611612" y="1851660"/>
            <a:ext cx="960120" cy="960120"/>
          </a:xfrm>
          <a:prstGeom prst="ellipse">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746029" y="1986077"/>
            <a:ext cx="691286" cy="691286"/>
          </a:xfrm>
          <a:prstGeom prst="rect">
            <a:avLst/>
          </a:prstGeom>
          <a:noFill/>
        </p:spPr>
        <p:txBody>
          <a:bodyPr wrap="none" lIns="0" rIns="0" tIns="0" bIns="0" anchor="ctr">
            <a:spAutoFit/>
          </a:bodyPr>
          <a:lstStyle/>
          <a:p>
            <a:pPr algn="ctr"/>
            <a:r>
              <a:rPr sz="3374">
                <a:solidFill>
                  <a:srgbClr val="FFFFFF"/>
                </a:solidFill>
                <a:latin typeface="Segoe Fluent Icons"/>
              </a:rPr>
              <a:t></a:t>
            </a:r>
          </a:p>
        </p:txBody>
      </p:sp>
      <p:sp>
        <p:nvSpPr>
          <p:cNvPr id="15" name="TextBox 14"/>
          <p:cNvSpPr txBox="1"/>
          <p:nvPr/>
        </p:nvSpPr>
        <p:spPr>
          <a:xfrm>
            <a:off x="6780276" y="1920240"/>
            <a:ext cx="3625596" cy="822960"/>
          </a:xfrm>
          <a:prstGeom prst="rect">
            <a:avLst/>
          </a:prstGeom>
          <a:noFill/>
        </p:spPr>
        <p:txBody>
          <a:bodyPr wrap="square" lIns="0" rIns="0" tIns="0" bIns="0" anchor="ctr">
            <a:noAutofit/>
          </a:bodyPr>
          <a:lstStyle/>
          <a:p>
            <a:pPr algn="r"/>
            <a:r>
              <a:rPr sz="2400" i="0">
                <a:solidFill>
                  <a:srgbClr val="1B1B1B"/>
                </a:solidFill>
                <a:latin typeface="Segoe UI Semibold"/>
              </a:rPr>
              <a:t>Hotel room safe</a:t>
            </a:r>
          </a:p>
        </p:txBody>
      </p:sp>
      <p:sp>
        <p:nvSpPr>
          <p:cNvPr id="16" name="TextBox 15"/>
          <p:cNvSpPr txBox="1"/>
          <p:nvPr/>
        </p:nvSpPr>
        <p:spPr>
          <a:xfrm>
            <a:off x="5408676" y="2057400"/>
            <a:ext cx="1371600" cy="548640"/>
          </a:xfrm>
          <a:prstGeom prst="rect">
            <a:avLst/>
          </a:prstGeom>
          <a:noFill/>
        </p:spPr>
        <p:txBody>
          <a:bodyPr wrap="square" lIns="0" rIns="0" tIns="0" bIns="0" anchor="ctr">
            <a:noAutofit/>
          </a:bodyPr>
          <a:lstStyle/>
          <a:p>
            <a:pPr algn="ctr"/>
            <a:r>
              <a:rPr sz="1600" i="1">
                <a:solidFill>
                  <a:srgbClr val="8A8A8A"/>
                </a:solidFill>
                <a:latin typeface="Segoe UI"/>
              </a:rPr>
              <a:t>is like</a:t>
            </a:r>
          </a:p>
        </p:txBody>
      </p:sp>
      <p:sp>
        <p:nvSpPr>
          <p:cNvPr id="17" name="Rounded Rectangle 16"/>
          <p:cNvSpPr/>
          <p:nvPr/>
        </p:nvSpPr>
        <p:spPr>
          <a:xfrm>
            <a:off x="548640" y="3108960"/>
            <a:ext cx="4860036" cy="683514"/>
          </a:xfrm>
          <a:prstGeom prst="roundRect">
            <a:avLst>
              <a:gd name="adj" fmla="val 50000"/>
            </a:avLst>
          </a:prstGeom>
          <a:solidFill>
            <a:srgbClr val="E0EFFA"/>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2960" y="3145536"/>
            <a:ext cx="4311396" cy="610362"/>
          </a:xfrm>
          <a:prstGeom prst="rect">
            <a:avLst/>
          </a:prstGeom>
          <a:noFill/>
        </p:spPr>
        <p:txBody>
          <a:bodyPr wrap="square" lIns="0" rIns="0" tIns="0" bIns="0" anchor="ctr">
            <a:noAutofit/>
          </a:bodyPr>
          <a:lstStyle/>
          <a:p>
            <a:pPr algn="ctr"/>
            <a:r>
              <a:rPr sz="1700" i="0">
                <a:solidFill>
                  <a:srgbClr val="1B1B1B"/>
                </a:solidFill>
                <a:latin typeface="Segoe UI"/>
              </a:rPr>
              <a:t>Client notes and documents</a:t>
            </a:r>
          </a:p>
        </p:txBody>
      </p:sp>
      <p:cxnSp>
        <p:nvCxnSpPr>
          <p:cNvPr id="19" name="Connector 18"/>
          <p:cNvCxnSpPr/>
          <p:nvPr/>
        </p:nvCxnSpPr>
        <p:spPr>
          <a:xfrm>
            <a:off x="5481828" y="3450717"/>
            <a:ext cx="1225296" cy="0"/>
          </a:xfrm>
          <a:prstGeom prst="line">
            <a:avLst/>
          </a:prstGeom>
          <a:ln w="25400">
            <a:solidFill>
              <a:srgbClr val="8A8A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780276" y="3108960"/>
            <a:ext cx="4860036" cy="683514"/>
          </a:xfrm>
          <a:prstGeom prst="roundRect">
            <a:avLst>
              <a:gd name="adj" fmla="val 50000"/>
            </a:avLst>
          </a:prstGeom>
          <a:solidFill>
            <a:srgbClr val="FAE4DB"/>
          </a:solidFill>
          <a:ln w="15875">
            <a:solidFill>
              <a:srgbClr val="D83B0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54596" y="3145536"/>
            <a:ext cx="4311396" cy="610362"/>
          </a:xfrm>
          <a:prstGeom prst="rect">
            <a:avLst/>
          </a:prstGeom>
          <a:noFill/>
        </p:spPr>
        <p:txBody>
          <a:bodyPr wrap="square" lIns="0" rIns="0" tIns="0" bIns="0" anchor="ctr">
            <a:noAutofit/>
          </a:bodyPr>
          <a:lstStyle/>
          <a:p>
            <a:pPr algn="ctr"/>
            <a:r>
              <a:rPr sz="1700" i="0">
                <a:solidFill>
                  <a:srgbClr val="1B1B1B"/>
                </a:solidFill>
                <a:latin typeface="Segoe UI"/>
              </a:rPr>
              <a:t>Passport and valuables</a:t>
            </a:r>
          </a:p>
        </p:txBody>
      </p:sp>
      <p:sp>
        <p:nvSpPr>
          <p:cNvPr id="22" name="Rounded Rectangle 21"/>
          <p:cNvSpPr/>
          <p:nvPr/>
        </p:nvSpPr>
        <p:spPr>
          <a:xfrm>
            <a:off x="548640" y="3902202"/>
            <a:ext cx="4860036" cy="683514"/>
          </a:xfrm>
          <a:prstGeom prst="roundRect">
            <a:avLst>
              <a:gd name="adj" fmla="val 50000"/>
            </a:avLst>
          </a:prstGeom>
          <a:solidFill>
            <a:srgbClr val="E0EFFA"/>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22960" y="3938778"/>
            <a:ext cx="4311396" cy="610362"/>
          </a:xfrm>
          <a:prstGeom prst="rect">
            <a:avLst/>
          </a:prstGeom>
          <a:noFill/>
        </p:spPr>
        <p:txBody>
          <a:bodyPr wrap="square" lIns="0" rIns="0" tIns="0" bIns="0" anchor="ctr">
            <a:noAutofit/>
          </a:bodyPr>
          <a:lstStyle/>
          <a:p>
            <a:pPr algn="ctr"/>
            <a:r>
              <a:rPr sz="1700" i="0">
                <a:solidFill>
                  <a:srgbClr val="1B1B1B"/>
                </a:solidFill>
                <a:latin typeface="Segoe UI"/>
              </a:rPr>
              <a:t>Model runs on laptop</a:t>
            </a:r>
          </a:p>
        </p:txBody>
      </p:sp>
      <p:cxnSp>
        <p:nvCxnSpPr>
          <p:cNvPr id="24" name="Connector 23"/>
          <p:cNvCxnSpPr/>
          <p:nvPr/>
        </p:nvCxnSpPr>
        <p:spPr>
          <a:xfrm>
            <a:off x="5481828" y="4243959"/>
            <a:ext cx="1225296" cy="0"/>
          </a:xfrm>
          <a:prstGeom prst="line">
            <a:avLst/>
          </a:prstGeom>
          <a:ln w="25400">
            <a:solidFill>
              <a:srgbClr val="8A8A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780276" y="3902202"/>
            <a:ext cx="4860036" cy="683514"/>
          </a:xfrm>
          <a:prstGeom prst="roundRect">
            <a:avLst>
              <a:gd name="adj" fmla="val 50000"/>
            </a:avLst>
          </a:prstGeom>
          <a:solidFill>
            <a:srgbClr val="FAE4DB"/>
          </a:solidFill>
          <a:ln w="15875">
            <a:solidFill>
              <a:srgbClr val="D83B0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054596" y="3938778"/>
            <a:ext cx="4311396" cy="610362"/>
          </a:xfrm>
          <a:prstGeom prst="rect">
            <a:avLst/>
          </a:prstGeom>
          <a:noFill/>
        </p:spPr>
        <p:txBody>
          <a:bodyPr wrap="square" lIns="0" rIns="0" tIns="0" bIns="0" anchor="ctr">
            <a:noAutofit/>
          </a:bodyPr>
          <a:lstStyle/>
          <a:p>
            <a:pPr algn="ctr"/>
            <a:r>
              <a:rPr sz="1700" i="0">
                <a:solidFill>
                  <a:srgbClr val="1B1B1B"/>
                </a:solidFill>
                <a:latin typeface="Segoe UI"/>
              </a:rPr>
              <a:t>Safe built into room</a:t>
            </a:r>
          </a:p>
        </p:txBody>
      </p:sp>
      <p:sp>
        <p:nvSpPr>
          <p:cNvPr id="27" name="Rounded Rectangle 26"/>
          <p:cNvSpPr/>
          <p:nvPr/>
        </p:nvSpPr>
        <p:spPr>
          <a:xfrm>
            <a:off x="548640" y="4695444"/>
            <a:ext cx="4860036" cy="683514"/>
          </a:xfrm>
          <a:prstGeom prst="roundRect">
            <a:avLst>
              <a:gd name="adj" fmla="val 50000"/>
            </a:avLst>
          </a:prstGeom>
          <a:solidFill>
            <a:srgbClr val="E0EFFA"/>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2960" y="4732020"/>
            <a:ext cx="4311396" cy="610362"/>
          </a:xfrm>
          <a:prstGeom prst="rect">
            <a:avLst/>
          </a:prstGeom>
          <a:noFill/>
        </p:spPr>
        <p:txBody>
          <a:bodyPr wrap="square" lIns="0" rIns="0" tIns="0" bIns="0" anchor="ctr">
            <a:noAutofit/>
          </a:bodyPr>
          <a:lstStyle/>
          <a:p>
            <a:pPr algn="ctr"/>
            <a:r>
              <a:rPr sz="1700" i="0">
                <a:solidFill>
                  <a:srgbClr val="1B1B1B"/>
                </a:solidFill>
                <a:latin typeface="Segoe UI"/>
              </a:rPr>
              <a:t>No upload to draft</a:t>
            </a:r>
          </a:p>
        </p:txBody>
      </p:sp>
      <p:cxnSp>
        <p:nvCxnSpPr>
          <p:cNvPr id="29" name="Connector 28"/>
          <p:cNvCxnSpPr/>
          <p:nvPr/>
        </p:nvCxnSpPr>
        <p:spPr>
          <a:xfrm>
            <a:off x="5481828" y="5037201"/>
            <a:ext cx="1225296" cy="0"/>
          </a:xfrm>
          <a:prstGeom prst="line">
            <a:avLst/>
          </a:prstGeom>
          <a:ln w="25400">
            <a:solidFill>
              <a:srgbClr val="8A8A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780276" y="4695444"/>
            <a:ext cx="4860036" cy="683514"/>
          </a:xfrm>
          <a:prstGeom prst="roundRect">
            <a:avLst>
              <a:gd name="adj" fmla="val 50000"/>
            </a:avLst>
          </a:prstGeom>
          <a:solidFill>
            <a:srgbClr val="FAE4DB"/>
          </a:solidFill>
          <a:ln w="15875">
            <a:solidFill>
              <a:srgbClr val="D83B0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054596" y="4732020"/>
            <a:ext cx="4311396" cy="610362"/>
          </a:xfrm>
          <a:prstGeom prst="rect">
            <a:avLst/>
          </a:prstGeom>
          <a:noFill/>
        </p:spPr>
        <p:txBody>
          <a:bodyPr wrap="square" lIns="0" rIns="0" tIns="0" bIns="0" anchor="ctr">
            <a:noAutofit/>
          </a:bodyPr>
          <a:lstStyle/>
          <a:p>
            <a:pPr algn="ctr"/>
            <a:r>
              <a:rPr sz="1700" i="0">
                <a:solidFill>
                  <a:srgbClr val="1B1B1B"/>
                </a:solidFill>
                <a:latin typeface="Segoe UI"/>
              </a:rPr>
              <a:t>No front-desk handoff</a:t>
            </a:r>
          </a:p>
        </p:txBody>
      </p:sp>
      <p:sp>
        <p:nvSpPr>
          <p:cNvPr id="32" name="Rounded Rectangle 31"/>
          <p:cNvSpPr/>
          <p:nvPr/>
        </p:nvSpPr>
        <p:spPr>
          <a:xfrm>
            <a:off x="548640" y="5488686"/>
            <a:ext cx="4860036" cy="683514"/>
          </a:xfrm>
          <a:prstGeom prst="roundRect">
            <a:avLst>
              <a:gd name="adj" fmla="val 50000"/>
            </a:avLst>
          </a:prstGeom>
          <a:solidFill>
            <a:srgbClr val="E0EFFA"/>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22960" y="5525262"/>
            <a:ext cx="4311396" cy="610362"/>
          </a:xfrm>
          <a:prstGeom prst="rect">
            <a:avLst/>
          </a:prstGeom>
          <a:noFill/>
        </p:spPr>
        <p:txBody>
          <a:bodyPr wrap="square" lIns="0" rIns="0" tIns="0" bIns="0" anchor="ctr">
            <a:noAutofit/>
          </a:bodyPr>
          <a:lstStyle/>
          <a:p>
            <a:pPr algn="ctr"/>
            <a:r>
              <a:rPr sz="1700" i="0">
                <a:solidFill>
                  <a:srgbClr val="1B1B1B"/>
                </a:solidFill>
                <a:latin typeface="Segoe UI"/>
              </a:rPr>
              <a:t>Copilot for everyday work</a:t>
            </a:r>
          </a:p>
        </p:txBody>
      </p:sp>
      <p:cxnSp>
        <p:nvCxnSpPr>
          <p:cNvPr id="34" name="Connector 33"/>
          <p:cNvCxnSpPr/>
          <p:nvPr/>
        </p:nvCxnSpPr>
        <p:spPr>
          <a:xfrm>
            <a:off x="5481828" y="5830443"/>
            <a:ext cx="1225296" cy="0"/>
          </a:xfrm>
          <a:prstGeom prst="line">
            <a:avLst/>
          </a:prstGeom>
          <a:ln w="25400">
            <a:solidFill>
              <a:srgbClr val="8A8A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6780276" y="5488686"/>
            <a:ext cx="4860036" cy="683514"/>
          </a:xfrm>
          <a:prstGeom prst="roundRect">
            <a:avLst>
              <a:gd name="adj" fmla="val 50000"/>
            </a:avLst>
          </a:prstGeom>
          <a:solidFill>
            <a:srgbClr val="FAE4DB"/>
          </a:solidFill>
          <a:ln w="15875">
            <a:solidFill>
              <a:srgbClr val="D83B0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054596" y="5525262"/>
            <a:ext cx="4311396" cy="610362"/>
          </a:xfrm>
          <a:prstGeom prst="rect">
            <a:avLst/>
          </a:prstGeom>
          <a:noFill/>
        </p:spPr>
        <p:txBody>
          <a:bodyPr wrap="square" lIns="0" rIns="0" tIns="0" bIns="0" anchor="ctr">
            <a:noAutofit/>
          </a:bodyPr>
          <a:lstStyle/>
          <a:p>
            <a:pPr algn="ctr"/>
            <a:r>
              <a:rPr sz="1700" i="0">
                <a:solidFill>
                  <a:srgbClr val="1B1B1B"/>
                </a:solidFill>
                <a:latin typeface="Segoe UI"/>
              </a:rPr>
              <a:t>Concierge for everything else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A Second Lane Beside Copilot</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Copilot keeps everyday work; sensitive drafting stays inside the laptop boundary.</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6</a:t>
            </a:r>
          </a:p>
        </p:txBody>
      </p:sp>
      <p:cxnSp>
        <p:nvCxnSpPr>
          <p:cNvPr id="10" name="Connector 9"/>
          <p:cNvCxnSpPr/>
          <p:nvPr/>
        </p:nvCxnSpPr>
        <p:spPr>
          <a:xfrm flipV="1">
            <a:off x="2212391" y="2914650"/>
            <a:ext cx="785660" cy="796290"/>
          </a:xfrm>
          <a:prstGeom prst="line">
            <a:avLst/>
          </a:prstGeom>
          <a:ln w="28575">
            <a:solidFill>
              <a:srgbClr val="107C1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212391" y="4290060"/>
            <a:ext cx="785660" cy="796290"/>
          </a:xfrm>
          <a:prstGeom prst="line">
            <a:avLst/>
          </a:prstGeom>
          <a:ln w="28575">
            <a:solidFill>
              <a:srgbClr val="D83B0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044266" y="4000500"/>
            <a:ext cx="8503615" cy="0"/>
          </a:xfrm>
          <a:prstGeom prst="line">
            <a:avLst/>
          </a:prstGeom>
          <a:ln w="28575">
            <a:solidFill>
              <a:srgbClr val="A1A1A1"/>
            </a:solidFill>
            <a:prstDash val="dash"/>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290234" y="3616452"/>
            <a:ext cx="2011680" cy="329184"/>
          </a:xfrm>
          <a:prstGeom prst="rect">
            <a:avLst/>
          </a:prstGeom>
          <a:noFill/>
        </p:spPr>
        <p:txBody>
          <a:bodyPr wrap="square" lIns="0" rIns="0" tIns="0" bIns="0" anchor="t">
            <a:noAutofit/>
          </a:bodyPr>
          <a:lstStyle/>
          <a:p>
            <a:pPr algn="ctr"/>
            <a:r>
              <a:rPr sz="1200" i="0">
                <a:solidFill>
                  <a:srgbClr val="505050"/>
                </a:solidFill>
                <a:latin typeface="Segoe UI"/>
              </a:rPr>
              <a:t>Laptop boundary</a:t>
            </a:r>
          </a:p>
        </p:txBody>
      </p:sp>
      <p:sp>
        <p:nvSpPr>
          <p:cNvPr id="14" name="Oval 13"/>
          <p:cNvSpPr/>
          <p:nvPr/>
        </p:nvSpPr>
        <p:spPr>
          <a:xfrm>
            <a:off x="733501" y="3421380"/>
            <a:ext cx="1478890" cy="1158240"/>
          </a:xfrm>
          <a:prstGeom prst="ellipse">
            <a:avLst/>
          </a:prstGeom>
          <a:solidFill>
            <a:srgbClr val="0078D4"/>
          </a:solidFill>
          <a:ln>
            <a:no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88949" y="3749040"/>
            <a:ext cx="502920" cy="502920"/>
          </a:xfrm>
          <a:prstGeom prst="rect">
            <a:avLst/>
          </a:prstGeom>
          <a:noFill/>
        </p:spPr>
        <p:txBody>
          <a:bodyPr wrap="none" lIns="0" rIns="0" tIns="0" bIns="0" anchor="ctr">
            <a:spAutoFit/>
          </a:bodyPr>
          <a:lstStyle/>
          <a:p>
            <a:pPr algn="ctr"/>
            <a:r>
              <a:rPr sz="2455">
                <a:solidFill>
                  <a:srgbClr val="FFFFFF"/>
                </a:solidFill>
                <a:latin typeface="Segoe Fluent Icons"/>
              </a:rPr>
              <a:t></a:t>
            </a:r>
          </a:p>
        </p:txBody>
      </p:sp>
      <p:sp>
        <p:nvSpPr>
          <p:cNvPr id="16" name="TextBox 15"/>
          <p:cNvSpPr txBox="1"/>
          <p:nvPr/>
        </p:nvSpPr>
        <p:spPr>
          <a:xfrm>
            <a:off x="1510741" y="3531108"/>
            <a:ext cx="610210" cy="938784"/>
          </a:xfrm>
          <a:prstGeom prst="rect">
            <a:avLst/>
          </a:prstGeom>
          <a:noFill/>
        </p:spPr>
        <p:txBody>
          <a:bodyPr wrap="square" lIns="0" rIns="0" tIns="0" bIns="0" anchor="ctr">
            <a:noAutofit/>
          </a:bodyPr>
          <a:lstStyle/>
          <a:p>
            <a:pPr algn="l"/>
            <a:r>
              <a:rPr sz="900" i="0">
                <a:solidFill>
                  <a:srgbClr val="FFFFFF"/>
                </a:solidFill>
                <a:latin typeface="Segoe UI Semibold"/>
              </a:rPr>
              <a:t>Consultant</a:t>
            </a:r>
          </a:p>
        </p:txBody>
      </p:sp>
      <p:sp>
        <p:nvSpPr>
          <p:cNvPr id="17" name="TextBox 16"/>
          <p:cNvSpPr txBox="1"/>
          <p:nvPr/>
        </p:nvSpPr>
        <p:spPr>
          <a:xfrm>
            <a:off x="3044266" y="1937385"/>
            <a:ext cx="3697224" cy="361950"/>
          </a:xfrm>
          <a:prstGeom prst="rect">
            <a:avLst/>
          </a:prstGeom>
          <a:noFill/>
        </p:spPr>
        <p:txBody>
          <a:bodyPr wrap="square" lIns="0" rIns="0" tIns="0" bIns="0" anchor="t">
            <a:noAutofit/>
          </a:bodyPr>
          <a:lstStyle/>
          <a:p>
            <a:pPr algn="l"/>
            <a:r>
              <a:rPr sz="1400" i="0">
                <a:solidFill>
                  <a:srgbClr val="107C10"/>
                </a:solidFill>
                <a:latin typeface="Segoe UI"/>
              </a:rPr>
              <a:t>Cloud lane</a:t>
            </a:r>
          </a:p>
        </p:txBody>
      </p:sp>
      <p:sp>
        <p:nvSpPr>
          <p:cNvPr id="18" name="Chevron 17"/>
          <p:cNvSpPr/>
          <p:nvPr/>
        </p:nvSpPr>
        <p:spPr>
          <a:xfrm>
            <a:off x="3044266" y="2407920"/>
            <a:ext cx="2772918" cy="1013460"/>
          </a:xfrm>
          <a:prstGeom prst="chevron">
            <a:avLst/>
          </a:prstGeom>
          <a:solidFill>
            <a:srgbClr val="107C10"/>
          </a:solidFill>
          <a:ln>
            <a:no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199714" y="2663190"/>
            <a:ext cx="502920" cy="502920"/>
          </a:xfrm>
          <a:prstGeom prst="rect">
            <a:avLst/>
          </a:prstGeom>
          <a:noFill/>
        </p:spPr>
        <p:txBody>
          <a:bodyPr wrap="none" lIns="0" rIns="0" tIns="0" bIns="0" anchor="ctr">
            <a:spAutoFit/>
          </a:bodyPr>
          <a:lstStyle/>
          <a:p>
            <a:pPr algn="ctr"/>
            <a:r>
              <a:rPr sz="2455">
                <a:solidFill>
                  <a:srgbClr val="FFFFFF"/>
                </a:solidFill>
                <a:latin typeface="Segoe Fluent Icons"/>
              </a:rPr>
              <a:t></a:t>
            </a:r>
          </a:p>
        </p:txBody>
      </p:sp>
      <p:sp>
        <p:nvSpPr>
          <p:cNvPr id="20" name="TextBox 19"/>
          <p:cNvSpPr txBox="1"/>
          <p:nvPr/>
        </p:nvSpPr>
        <p:spPr>
          <a:xfrm>
            <a:off x="3821506" y="2517648"/>
            <a:ext cx="1904238" cy="794004"/>
          </a:xfrm>
          <a:prstGeom prst="rect">
            <a:avLst/>
          </a:prstGeom>
          <a:noFill/>
        </p:spPr>
        <p:txBody>
          <a:bodyPr wrap="square" lIns="0" rIns="0" tIns="0" bIns="0" anchor="ctr">
            <a:noAutofit/>
          </a:bodyPr>
          <a:lstStyle/>
          <a:p>
            <a:pPr algn="l"/>
            <a:r>
              <a:rPr sz="1600" i="0">
                <a:solidFill>
                  <a:srgbClr val="FFFFFF"/>
                </a:solidFill>
                <a:latin typeface="Segoe UI Semibold"/>
              </a:rPr>
              <a:t>Everyday M365 work</a:t>
            </a:r>
          </a:p>
        </p:txBody>
      </p:sp>
      <p:sp>
        <p:nvSpPr>
          <p:cNvPr id="21" name="Chevron 20"/>
          <p:cNvSpPr/>
          <p:nvPr/>
        </p:nvSpPr>
        <p:spPr>
          <a:xfrm>
            <a:off x="5909615" y="2407920"/>
            <a:ext cx="2772918" cy="1013460"/>
          </a:xfrm>
          <a:prstGeom prst="chevron">
            <a:avLst/>
          </a:prstGeom>
          <a:solidFill>
            <a:srgbClr val="107C10"/>
          </a:solidFill>
          <a:ln>
            <a:no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065063" y="2663190"/>
            <a:ext cx="502920" cy="502920"/>
          </a:xfrm>
          <a:prstGeom prst="rect">
            <a:avLst/>
          </a:prstGeom>
          <a:noFill/>
        </p:spPr>
        <p:txBody>
          <a:bodyPr wrap="none" lIns="0" rIns="0" tIns="0" bIns="0" anchor="ctr">
            <a:spAutoFit/>
          </a:bodyPr>
          <a:lstStyle/>
          <a:p>
            <a:pPr algn="ctr"/>
            <a:r>
              <a:rPr sz="2455">
                <a:solidFill>
                  <a:srgbClr val="FFFFFF"/>
                </a:solidFill>
                <a:latin typeface="Segoe Fluent Icons"/>
              </a:rPr>
              <a:t></a:t>
            </a:r>
          </a:p>
        </p:txBody>
      </p:sp>
      <p:sp>
        <p:nvSpPr>
          <p:cNvPr id="23" name="TextBox 22"/>
          <p:cNvSpPr txBox="1"/>
          <p:nvPr/>
        </p:nvSpPr>
        <p:spPr>
          <a:xfrm>
            <a:off x="6686855" y="2517648"/>
            <a:ext cx="1904238" cy="794004"/>
          </a:xfrm>
          <a:prstGeom prst="rect">
            <a:avLst/>
          </a:prstGeom>
          <a:noFill/>
        </p:spPr>
        <p:txBody>
          <a:bodyPr wrap="square" lIns="0" rIns="0" tIns="0" bIns="0" anchor="ctr">
            <a:noAutofit/>
          </a:bodyPr>
          <a:lstStyle/>
          <a:p>
            <a:pPr algn="l"/>
            <a:r>
              <a:rPr sz="1600" i="0">
                <a:solidFill>
                  <a:srgbClr val="FFFFFF"/>
                </a:solidFill>
                <a:latin typeface="Segoe UI Semibold"/>
              </a:rPr>
              <a:t>Microsoft 365 Copilot</a:t>
            </a:r>
          </a:p>
        </p:txBody>
      </p:sp>
      <p:sp>
        <p:nvSpPr>
          <p:cNvPr id="24" name="Chevron 23"/>
          <p:cNvSpPr/>
          <p:nvPr/>
        </p:nvSpPr>
        <p:spPr>
          <a:xfrm>
            <a:off x="8774963" y="2407920"/>
            <a:ext cx="2772918" cy="1013460"/>
          </a:xfrm>
          <a:prstGeom prst="chevron">
            <a:avLst/>
          </a:prstGeom>
          <a:solidFill>
            <a:srgbClr val="107C10"/>
          </a:solidFill>
          <a:ln>
            <a:no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930411" y="2663190"/>
            <a:ext cx="502920" cy="502920"/>
          </a:xfrm>
          <a:prstGeom prst="rect">
            <a:avLst/>
          </a:prstGeom>
          <a:noFill/>
        </p:spPr>
        <p:txBody>
          <a:bodyPr wrap="none" lIns="0" rIns="0" tIns="0" bIns="0" anchor="ctr">
            <a:spAutoFit/>
          </a:bodyPr>
          <a:lstStyle/>
          <a:p>
            <a:pPr algn="ctr"/>
            <a:r>
              <a:rPr sz="2455">
                <a:solidFill>
                  <a:srgbClr val="FFFFFF"/>
                </a:solidFill>
                <a:latin typeface="Segoe Fluent Icons"/>
              </a:rPr>
              <a:t></a:t>
            </a:r>
          </a:p>
        </p:txBody>
      </p:sp>
      <p:sp>
        <p:nvSpPr>
          <p:cNvPr id="26" name="TextBox 25"/>
          <p:cNvSpPr txBox="1"/>
          <p:nvPr/>
        </p:nvSpPr>
        <p:spPr>
          <a:xfrm>
            <a:off x="9552203" y="2517648"/>
            <a:ext cx="1904238" cy="794004"/>
          </a:xfrm>
          <a:prstGeom prst="rect">
            <a:avLst/>
          </a:prstGeom>
          <a:noFill/>
        </p:spPr>
        <p:txBody>
          <a:bodyPr wrap="square" lIns="0" rIns="0" tIns="0" bIns="0" anchor="ctr">
            <a:noAutofit/>
          </a:bodyPr>
          <a:lstStyle/>
          <a:p>
            <a:pPr algn="l"/>
            <a:r>
              <a:rPr sz="1600" i="0">
                <a:solidFill>
                  <a:srgbClr val="FFFFFF"/>
                </a:solidFill>
                <a:latin typeface="Segoe UI Semibold"/>
              </a:rPr>
              <a:t>Stays as today</a:t>
            </a:r>
          </a:p>
        </p:txBody>
      </p:sp>
      <p:sp>
        <p:nvSpPr>
          <p:cNvPr id="27" name="Chevron 26"/>
          <p:cNvSpPr/>
          <p:nvPr/>
        </p:nvSpPr>
        <p:spPr>
          <a:xfrm>
            <a:off x="3044266" y="4579620"/>
            <a:ext cx="2772918" cy="1013460"/>
          </a:xfrm>
          <a:prstGeom prst="chevron">
            <a:avLst/>
          </a:prstGeom>
          <a:solidFill>
            <a:srgbClr val="D83B01"/>
          </a:solidFill>
          <a:ln>
            <a:no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199714" y="4834890"/>
            <a:ext cx="502920" cy="502920"/>
          </a:xfrm>
          <a:prstGeom prst="rect">
            <a:avLst/>
          </a:prstGeom>
          <a:noFill/>
        </p:spPr>
        <p:txBody>
          <a:bodyPr wrap="none" lIns="0" rIns="0" tIns="0" bIns="0" anchor="ctr">
            <a:spAutoFit/>
          </a:bodyPr>
          <a:lstStyle/>
          <a:p>
            <a:pPr algn="ctr"/>
            <a:r>
              <a:rPr sz="2455">
                <a:solidFill>
                  <a:srgbClr val="FFFFFF"/>
                </a:solidFill>
                <a:latin typeface="Segoe Fluent Icons"/>
              </a:rPr>
              <a:t></a:t>
            </a:r>
          </a:p>
        </p:txBody>
      </p:sp>
      <p:sp>
        <p:nvSpPr>
          <p:cNvPr id="29" name="TextBox 28"/>
          <p:cNvSpPr txBox="1"/>
          <p:nvPr/>
        </p:nvSpPr>
        <p:spPr>
          <a:xfrm>
            <a:off x="3821506" y="4689348"/>
            <a:ext cx="1904238" cy="794004"/>
          </a:xfrm>
          <a:prstGeom prst="rect">
            <a:avLst/>
          </a:prstGeom>
          <a:noFill/>
        </p:spPr>
        <p:txBody>
          <a:bodyPr wrap="square" lIns="0" rIns="0" tIns="0" bIns="0" anchor="ctr">
            <a:noAutofit/>
          </a:bodyPr>
          <a:lstStyle/>
          <a:p>
            <a:pPr algn="l"/>
            <a:r>
              <a:rPr sz="1600" i="0">
                <a:solidFill>
                  <a:srgbClr val="FFFFFF"/>
                </a:solidFill>
                <a:latin typeface="Segoe UI Semibold"/>
              </a:rPr>
              <a:t>Sensitive client notes</a:t>
            </a:r>
          </a:p>
        </p:txBody>
      </p:sp>
      <p:sp>
        <p:nvSpPr>
          <p:cNvPr id="30" name="Chevron 29"/>
          <p:cNvSpPr/>
          <p:nvPr/>
        </p:nvSpPr>
        <p:spPr>
          <a:xfrm>
            <a:off x="5909615" y="4579620"/>
            <a:ext cx="2772918" cy="1013460"/>
          </a:xfrm>
          <a:prstGeom prst="chevron">
            <a:avLst/>
          </a:prstGeom>
          <a:solidFill>
            <a:srgbClr val="D83B01"/>
          </a:solidFill>
          <a:ln>
            <a:no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065063" y="4834890"/>
            <a:ext cx="502920" cy="502920"/>
          </a:xfrm>
          <a:prstGeom prst="rect">
            <a:avLst/>
          </a:prstGeom>
          <a:noFill/>
        </p:spPr>
        <p:txBody>
          <a:bodyPr wrap="none" lIns="0" rIns="0" tIns="0" bIns="0" anchor="ctr">
            <a:spAutoFit/>
          </a:bodyPr>
          <a:lstStyle/>
          <a:p>
            <a:pPr algn="ctr"/>
            <a:r>
              <a:rPr sz="2455">
                <a:solidFill>
                  <a:srgbClr val="FFFFFF"/>
                </a:solidFill>
                <a:latin typeface="Segoe Fluent Icons"/>
              </a:rPr>
              <a:t></a:t>
            </a:r>
          </a:p>
        </p:txBody>
      </p:sp>
      <p:sp>
        <p:nvSpPr>
          <p:cNvPr id="32" name="TextBox 31"/>
          <p:cNvSpPr txBox="1"/>
          <p:nvPr/>
        </p:nvSpPr>
        <p:spPr>
          <a:xfrm>
            <a:off x="6686855" y="4689348"/>
            <a:ext cx="1904238" cy="794004"/>
          </a:xfrm>
          <a:prstGeom prst="rect">
            <a:avLst/>
          </a:prstGeom>
          <a:noFill/>
        </p:spPr>
        <p:txBody>
          <a:bodyPr wrap="square" lIns="0" rIns="0" tIns="0" bIns="0" anchor="ctr">
            <a:noAutofit/>
          </a:bodyPr>
          <a:lstStyle/>
          <a:p>
            <a:pPr algn="l"/>
            <a:r>
              <a:rPr sz="1600" i="0">
                <a:solidFill>
                  <a:srgbClr val="FFFFFF"/>
                </a:solidFill>
                <a:latin typeface="Segoe UI Semibold"/>
              </a:rPr>
              <a:t>Local model on GPU</a:t>
            </a:r>
          </a:p>
        </p:txBody>
      </p:sp>
      <p:sp>
        <p:nvSpPr>
          <p:cNvPr id="33" name="Chevron 32"/>
          <p:cNvSpPr/>
          <p:nvPr/>
        </p:nvSpPr>
        <p:spPr>
          <a:xfrm>
            <a:off x="8774963" y="4579620"/>
            <a:ext cx="2772918" cy="1013460"/>
          </a:xfrm>
          <a:prstGeom prst="chevron">
            <a:avLst/>
          </a:prstGeom>
          <a:solidFill>
            <a:srgbClr val="D83B01"/>
          </a:solidFill>
          <a:ln>
            <a:no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930411" y="4834890"/>
            <a:ext cx="502920" cy="502920"/>
          </a:xfrm>
          <a:prstGeom prst="rect">
            <a:avLst/>
          </a:prstGeom>
          <a:noFill/>
        </p:spPr>
        <p:txBody>
          <a:bodyPr wrap="none" lIns="0" rIns="0" tIns="0" bIns="0" anchor="ctr">
            <a:spAutoFit/>
          </a:bodyPr>
          <a:lstStyle/>
          <a:p>
            <a:pPr algn="ctr"/>
            <a:r>
              <a:rPr sz="2455">
                <a:solidFill>
                  <a:srgbClr val="FFFFFF"/>
                </a:solidFill>
                <a:latin typeface="Segoe Fluent Icons"/>
              </a:rPr>
              <a:t></a:t>
            </a:r>
          </a:p>
        </p:txBody>
      </p:sp>
      <p:sp>
        <p:nvSpPr>
          <p:cNvPr id="35" name="TextBox 34"/>
          <p:cNvSpPr txBox="1"/>
          <p:nvPr/>
        </p:nvSpPr>
        <p:spPr>
          <a:xfrm>
            <a:off x="9552203" y="4689348"/>
            <a:ext cx="1904238" cy="794004"/>
          </a:xfrm>
          <a:prstGeom prst="rect">
            <a:avLst/>
          </a:prstGeom>
          <a:noFill/>
        </p:spPr>
        <p:txBody>
          <a:bodyPr wrap="square" lIns="0" rIns="0" tIns="0" bIns="0" anchor="ctr">
            <a:noAutofit/>
          </a:bodyPr>
          <a:lstStyle/>
          <a:p>
            <a:pPr algn="l"/>
            <a:r>
              <a:rPr sz="1600" i="0">
                <a:solidFill>
                  <a:srgbClr val="FFFFFF"/>
                </a:solidFill>
                <a:latin typeface="Segoe UI Semibold"/>
              </a:rPr>
              <a:t>Draft stays on laptop</a:t>
            </a:r>
          </a:p>
        </p:txBody>
      </p:sp>
      <p:sp>
        <p:nvSpPr>
          <p:cNvPr id="36" name="TextBox 35"/>
          <p:cNvSpPr txBox="1"/>
          <p:nvPr/>
        </p:nvSpPr>
        <p:spPr>
          <a:xfrm>
            <a:off x="3044266" y="5701665"/>
            <a:ext cx="3697224" cy="361950"/>
          </a:xfrm>
          <a:prstGeom prst="rect">
            <a:avLst/>
          </a:prstGeom>
          <a:noFill/>
        </p:spPr>
        <p:txBody>
          <a:bodyPr wrap="square" lIns="0" rIns="0" tIns="0" bIns="0" anchor="t">
            <a:noAutofit/>
          </a:bodyPr>
          <a:lstStyle/>
          <a:p>
            <a:pPr algn="l"/>
            <a:r>
              <a:rPr sz="1400" i="0">
                <a:solidFill>
                  <a:srgbClr val="D83B01"/>
                </a:solidFill>
                <a:latin typeface="Segoe UI"/>
              </a:rPr>
              <a:t>Local lane, on device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Inside the Surface Laptop Ultra</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An RTX GPU and 128 GB memory run large open models on-device.</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7</a:t>
            </a:r>
          </a:p>
        </p:txBody>
      </p:sp>
      <p:sp>
        <p:nvSpPr>
          <p:cNvPr id="10" name="Rounded Rectangle 9"/>
          <p:cNvSpPr/>
          <p:nvPr/>
        </p:nvSpPr>
        <p:spPr>
          <a:xfrm>
            <a:off x="548640" y="1888236"/>
            <a:ext cx="9262872" cy="960120"/>
          </a:xfrm>
          <a:prstGeom prst="roundRect">
            <a:avLst>
              <a:gd name="adj" fmla="val 5714"/>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640080" y="1979676"/>
            <a:ext cx="777240" cy="777240"/>
          </a:xfrm>
          <a:prstGeom prst="roundRect">
            <a:avLst>
              <a:gd name="adj" fmla="val 14117"/>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79983" y="2119579"/>
            <a:ext cx="497434" cy="497434"/>
          </a:xfrm>
          <a:prstGeom prst="rect">
            <a:avLst/>
          </a:prstGeom>
          <a:noFill/>
        </p:spPr>
        <p:txBody>
          <a:bodyPr wrap="none" lIns="0" rIns="0" tIns="0" bIns="0" anchor="ctr">
            <a:spAutoFit/>
          </a:bodyPr>
          <a:lstStyle/>
          <a:p>
            <a:pPr algn="ctr"/>
            <a:r>
              <a:rPr sz="2428">
                <a:solidFill>
                  <a:srgbClr val="FFFFFF"/>
                </a:solidFill>
                <a:latin typeface="Segoe Fluent Icons"/>
              </a:rPr>
              <a:t></a:t>
            </a:r>
          </a:p>
        </p:txBody>
      </p:sp>
      <p:sp>
        <p:nvSpPr>
          <p:cNvPr id="13" name="TextBox 12"/>
          <p:cNvSpPr txBox="1"/>
          <p:nvPr/>
        </p:nvSpPr>
        <p:spPr>
          <a:xfrm>
            <a:off x="1618488" y="1961388"/>
            <a:ext cx="3017520" cy="813816"/>
          </a:xfrm>
          <a:prstGeom prst="rect">
            <a:avLst/>
          </a:prstGeom>
          <a:noFill/>
        </p:spPr>
        <p:txBody>
          <a:bodyPr wrap="square" lIns="0" rIns="0" tIns="0" bIns="0" anchor="ctr">
            <a:noAutofit/>
          </a:bodyPr>
          <a:lstStyle/>
          <a:p>
            <a:pPr algn="l"/>
            <a:r>
              <a:rPr sz="2100" i="0">
                <a:solidFill>
                  <a:srgbClr val="1B1B1B"/>
                </a:solidFill>
                <a:latin typeface="Segoe UI Semibold"/>
              </a:rPr>
              <a:t>Consultant drafting</a:t>
            </a:r>
          </a:p>
        </p:txBody>
      </p:sp>
      <p:sp>
        <p:nvSpPr>
          <p:cNvPr id="14" name="TextBox 13"/>
          <p:cNvSpPr txBox="1"/>
          <p:nvPr/>
        </p:nvSpPr>
        <p:spPr>
          <a:xfrm>
            <a:off x="4773168" y="1961388"/>
            <a:ext cx="4855464" cy="813816"/>
          </a:xfrm>
          <a:prstGeom prst="rect">
            <a:avLst/>
          </a:prstGeom>
          <a:noFill/>
        </p:spPr>
        <p:txBody>
          <a:bodyPr wrap="square" lIns="0" rIns="0" tIns="0" bIns="0" anchor="ctr">
            <a:noAutofit/>
          </a:bodyPr>
          <a:lstStyle/>
          <a:p>
            <a:pPr algn="l"/>
            <a:r>
              <a:rPr sz="1600" i="0">
                <a:solidFill>
                  <a:srgbClr val="505050"/>
                </a:solidFill>
                <a:latin typeface="Segoe UI"/>
              </a:rPr>
              <a:t>Interview notes and site documents into summaries</a:t>
            </a:r>
          </a:p>
        </p:txBody>
      </p:sp>
      <p:sp>
        <p:nvSpPr>
          <p:cNvPr id="15" name="Rounded Rectangle 14"/>
          <p:cNvSpPr/>
          <p:nvPr/>
        </p:nvSpPr>
        <p:spPr>
          <a:xfrm>
            <a:off x="548640" y="2976372"/>
            <a:ext cx="9262872" cy="960120"/>
          </a:xfrm>
          <a:prstGeom prst="roundRect">
            <a:avLst>
              <a:gd name="adj" fmla="val 5714"/>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640080" y="3067812"/>
            <a:ext cx="777240" cy="777240"/>
          </a:xfrm>
          <a:prstGeom prst="roundRect">
            <a:avLst>
              <a:gd name="adj" fmla="val 14117"/>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79983" y="3207715"/>
            <a:ext cx="497434" cy="497434"/>
          </a:xfrm>
          <a:prstGeom prst="rect">
            <a:avLst/>
          </a:prstGeom>
          <a:noFill/>
        </p:spPr>
        <p:txBody>
          <a:bodyPr wrap="none" lIns="0" rIns="0" tIns="0" bIns="0" anchor="ctr">
            <a:spAutoFit/>
          </a:bodyPr>
          <a:lstStyle/>
          <a:p>
            <a:pPr algn="ctr"/>
            <a:r>
              <a:rPr sz="2428">
                <a:solidFill>
                  <a:srgbClr val="FFFFFF"/>
                </a:solidFill>
                <a:latin typeface="Segoe Fluent Icons"/>
              </a:rPr>
              <a:t></a:t>
            </a:r>
          </a:p>
        </p:txBody>
      </p:sp>
      <p:sp>
        <p:nvSpPr>
          <p:cNvPr id="18" name="TextBox 17"/>
          <p:cNvSpPr txBox="1"/>
          <p:nvPr/>
        </p:nvSpPr>
        <p:spPr>
          <a:xfrm>
            <a:off x="1618488" y="3049524"/>
            <a:ext cx="3017520" cy="813816"/>
          </a:xfrm>
          <a:prstGeom prst="rect">
            <a:avLst/>
          </a:prstGeom>
          <a:noFill/>
        </p:spPr>
        <p:txBody>
          <a:bodyPr wrap="square" lIns="0" rIns="0" tIns="0" bIns="0" anchor="ctr">
            <a:noAutofit/>
          </a:bodyPr>
          <a:lstStyle/>
          <a:p>
            <a:pPr algn="l"/>
            <a:r>
              <a:rPr sz="2100" i="0">
                <a:solidFill>
                  <a:srgbClr val="1B1B1B"/>
                </a:solidFill>
                <a:latin typeface="Segoe UI Semibold"/>
              </a:rPr>
              <a:t>Local model catalog</a:t>
            </a:r>
          </a:p>
        </p:txBody>
      </p:sp>
      <p:sp>
        <p:nvSpPr>
          <p:cNvPr id="19" name="TextBox 18"/>
          <p:cNvSpPr txBox="1"/>
          <p:nvPr/>
        </p:nvSpPr>
        <p:spPr>
          <a:xfrm>
            <a:off x="4773168" y="3049524"/>
            <a:ext cx="4855464" cy="813816"/>
          </a:xfrm>
          <a:prstGeom prst="rect">
            <a:avLst/>
          </a:prstGeom>
          <a:noFill/>
        </p:spPr>
        <p:txBody>
          <a:bodyPr wrap="square" lIns="0" rIns="0" tIns="0" bIns="0" anchor="ctr">
            <a:noAutofit/>
          </a:bodyPr>
          <a:lstStyle/>
          <a:p>
            <a:pPr algn="l"/>
            <a:r>
              <a:rPr sz="1600" i="0">
                <a:solidFill>
                  <a:srgbClr val="505050"/>
                </a:solidFill>
                <a:latin typeface="Segoe UI"/>
              </a:rPr>
              <a:t>28 open models installed on this device</a:t>
            </a:r>
          </a:p>
        </p:txBody>
      </p:sp>
      <p:sp>
        <p:nvSpPr>
          <p:cNvPr id="20" name="Rounded Rectangle 19"/>
          <p:cNvSpPr/>
          <p:nvPr/>
        </p:nvSpPr>
        <p:spPr>
          <a:xfrm>
            <a:off x="548640" y="4064508"/>
            <a:ext cx="9262872" cy="960120"/>
          </a:xfrm>
          <a:prstGeom prst="roundRect">
            <a:avLst>
              <a:gd name="adj" fmla="val 5714"/>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0080" y="4155948"/>
            <a:ext cx="777240" cy="777240"/>
          </a:xfrm>
          <a:prstGeom prst="roundRect">
            <a:avLst>
              <a:gd name="adj" fmla="val 14117"/>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79983" y="4295851"/>
            <a:ext cx="497434" cy="497434"/>
          </a:xfrm>
          <a:prstGeom prst="rect">
            <a:avLst/>
          </a:prstGeom>
          <a:noFill/>
        </p:spPr>
        <p:txBody>
          <a:bodyPr wrap="none" lIns="0" rIns="0" tIns="0" bIns="0" anchor="ctr">
            <a:spAutoFit/>
          </a:bodyPr>
          <a:lstStyle/>
          <a:p>
            <a:pPr algn="ctr"/>
            <a:r>
              <a:rPr sz="2428">
                <a:solidFill>
                  <a:srgbClr val="FFFFFF"/>
                </a:solidFill>
                <a:latin typeface="Segoe Fluent Icons"/>
              </a:rPr>
              <a:t></a:t>
            </a:r>
          </a:p>
        </p:txBody>
      </p:sp>
      <p:sp>
        <p:nvSpPr>
          <p:cNvPr id="23" name="TextBox 22"/>
          <p:cNvSpPr txBox="1"/>
          <p:nvPr/>
        </p:nvSpPr>
        <p:spPr>
          <a:xfrm>
            <a:off x="1618488" y="4137660"/>
            <a:ext cx="3017520" cy="813816"/>
          </a:xfrm>
          <a:prstGeom prst="rect">
            <a:avLst/>
          </a:prstGeom>
          <a:noFill/>
        </p:spPr>
        <p:txBody>
          <a:bodyPr wrap="square" lIns="0" rIns="0" tIns="0" bIns="0" anchor="ctr">
            <a:noAutofit/>
          </a:bodyPr>
          <a:lstStyle/>
          <a:p>
            <a:pPr algn="l"/>
            <a:r>
              <a:rPr sz="2100" i="0">
                <a:solidFill>
                  <a:srgbClr val="1B1B1B"/>
                </a:solidFill>
                <a:latin typeface="Segoe UI Semibold"/>
              </a:rPr>
              <a:t>NVIDIA RTX Spark</a:t>
            </a:r>
          </a:p>
        </p:txBody>
      </p:sp>
      <p:sp>
        <p:nvSpPr>
          <p:cNvPr id="24" name="TextBox 23"/>
          <p:cNvSpPr txBox="1"/>
          <p:nvPr/>
        </p:nvSpPr>
        <p:spPr>
          <a:xfrm>
            <a:off x="4773168" y="4137660"/>
            <a:ext cx="4855464" cy="813816"/>
          </a:xfrm>
          <a:prstGeom prst="rect">
            <a:avLst/>
          </a:prstGeom>
          <a:noFill/>
        </p:spPr>
        <p:txBody>
          <a:bodyPr wrap="square" lIns="0" rIns="0" tIns="0" bIns="0" anchor="ctr">
            <a:noAutofit/>
          </a:bodyPr>
          <a:lstStyle/>
          <a:p>
            <a:pPr algn="l"/>
            <a:r>
              <a:rPr sz="1600" i="0">
                <a:solidFill>
                  <a:srgbClr val="505050"/>
                </a:solidFill>
                <a:latin typeface="Segoe UI"/>
              </a:rPr>
              <a:t>Blackwell RTX GPU runs the models</a:t>
            </a:r>
          </a:p>
        </p:txBody>
      </p:sp>
      <p:sp>
        <p:nvSpPr>
          <p:cNvPr id="25" name="Rounded Rectangle 24"/>
          <p:cNvSpPr/>
          <p:nvPr/>
        </p:nvSpPr>
        <p:spPr>
          <a:xfrm>
            <a:off x="548640" y="5152644"/>
            <a:ext cx="9262872" cy="960120"/>
          </a:xfrm>
          <a:prstGeom prst="roundRect">
            <a:avLst>
              <a:gd name="adj" fmla="val 5714"/>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640080" y="5244084"/>
            <a:ext cx="777240" cy="777240"/>
          </a:xfrm>
          <a:prstGeom prst="roundRect">
            <a:avLst>
              <a:gd name="adj" fmla="val 14117"/>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79983" y="5383987"/>
            <a:ext cx="497434" cy="497434"/>
          </a:xfrm>
          <a:prstGeom prst="rect">
            <a:avLst/>
          </a:prstGeom>
          <a:noFill/>
        </p:spPr>
        <p:txBody>
          <a:bodyPr wrap="none" lIns="0" rIns="0" tIns="0" bIns="0" anchor="ctr">
            <a:spAutoFit/>
          </a:bodyPr>
          <a:lstStyle/>
          <a:p>
            <a:pPr algn="ctr"/>
            <a:r>
              <a:rPr sz="2428">
                <a:solidFill>
                  <a:srgbClr val="FFFFFF"/>
                </a:solidFill>
                <a:latin typeface="Segoe Fluent Icons"/>
              </a:rPr>
              <a:t></a:t>
            </a:r>
          </a:p>
        </p:txBody>
      </p:sp>
      <p:sp>
        <p:nvSpPr>
          <p:cNvPr id="28" name="TextBox 27"/>
          <p:cNvSpPr txBox="1"/>
          <p:nvPr/>
        </p:nvSpPr>
        <p:spPr>
          <a:xfrm>
            <a:off x="1618488" y="5225796"/>
            <a:ext cx="3017520" cy="813816"/>
          </a:xfrm>
          <a:prstGeom prst="rect">
            <a:avLst/>
          </a:prstGeom>
          <a:noFill/>
        </p:spPr>
        <p:txBody>
          <a:bodyPr wrap="square" lIns="0" rIns="0" tIns="0" bIns="0" anchor="ctr">
            <a:noAutofit/>
          </a:bodyPr>
          <a:lstStyle/>
          <a:p>
            <a:pPr algn="l"/>
            <a:r>
              <a:rPr sz="2100" i="0">
                <a:solidFill>
                  <a:srgbClr val="1B1B1B"/>
                </a:solidFill>
                <a:latin typeface="Segoe UI Semibold"/>
              </a:rPr>
              <a:t>Surface Laptop Ultra</a:t>
            </a:r>
          </a:p>
        </p:txBody>
      </p:sp>
      <p:sp>
        <p:nvSpPr>
          <p:cNvPr id="29" name="TextBox 28"/>
          <p:cNvSpPr txBox="1"/>
          <p:nvPr/>
        </p:nvSpPr>
        <p:spPr>
          <a:xfrm>
            <a:off x="4773168" y="5225796"/>
            <a:ext cx="4855464" cy="813816"/>
          </a:xfrm>
          <a:prstGeom prst="rect">
            <a:avLst/>
          </a:prstGeom>
          <a:noFill/>
        </p:spPr>
        <p:txBody>
          <a:bodyPr wrap="square" lIns="0" rIns="0" tIns="0" bIns="0" anchor="ctr">
            <a:noAutofit/>
          </a:bodyPr>
          <a:lstStyle/>
          <a:p>
            <a:pPr algn="l"/>
            <a:r>
              <a:rPr sz="1600" i="0">
                <a:solidFill>
                  <a:srgbClr val="505050"/>
                </a:solidFill>
                <a:latin typeface="Segoe UI"/>
              </a:rPr>
              <a:t>20 CPU cores, 128 GB installed memory</a:t>
            </a:r>
          </a:p>
        </p:txBody>
      </p:sp>
      <p:sp>
        <p:nvSpPr>
          <p:cNvPr id="30" name="Rectangle 29"/>
          <p:cNvSpPr/>
          <p:nvPr/>
        </p:nvSpPr>
        <p:spPr>
          <a:xfrm>
            <a:off x="10085832" y="1888236"/>
            <a:ext cx="73152" cy="4224528"/>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10314432" y="3314700"/>
            <a:ext cx="1325880" cy="1371600"/>
          </a:xfrm>
          <a:prstGeom prst="roundRect">
            <a:avLst>
              <a:gd name="adj" fmla="val 4137"/>
            </a:avLst>
          </a:prstGeom>
          <a:solidFill>
            <a:srgbClr val="D9EBF9"/>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387584" y="3360420"/>
            <a:ext cx="1179576" cy="1280160"/>
          </a:xfrm>
          <a:prstGeom prst="rect">
            <a:avLst/>
          </a:prstGeom>
          <a:noFill/>
        </p:spPr>
        <p:txBody>
          <a:bodyPr wrap="square" lIns="0" rIns="0" tIns="0" bIns="0" anchor="ctr">
            <a:noAutofit/>
          </a:bodyPr>
          <a:lstStyle/>
          <a:p>
            <a:pPr algn="ctr"/>
            <a:r>
              <a:rPr sz="1700" i="0">
                <a:solidFill>
                  <a:srgbClr val="1B1B1B"/>
                </a:solidFill>
                <a:latin typeface="Segoe UI Semibold"/>
              </a:rPr>
              <a:t>All on the laptop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Fast Enough for Live Drafting</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Gemma 4 26B generates about 72 tokens per second on this device.</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8</a:t>
            </a:r>
          </a:p>
        </p:txBody>
      </p:sp>
      <p:graphicFrame>
        <p:nvGraphicFramePr>
          <p:cNvPr id="10" name="Chart 9"/>
          <p:cNvGraphicFramePr>
            <a:graphicFrameLocks noGrp="1"/>
          </p:cNvGraphicFramePr>
          <p:nvPr/>
        </p:nvGraphicFramePr>
        <p:xfrm>
          <a:off x="548640" y="1828800"/>
          <a:ext cx="7098670" cy="4343400"/>
        </p:xfrm>
        <a:graphic>
          <a:graphicData uri="http://schemas.openxmlformats.org/drawingml/2006/chart">
            <c:chart xmlns:c="http://schemas.openxmlformats.org/drawingml/2006/chart" r:id="rId2"/>
          </a:graphicData>
        </a:graphic>
      </p:graphicFrame>
      <p:sp>
        <p:nvSpPr>
          <p:cNvPr id="11" name="Rounded Rectangle 10"/>
          <p:cNvSpPr/>
          <p:nvPr/>
        </p:nvSpPr>
        <p:spPr>
          <a:xfrm>
            <a:off x="7921630" y="2011680"/>
            <a:ext cx="3718682" cy="3977640"/>
          </a:xfrm>
          <a:prstGeom prst="roundRect">
            <a:avLst>
              <a:gd name="adj" fmla="val 1475"/>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8173090" y="2308860"/>
            <a:ext cx="777240" cy="77724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281904" y="2417674"/>
            <a:ext cx="559613" cy="559613"/>
          </a:xfrm>
          <a:prstGeom prst="rect">
            <a:avLst/>
          </a:prstGeom>
          <a:noFill/>
        </p:spPr>
        <p:txBody>
          <a:bodyPr wrap="none" lIns="0" rIns="0" tIns="0" bIns="0" anchor="ctr">
            <a:spAutoFit/>
          </a:bodyPr>
          <a:lstStyle/>
          <a:p>
            <a:pPr algn="ctr"/>
            <a:r>
              <a:rPr sz="2731">
                <a:solidFill>
                  <a:srgbClr val="FFFFFF"/>
                </a:solidFill>
                <a:latin typeface="Segoe Fluent Icons"/>
              </a:rPr>
              <a:t></a:t>
            </a:r>
          </a:p>
        </p:txBody>
      </p:sp>
      <p:sp>
        <p:nvSpPr>
          <p:cNvPr id="14" name="TextBox 13"/>
          <p:cNvSpPr txBox="1"/>
          <p:nvPr/>
        </p:nvSpPr>
        <p:spPr>
          <a:xfrm>
            <a:off x="8241670" y="3246120"/>
            <a:ext cx="3078602" cy="1005840"/>
          </a:xfrm>
          <a:prstGeom prst="rect">
            <a:avLst/>
          </a:prstGeom>
          <a:noFill/>
        </p:spPr>
        <p:txBody>
          <a:bodyPr wrap="square" lIns="0" rIns="0" tIns="0" bIns="0" anchor="t">
            <a:noAutofit/>
          </a:bodyPr>
          <a:lstStyle/>
          <a:p>
            <a:pPr algn="l"/>
            <a:r>
              <a:rPr sz="5400" i="0">
                <a:solidFill>
                  <a:srgbClr val="0078D4"/>
                </a:solidFill>
                <a:latin typeface="Segoe UI Semibold"/>
              </a:rPr>
              <a:t>72</a:t>
            </a:r>
          </a:p>
        </p:txBody>
      </p:sp>
      <p:sp>
        <p:nvSpPr>
          <p:cNvPr id="15" name="TextBox 14"/>
          <p:cNvSpPr txBox="1"/>
          <p:nvPr/>
        </p:nvSpPr>
        <p:spPr>
          <a:xfrm>
            <a:off x="8241670" y="4206240"/>
            <a:ext cx="3078602" cy="365760"/>
          </a:xfrm>
          <a:prstGeom prst="rect">
            <a:avLst/>
          </a:prstGeom>
          <a:noFill/>
        </p:spPr>
        <p:txBody>
          <a:bodyPr wrap="square" lIns="0" rIns="0" tIns="0" bIns="0" anchor="t">
            <a:noAutofit/>
          </a:bodyPr>
          <a:lstStyle/>
          <a:p>
            <a:pPr algn="l"/>
            <a:r>
              <a:rPr sz="1400" i="0">
                <a:solidFill>
                  <a:srgbClr val="505050"/>
                </a:solidFill>
                <a:latin typeface="Segoe UI"/>
              </a:rPr>
              <a:t>tokens/sec  |  Gemma 4 26B</a:t>
            </a:r>
          </a:p>
        </p:txBody>
      </p:sp>
      <p:sp>
        <p:nvSpPr>
          <p:cNvPr id="16" name="TextBox 15"/>
          <p:cNvSpPr txBox="1"/>
          <p:nvPr/>
        </p:nvSpPr>
        <p:spPr>
          <a:xfrm>
            <a:off x="8241670" y="4663440"/>
            <a:ext cx="3078602" cy="1188720"/>
          </a:xfrm>
          <a:prstGeom prst="rect">
            <a:avLst/>
          </a:prstGeom>
          <a:noFill/>
        </p:spPr>
        <p:txBody>
          <a:bodyPr wrap="square" lIns="0" rIns="0" tIns="0" bIns="0" anchor="t">
            <a:noAutofit/>
          </a:bodyPr>
          <a:lstStyle/>
          <a:p>
            <a:pPr algn="l"/>
            <a:r>
              <a:rPr sz="1500" i="0">
                <a:solidFill>
                  <a:srgbClr val="1B1B1B"/>
                </a:solidFill>
                <a:latin typeface="Segoe UI"/>
              </a:rPr>
              <a:t>Single stream, Local-AI-Bench, October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Capacity Math: An Estimate to Test</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Estimate to validate: 5 minutes saved per summary could mean 27,600 hours yearly.</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9</a:t>
            </a:r>
          </a:p>
        </p:txBody>
      </p:sp>
      <p:sp>
        <p:nvSpPr>
          <p:cNvPr id="10" name="Rounded Rectangle 9"/>
          <p:cNvSpPr/>
          <p:nvPr/>
        </p:nvSpPr>
        <p:spPr>
          <a:xfrm>
            <a:off x="548640" y="2583180"/>
            <a:ext cx="1815998" cy="3291840"/>
          </a:xfrm>
          <a:prstGeom prst="roundRect">
            <a:avLst>
              <a:gd name="adj" fmla="val 3021"/>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999439" y="2125980"/>
            <a:ext cx="914400" cy="91440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27455" y="2253996"/>
            <a:ext cx="658368" cy="658368"/>
          </a:xfrm>
          <a:prstGeom prst="rect">
            <a:avLst/>
          </a:prstGeom>
          <a:noFill/>
        </p:spPr>
        <p:txBody>
          <a:bodyPr wrap="none" lIns="0" rIns="0" tIns="0" bIns="0" anchor="ctr">
            <a:spAutoFit/>
          </a:bodyPr>
          <a:lstStyle/>
          <a:p>
            <a:pPr algn="ctr"/>
            <a:r>
              <a:rPr sz="3214">
                <a:solidFill>
                  <a:srgbClr val="FFFFFF"/>
                </a:solidFill>
                <a:latin typeface="Segoe Fluent Icons"/>
              </a:rPr>
              <a:t></a:t>
            </a:r>
          </a:p>
        </p:txBody>
      </p:sp>
      <p:sp>
        <p:nvSpPr>
          <p:cNvPr id="13" name="TextBox 12"/>
          <p:cNvSpPr txBox="1"/>
          <p:nvPr/>
        </p:nvSpPr>
        <p:spPr>
          <a:xfrm>
            <a:off x="731520" y="3150108"/>
            <a:ext cx="1450238" cy="274320"/>
          </a:xfrm>
          <a:prstGeom prst="rect">
            <a:avLst/>
          </a:prstGeom>
          <a:noFill/>
        </p:spPr>
        <p:txBody>
          <a:bodyPr wrap="square" lIns="0" rIns="0" tIns="0" bIns="0" anchor="t">
            <a:noAutofit/>
          </a:bodyPr>
          <a:lstStyle/>
          <a:p>
            <a:pPr algn="ctr"/>
            <a:r>
              <a:rPr sz="1200" i="0">
                <a:solidFill>
                  <a:srgbClr val="0078D4"/>
                </a:solidFill>
                <a:latin typeface="Segoe UI Semibold"/>
              </a:rPr>
              <a:t>01</a:t>
            </a:r>
          </a:p>
        </p:txBody>
      </p:sp>
      <p:sp>
        <p:nvSpPr>
          <p:cNvPr id="14" name="TextBox 13"/>
          <p:cNvSpPr txBox="1"/>
          <p:nvPr/>
        </p:nvSpPr>
        <p:spPr>
          <a:xfrm>
            <a:off x="713232" y="3451860"/>
            <a:ext cx="1486814" cy="868680"/>
          </a:xfrm>
          <a:prstGeom prst="rect">
            <a:avLst/>
          </a:prstGeom>
          <a:noFill/>
        </p:spPr>
        <p:txBody>
          <a:bodyPr wrap="square" lIns="0" rIns="0" tIns="0" bIns="0" anchor="ctr">
            <a:noAutofit/>
          </a:bodyPr>
          <a:lstStyle/>
          <a:p>
            <a:pPr algn="ctr"/>
            <a:r>
              <a:rPr sz="2000" i="0">
                <a:solidFill>
                  <a:srgbClr val="1B1B1B"/>
                </a:solidFill>
                <a:latin typeface="Segoe UI Semibold"/>
              </a:rPr>
              <a:t>1,200 consultants</a:t>
            </a:r>
          </a:p>
        </p:txBody>
      </p:sp>
      <p:sp>
        <p:nvSpPr>
          <p:cNvPr id="15" name="TextBox 14"/>
          <p:cNvSpPr txBox="1"/>
          <p:nvPr/>
        </p:nvSpPr>
        <p:spPr>
          <a:xfrm>
            <a:off x="731520" y="4366260"/>
            <a:ext cx="1450238" cy="1371600"/>
          </a:xfrm>
          <a:prstGeom prst="rect">
            <a:avLst/>
          </a:prstGeom>
          <a:noFill/>
        </p:spPr>
        <p:txBody>
          <a:bodyPr wrap="square" lIns="0" rIns="0" tIns="0" bIns="0" anchor="t">
            <a:noAutofit/>
          </a:bodyPr>
          <a:lstStyle/>
          <a:p>
            <a:pPr algn="ctr"/>
            <a:r>
              <a:rPr sz="1500" i="0">
                <a:solidFill>
                  <a:srgbClr val="505050"/>
                </a:solidFill>
                <a:latin typeface="Segoe UI"/>
              </a:rPr>
              <a:t>Traveling consultants drafting client summaries</a:t>
            </a:r>
          </a:p>
        </p:txBody>
      </p:sp>
      <p:sp>
        <p:nvSpPr>
          <p:cNvPr id="16" name="Chevron 15"/>
          <p:cNvSpPr/>
          <p:nvPr/>
        </p:nvSpPr>
        <p:spPr>
          <a:xfrm>
            <a:off x="2501798" y="4027932"/>
            <a:ext cx="228600" cy="402336"/>
          </a:xfrm>
          <a:prstGeom prst="chevron">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2867558" y="2583180"/>
            <a:ext cx="1815998" cy="3291840"/>
          </a:xfrm>
          <a:prstGeom prst="roundRect">
            <a:avLst>
              <a:gd name="adj" fmla="val 3021"/>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3318358" y="2125980"/>
            <a:ext cx="914400" cy="914400"/>
          </a:xfrm>
          <a:prstGeom prst="ellipse">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446374" y="2253996"/>
            <a:ext cx="658368" cy="658368"/>
          </a:xfrm>
          <a:prstGeom prst="rect">
            <a:avLst/>
          </a:prstGeom>
          <a:noFill/>
        </p:spPr>
        <p:txBody>
          <a:bodyPr wrap="none" lIns="0" rIns="0" tIns="0" bIns="0" anchor="ctr">
            <a:spAutoFit/>
          </a:bodyPr>
          <a:lstStyle/>
          <a:p>
            <a:pPr algn="ctr"/>
            <a:r>
              <a:rPr sz="3214">
                <a:solidFill>
                  <a:srgbClr val="FFFFFF"/>
                </a:solidFill>
                <a:latin typeface="Segoe Fluent Icons"/>
              </a:rPr>
              <a:t></a:t>
            </a:r>
          </a:p>
        </p:txBody>
      </p:sp>
      <p:sp>
        <p:nvSpPr>
          <p:cNvPr id="20" name="TextBox 19"/>
          <p:cNvSpPr txBox="1"/>
          <p:nvPr/>
        </p:nvSpPr>
        <p:spPr>
          <a:xfrm>
            <a:off x="3050438" y="3150108"/>
            <a:ext cx="1450238" cy="274320"/>
          </a:xfrm>
          <a:prstGeom prst="rect">
            <a:avLst/>
          </a:prstGeom>
          <a:noFill/>
        </p:spPr>
        <p:txBody>
          <a:bodyPr wrap="square" lIns="0" rIns="0" tIns="0" bIns="0" anchor="t">
            <a:noAutofit/>
          </a:bodyPr>
          <a:lstStyle/>
          <a:p>
            <a:pPr algn="ctr"/>
            <a:r>
              <a:rPr sz="1200" i="0">
                <a:solidFill>
                  <a:srgbClr val="107C10"/>
                </a:solidFill>
                <a:latin typeface="Segoe UI Semibold"/>
              </a:rPr>
              <a:t>02</a:t>
            </a:r>
          </a:p>
        </p:txBody>
      </p:sp>
      <p:sp>
        <p:nvSpPr>
          <p:cNvPr id="21" name="TextBox 20"/>
          <p:cNvSpPr txBox="1"/>
          <p:nvPr/>
        </p:nvSpPr>
        <p:spPr>
          <a:xfrm>
            <a:off x="3032150" y="3451860"/>
            <a:ext cx="1486814" cy="868680"/>
          </a:xfrm>
          <a:prstGeom prst="rect">
            <a:avLst/>
          </a:prstGeom>
          <a:noFill/>
        </p:spPr>
        <p:txBody>
          <a:bodyPr wrap="square" lIns="0" rIns="0" tIns="0" bIns="0" anchor="ctr">
            <a:noAutofit/>
          </a:bodyPr>
          <a:lstStyle/>
          <a:p>
            <a:pPr algn="ctr"/>
            <a:r>
              <a:rPr sz="2000" i="0">
                <a:solidFill>
                  <a:srgbClr val="1B1B1B"/>
                </a:solidFill>
                <a:latin typeface="Segoe UI Semibold"/>
              </a:rPr>
              <a:t>× 6 summaries</a:t>
            </a:r>
          </a:p>
        </p:txBody>
      </p:sp>
      <p:sp>
        <p:nvSpPr>
          <p:cNvPr id="22" name="TextBox 21"/>
          <p:cNvSpPr txBox="1"/>
          <p:nvPr/>
        </p:nvSpPr>
        <p:spPr>
          <a:xfrm>
            <a:off x="3050438" y="4366260"/>
            <a:ext cx="1450238" cy="1371600"/>
          </a:xfrm>
          <a:prstGeom prst="rect">
            <a:avLst/>
          </a:prstGeom>
          <a:noFill/>
        </p:spPr>
        <p:txBody>
          <a:bodyPr wrap="square" lIns="0" rIns="0" tIns="0" bIns="0" anchor="t">
            <a:noAutofit/>
          </a:bodyPr>
          <a:lstStyle/>
          <a:p>
            <a:pPr algn="ctr"/>
            <a:r>
              <a:rPr sz="1500" i="0">
                <a:solidFill>
                  <a:srgbClr val="505050"/>
                </a:solidFill>
                <a:latin typeface="Segoe UI"/>
              </a:rPr>
              <a:t>Per consultant, every week</a:t>
            </a:r>
          </a:p>
        </p:txBody>
      </p:sp>
      <p:sp>
        <p:nvSpPr>
          <p:cNvPr id="23" name="Chevron 22"/>
          <p:cNvSpPr/>
          <p:nvPr/>
        </p:nvSpPr>
        <p:spPr>
          <a:xfrm>
            <a:off x="4820717" y="4027932"/>
            <a:ext cx="228600" cy="402336"/>
          </a:xfrm>
          <a:prstGeom prst="chevron">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5186477" y="2583180"/>
            <a:ext cx="1815998" cy="3291840"/>
          </a:xfrm>
          <a:prstGeom prst="roundRect">
            <a:avLst>
              <a:gd name="adj" fmla="val 3021"/>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5637276" y="2125980"/>
            <a:ext cx="914400" cy="914400"/>
          </a:xfrm>
          <a:prstGeom prst="ellipse">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765292" y="2253996"/>
            <a:ext cx="658368" cy="658368"/>
          </a:xfrm>
          <a:prstGeom prst="rect">
            <a:avLst/>
          </a:prstGeom>
          <a:noFill/>
        </p:spPr>
        <p:txBody>
          <a:bodyPr wrap="none" lIns="0" rIns="0" tIns="0" bIns="0" anchor="ctr">
            <a:spAutoFit/>
          </a:bodyPr>
          <a:lstStyle/>
          <a:p>
            <a:pPr algn="ctr"/>
            <a:r>
              <a:rPr sz="3214">
                <a:solidFill>
                  <a:srgbClr val="FFFFFF"/>
                </a:solidFill>
                <a:latin typeface="Segoe Fluent Icons"/>
              </a:rPr>
              <a:t></a:t>
            </a:r>
          </a:p>
        </p:txBody>
      </p:sp>
      <p:sp>
        <p:nvSpPr>
          <p:cNvPr id="27" name="TextBox 26"/>
          <p:cNvSpPr txBox="1"/>
          <p:nvPr/>
        </p:nvSpPr>
        <p:spPr>
          <a:xfrm>
            <a:off x="5369357" y="3150108"/>
            <a:ext cx="1450238" cy="274320"/>
          </a:xfrm>
          <a:prstGeom prst="rect">
            <a:avLst/>
          </a:prstGeom>
          <a:noFill/>
        </p:spPr>
        <p:txBody>
          <a:bodyPr wrap="square" lIns="0" rIns="0" tIns="0" bIns="0" anchor="t">
            <a:noAutofit/>
          </a:bodyPr>
          <a:lstStyle/>
          <a:p>
            <a:pPr algn="ctr"/>
            <a:r>
              <a:rPr sz="1200" i="0">
                <a:solidFill>
                  <a:srgbClr val="D83B01"/>
                </a:solidFill>
                <a:latin typeface="Segoe UI Semibold"/>
              </a:rPr>
              <a:t>03</a:t>
            </a:r>
          </a:p>
        </p:txBody>
      </p:sp>
      <p:sp>
        <p:nvSpPr>
          <p:cNvPr id="28" name="TextBox 27"/>
          <p:cNvSpPr txBox="1"/>
          <p:nvPr/>
        </p:nvSpPr>
        <p:spPr>
          <a:xfrm>
            <a:off x="5351069" y="3451860"/>
            <a:ext cx="1486814" cy="868680"/>
          </a:xfrm>
          <a:prstGeom prst="rect">
            <a:avLst/>
          </a:prstGeom>
          <a:noFill/>
        </p:spPr>
        <p:txBody>
          <a:bodyPr wrap="square" lIns="0" rIns="0" tIns="0" bIns="0" anchor="ctr">
            <a:noAutofit/>
          </a:bodyPr>
          <a:lstStyle/>
          <a:p>
            <a:pPr algn="ctr"/>
            <a:r>
              <a:rPr sz="2000" i="0">
                <a:solidFill>
                  <a:srgbClr val="1B1B1B"/>
                </a:solidFill>
                <a:latin typeface="Segoe UI Semibold"/>
              </a:rPr>
              <a:t>× 5 minutes saved</a:t>
            </a:r>
          </a:p>
        </p:txBody>
      </p:sp>
      <p:sp>
        <p:nvSpPr>
          <p:cNvPr id="29" name="TextBox 28"/>
          <p:cNvSpPr txBox="1"/>
          <p:nvPr/>
        </p:nvSpPr>
        <p:spPr>
          <a:xfrm>
            <a:off x="5369357" y="4366260"/>
            <a:ext cx="1450238" cy="1371600"/>
          </a:xfrm>
          <a:prstGeom prst="rect">
            <a:avLst/>
          </a:prstGeom>
          <a:noFill/>
        </p:spPr>
        <p:txBody>
          <a:bodyPr wrap="square" lIns="0" rIns="0" tIns="0" bIns="0" anchor="t">
            <a:noAutofit/>
          </a:bodyPr>
          <a:lstStyle/>
          <a:p>
            <a:pPr algn="ctr"/>
            <a:r>
              <a:rPr sz="1500" i="0">
                <a:solidFill>
                  <a:srgbClr val="505050"/>
                </a:solidFill>
                <a:latin typeface="Segoe UI"/>
              </a:rPr>
              <a:t>Illustrative per summary, not yet measured</a:t>
            </a:r>
          </a:p>
        </p:txBody>
      </p:sp>
      <p:sp>
        <p:nvSpPr>
          <p:cNvPr id="30" name="Chevron 29"/>
          <p:cNvSpPr/>
          <p:nvPr/>
        </p:nvSpPr>
        <p:spPr>
          <a:xfrm>
            <a:off x="7139635" y="4027932"/>
            <a:ext cx="228600" cy="402336"/>
          </a:xfrm>
          <a:prstGeom prst="chevron">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7505395" y="2583180"/>
            <a:ext cx="1815998" cy="3291840"/>
          </a:xfrm>
          <a:prstGeom prst="roundRect">
            <a:avLst>
              <a:gd name="adj" fmla="val 3021"/>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7956194" y="2125980"/>
            <a:ext cx="914400" cy="914400"/>
          </a:xfrm>
          <a:prstGeom prst="ellipse">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084210" y="2253996"/>
            <a:ext cx="658368" cy="658368"/>
          </a:xfrm>
          <a:prstGeom prst="rect">
            <a:avLst/>
          </a:prstGeom>
          <a:noFill/>
        </p:spPr>
        <p:txBody>
          <a:bodyPr wrap="none" lIns="0" rIns="0" tIns="0" bIns="0" anchor="ctr">
            <a:spAutoFit/>
          </a:bodyPr>
          <a:lstStyle/>
          <a:p>
            <a:pPr algn="ctr"/>
            <a:r>
              <a:rPr sz="3214">
                <a:solidFill>
                  <a:srgbClr val="FFFFFF"/>
                </a:solidFill>
                <a:latin typeface="Segoe Fluent Icons"/>
              </a:rPr>
              <a:t></a:t>
            </a:r>
          </a:p>
        </p:txBody>
      </p:sp>
      <p:sp>
        <p:nvSpPr>
          <p:cNvPr id="34" name="TextBox 33"/>
          <p:cNvSpPr txBox="1"/>
          <p:nvPr/>
        </p:nvSpPr>
        <p:spPr>
          <a:xfrm>
            <a:off x="7688275" y="3150108"/>
            <a:ext cx="1450238" cy="274320"/>
          </a:xfrm>
          <a:prstGeom prst="rect">
            <a:avLst/>
          </a:prstGeom>
          <a:noFill/>
        </p:spPr>
        <p:txBody>
          <a:bodyPr wrap="square" lIns="0" rIns="0" tIns="0" bIns="0" anchor="t">
            <a:noAutofit/>
          </a:bodyPr>
          <a:lstStyle/>
          <a:p>
            <a:pPr algn="ctr"/>
            <a:r>
              <a:rPr sz="1200" i="0">
                <a:solidFill>
                  <a:srgbClr val="FFB900"/>
                </a:solidFill>
                <a:latin typeface="Segoe UI Semibold"/>
              </a:rPr>
              <a:t>04</a:t>
            </a:r>
          </a:p>
        </p:txBody>
      </p:sp>
      <p:sp>
        <p:nvSpPr>
          <p:cNvPr id="35" name="TextBox 34"/>
          <p:cNvSpPr txBox="1"/>
          <p:nvPr/>
        </p:nvSpPr>
        <p:spPr>
          <a:xfrm>
            <a:off x="7669987" y="3451860"/>
            <a:ext cx="1486814" cy="868680"/>
          </a:xfrm>
          <a:prstGeom prst="rect">
            <a:avLst/>
          </a:prstGeom>
          <a:noFill/>
        </p:spPr>
        <p:txBody>
          <a:bodyPr wrap="square" lIns="0" rIns="0" tIns="0" bIns="0" anchor="ctr">
            <a:noAutofit/>
          </a:bodyPr>
          <a:lstStyle/>
          <a:p>
            <a:pPr algn="ctr"/>
            <a:r>
              <a:rPr sz="1900" i="0">
                <a:solidFill>
                  <a:srgbClr val="1B1B1B"/>
                </a:solidFill>
                <a:latin typeface="Segoe UI Semibold"/>
              </a:rPr>
              <a:t>× 46 working weeks</a:t>
            </a:r>
          </a:p>
        </p:txBody>
      </p:sp>
      <p:sp>
        <p:nvSpPr>
          <p:cNvPr id="36" name="TextBox 35"/>
          <p:cNvSpPr txBox="1"/>
          <p:nvPr/>
        </p:nvSpPr>
        <p:spPr>
          <a:xfrm>
            <a:off x="7688275" y="4366260"/>
            <a:ext cx="1450238" cy="1371600"/>
          </a:xfrm>
          <a:prstGeom prst="rect">
            <a:avLst/>
          </a:prstGeom>
          <a:noFill/>
        </p:spPr>
        <p:txBody>
          <a:bodyPr wrap="square" lIns="0" rIns="0" tIns="0" bIns="0" anchor="t">
            <a:noAutofit/>
          </a:bodyPr>
          <a:lstStyle/>
          <a:p>
            <a:pPr algn="ctr"/>
            <a:r>
              <a:rPr sz="1500" i="0">
                <a:solidFill>
                  <a:srgbClr val="505050"/>
                </a:solidFill>
                <a:latin typeface="Segoe UI"/>
              </a:rPr>
              <a:t>Working weeks assumed per year</a:t>
            </a:r>
          </a:p>
        </p:txBody>
      </p:sp>
      <p:sp>
        <p:nvSpPr>
          <p:cNvPr id="37" name="Chevron 36"/>
          <p:cNvSpPr/>
          <p:nvPr/>
        </p:nvSpPr>
        <p:spPr>
          <a:xfrm>
            <a:off x="9458554" y="4027932"/>
            <a:ext cx="228600" cy="402336"/>
          </a:xfrm>
          <a:prstGeom prst="chevron">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ounded Rectangle 37"/>
          <p:cNvSpPr/>
          <p:nvPr/>
        </p:nvSpPr>
        <p:spPr>
          <a:xfrm>
            <a:off x="9824314" y="2583180"/>
            <a:ext cx="1815998" cy="3291840"/>
          </a:xfrm>
          <a:prstGeom prst="roundRect">
            <a:avLst>
              <a:gd name="adj" fmla="val 3021"/>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10275113" y="2125980"/>
            <a:ext cx="914400" cy="914400"/>
          </a:xfrm>
          <a:prstGeom prst="ellipse">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0403129" y="2253996"/>
            <a:ext cx="658368" cy="658368"/>
          </a:xfrm>
          <a:prstGeom prst="rect">
            <a:avLst/>
          </a:prstGeom>
          <a:noFill/>
        </p:spPr>
        <p:txBody>
          <a:bodyPr wrap="none" lIns="0" rIns="0" tIns="0" bIns="0" anchor="ctr">
            <a:spAutoFit/>
          </a:bodyPr>
          <a:lstStyle/>
          <a:p>
            <a:pPr algn="ctr"/>
            <a:r>
              <a:rPr sz="3214">
                <a:solidFill>
                  <a:srgbClr val="FFFFFF"/>
                </a:solidFill>
                <a:latin typeface="Segoe Fluent Icons"/>
              </a:rPr>
              <a:t></a:t>
            </a:r>
          </a:p>
        </p:txBody>
      </p:sp>
      <p:sp>
        <p:nvSpPr>
          <p:cNvPr id="41" name="TextBox 40"/>
          <p:cNvSpPr txBox="1"/>
          <p:nvPr/>
        </p:nvSpPr>
        <p:spPr>
          <a:xfrm>
            <a:off x="10007194" y="3150108"/>
            <a:ext cx="1450238" cy="274320"/>
          </a:xfrm>
          <a:prstGeom prst="rect">
            <a:avLst/>
          </a:prstGeom>
          <a:noFill/>
        </p:spPr>
        <p:txBody>
          <a:bodyPr wrap="square" lIns="0" rIns="0" tIns="0" bIns="0" anchor="t">
            <a:noAutofit/>
          </a:bodyPr>
          <a:lstStyle/>
          <a:p>
            <a:pPr algn="ctr"/>
            <a:r>
              <a:rPr sz="1200" i="0">
                <a:solidFill>
                  <a:srgbClr val="5C2D91"/>
                </a:solidFill>
                <a:latin typeface="Segoe UI Semibold"/>
              </a:rPr>
              <a:t>05</a:t>
            </a:r>
          </a:p>
        </p:txBody>
      </p:sp>
      <p:sp>
        <p:nvSpPr>
          <p:cNvPr id="42" name="TextBox 41"/>
          <p:cNvSpPr txBox="1"/>
          <p:nvPr/>
        </p:nvSpPr>
        <p:spPr>
          <a:xfrm>
            <a:off x="9988906" y="3451860"/>
            <a:ext cx="1486814" cy="868680"/>
          </a:xfrm>
          <a:prstGeom prst="rect">
            <a:avLst/>
          </a:prstGeom>
          <a:noFill/>
        </p:spPr>
        <p:txBody>
          <a:bodyPr wrap="square" lIns="0" rIns="0" tIns="0" bIns="0" anchor="ctr">
            <a:noAutofit/>
          </a:bodyPr>
          <a:lstStyle/>
          <a:p>
            <a:pPr algn="ctr"/>
            <a:r>
              <a:rPr sz="1800" i="0">
                <a:solidFill>
                  <a:srgbClr val="1B1B1B"/>
                </a:solidFill>
                <a:latin typeface="Segoe UI Semibold"/>
              </a:rPr>
              <a:t>27,600 hours, estimated</a:t>
            </a:r>
          </a:p>
        </p:txBody>
      </p:sp>
      <p:sp>
        <p:nvSpPr>
          <p:cNvPr id="43" name="TextBox 42"/>
          <p:cNvSpPr txBox="1"/>
          <p:nvPr/>
        </p:nvSpPr>
        <p:spPr>
          <a:xfrm>
            <a:off x="10007194" y="4366260"/>
            <a:ext cx="1450238" cy="1371600"/>
          </a:xfrm>
          <a:prstGeom prst="rect">
            <a:avLst/>
          </a:prstGeom>
          <a:noFill/>
        </p:spPr>
        <p:txBody>
          <a:bodyPr wrap="square" lIns="0" rIns="0" tIns="0" bIns="0" anchor="t">
            <a:noAutofit/>
          </a:bodyPr>
          <a:lstStyle/>
          <a:p>
            <a:pPr algn="ctr"/>
            <a:r>
              <a:rPr sz="1500" i="0">
                <a:solidFill>
                  <a:srgbClr val="505050"/>
                </a:solidFill>
                <a:latin typeface="Segoe UI"/>
              </a:rPr>
              <a:t>Per year; illustrative estimate to validate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The Pilot: 10 Users, 2 Weeks</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Measure task time, draft quality, user experience, and disconnected use on real work.</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10</a:t>
            </a:r>
          </a:p>
        </p:txBody>
      </p:sp>
      <p:sp>
        <p:nvSpPr>
          <p:cNvPr id="10" name="Rectangle 9"/>
          <p:cNvSpPr/>
          <p:nvPr/>
        </p:nvSpPr>
        <p:spPr>
          <a:xfrm>
            <a:off x="731520" y="3968496"/>
            <a:ext cx="10725912" cy="6400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1" name="Connector 10"/>
          <p:cNvCxnSpPr/>
          <p:nvPr/>
        </p:nvCxnSpPr>
        <p:spPr>
          <a:xfrm flipV="1">
            <a:off x="2140839" y="3616452"/>
            <a:ext cx="0" cy="384048"/>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957959" y="3817620"/>
            <a:ext cx="365760" cy="36576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14959" y="2244852"/>
            <a:ext cx="2651760" cy="1371600"/>
          </a:xfrm>
          <a:prstGeom prst="roundRect">
            <a:avLst>
              <a:gd name="adj" fmla="val 4000"/>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2119" y="2382012"/>
            <a:ext cx="365760" cy="365760"/>
          </a:xfrm>
          <a:prstGeom prst="rect">
            <a:avLst/>
          </a:prstGeom>
          <a:noFill/>
        </p:spPr>
        <p:txBody>
          <a:bodyPr wrap="none" lIns="0" rIns="0" tIns="0" bIns="0" anchor="ctr">
            <a:spAutoFit/>
          </a:bodyPr>
          <a:lstStyle/>
          <a:p>
            <a:pPr algn="ctr"/>
            <a:r>
              <a:rPr sz="1785">
                <a:solidFill>
                  <a:srgbClr val="0078D4"/>
                </a:solidFill>
                <a:latin typeface="Segoe Fluent Icons"/>
              </a:rPr>
              <a:t></a:t>
            </a:r>
          </a:p>
        </p:txBody>
      </p:sp>
      <p:sp>
        <p:nvSpPr>
          <p:cNvPr id="15" name="TextBox 14"/>
          <p:cNvSpPr txBox="1"/>
          <p:nvPr/>
        </p:nvSpPr>
        <p:spPr>
          <a:xfrm>
            <a:off x="1381887" y="2354580"/>
            <a:ext cx="1965960" cy="411480"/>
          </a:xfrm>
          <a:prstGeom prst="rect">
            <a:avLst/>
          </a:prstGeom>
          <a:noFill/>
        </p:spPr>
        <p:txBody>
          <a:bodyPr wrap="square" lIns="0" rIns="0" tIns="0" bIns="0" anchor="ctr">
            <a:noAutofit/>
          </a:bodyPr>
          <a:lstStyle/>
          <a:p>
            <a:pPr algn="l"/>
            <a:r>
              <a:rPr sz="1500" i="0">
                <a:solidFill>
                  <a:srgbClr val="0078D4"/>
                </a:solidFill>
                <a:latin typeface="Segoe UI Semibold"/>
              </a:rPr>
              <a:t>Now</a:t>
            </a:r>
          </a:p>
        </p:txBody>
      </p:sp>
      <p:sp>
        <p:nvSpPr>
          <p:cNvPr id="16" name="TextBox 15"/>
          <p:cNvSpPr txBox="1"/>
          <p:nvPr/>
        </p:nvSpPr>
        <p:spPr>
          <a:xfrm>
            <a:off x="952119" y="2811780"/>
            <a:ext cx="2377440" cy="731520"/>
          </a:xfrm>
          <a:prstGeom prst="rect">
            <a:avLst/>
          </a:prstGeom>
          <a:noFill/>
        </p:spPr>
        <p:txBody>
          <a:bodyPr wrap="square" lIns="0" rIns="0" tIns="0" bIns="0" anchor="t">
            <a:noAutofit/>
          </a:bodyPr>
          <a:lstStyle/>
          <a:p>
            <a:pPr algn="l"/>
            <a:r>
              <a:rPr sz="1500" i="0">
                <a:solidFill>
                  <a:srgbClr val="1B1B1B"/>
                </a:solidFill>
                <a:latin typeface="Segoe UI"/>
              </a:rPr>
              <a:t>Sponsors approve pilot</a:t>
            </a:r>
          </a:p>
        </p:txBody>
      </p:sp>
      <p:cxnSp>
        <p:nvCxnSpPr>
          <p:cNvPr id="17" name="Connector 16"/>
          <p:cNvCxnSpPr/>
          <p:nvPr/>
        </p:nvCxnSpPr>
        <p:spPr>
          <a:xfrm>
            <a:off x="4776597" y="4000500"/>
            <a:ext cx="0" cy="384048"/>
          </a:xfrm>
          <a:prstGeom prst="line">
            <a:avLst/>
          </a:prstGeom>
          <a:ln w="19050">
            <a:solidFill>
              <a:srgbClr val="107C10"/>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4593717" y="3817620"/>
            <a:ext cx="365760" cy="365760"/>
          </a:xfrm>
          <a:prstGeom prst="ellipse">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3450717" y="4384548"/>
            <a:ext cx="2651760" cy="1371600"/>
          </a:xfrm>
          <a:prstGeom prst="roundRect">
            <a:avLst>
              <a:gd name="adj" fmla="val 4000"/>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587877" y="4521708"/>
            <a:ext cx="365760" cy="365760"/>
          </a:xfrm>
          <a:prstGeom prst="rect">
            <a:avLst/>
          </a:prstGeom>
          <a:noFill/>
        </p:spPr>
        <p:txBody>
          <a:bodyPr wrap="none" lIns="0" rIns="0" tIns="0" bIns="0" anchor="ctr">
            <a:spAutoFit/>
          </a:bodyPr>
          <a:lstStyle/>
          <a:p>
            <a:pPr algn="ctr"/>
            <a:r>
              <a:rPr sz="1785">
                <a:solidFill>
                  <a:srgbClr val="107C10"/>
                </a:solidFill>
                <a:latin typeface="Segoe Fluent Icons"/>
              </a:rPr>
              <a:t></a:t>
            </a:r>
          </a:p>
        </p:txBody>
      </p:sp>
      <p:sp>
        <p:nvSpPr>
          <p:cNvPr id="21" name="TextBox 20"/>
          <p:cNvSpPr txBox="1"/>
          <p:nvPr/>
        </p:nvSpPr>
        <p:spPr>
          <a:xfrm>
            <a:off x="4017645" y="4494276"/>
            <a:ext cx="1965960" cy="411480"/>
          </a:xfrm>
          <a:prstGeom prst="rect">
            <a:avLst/>
          </a:prstGeom>
          <a:noFill/>
        </p:spPr>
        <p:txBody>
          <a:bodyPr wrap="square" lIns="0" rIns="0" tIns="0" bIns="0" anchor="ctr">
            <a:noAutofit/>
          </a:bodyPr>
          <a:lstStyle/>
          <a:p>
            <a:pPr algn="l"/>
            <a:r>
              <a:rPr sz="1500" i="0">
                <a:solidFill>
                  <a:srgbClr val="107C10"/>
                </a:solidFill>
                <a:latin typeface="Segoe UI Semibold"/>
              </a:rPr>
              <a:t>Kickoff</a:t>
            </a:r>
          </a:p>
        </p:txBody>
      </p:sp>
      <p:sp>
        <p:nvSpPr>
          <p:cNvPr id="22" name="TextBox 21"/>
          <p:cNvSpPr txBox="1"/>
          <p:nvPr/>
        </p:nvSpPr>
        <p:spPr>
          <a:xfrm>
            <a:off x="3587877" y="4951476"/>
            <a:ext cx="2377440" cy="731520"/>
          </a:xfrm>
          <a:prstGeom prst="rect">
            <a:avLst/>
          </a:prstGeom>
          <a:noFill/>
        </p:spPr>
        <p:txBody>
          <a:bodyPr wrap="square" lIns="0" rIns="0" tIns="0" bIns="0" anchor="t">
            <a:noAutofit/>
          </a:bodyPr>
          <a:lstStyle/>
          <a:p>
            <a:pPr algn="l"/>
            <a:r>
              <a:rPr sz="1500" i="0">
                <a:solidFill>
                  <a:srgbClr val="1B1B1B"/>
                </a:solidFill>
                <a:latin typeface="Segoe UI"/>
              </a:rPr>
              <a:t>Equip 10 consultants</a:t>
            </a:r>
          </a:p>
        </p:txBody>
      </p:sp>
      <p:cxnSp>
        <p:nvCxnSpPr>
          <p:cNvPr id="23" name="Connector 22"/>
          <p:cNvCxnSpPr/>
          <p:nvPr/>
        </p:nvCxnSpPr>
        <p:spPr>
          <a:xfrm flipV="1">
            <a:off x="7412355" y="3616452"/>
            <a:ext cx="0" cy="384048"/>
          </a:xfrm>
          <a:prstGeom prst="line">
            <a:avLst/>
          </a:prstGeom>
          <a:ln w="19050">
            <a:solidFill>
              <a:srgbClr val="D83B01"/>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7229475" y="3817620"/>
            <a:ext cx="365760" cy="365760"/>
          </a:xfrm>
          <a:prstGeom prst="ellipse">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6086475" y="2244852"/>
            <a:ext cx="2651760" cy="1371600"/>
          </a:xfrm>
          <a:prstGeom prst="roundRect">
            <a:avLst>
              <a:gd name="adj" fmla="val 4000"/>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223635" y="2382012"/>
            <a:ext cx="365760" cy="365760"/>
          </a:xfrm>
          <a:prstGeom prst="rect">
            <a:avLst/>
          </a:prstGeom>
          <a:noFill/>
        </p:spPr>
        <p:txBody>
          <a:bodyPr wrap="none" lIns="0" rIns="0" tIns="0" bIns="0" anchor="ctr">
            <a:spAutoFit/>
          </a:bodyPr>
          <a:lstStyle/>
          <a:p>
            <a:pPr algn="ctr"/>
            <a:r>
              <a:rPr sz="1785">
                <a:solidFill>
                  <a:srgbClr val="D83B01"/>
                </a:solidFill>
                <a:latin typeface="Segoe Fluent Icons"/>
              </a:rPr>
              <a:t></a:t>
            </a:r>
          </a:p>
        </p:txBody>
      </p:sp>
      <p:sp>
        <p:nvSpPr>
          <p:cNvPr id="27" name="TextBox 26"/>
          <p:cNvSpPr txBox="1"/>
          <p:nvPr/>
        </p:nvSpPr>
        <p:spPr>
          <a:xfrm>
            <a:off x="6653403" y="2354580"/>
            <a:ext cx="1965960" cy="411480"/>
          </a:xfrm>
          <a:prstGeom prst="rect">
            <a:avLst/>
          </a:prstGeom>
          <a:noFill/>
        </p:spPr>
        <p:txBody>
          <a:bodyPr wrap="square" lIns="0" rIns="0" tIns="0" bIns="0" anchor="ctr">
            <a:noAutofit/>
          </a:bodyPr>
          <a:lstStyle/>
          <a:p>
            <a:pPr algn="l"/>
            <a:r>
              <a:rPr sz="1500" i="0">
                <a:solidFill>
                  <a:srgbClr val="D83B01"/>
                </a:solidFill>
                <a:latin typeface="Segoe UI Semibold"/>
              </a:rPr>
              <a:t>14 days</a:t>
            </a:r>
          </a:p>
        </p:txBody>
      </p:sp>
      <p:sp>
        <p:nvSpPr>
          <p:cNvPr id="28" name="TextBox 27"/>
          <p:cNvSpPr txBox="1"/>
          <p:nvPr/>
        </p:nvSpPr>
        <p:spPr>
          <a:xfrm>
            <a:off x="6223635" y="2811780"/>
            <a:ext cx="2377440" cy="731520"/>
          </a:xfrm>
          <a:prstGeom prst="rect">
            <a:avLst/>
          </a:prstGeom>
          <a:noFill/>
        </p:spPr>
        <p:txBody>
          <a:bodyPr wrap="square" lIns="0" rIns="0" tIns="0" bIns="0" anchor="t">
            <a:noAutofit/>
          </a:bodyPr>
          <a:lstStyle/>
          <a:p>
            <a:pPr algn="l"/>
            <a:r>
              <a:rPr sz="1500" i="0">
                <a:solidFill>
                  <a:srgbClr val="1B1B1B"/>
                </a:solidFill>
                <a:latin typeface="Segoe UI"/>
              </a:rPr>
              <a:t>Draft on real engagements</a:t>
            </a:r>
          </a:p>
        </p:txBody>
      </p:sp>
      <p:cxnSp>
        <p:nvCxnSpPr>
          <p:cNvPr id="29" name="Connector 28"/>
          <p:cNvCxnSpPr/>
          <p:nvPr/>
        </p:nvCxnSpPr>
        <p:spPr>
          <a:xfrm>
            <a:off x="10048113" y="4000500"/>
            <a:ext cx="0" cy="384048"/>
          </a:xfrm>
          <a:prstGeom prst="line">
            <a:avLst/>
          </a:prstGeom>
          <a:ln w="19050">
            <a:solidFill>
              <a:srgbClr val="FFB900"/>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9865233" y="3817620"/>
            <a:ext cx="365760" cy="365760"/>
          </a:xfrm>
          <a:prstGeom prst="ellipse">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8722233" y="4384548"/>
            <a:ext cx="2651760" cy="1371600"/>
          </a:xfrm>
          <a:prstGeom prst="roundRect">
            <a:avLst>
              <a:gd name="adj" fmla="val 4000"/>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859393" y="4521708"/>
            <a:ext cx="365760" cy="365760"/>
          </a:xfrm>
          <a:prstGeom prst="rect">
            <a:avLst/>
          </a:prstGeom>
          <a:noFill/>
        </p:spPr>
        <p:txBody>
          <a:bodyPr wrap="none" lIns="0" rIns="0" tIns="0" bIns="0" anchor="ctr">
            <a:spAutoFit/>
          </a:bodyPr>
          <a:lstStyle/>
          <a:p>
            <a:pPr algn="ctr"/>
            <a:r>
              <a:rPr sz="1785">
                <a:solidFill>
                  <a:srgbClr val="FFB900"/>
                </a:solidFill>
                <a:latin typeface="Segoe Fluent Icons"/>
              </a:rPr>
              <a:t></a:t>
            </a:r>
          </a:p>
        </p:txBody>
      </p:sp>
      <p:sp>
        <p:nvSpPr>
          <p:cNvPr id="33" name="TextBox 32"/>
          <p:cNvSpPr txBox="1"/>
          <p:nvPr/>
        </p:nvSpPr>
        <p:spPr>
          <a:xfrm>
            <a:off x="9289161" y="4494276"/>
            <a:ext cx="1965960" cy="411480"/>
          </a:xfrm>
          <a:prstGeom prst="rect">
            <a:avLst/>
          </a:prstGeom>
          <a:noFill/>
        </p:spPr>
        <p:txBody>
          <a:bodyPr wrap="square" lIns="0" rIns="0" tIns="0" bIns="0" anchor="ctr">
            <a:noAutofit/>
          </a:bodyPr>
          <a:lstStyle/>
          <a:p>
            <a:pPr algn="l"/>
            <a:r>
              <a:rPr sz="1500" i="0">
                <a:solidFill>
                  <a:srgbClr val="FFB900"/>
                </a:solidFill>
                <a:latin typeface="Segoe UI Semibold"/>
              </a:rPr>
              <a:t>Pilot end</a:t>
            </a:r>
          </a:p>
        </p:txBody>
      </p:sp>
      <p:sp>
        <p:nvSpPr>
          <p:cNvPr id="34" name="TextBox 33"/>
          <p:cNvSpPr txBox="1"/>
          <p:nvPr/>
        </p:nvSpPr>
        <p:spPr>
          <a:xfrm>
            <a:off x="8859393" y="4951476"/>
            <a:ext cx="2377440" cy="731520"/>
          </a:xfrm>
          <a:prstGeom prst="rect">
            <a:avLst/>
          </a:prstGeom>
          <a:noFill/>
        </p:spPr>
        <p:txBody>
          <a:bodyPr wrap="square" lIns="0" rIns="0" tIns="0" bIns="0" anchor="t">
            <a:noAutofit/>
          </a:bodyPr>
          <a:lstStyle/>
          <a:p>
            <a:pPr algn="l"/>
            <a:r>
              <a:rPr sz="1500" i="0">
                <a:solidFill>
                  <a:srgbClr val="1B1B1B"/>
                </a:solidFill>
                <a:latin typeface="Segoe UI"/>
              </a:rPr>
              <a:t>Readout and decision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Approve the 10-User Pilot</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A small, measured step: 10 consultants, 2 weeks, alongside Microsoft 365 Copilot.</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11</a:t>
            </a:r>
          </a:p>
        </p:txBody>
      </p:sp>
      <p:sp>
        <p:nvSpPr>
          <p:cNvPr id="10" name="Rounded Rectangle 9"/>
          <p:cNvSpPr/>
          <p:nvPr/>
        </p:nvSpPr>
        <p:spPr>
          <a:xfrm>
            <a:off x="548640" y="1828800"/>
            <a:ext cx="2567178" cy="2926080"/>
          </a:xfrm>
          <a:prstGeom prst="roundRect">
            <a:avLst>
              <a:gd name="adj" fmla="val 2137"/>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22960" y="2103120"/>
            <a:ext cx="640080" cy="64008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22960" y="2103120"/>
            <a:ext cx="640080" cy="640080"/>
          </a:xfrm>
          <a:prstGeom prst="rect">
            <a:avLst/>
          </a:prstGeom>
          <a:noFill/>
        </p:spPr>
        <p:txBody>
          <a:bodyPr wrap="square" lIns="0" rIns="0" tIns="0" bIns="0" anchor="ctr">
            <a:noAutofit/>
          </a:bodyPr>
          <a:lstStyle/>
          <a:p>
            <a:pPr algn="ctr"/>
            <a:r>
              <a:rPr sz="2200" i="0">
                <a:solidFill>
                  <a:srgbClr val="FFFFFF"/>
                </a:solidFill>
                <a:latin typeface="Segoe UI Semibold"/>
              </a:rPr>
              <a:t>1</a:t>
            </a:r>
          </a:p>
        </p:txBody>
      </p:sp>
      <p:sp>
        <p:nvSpPr>
          <p:cNvPr id="13" name="TextBox 12"/>
          <p:cNvSpPr txBox="1"/>
          <p:nvPr/>
        </p:nvSpPr>
        <p:spPr>
          <a:xfrm>
            <a:off x="2384298" y="2176272"/>
            <a:ext cx="475488" cy="475488"/>
          </a:xfrm>
          <a:prstGeom prst="rect">
            <a:avLst/>
          </a:prstGeom>
          <a:noFill/>
        </p:spPr>
        <p:txBody>
          <a:bodyPr wrap="none" lIns="0" rIns="0" tIns="0" bIns="0" anchor="ctr">
            <a:spAutoFit/>
          </a:bodyPr>
          <a:lstStyle/>
          <a:p>
            <a:pPr algn="ctr"/>
            <a:r>
              <a:rPr sz="2321">
                <a:solidFill>
                  <a:srgbClr val="0078D4"/>
                </a:solidFill>
                <a:latin typeface="Segoe Fluent Icons"/>
              </a:rPr>
              <a:t></a:t>
            </a:r>
          </a:p>
        </p:txBody>
      </p:sp>
      <p:sp>
        <p:nvSpPr>
          <p:cNvPr id="14" name="TextBox 13"/>
          <p:cNvSpPr txBox="1"/>
          <p:nvPr/>
        </p:nvSpPr>
        <p:spPr>
          <a:xfrm>
            <a:off x="822960" y="2880360"/>
            <a:ext cx="2018538" cy="777240"/>
          </a:xfrm>
          <a:prstGeom prst="rect">
            <a:avLst/>
          </a:prstGeom>
          <a:noFill/>
        </p:spPr>
        <p:txBody>
          <a:bodyPr wrap="square" lIns="0" rIns="0" tIns="0" bIns="0" anchor="t">
            <a:noAutofit/>
          </a:bodyPr>
          <a:lstStyle/>
          <a:p>
            <a:pPr algn="l"/>
            <a:r>
              <a:rPr sz="2000" i="0">
                <a:solidFill>
                  <a:srgbClr val="1B1B1B"/>
                </a:solidFill>
                <a:latin typeface="Segoe UI Semibold"/>
              </a:rPr>
              <a:t>Approve pilot scope</a:t>
            </a:r>
          </a:p>
        </p:txBody>
      </p:sp>
      <p:sp>
        <p:nvSpPr>
          <p:cNvPr id="15" name="TextBox 14"/>
          <p:cNvSpPr txBox="1"/>
          <p:nvPr/>
        </p:nvSpPr>
        <p:spPr>
          <a:xfrm>
            <a:off x="822960" y="3657600"/>
            <a:ext cx="2018538" cy="960120"/>
          </a:xfrm>
          <a:prstGeom prst="rect">
            <a:avLst/>
          </a:prstGeom>
          <a:noFill/>
        </p:spPr>
        <p:txBody>
          <a:bodyPr wrap="square" lIns="0" rIns="0" tIns="0" bIns="0" anchor="t">
            <a:noAutofit/>
          </a:bodyPr>
          <a:lstStyle/>
          <a:p>
            <a:pPr algn="l"/>
            <a:r>
              <a:rPr sz="1500" i="0">
                <a:solidFill>
                  <a:srgbClr val="505050"/>
                </a:solidFill>
                <a:latin typeface="Segoe UI"/>
              </a:rPr>
              <a:t>10 traveling consultants for 14 days</a:t>
            </a:r>
          </a:p>
        </p:txBody>
      </p:sp>
      <p:sp>
        <p:nvSpPr>
          <p:cNvPr id="16" name="Rounded Rectangle 15"/>
          <p:cNvSpPr/>
          <p:nvPr/>
        </p:nvSpPr>
        <p:spPr>
          <a:xfrm>
            <a:off x="3390138" y="1828800"/>
            <a:ext cx="2567178" cy="2926080"/>
          </a:xfrm>
          <a:prstGeom prst="roundRect">
            <a:avLst>
              <a:gd name="adj" fmla="val 2137"/>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3664458" y="2103120"/>
            <a:ext cx="640080" cy="640080"/>
          </a:xfrm>
          <a:prstGeom prst="ellipse">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664458" y="2103120"/>
            <a:ext cx="640080" cy="640080"/>
          </a:xfrm>
          <a:prstGeom prst="rect">
            <a:avLst/>
          </a:prstGeom>
          <a:noFill/>
        </p:spPr>
        <p:txBody>
          <a:bodyPr wrap="square" lIns="0" rIns="0" tIns="0" bIns="0" anchor="ctr">
            <a:noAutofit/>
          </a:bodyPr>
          <a:lstStyle/>
          <a:p>
            <a:pPr algn="ctr"/>
            <a:r>
              <a:rPr sz="2200" i="0">
                <a:solidFill>
                  <a:srgbClr val="FFFFFF"/>
                </a:solidFill>
                <a:latin typeface="Segoe UI Semibold"/>
              </a:rPr>
              <a:t>2</a:t>
            </a:r>
          </a:p>
        </p:txBody>
      </p:sp>
      <p:sp>
        <p:nvSpPr>
          <p:cNvPr id="19" name="TextBox 18"/>
          <p:cNvSpPr txBox="1"/>
          <p:nvPr/>
        </p:nvSpPr>
        <p:spPr>
          <a:xfrm>
            <a:off x="5225796" y="2176272"/>
            <a:ext cx="475488" cy="475488"/>
          </a:xfrm>
          <a:prstGeom prst="rect">
            <a:avLst/>
          </a:prstGeom>
          <a:noFill/>
        </p:spPr>
        <p:txBody>
          <a:bodyPr wrap="none" lIns="0" rIns="0" tIns="0" bIns="0" anchor="ctr">
            <a:spAutoFit/>
          </a:bodyPr>
          <a:lstStyle/>
          <a:p>
            <a:pPr algn="ctr"/>
            <a:r>
              <a:rPr sz="2321">
                <a:solidFill>
                  <a:srgbClr val="107C10"/>
                </a:solidFill>
                <a:latin typeface="Segoe Fluent Icons"/>
              </a:rPr>
              <a:t></a:t>
            </a:r>
          </a:p>
        </p:txBody>
      </p:sp>
      <p:sp>
        <p:nvSpPr>
          <p:cNvPr id="20" name="TextBox 19"/>
          <p:cNvSpPr txBox="1"/>
          <p:nvPr/>
        </p:nvSpPr>
        <p:spPr>
          <a:xfrm>
            <a:off x="3664458" y="2880360"/>
            <a:ext cx="2018538" cy="777240"/>
          </a:xfrm>
          <a:prstGeom prst="rect">
            <a:avLst/>
          </a:prstGeom>
          <a:noFill/>
        </p:spPr>
        <p:txBody>
          <a:bodyPr wrap="square" lIns="0" rIns="0" tIns="0" bIns="0" anchor="t">
            <a:noAutofit/>
          </a:bodyPr>
          <a:lstStyle/>
          <a:p>
            <a:pPr algn="l"/>
            <a:r>
              <a:rPr sz="2000" i="0">
                <a:solidFill>
                  <a:srgbClr val="1B1B1B"/>
                </a:solidFill>
                <a:latin typeface="Segoe UI Semibold"/>
              </a:rPr>
              <a:t>Name pilot consultants</a:t>
            </a:r>
          </a:p>
        </p:txBody>
      </p:sp>
      <p:sp>
        <p:nvSpPr>
          <p:cNvPr id="21" name="TextBox 20"/>
          <p:cNvSpPr txBox="1"/>
          <p:nvPr/>
        </p:nvSpPr>
        <p:spPr>
          <a:xfrm>
            <a:off x="3664458" y="3657600"/>
            <a:ext cx="2018538" cy="960120"/>
          </a:xfrm>
          <a:prstGeom prst="rect">
            <a:avLst/>
          </a:prstGeom>
          <a:noFill/>
        </p:spPr>
        <p:txBody>
          <a:bodyPr wrap="square" lIns="0" rIns="0" tIns="0" bIns="0" anchor="t">
            <a:noAutofit/>
          </a:bodyPr>
          <a:lstStyle/>
          <a:p>
            <a:pPr algn="l"/>
            <a:r>
              <a:rPr sz="1500" i="0">
                <a:solidFill>
                  <a:srgbClr val="505050"/>
                </a:solidFill>
                <a:latin typeface="Segoe UI"/>
              </a:rPr>
              <a:t>Frequent travelers who draft client summaries</a:t>
            </a:r>
          </a:p>
        </p:txBody>
      </p:sp>
      <p:sp>
        <p:nvSpPr>
          <p:cNvPr id="22" name="Rounded Rectangle 21"/>
          <p:cNvSpPr/>
          <p:nvPr/>
        </p:nvSpPr>
        <p:spPr>
          <a:xfrm>
            <a:off x="6231636" y="1828800"/>
            <a:ext cx="2567178" cy="2926080"/>
          </a:xfrm>
          <a:prstGeom prst="roundRect">
            <a:avLst>
              <a:gd name="adj" fmla="val 2137"/>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505956" y="2103120"/>
            <a:ext cx="640080" cy="640080"/>
          </a:xfrm>
          <a:prstGeom prst="ellipse">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505956" y="2103120"/>
            <a:ext cx="640080" cy="640080"/>
          </a:xfrm>
          <a:prstGeom prst="rect">
            <a:avLst/>
          </a:prstGeom>
          <a:noFill/>
        </p:spPr>
        <p:txBody>
          <a:bodyPr wrap="square" lIns="0" rIns="0" tIns="0" bIns="0" anchor="ctr">
            <a:noAutofit/>
          </a:bodyPr>
          <a:lstStyle/>
          <a:p>
            <a:pPr algn="ctr"/>
            <a:r>
              <a:rPr sz="2200" i="0">
                <a:solidFill>
                  <a:srgbClr val="FFFFFF"/>
                </a:solidFill>
                <a:latin typeface="Segoe UI Semibold"/>
              </a:rPr>
              <a:t>3</a:t>
            </a:r>
          </a:p>
        </p:txBody>
      </p:sp>
      <p:sp>
        <p:nvSpPr>
          <p:cNvPr id="25" name="TextBox 24"/>
          <p:cNvSpPr txBox="1"/>
          <p:nvPr/>
        </p:nvSpPr>
        <p:spPr>
          <a:xfrm>
            <a:off x="8067294" y="2176272"/>
            <a:ext cx="475488" cy="475488"/>
          </a:xfrm>
          <a:prstGeom prst="rect">
            <a:avLst/>
          </a:prstGeom>
          <a:noFill/>
        </p:spPr>
        <p:txBody>
          <a:bodyPr wrap="none" lIns="0" rIns="0" tIns="0" bIns="0" anchor="ctr">
            <a:spAutoFit/>
          </a:bodyPr>
          <a:lstStyle/>
          <a:p>
            <a:pPr algn="ctr"/>
            <a:r>
              <a:rPr sz="2321">
                <a:solidFill>
                  <a:srgbClr val="D83B01"/>
                </a:solidFill>
                <a:latin typeface="Segoe Fluent Icons"/>
              </a:rPr>
              <a:t></a:t>
            </a:r>
          </a:p>
        </p:txBody>
      </p:sp>
      <p:sp>
        <p:nvSpPr>
          <p:cNvPr id="26" name="TextBox 25"/>
          <p:cNvSpPr txBox="1"/>
          <p:nvPr/>
        </p:nvSpPr>
        <p:spPr>
          <a:xfrm>
            <a:off x="6505956" y="2880360"/>
            <a:ext cx="2018538" cy="777240"/>
          </a:xfrm>
          <a:prstGeom prst="rect">
            <a:avLst/>
          </a:prstGeom>
          <a:noFill/>
        </p:spPr>
        <p:txBody>
          <a:bodyPr wrap="square" lIns="0" rIns="0" tIns="0" bIns="0" anchor="t">
            <a:noAutofit/>
          </a:bodyPr>
          <a:lstStyle/>
          <a:p>
            <a:pPr algn="l"/>
            <a:r>
              <a:rPr sz="2000" i="0">
                <a:solidFill>
                  <a:srgbClr val="1B1B1B"/>
                </a:solidFill>
                <a:latin typeface="Segoe UI Semibold"/>
              </a:rPr>
              <a:t>Agree success measures</a:t>
            </a:r>
          </a:p>
        </p:txBody>
      </p:sp>
      <p:sp>
        <p:nvSpPr>
          <p:cNvPr id="27" name="TextBox 26"/>
          <p:cNvSpPr txBox="1"/>
          <p:nvPr/>
        </p:nvSpPr>
        <p:spPr>
          <a:xfrm>
            <a:off x="6505956" y="3657600"/>
            <a:ext cx="2018538" cy="960120"/>
          </a:xfrm>
          <a:prstGeom prst="rect">
            <a:avLst/>
          </a:prstGeom>
          <a:noFill/>
        </p:spPr>
        <p:txBody>
          <a:bodyPr wrap="square" lIns="0" rIns="0" tIns="0" bIns="0" anchor="t">
            <a:noAutofit/>
          </a:bodyPr>
          <a:lstStyle/>
          <a:p>
            <a:pPr algn="l"/>
            <a:r>
              <a:rPr sz="1500" i="0">
                <a:solidFill>
                  <a:srgbClr val="505050"/>
                </a:solidFill>
                <a:latin typeface="Segoe UI"/>
              </a:rPr>
              <a:t>Task time, draft quality, user experience</a:t>
            </a:r>
          </a:p>
        </p:txBody>
      </p:sp>
      <p:sp>
        <p:nvSpPr>
          <p:cNvPr id="28" name="Rounded Rectangle 27"/>
          <p:cNvSpPr/>
          <p:nvPr/>
        </p:nvSpPr>
        <p:spPr>
          <a:xfrm>
            <a:off x="9073134" y="1828800"/>
            <a:ext cx="2567178" cy="2926080"/>
          </a:xfrm>
          <a:prstGeom prst="roundRect">
            <a:avLst>
              <a:gd name="adj" fmla="val 2137"/>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9347454" y="2103120"/>
            <a:ext cx="640080" cy="640080"/>
          </a:xfrm>
          <a:prstGeom prst="ellipse">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347454" y="2103120"/>
            <a:ext cx="640080" cy="640080"/>
          </a:xfrm>
          <a:prstGeom prst="rect">
            <a:avLst/>
          </a:prstGeom>
          <a:noFill/>
        </p:spPr>
        <p:txBody>
          <a:bodyPr wrap="square" lIns="0" rIns="0" tIns="0" bIns="0" anchor="ctr">
            <a:noAutofit/>
          </a:bodyPr>
          <a:lstStyle/>
          <a:p>
            <a:pPr algn="ctr"/>
            <a:r>
              <a:rPr sz="2200" i="0">
                <a:solidFill>
                  <a:srgbClr val="FFFFFF"/>
                </a:solidFill>
                <a:latin typeface="Segoe UI Semibold"/>
              </a:rPr>
              <a:t>4</a:t>
            </a:r>
          </a:p>
        </p:txBody>
      </p:sp>
      <p:sp>
        <p:nvSpPr>
          <p:cNvPr id="31" name="TextBox 30"/>
          <p:cNvSpPr txBox="1"/>
          <p:nvPr/>
        </p:nvSpPr>
        <p:spPr>
          <a:xfrm>
            <a:off x="10908792" y="2176272"/>
            <a:ext cx="475488" cy="475488"/>
          </a:xfrm>
          <a:prstGeom prst="rect">
            <a:avLst/>
          </a:prstGeom>
          <a:noFill/>
        </p:spPr>
        <p:txBody>
          <a:bodyPr wrap="none" lIns="0" rIns="0" tIns="0" bIns="0" anchor="ctr">
            <a:spAutoFit/>
          </a:bodyPr>
          <a:lstStyle/>
          <a:p>
            <a:pPr algn="ctr"/>
            <a:r>
              <a:rPr sz="2321">
                <a:solidFill>
                  <a:srgbClr val="FFB900"/>
                </a:solidFill>
                <a:latin typeface="Segoe Fluent Icons"/>
              </a:rPr>
              <a:t></a:t>
            </a:r>
          </a:p>
        </p:txBody>
      </p:sp>
      <p:sp>
        <p:nvSpPr>
          <p:cNvPr id="32" name="TextBox 31"/>
          <p:cNvSpPr txBox="1"/>
          <p:nvPr/>
        </p:nvSpPr>
        <p:spPr>
          <a:xfrm>
            <a:off x="9347454" y="2880360"/>
            <a:ext cx="2018538" cy="777240"/>
          </a:xfrm>
          <a:prstGeom prst="rect">
            <a:avLst/>
          </a:prstGeom>
          <a:noFill/>
        </p:spPr>
        <p:txBody>
          <a:bodyPr wrap="square" lIns="0" rIns="0" tIns="0" bIns="0" anchor="t">
            <a:noAutofit/>
          </a:bodyPr>
          <a:lstStyle/>
          <a:p>
            <a:pPr algn="l"/>
            <a:r>
              <a:rPr sz="2000" i="0">
                <a:solidFill>
                  <a:srgbClr val="1B1B1B"/>
                </a:solidFill>
                <a:latin typeface="Segoe UI Semibold"/>
              </a:rPr>
              <a:t>Review results together</a:t>
            </a:r>
          </a:p>
        </p:txBody>
      </p:sp>
      <p:sp>
        <p:nvSpPr>
          <p:cNvPr id="33" name="TextBox 32"/>
          <p:cNvSpPr txBox="1"/>
          <p:nvPr/>
        </p:nvSpPr>
        <p:spPr>
          <a:xfrm>
            <a:off x="9347454" y="3657600"/>
            <a:ext cx="2018538" cy="960120"/>
          </a:xfrm>
          <a:prstGeom prst="rect">
            <a:avLst/>
          </a:prstGeom>
          <a:noFill/>
        </p:spPr>
        <p:txBody>
          <a:bodyPr wrap="square" lIns="0" rIns="0" tIns="0" bIns="0" anchor="t">
            <a:noAutofit/>
          </a:bodyPr>
          <a:lstStyle/>
          <a:p>
            <a:pPr algn="l"/>
            <a:r>
              <a:rPr sz="1500" i="0">
                <a:solidFill>
                  <a:srgbClr val="505050"/>
                </a:solidFill>
                <a:latin typeface="Segoe UI"/>
              </a:rPr>
              <a:t>Sponsors decide next steps on measured data</a:t>
            </a:r>
          </a:p>
        </p:txBody>
      </p:sp>
      <p:sp>
        <p:nvSpPr>
          <p:cNvPr id="34" name="Rounded Rectangle 33"/>
          <p:cNvSpPr/>
          <p:nvPr/>
        </p:nvSpPr>
        <p:spPr>
          <a:xfrm>
            <a:off x="548640" y="5029200"/>
            <a:ext cx="11091672" cy="1143000"/>
          </a:xfrm>
          <a:prstGeom prst="roundRect">
            <a:avLst>
              <a:gd name="adj" fmla="val 48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914400" y="5349240"/>
            <a:ext cx="502920" cy="502920"/>
          </a:xfrm>
          <a:prstGeom prst="rect">
            <a:avLst/>
          </a:prstGeom>
          <a:noFill/>
        </p:spPr>
        <p:txBody>
          <a:bodyPr wrap="none" lIns="0" rIns="0" tIns="0" bIns="0" anchor="ctr">
            <a:spAutoFit/>
          </a:bodyPr>
          <a:lstStyle/>
          <a:p>
            <a:pPr algn="ctr"/>
            <a:r>
              <a:rPr sz="2455">
                <a:solidFill>
                  <a:srgbClr val="FFFFFF"/>
                </a:solidFill>
                <a:latin typeface="Segoe Fluent Icons"/>
              </a:rPr>
              <a:t></a:t>
            </a:r>
          </a:p>
        </p:txBody>
      </p:sp>
      <p:sp>
        <p:nvSpPr>
          <p:cNvPr id="36" name="TextBox 35"/>
          <p:cNvSpPr txBox="1"/>
          <p:nvPr/>
        </p:nvSpPr>
        <p:spPr>
          <a:xfrm>
            <a:off x="1645920" y="5138928"/>
            <a:ext cx="9720072" cy="914400"/>
          </a:xfrm>
          <a:prstGeom prst="rect">
            <a:avLst/>
          </a:prstGeom>
          <a:noFill/>
        </p:spPr>
        <p:txBody>
          <a:bodyPr wrap="square" lIns="0" rIns="0" tIns="0" bIns="0" anchor="ctr">
            <a:noAutofit/>
          </a:bodyPr>
          <a:lstStyle/>
          <a:p>
            <a:pPr algn="l"/>
            <a:r>
              <a:rPr sz="2400" i="0">
                <a:solidFill>
                  <a:srgbClr val="FFFFFF"/>
                </a:solidFill>
                <a:latin typeface="Segoe UI Semibold"/>
              </a:rPr>
              <a:t>Approve a 2-week, 10-user pilot of local AI on Surface Laptop Ultra, alongside Copilot.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Local AI Lane for Traveling Consultants</dc:title>
  <dc:subject/>
  <dc:creator>Offline PPTX Forge</dc:creator>
  <cp:keywords/>
  <dc:description>Generated offline; template=microsoft</dc:description>
  <cp:lastModifiedBy>Steve Canny</cp:lastModifiedBy>
  <cp:revision>1</cp:revision>
  <dcterms:created xsi:type="dcterms:W3CDTF">2013-01-27T09:14:16Z</dcterms:created>
  <dcterms:modified xsi:type="dcterms:W3CDTF">2013-01-27T09:15:58Z</dcterms:modified>
  <cp:category/>
</cp:coreProperties>
</file>