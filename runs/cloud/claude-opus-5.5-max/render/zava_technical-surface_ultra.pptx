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4B5162"/>
            </a:solidFill>
          </c:spPr>
          <c:dPt>
            <c:idx val="1"/>
            <c:spPr>
              <a:solidFill>
                <a:srgbClr val="76B900"/>
              </a:solidFill>
            </c:spPr>
          </c:dPt>
          <c:cat>
            <c:strRef>
              <c:f>Sheet1!$A$2:$A$5</c:f>
              <c:strCache>
                <c:ptCount val="4"/>
                <c:pt idx="0">
                  <c:v>Qwen3-Coder, 1 stream</c:v>
                </c:pt>
                <c:pt idx="1">
                  <c:v>Qwen3-Coder, 4 streams</c:v>
                </c:pt>
                <c:pt idx="2">
                  <c:v>Gemma 4, 1 stream</c:v>
                </c:pt>
                <c:pt idx="3">
                  <c:v>Gemma 4, 8 streams</c:v>
                </c:pt>
              </c:strCache>
            </c:strRef>
          </c:cat>
          <c:val>
            <c:numRef>
              <c:f>Sheet1!$B$2:$B$5</c:f>
              <c:numCache>
                <c:formatCode>General</c:formatCode>
                <c:ptCount val="4"/>
                <c:pt idx="0">
                  <c:v>86.0</c:v>
                </c:pt>
                <c:pt idx="1">
                  <c:v>140.0</c:v>
                </c:pt>
                <c:pt idx="2">
                  <c:v>72.0</c:v>
                </c:pt>
                <c:pt idx="3">
                  <c:v>245.0</c:v>
                </c:pt>
              </c:numCache>
            </c:numRef>
          </c:val>
        </c:ser>
        <c:dLbls>
          <c:numFmt formatCode="#,##0&quot; tokens/s&quot;" sourceLinked="0"/>
          <c:txPr>
            <a:bodyPr/>
            <a:lstStyle/>
            <a:p>
              <a:pPr>
                <a:defRPr sz="1500" b="1">
                  <a:solidFill>
                    <a:srgbClr val="F4F6FA"/>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500">
                <a:solidFill>
                  <a:srgbClr val="F4F6FA"/>
                </a:solidFill>
              </a:defRPr>
            </a:pPr>
          </a:p>
        </c:txPr>
        <c:crossAx val="-2113994440"/>
        <c:crosses val="autoZero"/>
        <c:auto val="1"/>
        <c:lblAlgn val="ctr"/>
        <c:lblOffset val="100"/>
        <c:noMultiLvlLbl val="0"/>
      </c:catAx>
      <c:valAx>
        <c:axId val="-2113994440"/>
        <c:scaling>
          <c:max val="318.5"/>
          <c:min val="0.0"/>
        </c:scaling>
        <c:delete/>
        <c:axPos val="b"/>
        <c:majorTickMark val="out"/>
        <c:minorTickMark val="none"/>
        <c:tickLblPos val="nextTo"/>
        <c:crossAx val="-2068027336"/>
        <c:crosses val="autoZero"/>
      </c:valAx>
    </c:plotArea>
    <c:dispBlanksAs val="gap"/>
  </c:chart>
  <c:txPr>
    <a:bodyPr/>
    <a:lstStyle/>
    <a:p>
      <a:pPr>
        <a:defRPr sz="1500">
          <a:solidFill>
            <a:srgbClr val="F4F6FA"/>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is architecture and measured numbers, not marketing. We'll show how a Surface Laptop Ultra with NVIDIA RTX Spark runs a local developer stack: code generation, retrieval over internal docs, and hybrid routing to cloud for the heaviest reasoning. We close with one ask: a 10-developer, 2-week technical pilot.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before claims. This deck was generated on this Surface Laptop Ultra by Qwen3-Coder 30B through llama.cpp, with no cloud calls. The device is literally explaining itself. Keep that in mind: the same model and runtime we are proposing for Zava's code assistant produced what you're reading.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bottom-up. The NVIDIA RTX Spark N1X pairs a Blackwell RTX GPU with 20 CPU cores. llama.cpp build 11573 runs native ARM64 with CUDA; Foundry Local uses the CUDA execution provider. The local catalog holds 28 open models, 315 GiB on disk. Developer workflows sit on top.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three maps of one city: you never add the maps together. 128 GB is installed. Windows reports about 64 GB visible. nvidia-smi reports a 64,000 MiB GPU memory budget. These are distinct views of memory, not slices to sum. When anyone asks how much memory, the honest answer starts with: which view?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figures: Local-AI-Bench on this device, October 2026, shared machine, so treat them as measurements, not guaranteed specs. Qwen3-Coder 30B: about 86 tokens/s single stream, 0.13 s to first token, about 140 aggregate across 4 streams. Gemma 4 26B: about 72 single, about 245 across 8. Concurrency matters when agents run parallel requests.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models of similar size, one measured difference. Dense Qwen3.6 27B pushes every token through all its weights: about 13 tokens per second. Qwen3-Coder 30B is a mixture of experts with about 3B parameters active per token: about 86 tokens per second. Same laptop, same benchmark. Speed is not accuracy; pilot acceptance rates will tell us that.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a specialist engineering team. Everyone is on the roster, but each task goes only to the few specialists it needs. Qwen3-Coder 30B works the same way: about 3B parameters activate per token. A dense model calls the whole team into every meeting. Note the trade: the full model still loads into memory; compute per token shrinks.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Zava already thinks this way on the shop floor: pick the machine whose envelope fits the job, and nobody assumes the gantry mill is more precise. Model bands work the same: S 1-4B, M 7-8B, L 14-20B, XL 24-32B parameters. Planning estimates, not accuracy tiers. Qwen3-Coder 30B is XL, yet MoE keeps it fast.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developer loop. A question starts in the IDE. Retrieval searches Zava's internal engineering docs and code locally, and the best passages ground the prompt. Qwen3-Coder 30B generates on the laptop through llama.cpp. The developer accepts, edits or rejects, and the pilot logs acceptance. Sensitive source and doc context stays in this local lane.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request hits a routing policy first. Sensitive, frequent work, meaning code and internal docs, stays in the local lane: Qwen3-Coder, local doc retrieval, llama.cpp and Foundry Local. The heaviest reasoning can route to cloud models by policy. Think in-house machine shop for sensitive parts, outside foundry for the biggest castings.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developers, fourteen days. Start: install the stack and index a scoped set of internal docs. Week one: code generation inside daily work. Week two: add doc retrieval and hybrid routing. Day 14: we read out acceptance rate, latency and developer experience, measured on Zava's real work, not a benchmark.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ask is specific: approve a 10-developer, 2-week technical pilot. You nominate the developers and scope the docs and repos. We run code generation, doc RAG and hybrid routing in real work for 14 days, then read out acceptance rate, latency and developer experience. If the numbers don't hold on your work, you'll know in two weeks.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62179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22960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315200" y="1234440"/>
            <a:ext cx="4297680" cy="4297680"/>
          </a:xfrm>
          <a:prstGeom prst="ellipse">
            <a:avLst/>
          </a:prstGeom>
          <a:noFill/>
          <a:ln w="15875">
            <a:solidFill>
              <a:srgbClr val="76B900"/>
            </a:solidFill>
          </a:ln>
          <a:effectLst>
            <a:glow rad="101600">
              <a:srgbClr val="76B900">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0" y="1691640"/>
            <a:ext cx="3383280" cy="3383280"/>
          </a:xfrm>
          <a:prstGeom prst="ellipse">
            <a:avLst/>
          </a:prstGeom>
          <a:noFill/>
          <a:ln w="22225">
            <a:solidFill>
              <a:srgbClr val="3DA9FC"/>
            </a:solidFill>
          </a:ln>
          <a:effectLst>
            <a:glow rad="101600">
              <a:srgbClr val="3DA9FC">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229600" y="2148840"/>
            <a:ext cx="2468880" cy="2468880"/>
          </a:xfrm>
          <a:prstGeom prst="ellipse">
            <a:avLst/>
          </a:prstGeom>
          <a:noFill/>
          <a:ln w="28575">
            <a:solidFill>
              <a:srgbClr val="9B6BFF"/>
            </a:solidFill>
          </a:ln>
          <a:effectLst>
            <a:glow rad="101600">
              <a:srgbClr val="9B6BFF">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595360" y="2514600"/>
            <a:ext cx="1737360" cy="1737360"/>
          </a:xfrm>
          <a:prstGeom prst="ellipse">
            <a:avLst/>
          </a:prstGeom>
          <a:solidFill>
            <a:srgbClr val="141824"/>
          </a:solidFill>
          <a:ln>
            <a:noFill/>
          </a:ln>
          <a:effectLst>
            <a:glow rad="3048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42248" y="2743200"/>
            <a:ext cx="1243584" cy="1243584"/>
          </a:xfrm>
          <a:prstGeom prst="rect">
            <a:avLst/>
          </a:prstGeom>
          <a:noFill/>
        </p:spPr>
        <p:txBody>
          <a:bodyPr wrap="none" lIns="0" rIns="0" tIns="0" bIns="0" anchor="ctr">
            <a:spAutoFit/>
          </a:bodyPr>
          <a:lstStyle/>
          <a:p>
            <a:pPr algn="ctr"/>
            <a:r>
              <a:rPr sz="6071">
                <a:solidFill>
                  <a:srgbClr val="76B900"/>
                </a:solidFill>
                <a:latin typeface="Segoe Fluent Icons"/>
              </a:rPr>
              <a:t></a:t>
            </a:r>
          </a:p>
        </p:txBody>
      </p:sp>
      <p:sp>
        <p:nvSpPr>
          <p:cNvPr id="9" name="Oval 8"/>
          <p:cNvSpPr/>
          <p:nvPr/>
        </p:nvSpPr>
        <p:spPr>
          <a:xfrm>
            <a:off x="6967728" y="3035808"/>
            <a:ext cx="694944" cy="694944"/>
          </a:xfrm>
          <a:prstGeom prst="ellipse">
            <a:avLst/>
          </a:prstGeom>
          <a:solidFill>
            <a:srgbClr val="141824"/>
          </a:solidFill>
          <a:ln w="190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104888" y="3172968"/>
            <a:ext cx="420624" cy="420624"/>
          </a:xfrm>
          <a:prstGeom prst="rect">
            <a:avLst/>
          </a:prstGeom>
          <a:noFill/>
        </p:spPr>
        <p:txBody>
          <a:bodyPr wrap="none" lIns="0" rIns="0" tIns="0" bIns="0" anchor="ctr">
            <a:spAutoFit/>
          </a:bodyPr>
          <a:lstStyle/>
          <a:p>
            <a:pPr algn="ctr"/>
            <a:r>
              <a:rPr sz="2053">
                <a:solidFill>
                  <a:srgbClr val="76B900"/>
                </a:solidFill>
                <a:latin typeface="Segoe Fluent Icons"/>
              </a:rPr>
              <a:t></a:t>
            </a:r>
          </a:p>
        </p:txBody>
      </p:sp>
      <p:sp>
        <p:nvSpPr>
          <p:cNvPr id="11" name="Oval 10"/>
          <p:cNvSpPr/>
          <p:nvPr/>
        </p:nvSpPr>
        <p:spPr>
          <a:xfrm>
            <a:off x="11265408" y="3035808"/>
            <a:ext cx="694944" cy="694944"/>
          </a:xfrm>
          <a:prstGeom prst="ellipse">
            <a:avLst/>
          </a:prstGeom>
          <a:solidFill>
            <a:srgbClr val="141824"/>
          </a:solidFill>
          <a:ln w="19050">
            <a:solidFill>
              <a:srgbClr val="3DA9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402568" y="3172968"/>
            <a:ext cx="420624" cy="420624"/>
          </a:xfrm>
          <a:prstGeom prst="rect">
            <a:avLst/>
          </a:prstGeom>
          <a:noFill/>
        </p:spPr>
        <p:txBody>
          <a:bodyPr wrap="none" lIns="0" rIns="0" tIns="0" bIns="0" anchor="ctr">
            <a:spAutoFit/>
          </a:bodyPr>
          <a:lstStyle/>
          <a:p>
            <a:pPr algn="ctr"/>
            <a:r>
              <a:rPr sz="2053">
                <a:solidFill>
                  <a:srgbClr val="3DA9FC"/>
                </a:solidFill>
                <a:latin typeface="Segoe Fluent Icons"/>
              </a:rPr>
              <a:t></a:t>
            </a:r>
          </a:p>
        </p:txBody>
      </p:sp>
      <p:sp>
        <p:nvSpPr>
          <p:cNvPr id="13" name="Oval 12"/>
          <p:cNvSpPr/>
          <p:nvPr/>
        </p:nvSpPr>
        <p:spPr>
          <a:xfrm>
            <a:off x="9116568" y="886968"/>
            <a:ext cx="694944" cy="694944"/>
          </a:xfrm>
          <a:prstGeom prst="ellipse">
            <a:avLst/>
          </a:prstGeom>
          <a:solidFill>
            <a:srgbClr val="141824"/>
          </a:solidFill>
          <a:ln w="19050">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3728" y="1024128"/>
            <a:ext cx="420624" cy="420624"/>
          </a:xfrm>
          <a:prstGeom prst="rect">
            <a:avLst/>
          </a:prstGeom>
          <a:noFill/>
        </p:spPr>
        <p:txBody>
          <a:bodyPr wrap="none" lIns="0" rIns="0" tIns="0" bIns="0" anchor="ctr">
            <a:spAutoFit/>
          </a:bodyPr>
          <a:lstStyle/>
          <a:p>
            <a:pPr algn="ctr"/>
            <a:r>
              <a:rPr sz="2053">
                <a:solidFill>
                  <a:srgbClr val="9B6BFF"/>
                </a:solidFill>
                <a:latin typeface="Segoe Fluent Icons"/>
              </a:rPr>
              <a:t></a:t>
            </a:r>
          </a:p>
        </p:txBody>
      </p:sp>
      <p:sp>
        <p:nvSpPr>
          <p:cNvPr id="15" name="Oval 14"/>
          <p:cNvSpPr/>
          <p:nvPr/>
        </p:nvSpPr>
        <p:spPr>
          <a:xfrm>
            <a:off x="9116568" y="5184648"/>
            <a:ext cx="694944" cy="694944"/>
          </a:xfrm>
          <a:prstGeom prst="ellipse">
            <a:avLst/>
          </a:prstGeom>
          <a:solidFill>
            <a:srgbClr val="141824"/>
          </a:solidFill>
          <a:ln w="19050">
            <a:solidFill>
              <a:srgbClr val="FFB5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253728" y="5321808"/>
            <a:ext cx="420624" cy="420624"/>
          </a:xfrm>
          <a:prstGeom prst="rect">
            <a:avLst/>
          </a:prstGeom>
          <a:noFill/>
        </p:spPr>
        <p:txBody>
          <a:bodyPr wrap="none" lIns="0" rIns="0" tIns="0" bIns="0" anchor="ctr">
            <a:spAutoFit/>
          </a:bodyPr>
          <a:lstStyle/>
          <a:p>
            <a:pPr algn="ctr"/>
            <a:r>
              <a:rPr sz="2053">
                <a:solidFill>
                  <a:srgbClr val="FFB547"/>
                </a:solidFill>
                <a:latin typeface="Segoe Fluent Icons"/>
              </a:rPr>
              <a:t></a:t>
            </a:r>
          </a:p>
        </p:txBody>
      </p:sp>
      <p:sp>
        <p:nvSpPr>
          <p:cNvPr id="17" name="TextBox 16"/>
          <p:cNvSpPr txBox="1"/>
          <p:nvPr/>
        </p:nvSpPr>
        <p:spPr>
          <a:xfrm>
            <a:off x="640080" y="1691640"/>
            <a:ext cx="6766560" cy="411480"/>
          </a:xfrm>
          <a:prstGeom prst="rect">
            <a:avLst/>
          </a:prstGeom>
          <a:noFill/>
        </p:spPr>
        <p:txBody>
          <a:bodyPr wrap="square" lIns="0" rIns="0" tIns="0" bIns="0" anchor="t">
            <a:noAutofit/>
          </a:bodyPr>
          <a:lstStyle/>
          <a:p>
            <a:pPr algn="l"/>
            <a:r>
              <a:rPr sz="1500" i="0">
                <a:solidFill>
                  <a:srgbClr val="76B900"/>
                </a:solidFill>
                <a:latin typeface="Segoe UI Semibold"/>
              </a:rPr>
              <a:t>TECHNICAL BRIEFING FOR ZAVA ENGINEERING</a:t>
            </a:r>
          </a:p>
        </p:txBody>
      </p:sp>
      <p:sp>
        <p:nvSpPr>
          <p:cNvPr id="18" name="TextBox 17"/>
          <p:cNvSpPr txBox="1"/>
          <p:nvPr/>
        </p:nvSpPr>
        <p:spPr>
          <a:xfrm>
            <a:off x="640080" y="2148840"/>
            <a:ext cx="6400800" cy="2194560"/>
          </a:xfrm>
          <a:prstGeom prst="rect">
            <a:avLst/>
          </a:prstGeom>
          <a:noFill/>
        </p:spPr>
        <p:txBody>
          <a:bodyPr wrap="square" lIns="0" rIns="0" tIns="0" bIns="0" anchor="t">
            <a:noAutofit/>
          </a:bodyPr>
          <a:lstStyle/>
          <a:p>
            <a:pPr algn="l"/>
            <a:r>
              <a:rPr sz="5000" i="0">
                <a:solidFill>
                  <a:srgbClr val="F4F6FA"/>
                </a:solidFill>
                <a:latin typeface="Segoe UI Semibold"/>
              </a:rPr>
              <a:t>A Local AI Developer Stack, Measured</a:t>
            </a:r>
          </a:p>
        </p:txBody>
      </p:sp>
      <p:sp>
        <p:nvSpPr>
          <p:cNvPr id="19" name="TextBox 18"/>
          <p:cNvSpPr txBox="1"/>
          <p:nvPr/>
        </p:nvSpPr>
        <p:spPr>
          <a:xfrm>
            <a:off x="640080" y="4434840"/>
            <a:ext cx="6583680" cy="914400"/>
          </a:xfrm>
          <a:prstGeom prst="rect">
            <a:avLst/>
          </a:prstGeom>
          <a:noFill/>
        </p:spPr>
        <p:txBody>
          <a:bodyPr wrap="square" lIns="0" rIns="0" tIns="0" bIns="0" anchor="t">
            <a:noAutofit/>
          </a:bodyPr>
          <a:lstStyle/>
          <a:p>
            <a:pPr algn="l"/>
            <a:r>
              <a:rPr sz="2000" i="0">
                <a:solidFill>
                  <a:srgbClr val="AEB6C8"/>
                </a:solidFill>
                <a:latin typeface="Segoe UI"/>
              </a:rPr>
              <a:t>Surface Laptop Ultra with NVIDIA RTX Spark: code generation, doc RAG, hybrid routing</a:t>
            </a:r>
          </a:p>
        </p:txBody>
      </p:sp>
      <p:sp>
        <p:nvSpPr>
          <p:cNvPr id="20" name="TextBox 19"/>
          <p:cNvSpPr txBox="1"/>
          <p:nvPr/>
        </p:nvSpPr>
        <p:spPr>
          <a:xfrm>
            <a:off x="640080" y="6035040"/>
            <a:ext cx="6400800" cy="320040"/>
          </a:xfrm>
          <a:prstGeom prst="rect">
            <a:avLst/>
          </a:prstGeom>
          <a:noFill/>
        </p:spPr>
        <p:txBody>
          <a:bodyPr wrap="square" lIns="0" rIns="0" tIns="0" bIns="0" anchor="t">
            <a:noAutofit/>
          </a:bodyPr>
          <a:lstStyle/>
          <a:p>
            <a:pPr algn="l"/>
            <a:r>
              <a:rPr sz="1200" i="0">
                <a:solidFill>
                  <a:srgbClr val="6F7890"/>
                </a:solidFill>
                <a:latin typeface="Segoe UI"/>
              </a:rPr>
              <a:t>Surface Laptop Ultra  |  NVIDIA RTX Spark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This Deck Was Made On-Device</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Qwen3-Coder 30B on llama.cpp generated this deck here, with no cloud calls.</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2</a:t>
            </a:r>
          </a:p>
        </p:txBody>
      </p:sp>
      <p:sp>
        <p:nvSpPr>
          <p:cNvPr id="9" name="Oval 8"/>
          <p:cNvSpPr/>
          <p:nvPr/>
        </p:nvSpPr>
        <p:spPr>
          <a:xfrm>
            <a:off x="5500116" y="1920240"/>
            <a:ext cx="1188720" cy="1188720"/>
          </a:xfrm>
          <a:prstGeom prst="ellipse">
            <a:avLst/>
          </a:prstGeom>
          <a:solidFill>
            <a:srgbClr val="76B900"/>
          </a:solidFill>
          <a:ln>
            <a:noFill/>
          </a:ln>
          <a:effectLst>
            <a:glow rad="228600">
              <a:srgbClr val="76B900">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6537" y="2086661"/>
            <a:ext cx="855878" cy="855878"/>
          </a:xfrm>
          <a:prstGeom prst="rect">
            <a:avLst/>
          </a:prstGeom>
          <a:noFill/>
        </p:spPr>
        <p:txBody>
          <a:bodyPr wrap="none" lIns="0" rIns="0" tIns="0" bIns="0" anchor="ctr">
            <a:spAutoFit/>
          </a:bodyPr>
          <a:lstStyle/>
          <a:p>
            <a:pPr algn="ctr"/>
            <a:r>
              <a:rPr sz="4178">
                <a:solidFill>
                  <a:srgbClr val="07080C"/>
                </a:solidFill>
                <a:latin typeface="Segoe Fluent Icons"/>
              </a:rPr>
              <a:t></a:t>
            </a:r>
          </a:p>
        </p:txBody>
      </p:sp>
      <p:sp>
        <p:nvSpPr>
          <p:cNvPr id="11" name="TextBox 10"/>
          <p:cNvSpPr txBox="1"/>
          <p:nvPr/>
        </p:nvSpPr>
        <p:spPr>
          <a:xfrm>
            <a:off x="1280160" y="3337560"/>
            <a:ext cx="9628632" cy="1645920"/>
          </a:xfrm>
          <a:prstGeom prst="rect">
            <a:avLst/>
          </a:prstGeom>
          <a:noFill/>
        </p:spPr>
        <p:txBody>
          <a:bodyPr wrap="square" lIns="0" rIns="0" tIns="0" bIns="0" anchor="ctr">
            <a:noAutofit/>
          </a:bodyPr>
          <a:lstStyle/>
          <a:p>
            <a:pPr algn="ctr"/>
            <a:r>
              <a:rPr sz="4000" i="0">
                <a:solidFill>
                  <a:srgbClr val="F4F6FA"/>
                </a:solidFill>
                <a:latin typeface="Segoe UI Semibold"/>
              </a:rPr>
              <a:t>This deck was generated on this laptop.</a:t>
            </a:r>
          </a:p>
        </p:txBody>
      </p:sp>
      <p:sp>
        <p:nvSpPr>
          <p:cNvPr id="12" name="TextBox 11"/>
          <p:cNvSpPr txBox="1"/>
          <p:nvPr/>
        </p:nvSpPr>
        <p:spPr>
          <a:xfrm>
            <a:off x="1920240" y="5074920"/>
            <a:ext cx="8348472" cy="822960"/>
          </a:xfrm>
          <a:prstGeom prst="rect">
            <a:avLst/>
          </a:prstGeom>
          <a:noFill/>
        </p:spPr>
        <p:txBody>
          <a:bodyPr wrap="square" lIns="0" rIns="0" tIns="0" bIns="0" anchor="t">
            <a:noAutofit/>
          </a:bodyPr>
          <a:lstStyle/>
          <a:p>
            <a:pPr algn="ctr"/>
            <a:r>
              <a:rPr sz="1800" i="0">
                <a:solidFill>
                  <a:srgbClr val="AEB6C8"/>
                </a:solidFill>
                <a:latin typeface="Segoe UI"/>
              </a:rPr>
              <a:t>Qwen3-Coder 30B via llama.cpp, no cloud calls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The Stack: Silicon, Runtimes, Models, Workflows</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RTX Spark N1X runs llama.cpp and Foundry Local on CUDA; 28 models installed.</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3</a:t>
            </a:r>
          </a:p>
        </p:txBody>
      </p:sp>
      <p:sp>
        <p:nvSpPr>
          <p:cNvPr id="9" name="Rounded Rectangle 8"/>
          <p:cNvSpPr/>
          <p:nvPr/>
        </p:nvSpPr>
        <p:spPr>
          <a:xfrm>
            <a:off x="548640" y="1888236"/>
            <a:ext cx="9262872" cy="960120"/>
          </a:xfrm>
          <a:prstGeom prst="roundRect">
            <a:avLst>
              <a:gd name="adj" fmla="val 13333"/>
            </a:avLst>
          </a:prstGeom>
          <a:solidFill>
            <a:srgbClr val="141824"/>
          </a:solidFill>
          <a:ln w="12700">
            <a:solidFill>
              <a:srgbClr val="4060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640080" y="1979676"/>
            <a:ext cx="777240" cy="777240"/>
          </a:xfrm>
          <a:prstGeom prst="roundRect">
            <a:avLst>
              <a:gd name="adj" fmla="val 14117"/>
            </a:avLst>
          </a:prstGeom>
          <a:solidFill>
            <a:srgbClr val="76B900"/>
          </a:solidFill>
          <a:ln>
            <a:noFill/>
          </a:ln>
          <a:effectLst>
            <a:glow rad="101600">
              <a:srgbClr val="76B900">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9983" y="2119579"/>
            <a:ext cx="497434" cy="497434"/>
          </a:xfrm>
          <a:prstGeom prst="rect">
            <a:avLst/>
          </a:prstGeom>
          <a:noFill/>
        </p:spPr>
        <p:txBody>
          <a:bodyPr wrap="none" lIns="0" rIns="0" tIns="0" bIns="0" anchor="ctr">
            <a:spAutoFit/>
          </a:bodyPr>
          <a:lstStyle/>
          <a:p>
            <a:pPr algn="ctr"/>
            <a:r>
              <a:rPr sz="2428">
                <a:solidFill>
                  <a:srgbClr val="07080C"/>
                </a:solidFill>
                <a:latin typeface="Segoe Fluent Icons"/>
              </a:rPr>
              <a:t></a:t>
            </a:r>
          </a:p>
        </p:txBody>
      </p:sp>
      <p:sp>
        <p:nvSpPr>
          <p:cNvPr id="12" name="TextBox 11"/>
          <p:cNvSpPr txBox="1"/>
          <p:nvPr/>
        </p:nvSpPr>
        <p:spPr>
          <a:xfrm>
            <a:off x="1618488" y="1961388"/>
            <a:ext cx="3017520" cy="813816"/>
          </a:xfrm>
          <a:prstGeom prst="rect">
            <a:avLst/>
          </a:prstGeom>
          <a:noFill/>
        </p:spPr>
        <p:txBody>
          <a:bodyPr wrap="square" lIns="0" rIns="0" tIns="0" bIns="0" anchor="ctr">
            <a:noAutofit/>
          </a:bodyPr>
          <a:lstStyle/>
          <a:p>
            <a:pPr algn="l"/>
            <a:r>
              <a:rPr sz="2100" i="0">
                <a:solidFill>
                  <a:srgbClr val="F4F6FA"/>
                </a:solidFill>
                <a:latin typeface="Segoe UI Semibold"/>
              </a:rPr>
              <a:t>Developer workflows</a:t>
            </a:r>
          </a:p>
        </p:txBody>
      </p:sp>
      <p:sp>
        <p:nvSpPr>
          <p:cNvPr id="13" name="TextBox 12"/>
          <p:cNvSpPr txBox="1"/>
          <p:nvPr/>
        </p:nvSpPr>
        <p:spPr>
          <a:xfrm>
            <a:off x="4773168" y="1961388"/>
            <a:ext cx="4855464" cy="813816"/>
          </a:xfrm>
          <a:prstGeom prst="rect">
            <a:avLst/>
          </a:prstGeom>
          <a:noFill/>
        </p:spPr>
        <p:txBody>
          <a:bodyPr wrap="square" lIns="0" rIns="0" tIns="0" bIns="0" anchor="ctr">
            <a:noAutofit/>
          </a:bodyPr>
          <a:lstStyle/>
          <a:p>
            <a:pPr algn="l"/>
            <a:r>
              <a:rPr sz="1600" i="0">
                <a:solidFill>
                  <a:srgbClr val="AEB6C8"/>
                </a:solidFill>
                <a:latin typeface="Segoe UI"/>
              </a:rPr>
              <a:t>Code generation, doc RAG, hybrid routing</a:t>
            </a:r>
          </a:p>
        </p:txBody>
      </p:sp>
      <p:sp>
        <p:nvSpPr>
          <p:cNvPr id="14" name="Rounded Rectangle 13"/>
          <p:cNvSpPr/>
          <p:nvPr/>
        </p:nvSpPr>
        <p:spPr>
          <a:xfrm>
            <a:off x="548640" y="2976372"/>
            <a:ext cx="9262872" cy="960120"/>
          </a:xfrm>
          <a:prstGeom prst="roundRect">
            <a:avLst>
              <a:gd name="adj" fmla="val 13333"/>
            </a:avLst>
          </a:prstGeom>
          <a:solidFill>
            <a:srgbClr val="141824"/>
          </a:solidFill>
          <a:ln w="12700">
            <a:solidFill>
              <a:srgbClr val="26598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40080" y="3067812"/>
            <a:ext cx="777240" cy="777240"/>
          </a:xfrm>
          <a:prstGeom prst="roundRect">
            <a:avLst>
              <a:gd name="adj" fmla="val 14117"/>
            </a:avLst>
          </a:prstGeom>
          <a:solidFill>
            <a:srgbClr val="3DA9FC"/>
          </a:solidFill>
          <a:ln>
            <a:noFill/>
          </a:ln>
          <a:effectLst>
            <a:glow rad="101600">
              <a:srgbClr val="3DA9FC">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79983" y="3207715"/>
            <a:ext cx="497434" cy="497434"/>
          </a:xfrm>
          <a:prstGeom prst="rect">
            <a:avLst/>
          </a:prstGeom>
          <a:noFill/>
        </p:spPr>
        <p:txBody>
          <a:bodyPr wrap="none" lIns="0" rIns="0" tIns="0" bIns="0" anchor="ctr">
            <a:spAutoFit/>
          </a:bodyPr>
          <a:lstStyle/>
          <a:p>
            <a:pPr algn="ctr"/>
            <a:r>
              <a:rPr sz="2428">
                <a:solidFill>
                  <a:srgbClr val="07080C"/>
                </a:solidFill>
                <a:latin typeface="Segoe Fluent Icons"/>
              </a:rPr>
              <a:t></a:t>
            </a:r>
          </a:p>
        </p:txBody>
      </p:sp>
      <p:sp>
        <p:nvSpPr>
          <p:cNvPr id="17" name="TextBox 16"/>
          <p:cNvSpPr txBox="1"/>
          <p:nvPr/>
        </p:nvSpPr>
        <p:spPr>
          <a:xfrm>
            <a:off x="1618488" y="3049524"/>
            <a:ext cx="3017520" cy="813816"/>
          </a:xfrm>
          <a:prstGeom prst="rect">
            <a:avLst/>
          </a:prstGeom>
          <a:noFill/>
        </p:spPr>
        <p:txBody>
          <a:bodyPr wrap="square" lIns="0" rIns="0" tIns="0" bIns="0" anchor="ctr">
            <a:noAutofit/>
          </a:bodyPr>
          <a:lstStyle/>
          <a:p>
            <a:pPr algn="l"/>
            <a:r>
              <a:rPr sz="2100" i="0">
                <a:solidFill>
                  <a:srgbClr val="F4F6FA"/>
                </a:solidFill>
                <a:latin typeface="Segoe UI Semibold"/>
              </a:rPr>
              <a:t>Open model catalog</a:t>
            </a:r>
          </a:p>
        </p:txBody>
      </p:sp>
      <p:sp>
        <p:nvSpPr>
          <p:cNvPr id="18" name="TextBox 17"/>
          <p:cNvSpPr txBox="1"/>
          <p:nvPr/>
        </p:nvSpPr>
        <p:spPr>
          <a:xfrm>
            <a:off x="4773168" y="3049524"/>
            <a:ext cx="4855464" cy="813816"/>
          </a:xfrm>
          <a:prstGeom prst="rect">
            <a:avLst/>
          </a:prstGeom>
          <a:noFill/>
        </p:spPr>
        <p:txBody>
          <a:bodyPr wrap="square" lIns="0" rIns="0" tIns="0" bIns="0" anchor="ctr">
            <a:noAutofit/>
          </a:bodyPr>
          <a:lstStyle/>
          <a:p>
            <a:pPr algn="l"/>
            <a:r>
              <a:rPr sz="1600" i="0">
                <a:solidFill>
                  <a:srgbClr val="AEB6C8"/>
                </a:solidFill>
                <a:latin typeface="Segoe UI"/>
              </a:rPr>
              <a:t>28 models installed, 315 GiB on disk</a:t>
            </a:r>
          </a:p>
        </p:txBody>
      </p:sp>
      <p:sp>
        <p:nvSpPr>
          <p:cNvPr id="19" name="Rounded Rectangle 18"/>
          <p:cNvSpPr/>
          <p:nvPr/>
        </p:nvSpPr>
        <p:spPr>
          <a:xfrm>
            <a:off x="548640" y="4064508"/>
            <a:ext cx="9262872" cy="960120"/>
          </a:xfrm>
          <a:prstGeom prst="roundRect">
            <a:avLst>
              <a:gd name="adj" fmla="val 13333"/>
            </a:avLst>
          </a:prstGeom>
          <a:solidFill>
            <a:srgbClr val="141824"/>
          </a:solidFill>
          <a:ln w="12700">
            <a:solidFill>
              <a:srgbClr val="513D8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640080" y="4155948"/>
            <a:ext cx="777240" cy="777240"/>
          </a:xfrm>
          <a:prstGeom prst="roundRect">
            <a:avLst>
              <a:gd name="adj" fmla="val 14117"/>
            </a:avLst>
          </a:prstGeom>
          <a:solidFill>
            <a:srgbClr val="9B6BFF"/>
          </a:solidFill>
          <a:ln>
            <a:noFill/>
          </a:ln>
          <a:effectLst>
            <a:glow rad="101600">
              <a:srgbClr val="9B6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79983" y="4295851"/>
            <a:ext cx="497434" cy="497434"/>
          </a:xfrm>
          <a:prstGeom prst="rect">
            <a:avLst/>
          </a:prstGeom>
          <a:noFill/>
        </p:spPr>
        <p:txBody>
          <a:bodyPr wrap="none" lIns="0" rIns="0" tIns="0" bIns="0" anchor="ctr">
            <a:spAutoFit/>
          </a:bodyPr>
          <a:lstStyle/>
          <a:p>
            <a:pPr algn="ctr"/>
            <a:r>
              <a:rPr sz="2428">
                <a:solidFill>
                  <a:srgbClr val="07080C"/>
                </a:solidFill>
                <a:latin typeface="Segoe Fluent Icons"/>
              </a:rPr>
              <a:t></a:t>
            </a:r>
          </a:p>
        </p:txBody>
      </p:sp>
      <p:sp>
        <p:nvSpPr>
          <p:cNvPr id="22" name="TextBox 21"/>
          <p:cNvSpPr txBox="1"/>
          <p:nvPr/>
        </p:nvSpPr>
        <p:spPr>
          <a:xfrm>
            <a:off x="1618488" y="4137660"/>
            <a:ext cx="3017520" cy="813816"/>
          </a:xfrm>
          <a:prstGeom prst="rect">
            <a:avLst/>
          </a:prstGeom>
          <a:noFill/>
        </p:spPr>
        <p:txBody>
          <a:bodyPr wrap="square" lIns="0" rIns="0" tIns="0" bIns="0" anchor="ctr">
            <a:noAutofit/>
          </a:bodyPr>
          <a:lstStyle/>
          <a:p>
            <a:pPr algn="l"/>
            <a:r>
              <a:rPr sz="2100" i="0">
                <a:solidFill>
                  <a:srgbClr val="F4F6FA"/>
                </a:solidFill>
                <a:latin typeface="Segoe UI Semibold"/>
              </a:rPr>
              <a:t>CUDA runtimes</a:t>
            </a:r>
          </a:p>
        </p:txBody>
      </p:sp>
      <p:sp>
        <p:nvSpPr>
          <p:cNvPr id="23" name="TextBox 22"/>
          <p:cNvSpPr txBox="1"/>
          <p:nvPr/>
        </p:nvSpPr>
        <p:spPr>
          <a:xfrm>
            <a:off x="4773168" y="4137660"/>
            <a:ext cx="4855464" cy="813816"/>
          </a:xfrm>
          <a:prstGeom prst="rect">
            <a:avLst/>
          </a:prstGeom>
          <a:noFill/>
        </p:spPr>
        <p:txBody>
          <a:bodyPr wrap="square" lIns="0" rIns="0" tIns="0" bIns="0" anchor="ctr">
            <a:noAutofit/>
          </a:bodyPr>
          <a:lstStyle/>
          <a:p>
            <a:pPr algn="l"/>
            <a:r>
              <a:rPr sz="1600" i="0">
                <a:solidFill>
                  <a:srgbClr val="AEB6C8"/>
                </a:solidFill>
                <a:latin typeface="Segoe UI"/>
              </a:rPr>
              <a:t>llama.cpp build 11573 (ARM64) + Foundry Local</a:t>
            </a:r>
          </a:p>
        </p:txBody>
      </p:sp>
      <p:sp>
        <p:nvSpPr>
          <p:cNvPr id="24" name="Rounded Rectangle 23"/>
          <p:cNvSpPr/>
          <p:nvPr/>
        </p:nvSpPr>
        <p:spPr>
          <a:xfrm>
            <a:off x="548640" y="5152644"/>
            <a:ext cx="9262872" cy="960120"/>
          </a:xfrm>
          <a:prstGeom prst="roundRect">
            <a:avLst>
              <a:gd name="adj" fmla="val 13333"/>
            </a:avLst>
          </a:prstGeom>
          <a:solidFill>
            <a:srgbClr val="141824"/>
          </a:solidFill>
          <a:ln w="12700">
            <a:solidFill>
              <a:srgbClr val="7E5F3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40080" y="5244084"/>
            <a:ext cx="777240" cy="777240"/>
          </a:xfrm>
          <a:prstGeom prst="roundRect">
            <a:avLst>
              <a:gd name="adj" fmla="val 14117"/>
            </a:avLst>
          </a:prstGeom>
          <a:solidFill>
            <a:srgbClr val="FFB547"/>
          </a:solidFill>
          <a:ln>
            <a:noFill/>
          </a:ln>
          <a:effectLst>
            <a:glow rad="101600">
              <a:srgbClr val="FFB547">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79983" y="5383987"/>
            <a:ext cx="497434" cy="497434"/>
          </a:xfrm>
          <a:prstGeom prst="rect">
            <a:avLst/>
          </a:prstGeom>
          <a:noFill/>
        </p:spPr>
        <p:txBody>
          <a:bodyPr wrap="none" lIns="0" rIns="0" tIns="0" bIns="0" anchor="ctr">
            <a:spAutoFit/>
          </a:bodyPr>
          <a:lstStyle/>
          <a:p>
            <a:pPr algn="ctr"/>
            <a:r>
              <a:rPr sz="2428">
                <a:solidFill>
                  <a:srgbClr val="07080C"/>
                </a:solidFill>
                <a:latin typeface="Segoe Fluent Icons"/>
              </a:rPr>
              <a:t></a:t>
            </a:r>
          </a:p>
        </p:txBody>
      </p:sp>
      <p:sp>
        <p:nvSpPr>
          <p:cNvPr id="27" name="TextBox 26"/>
          <p:cNvSpPr txBox="1"/>
          <p:nvPr/>
        </p:nvSpPr>
        <p:spPr>
          <a:xfrm>
            <a:off x="1618488" y="5225796"/>
            <a:ext cx="3017520" cy="813816"/>
          </a:xfrm>
          <a:prstGeom prst="rect">
            <a:avLst/>
          </a:prstGeom>
          <a:noFill/>
        </p:spPr>
        <p:txBody>
          <a:bodyPr wrap="square" lIns="0" rIns="0" tIns="0" bIns="0" anchor="ctr">
            <a:noAutofit/>
          </a:bodyPr>
          <a:lstStyle/>
          <a:p>
            <a:pPr algn="l"/>
            <a:r>
              <a:rPr sz="2100" i="0">
                <a:solidFill>
                  <a:srgbClr val="F4F6FA"/>
                </a:solidFill>
                <a:latin typeface="Segoe UI Semibold"/>
              </a:rPr>
              <a:t>RTX Spark N1X</a:t>
            </a:r>
          </a:p>
        </p:txBody>
      </p:sp>
      <p:sp>
        <p:nvSpPr>
          <p:cNvPr id="28" name="TextBox 27"/>
          <p:cNvSpPr txBox="1"/>
          <p:nvPr/>
        </p:nvSpPr>
        <p:spPr>
          <a:xfrm>
            <a:off x="4773168" y="5225796"/>
            <a:ext cx="4855464" cy="813816"/>
          </a:xfrm>
          <a:prstGeom prst="rect">
            <a:avLst/>
          </a:prstGeom>
          <a:noFill/>
        </p:spPr>
        <p:txBody>
          <a:bodyPr wrap="square" lIns="0" rIns="0" tIns="0" bIns="0" anchor="ctr">
            <a:noAutofit/>
          </a:bodyPr>
          <a:lstStyle/>
          <a:p>
            <a:pPr algn="l"/>
            <a:r>
              <a:rPr sz="1600" i="0">
                <a:solidFill>
                  <a:srgbClr val="AEB6C8"/>
                </a:solidFill>
                <a:latin typeface="Segoe UI"/>
              </a:rPr>
              <a:t>Blackwell RTX GPU plus 20 CPU cores</a:t>
            </a:r>
          </a:p>
        </p:txBody>
      </p:sp>
      <p:sp>
        <p:nvSpPr>
          <p:cNvPr id="29" name="Rectangle 28"/>
          <p:cNvSpPr/>
          <p:nvPr/>
        </p:nvSpPr>
        <p:spPr>
          <a:xfrm>
            <a:off x="10085832" y="1888236"/>
            <a:ext cx="73152" cy="4224528"/>
          </a:xfrm>
          <a:prstGeom prst="rect">
            <a:avLst/>
          </a:prstGeom>
          <a:solidFill>
            <a:srgbClr val="76B900"/>
          </a:solidFill>
          <a:ln>
            <a:noFill/>
          </a:ln>
          <a:effectLst>
            <a:glow rad="127000">
              <a:srgbClr val="76B900">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10314432" y="3314700"/>
            <a:ext cx="1325880" cy="1371600"/>
          </a:xfrm>
          <a:prstGeom prst="roundRect">
            <a:avLst>
              <a:gd name="adj" fmla="val 9655"/>
            </a:avLst>
          </a:prstGeom>
          <a:solidFill>
            <a:srgbClr val="233409"/>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387584" y="3360420"/>
            <a:ext cx="1179576" cy="1280160"/>
          </a:xfrm>
          <a:prstGeom prst="rect">
            <a:avLst/>
          </a:prstGeom>
          <a:noFill/>
        </p:spPr>
        <p:txBody>
          <a:bodyPr wrap="square" lIns="0" rIns="0" tIns="0" bIns="0" anchor="ctr">
            <a:noAutofit/>
          </a:bodyPr>
          <a:lstStyle/>
          <a:p>
            <a:pPr algn="ctr"/>
            <a:r>
              <a:rPr sz="1700" i="0">
                <a:solidFill>
                  <a:srgbClr val="F4F6FA"/>
                </a:solidFill>
                <a:latin typeface="Segoe UI Semibold"/>
              </a:rPr>
              <a:t>Surface Laptop Ultra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Three Memory Views, Never Summed</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Installed, Windows-visible and GPU-budget figures are distinct views; never add them.</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4</a:t>
            </a:r>
          </a:p>
        </p:txBody>
      </p:sp>
      <p:sp>
        <p:nvSpPr>
          <p:cNvPr id="9" name="Rounded Rectangle 8"/>
          <p:cNvSpPr/>
          <p:nvPr/>
        </p:nvSpPr>
        <p:spPr>
          <a:xfrm>
            <a:off x="548640" y="2217420"/>
            <a:ext cx="3483864" cy="3566160"/>
          </a:xfrm>
          <a:prstGeom prst="roundRect">
            <a:avLst>
              <a:gd name="adj" fmla="val 3674"/>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2217420"/>
            <a:ext cx="3483864" cy="82296"/>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32104" y="2546604"/>
            <a:ext cx="713232" cy="713232"/>
          </a:xfrm>
          <a:prstGeom prst="ellipse">
            <a:avLst/>
          </a:prstGeom>
          <a:solidFill>
            <a:srgbClr val="76B900"/>
          </a:solidFill>
          <a:ln>
            <a:noFill/>
          </a:ln>
          <a:effectLst>
            <a:glow rad="1016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1956"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13" name="TextBox 12"/>
          <p:cNvSpPr txBox="1"/>
          <p:nvPr/>
        </p:nvSpPr>
        <p:spPr>
          <a:xfrm>
            <a:off x="822960" y="3406140"/>
            <a:ext cx="2935224" cy="1234440"/>
          </a:xfrm>
          <a:prstGeom prst="rect">
            <a:avLst/>
          </a:prstGeom>
          <a:noFill/>
        </p:spPr>
        <p:txBody>
          <a:bodyPr wrap="square" lIns="0" rIns="0" tIns="0" bIns="0" anchor="ctr">
            <a:noAutofit/>
          </a:bodyPr>
          <a:lstStyle/>
          <a:p>
            <a:pPr algn="l"/>
            <a:r>
              <a:rPr sz="6000" i="0">
                <a:solidFill>
                  <a:srgbClr val="76B900"/>
                </a:solidFill>
                <a:latin typeface="Segoe UI Black"/>
              </a:rPr>
              <a:t>128 GB</a:t>
            </a:r>
          </a:p>
        </p:txBody>
      </p:sp>
      <p:sp>
        <p:nvSpPr>
          <p:cNvPr id="14" name="TextBox 13"/>
          <p:cNvSpPr txBox="1"/>
          <p:nvPr/>
        </p:nvSpPr>
        <p:spPr>
          <a:xfrm>
            <a:off x="822960" y="4640580"/>
            <a:ext cx="2935224" cy="731520"/>
          </a:xfrm>
          <a:prstGeom prst="rect">
            <a:avLst/>
          </a:prstGeom>
          <a:noFill/>
        </p:spPr>
        <p:txBody>
          <a:bodyPr wrap="square" lIns="0" rIns="0" tIns="0" bIns="0" anchor="t">
            <a:noAutofit/>
          </a:bodyPr>
          <a:lstStyle/>
          <a:p>
            <a:pPr algn="l"/>
            <a:r>
              <a:rPr sz="1700" i="0">
                <a:solidFill>
                  <a:srgbClr val="F4F6FA"/>
                </a:solidFill>
                <a:latin typeface="Segoe UI"/>
              </a:rPr>
              <a:t>Installed memory</a:t>
            </a:r>
          </a:p>
        </p:txBody>
      </p:sp>
      <p:sp>
        <p:nvSpPr>
          <p:cNvPr id="15" name="TextBox 14"/>
          <p:cNvSpPr txBox="1"/>
          <p:nvPr/>
        </p:nvSpPr>
        <p:spPr>
          <a:xfrm>
            <a:off x="822960" y="5372100"/>
            <a:ext cx="2935224" cy="320040"/>
          </a:xfrm>
          <a:prstGeom prst="rect">
            <a:avLst/>
          </a:prstGeom>
          <a:noFill/>
        </p:spPr>
        <p:txBody>
          <a:bodyPr wrap="square" lIns="0" rIns="0" tIns="0" bIns="0" anchor="t">
            <a:noAutofit/>
          </a:bodyPr>
          <a:lstStyle/>
          <a:p>
            <a:pPr algn="l"/>
            <a:r>
              <a:rPr sz="1000" i="0">
                <a:solidFill>
                  <a:srgbClr val="6F7890"/>
                </a:solidFill>
                <a:latin typeface="Segoe UI"/>
              </a:rPr>
              <a:t>Device configuration</a:t>
            </a:r>
          </a:p>
        </p:txBody>
      </p:sp>
      <p:sp>
        <p:nvSpPr>
          <p:cNvPr id="16" name="Rounded Rectangle 15"/>
          <p:cNvSpPr/>
          <p:nvPr/>
        </p:nvSpPr>
        <p:spPr>
          <a:xfrm>
            <a:off x="4352544" y="2217420"/>
            <a:ext cx="3483864" cy="3566160"/>
          </a:xfrm>
          <a:prstGeom prst="roundRect">
            <a:avLst>
              <a:gd name="adj" fmla="val 3674"/>
            </a:avLst>
          </a:prstGeom>
          <a:solidFill>
            <a:srgbClr val="141824"/>
          </a:solidFill>
          <a:ln w="12700">
            <a:solidFill>
              <a:srgbClr val="2860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352544" y="2217420"/>
            <a:ext cx="3483864" cy="82296"/>
          </a:xfrm>
          <a:prstGeom prst="rect">
            <a:avLst/>
          </a:prstGeom>
          <a:solidFill>
            <a:srgbClr val="3DA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4636008" y="2546604"/>
            <a:ext cx="713232" cy="713232"/>
          </a:xfrm>
          <a:prstGeom prst="ellipse">
            <a:avLst/>
          </a:prstGeom>
          <a:solidFill>
            <a:srgbClr val="3DA9FC"/>
          </a:solidFill>
          <a:ln>
            <a:noFill/>
          </a:ln>
          <a:effectLst>
            <a:glow rad="101600">
              <a:srgbClr val="3DA9FC">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35860"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20" name="TextBox 19"/>
          <p:cNvSpPr txBox="1"/>
          <p:nvPr/>
        </p:nvSpPr>
        <p:spPr>
          <a:xfrm>
            <a:off x="4626864" y="3406140"/>
            <a:ext cx="2935224" cy="1234440"/>
          </a:xfrm>
          <a:prstGeom prst="rect">
            <a:avLst/>
          </a:prstGeom>
          <a:noFill/>
        </p:spPr>
        <p:txBody>
          <a:bodyPr wrap="square" lIns="0" rIns="0" tIns="0" bIns="0" anchor="ctr">
            <a:noAutofit/>
          </a:bodyPr>
          <a:lstStyle/>
          <a:p>
            <a:pPr algn="l"/>
            <a:r>
              <a:rPr sz="6000" i="0">
                <a:solidFill>
                  <a:srgbClr val="3DA9FC"/>
                </a:solidFill>
                <a:latin typeface="Segoe UI Black"/>
              </a:rPr>
              <a:t>~64 GB</a:t>
            </a:r>
          </a:p>
        </p:txBody>
      </p:sp>
      <p:sp>
        <p:nvSpPr>
          <p:cNvPr id="21" name="TextBox 20"/>
          <p:cNvSpPr txBox="1"/>
          <p:nvPr/>
        </p:nvSpPr>
        <p:spPr>
          <a:xfrm>
            <a:off x="4626864" y="4640580"/>
            <a:ext cx="2935224" cy="731520"/>
          </a:xfrm>
          <a:prstGeom prst="rect">
            <a:avLst/>
          </a:prstGeom>
          <a:noFill/>
        </p:spPr>
        <p:txBody>
          <a:bodyPr wrap="square" lIns="0" rIns="0" tIns="0" bIns="0" anchor="t">
            <a:noAutofit/>
          </a:bodyPr>
          <a:lstStyle/>
          <a:p>
            <a:pPr algn="l"/>
            <a:r>
              <a:rPr sz="1700" i="0">
                <a:solidFill>
                  <a:srgbClr val="F4F6FA"/>
                </a:solidFill>
                <a:latin typeface="Segoe UI"/>
              </a:rPr>
              <a:t>Visible to Windows</a:t>
            </a:r>
          </a:p>
        </p:txBody>
      </p:sp>
      <p:sp>
        <p:nvSpPr>
          <p:cNvPr id="22" name="TextBox 21"/>
          <p:cNvSpPr txBox="1"/>
          <p:nvPr/>
        </p:nvSpPr>
        <p:spPr>
          <a:xfrm>
            <a:off x="4626864" y="5372100"/>
            <a:ext cx="2935224" cy="320040"/>
          </a:xfrm>
          <a:prstGeom prst="rect">
            <a:avLst/>
          </a:prstGeom>
          <a:noFill/>
        </p:spPr>
        <p:txBody>
          <a:bodyPr wrap="square" lIns="0" rIns="0" tIns="0" bIns="0" anchor="t">
            <a:noAutofit/>
          </a:bodyPr>
          <a:lstStyle/>
          <a:p>
            <a:pPr algn="l"/>
            <a:r>
              <a:rPr sz="1000" i="0">
                <a:solidFill>
                  <a:srgbClr val="6F7890"/>
                </a:solidFill>
                <a:latin typeface="Segoe UI"/>
              </a:rPr>
              <a:t>Windows system view</a:t>
            </a:r>
          </a:p>
        </p:txBody>
      </p:sp>
      <p:sp>
        <p:nvSpPr>
          <p:cNvPr id="23" name="Rounded Rectangle 22"/>
          <p:cNvSpPr/>
          <p:nvPr/>
        </p:nvSpPr>
        <p:spPr>
          <a:xfrm>
            <a:off x="8156448" y="2217420"/>
            <a:ext cx="3483864" cy="3566160"/>
          </a:xfrm>
          <a:prstGeom prst="roundRect">
            <a:avLst>
              <a:gd name="adj" fmla="val 3674"/>
            </a:avLst>
          </a:prstGeom>
          <a:solidFill>
            <a:srgbClr val="141824"/>
          </a:solidFill>
          <a:ln w="12700">
            <a:solidFill>
              <a:srgbClr val="58429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8156448" y="2217420"/>
            <a:ext cx="3483864" cy="82296"/>
          </a:xfrm>
          <a:prstGeom prst="rect">
            <a:avLst/>
          </a:prstGeom>
          <a:solidFill>
            <a:srgbClr val="9B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8439912" y="2546604"/>
            <a:ext cx="713232" cy="713232"/>
          </a:xfrm>
          <a:prstGeom prst="ellipse">
            <a:avLst/>
          </a:prstGeom>
          <a:solidFill>
            <a:srgbClr val="9B6BFF"/>
          </a:solidFill>
          <a:ln>
            <a:noFill/>
          </a:ln>
          <a:effectLst>
            <a:glow rad="101600">
              <a:srgbClr val="9B6BFF">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539764"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27" name="TextBox 26"/>
          <p:cNvSpPr txBox="1"/>
          <p:nvPr/>
        </p:nvSpPr>
        <p:spPr>
          <a:xfrm>
            <a:off x="8430768" y="3406140"/>
            <a:ext cx="2935224" cy="1234440"/>
          </a:xfrm>
          <a:prstGeom prst="rect">
            <a:avLst/>
          </a:prstGeom>
          <a:noFill/>
        </p:spPr>
        <p:txBody>
          <a:bodyPr wrap="square" lIns="0" rIns="0" tIns="0" bIns="0" anchor="ctr">
            <a:noAutofit/>
          </a:bodyPr>
          <a:lstStyle/>
          <a:p>
            <a:pPr algn="l"/>
            <a:r>
              <a:rPr sz="4000" i="0">
                <a:solidFill>
                  <a:srgbClr val="9B6BFF"/>
                </a:solidFill>
                <a:latin typeface="Segoe UI Black"/>
              </a:rPr>
              <a:t>64,000 MiB</a:t>
            </a:r>
          </a:p>
        </p:txBody>
      </p:sp>
      <p:sp>
        <p:nvSpPr>
          <p:cNvPr id="28" name="TextBox 27"/>
          <p:cNvSpPr txBox="1"/>
          <p:nvPr/>
        </p:nvSpPr>
        <p:spPr>
          <a:xfrm>
            <a:off x="8430768" y="4640580"/>
            <a:ext cx="2935224" cy="731520"/>
          </a:xfrm>
          <a:prstGeom prst="rect">
            <a:avLst/>
          </a:prstGeom>
          <a:noFill/>
        </p:spPr>
        <p:txBody>
          <a:bodyPr wrap="square" lIns="0" rIns="0" tIns="0" bIns="0" anchor="t">
            <a:noAutofit/>
          </a:bodyPr>
          <a:lstStyle/>
          <a:p>
            <a:pPr algn="l"/>
            <a:r>
              <a:rPr sz="1700" i="0">
                <a:solidFill>
                  <a:srgbClr val="F4F6FA"/>
                </a:solidFill>
                <a:latin typeface="Segoe UI"/>
              </a:rPr>
              <a:t>GPU memory budget</a:t>
            </a:r>
          </a:p>
        </p:txBody>
      </p:sp>
      <p:sp>
        <p:nvSpPr>
          <p:cNvPr id="29" name="TextBox 28"/>
          <p:cNvSpPr txBox="1"/>
          <p:nvPr/>
        </p:nvSpPr>
        <p:spPr>
          <a:xfrm>
            <a:off x="8430768" y="5372100"/>
            <a:ext cx="2935224" cy="320040"/>
          </a:xfrm>
          <a:prstGeom prst="rect">
            <a:avLst/>
          </a:prstGeom>
          <a:noFill/>
        </p:spPr>
        <p:txBody>
          <a:bodyPr wrap="square" lIns="0" rIns="0" tIns="0" bIns="0" anchor="t">
            <a:noAutofit/>
          </a:bodyPr>
          <a:lstStyle/>
          <a:p>
            <a:pPr algn="l"/>
            <a:r>
              <a:rPr sz="1000" i="0">
                <a:solidFill>
                  <a:srgbClr val="6F7890"/>
                </a:solidFill>
                <a:latin typeface="Segoe UI"/>
              </a:rPr>
              <a:t>nvidia-smi report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Measured Throughput, Single and Concurrent</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Qwen3-Coder: first token in 0.13 s; aggregate throughput rises with concurrency.</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5</a:t>
            </a:r>
          </a:p>
        </p:txBody>
      </p:sp>
      <p:graphicFrame>
        <p:nvGraphicFramePr>
          <p:cNvPr id="9" name="Chart 8"/>
          <p:cNvGraphicFramePr>
            <a:graphicFrameLocks noGrp="1"/>
          </p:cNvGraphicFramePr>
          <p:nvPr/>
        </p:nvGraphicFramePr>
        <p:xfrm>
          <a:off x="548640" y="1828800"/>
          <a:ext cx="7098670" cy="4343400"/>
        </p:xfrm>
        <a:graphic>
          <a:graphicData uri="http://schemas.openxmlformats.org/drawingml/2006/chart">
            <c:chart xmlns:c="http://schemas.openxmlformats.org/drawingml/2006/chart" r:id="rId2"/>
          </a:graphicData>
        </a:graphic>
      </p:graphicFrame>
      <p:sp>
        <p:nvSpPr>
          <p:cNvPr id="10" name="Rounded Rectangle 9"/>
          <p:cNvSpPr/>
          <p:nvPr/>
        </p:nvSpPr>
        <p:spPr>
          <a:xfrm>
            <a:off x="7921630" y="2011680"/>
            <a:ext cx="3718682" cy="3977640"/>
          </a:xfrm>
          <a:prstGeom prst="roundRect">
            <a:avLst>
              <a:gd name="adj" fmla="val 3442"/>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173090" y="2308860"/>
            <a:ext cx="777240" cy="777240"/>
          </a:xfrm>
          <a:prstGeom prst="ellipse">
            <a:avLst/>
          </a:prstGeom>
          <a:solidFill>
            <a:srgbClr val="76B900"/>
          </a:solidFill>
          <a:ln>
            <a:noFill/>
          </a:ln>
          <a:effectLst>
            <a:glow rad="1270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81904" y="2417674"/>
            <a:ext cx="559613" cy="559613"/>
          </a:xfrm>
          <a:prstGeom prst="rect">
            <a:avLst/>
          </a:prstGeom>
          <a:noFill/>
        </p:spPr>
        <p:txBody>
          <a:bodyPr wrap="none" lIns="0" rIns="0" tIns="0" bIns="0" anchor="ctr">
            <a:spAutoFit/>
          </a:bodyPr>
          <a:lstStyle/>
          <a:p>
            <a:pPr algn="ctr"/>
            <a:r>
              <a:rPr sz="2731">
                <a:solidFill>
                  <a:srgbClr val="07080C"/>
                </a:solidFill>
                <a:latin typeface="Segoe Fluent Icons"/>
              </a:rPr>
              <a:t></a:t>
            </a:r>
          </a:p>
        </p:txBody>
      </p:sp>
      <p:sp>
        <p:nvSpPr>
          <p:cNvPr id="13" name="TextBox 12"/>
          <p:cNvSpPr txBox="1"/>
          <p:nvPr/>
        </p:nvSpPr>
        <p:spPr>
          <a:xfrm>
            <a:off x="8241670" y="3246120"/>
            <a:ext cx="3078602" cy="1005840"/>
          </a:xfrm>
          <a:prstGeom prst="rect">
            <a:avLst/>
          </a:prstGeom>
          <a:noFill/>
        </p:spPr>
        <p:txBody>
          <a:bodyPr wrap="square" lIns="0" rIns="0" tIns="0" bIns="0" anchor="t">
            <a:noAutofit/>
          </a:bodyPr>
          <a:lstStyle/>
          <a:p>
            <a:pPr algn="l"/>
            <a:r>
              <a:rPr sz="5400" i="0">
                <a:solidFill>
                  <a:srgbClr val="76B900"/>
                </a:solidFill>
                <a:latin typeface="Segoe UI Black"/>
              </a:rPr>
              <a:t>140</a:t>
            </a:r>
          </a:p>
        </p:txBody>
      </p:sp>
      <p:sp>
        <p:nvSpPr>
          <p:cNvPr id="14" name="TextBox 13"/>
          <p:cNvSpPr txBox="1"/>
          <p:nvPr/>
        </p:nvSpPr>
        <p:spPr>
          <a:xfrm>
            <a:off x="8241670" y="4206240"/>
            <a:ext cx="3078602" cy="365760"/>
          </a:xfrm>
          <a:prstGeom prst="rect">
            <a:avLst/>
          </a:prstGeom>
          <a:noFill/>
        </p:spPr>
        <p:txBody>
          <a:bodyPr wrap="square" lIns="0" rIns="0" tIns="0" bIns="0" anchor="t">
            <a:noAutofit/>
          </a:bodyPr>
          <a:lstStyle/>
          <a:p>
            <a:pPr algn="l"/>
            <a:r>
              <a:rPr sz="1400" i="0">
                <a:solidFill>
                  <a:srgbClr val="AEB6C8"/>
                </a:solidFill>
                <a:latin typeface="Segoe UI"/>
              </a:rPr>
              <a:t>tokens/s  |  Qwen3-Coder, 4 streams</a:t>
            </a:r>
          </a:p>
        </p:txBody>
      </p:sp>
      <p:sp>
        <p:nvSpPr>
          <p:cNvPr id="15" name="TextBox 14"/>
          <p:cNvSpPr txBox="1"/>
          <p:nvPr/>
        </p:nvSpPr>
        <p:spPr>
          <a:xfrm>
            <a:off x="8241670" y="4663440"/>
            <a:ext cx="3078602" cy="1188720"/>
          </a:xfrm>
          <a:prstGeom prst="rect">
            <a:avLst/>
          </a:prstGeom>
          <a:noFill/>
        </p:spPr>
        <p:txBody>
          <a:bodyPr wrap="square" lIns="0" rIns="0" tIns="0" bIns="0" anchor="t">
            <a:noAutofit/>
          </a:bodyPr>
          <a:lstStyle/>
          <a:p>
            <a:pPr algn="l"/>
            <a:r>
              <a:rPr sz="1500" i="0">
                <a:solidFill>
                  <a:srgbClr val="F4F6FA"/>
                </a:solidFill>
                <a:latin typeface="Segoe UI"/>
              </a:rPr>
              <a:t>Local-AI-Bench, this device, Oct 2026, shared machine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Why MoE Decodes Several Times Faster</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Similar size, less work per token: MoE activates only a few experts.</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6</a:t>
            </a:r>
          </a:p>
        </p:txBody>
      </p:sp>
      <p:sp>
        <p:nvSpPr>
          <p:cNvPr id="9" name="Rounded Rectangle 8"/>
          <p:cNvSpPr/>
          <p:nvPr/>
        </p:nvSpPr>
        <p:spPr>
          <a:xfrm>
            <a:off x="548640" y="1828800"/>
            <a:ext cx="5088636" cy="3429000"/>
          </a:xfrm>
          <a:prstGeom prst="roundRect">
            <a:avLst>
              <a:gd name="adj" fmla="val 3733"/>
            </a:avLst>
          </a:prstGeom>
          <a:solidFill>
            <a:srgbClr val="141824"/>
          </a:solidFill>
          <a:ln w="12700">
            <a:solidFill>
              <a:srgbClr val="2A31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68096" y="2020824"/>
            <a:ext cx="749808" cy="749808"/>
          </a:xfrm>
          <a:prstGeom prst="ellipse">
            <a:avLst/>
          </a:prstGeom>
          <a:solidFill>
            <a:srgbClr val="6F7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73069" y="2125797"/>
            <a:ext cx="539862" cy="539862"/>
          </a:xfrm>
          <a:prstGeom prst="rect">
            <a:avLst/>
          </a:prstGeom>
          <a:noFill/>
        </p:spPr>
        <p:txBody>
          <a:bodyPr wrap="none" lIns="0" rIns="0" tIns="0" bIns="0" anchor="ctr">
            <a:spAutoFit/>
          </a:bodyPr>
          <a:lstStyle/>
          <a:p>
            <a:pPr algn="ctr"/>
            <a:r>
              <a:rPr sz="2635">
                <a:solidFill>
                  <a:srgbClr val="07080C"/>
                </a:solidFill>
                <a:latin typeface="Segoe Fluent Icons"/>
              </a:rPr>
              <a:t></a:t>
            </a:r>
          </a:p>
        </p:txBody>
      </p:sp>
      <p:sp>
        <p:nvSpPr>
          <p:cNvPr id="12" name="TextBox 11"/>
          <p:cNvSpPr txBox="1"/>
          <p:nvPr/>
        </p:nvSpPr>
        <p:spPr>
          <a:xfrm>
            <a:off x="1645920" y="2029968"/>
            <a:ext cx="3808476" cy="731520"/>
          </a:xfrm>
          <a:prstGeom prst="rect">
            <a:avLst/>
          </a:prstGeom>
          <a:noFill/>
        </p:spPr>
        <p:txBody>
          <a:bodyPr wrap="square" lIns="0" rIns="0" tIns="0" bIns="0" anchor="ctr">
            <a:noAutofit/>
          </a:bodyPr>
          <a:lstStyle/>
          <a:p>
            <a:pPr algn="l"/>
            <a:r>
              <a:rPr sz="2300" i="0">
                <a:solidFill>
                  <a:srgbClr val="F4F6FA"/>
                </a:solidFill>
                <a:latin typeface="Segoe UI Semibold"/>
              </a:rPr>
              <a:t>Dense: Qwen3.6 27B</a:t>
            </a:r>
          </a:p>
        </p:txBody>
      </p:sp>
      <p:sp>
        <p:nvSpPr>
          <p:cNvPr id="13" name="TextBox 12"/>
          <p:cNvSpPr txBox="1"/>
          <p:nvPr/>
        </p:nvSpPr>
        <p:spPr>
          <a:xfrm>
            <a:off x="960120" y="3212592"/>
            <a:ext cx="310896" cy="310896"/>
          </a:xfrm>
          <a:prstGeom prst="rect">
            <a:avLst/>
          </a:prstGeom>
          <a:noFill/>
        </p:spPr>
        <p:txBody>
          <a:bodyPr wrap="none" lIns="0" rIns="0" tIns="0" bIns="0" anchor="ctr">
            <a:spAutoFit/>
          </a:bodyPr>
          <a:lstStyle/>
          <a:p>
            <a:pPr algn="ctr"/>
            <a:r>
              <a:rPr sz="1517">
                <a:solidFill>
                  <a:srgbClr val="6F7890"/>
                </a:solidFill>
                <a:latin typeface="Segoe Fluent Icons"/>
              </a:rPr>
              <a:t></a:t>
            </a:r>
          </a:p>
        </p:txBody>
      </p:sp>
      <p:sp>
        <p:nvSpPr>
          <p:cNvPr id="14" name="TextBox 13"/>
          <p:cNvSpPr txBox="1"/>
          <p:nvPr/>
        </p:nvSpPr>
        <p:spPr>
          <a:xfrm>
            <a:off x="1417320" y="3017520"/>
            <a:ext cx="3991356" cy="701040"/>
          </a:xfrm>
          <a:prstGeom prst="rect">
            <a:avLst/>
          </a:prstGeom>
          <a:noFill/>
        </p:spPr>
        <p:txBody>
          <a:bodyPr wrap="square" lIns="0" rIns="0" tIns="0" bIns="0" anchor="ctr">
            <a:noAutofit/>
          </a:bodyPr>
          <a:lstStyle/>
          <a:p>
            <a:pPr algn="l"/>
            <a:r>
              <a:rPr sz="1700" i="0">
                <a:solidFill>
                  <a:srgbClr val="AEB6C8"/>
                </a:solidFill>
                <a:latin typeface="Segoe UI"/>
              </a:rPr>
              <a:t>Every parameter works every token</a:t>
            </a:r>
          </a:p>
        </p:txBody>
      </p:sp>
      <p:sp>
        <p:nvSpPr>
          <p:cNvPr id="15" name="TextBox 14"/>
          <p:cNvSpPr txBox="1"/>
          <p:nvPr/>
        </p:nvSpPr>
        <p:spPr>
          <a:xfrm>
            <a:off x="960120" y="3913632"/>
            <a:ext cx="310896" cy="310896"/>
          </a:xfrm>
          <a:prstGeom prst="rect">
            <a:avLst/>
          </a:prstGeom>
          <a:noFill/>
        </p:spPr>
        <p:txBody>
          <a:bodyPr wrap="none" lIns="0" rIns="0" tIns="0" bIns="0" anchor="ctr">
            <a:spAutoFit/>
          </a:bodyPr>
          <a:lstStyle/>
          <a:p>
            <a:pPr algn="ctr"/>
            <a:r>
              <a:rPr sz="1517">
                <a:solidFill>
                  <a:srgbClr val="6F7890"/>
                </a:solidFill>
                <a:latin typeface="Segoe Fluent Icons"/>
              </a:rPr>
              <a:t></a:t>
            </a:r>
          </a:p>
        </p:txBody>
      </p:sp>
      <p:sp>
        <p:nvSpPr>
          <p:cNvPr id="16" name="TextBox 15"/>
          <p:cNvSpPr txBox="1"/>
          <p:nvPr/>
        </p:nvSpPr>
        <p:spPr>
          <a:xfrm>
            <a:off x="1417320" y="3718560"/>
            <a:ext cx="3991356" cy="701040"/>
          </a:xfrm>
          <a:prstGeom prst="rect">
            <a:avLst/>
          </a:prstGeom>
          <a:noFill/>
        </p:spPr>
        <p:txBody>
          <a:bodyPr wrap="square" lIns="0" rIns="0" tIns="0" bIns="0" anchor="ctr">
            <a:noAutofit/>
          </a:bodyPr>
          <a:lstStyle/>
          <a:p>
            <a:pPr algn="l"/>
            <a:r>
              <a:rPr sz="1700" i="0">
                <a:solidFill>
                  <a:srgbClr val="AEB6C8"/>
                </a:solidFill>
                <a:latin typeface="Segoe UI"/>
              </a:rPr>
              <a:t>About 13 tokens/s single stream</a:t>
            </a:r>
          </a:p>
        </p:txBody>
      </p:sp>
      <p:sp>
        <p:nvSpPr>
          <p:cNvPr id="17" name="Rounded Rectangle 16"/>
          <p:cNvSpPr/>
          <p:nvPr/>
        </p:nvSpPr>
        <p:spPr>
          <a:xfrm>
            <a:off x="6551676" y="1828800"/>
            <a:ext cx="5088636" cy="3429000"/>
          </a:xfrm>
          <a:prstGeom prst="roundRect">
            <a:avLst>
              <a:gd name="adj" fmla="val 3733"/>
            </a:avLst>
          </a:prstGeom>
          <a:solidFill>
            <a:srgbClr val="141824"/>
          </a:solidFill>
          <a:ln w="28575">
            <a:solidFill>
              <a:srgbClr val="76B900"/>
            </a:solidFill>
          </a:ln>
          <a:effectLst>
            <a:glow rad="127000">
              <a:srgbClr val="76B900">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771132" y="2020824"/>
            <a:ext cx="749808" cy="749808"/>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876105" y="2125797"/>
            <a:ext cx="539862" cy="539862"/>
          </a:xfrm>
          <a:prstGeom prst="rect">
            <a:avLst/>
          </a:prstGeom>
          <a:noFill/>
        </p:spPr>
        <p:txBody>
          <a:bodyPr wrap="none" lIns="0" rIns="0" tIns="0" bIns="0" anchor="ctr">
            <a:spAutoFit/>
          </a:bodyPr>
          <a:lstStyle/>
          <a:p>
            <a:pPr algn="ctr"/>
            <a:r>
              <a:rPr sz="2635">
                <a:solidFill>
                  <a:srgbClr val="07080C"/>
                </a:solidFill>
                <a:latin typeface="Segoe Fluent Icons"/>
              </a:rPr>
              <a:t></a:t>
            </a:r>
          </a:p>
        </p:txBody>
      </p:sp>
      <p:sp>
        <p:nvSpPr>
          <p:cNvPr id="20" name="TextBox 19"/>
          <p:cNvSpPr txBox="1"/>
          <p:nvPr/>
        </p:nvSpPr>
        <p:spPr>
          <a:xfrm>
            <a:off x="7648956" y="2029968"/>
            <a:ext cx="3808476" cy="731520"/>
          </a:xfrm>
          <a:prstGeom prst="rect">
            <a:avLst/>
          </a:prstGeom>
          <a:noFill/>
        </p:spPr>
        <p:txBody>
          <a:bodyPr wrap="square" lIns="0" rIns="0" tIns="0" bIns="0" anchor="ctr">
            <a:noAutofit/>
          </a:bodyPr>
          <a:lstStyle/>
          <a:p>
            <a:pPr algn="l"/>
            <a:r>
              <a:rPr sz="2300" i="0">
                <a:solidFill>
                  <a:srgbClr val="F4F6FA"/>
                </a:solidFill>
                <a:latin typeface="Segoe UI Semibold"/>
              </a:rPr>
              <a:t>MoE: Qwen3-Coder 30B</a:t>
            </a:r>
          </a:p>
        </p:txBody>
      </p:sp>
      <p:sp>
        <p:nvSpPr>
          <p:cNvPr id="21" name="TextBox 20"/>
          <p:cNvSpPr txBox="1"/>
          <p:nvPr/>
        </p:nvSpPr>
        <p:spPr>
          <a:xfrm>
            <a:off x="6963156" y="3124962"/>
            <a:ext cx="310896" cy="310896"/>
          </a:xfrm>
          <a:prstGeom prst="rect">
            <a:avLst/>
          </a:prstGeom>
          <a:noFill/>
        </p:spPr>
        <p:txBody>
          <a:bodyPr wrap="none" lIns="0" rIns="0" tIns="0" bIns="0" anchor="ctr">
            <a:spAutoFit/>
          </a:bodyPr>
          <a:lstStyle/>
          <a:p>
            <a:pPr algn="ctr"/>
            <a:r>
              <a:rPr sz="1517">
                <a:solidFill>
                  <a:srgbClr val="76B900"/>
                </a:solidFill>
                <a:latin typeface="Segoe Fluent Icons"/>
              </a:rPr>
              <a:t></a:t>
            </a:r>
          </a:p>
        </p:txBody>
      </p:sp>
      <p:sp>
        <p:nvSpPr>
          <p:cNvPr id="22" name="TextBox 21"/>
          <p:cNvSpPr txBox="1"/>
          <p:nvPr/>
        </p:nvSpPr>
        <p:spPr>
          <a:xfrm>
            <a:off x="7420356" y="3017520"/>
            <a:ext cx="3991356" cy="525780"/>
          </a:xfrm>
          <a:prstGeom prst="rect">
            <a:avLst/>
          </a:prstGeom>
          <a:noFill/>
        </p:spPr>
        <p:txBody>
          <a:bodyPr wrap="square" lIns="0" rIns="0" tIns="0" bIns="0" anchor="ctr">
            <a:noAutofit/>
          </a:bodyPr>
          <a:lstStyle/>
          <a:p>
            <a:pPr algn="l"/>
            <a:r>
              <a:rPr sz="1700" i="0">
                <a:solidFill>
                  <a:srgbClr val="F4F6FA"/>
                </a:solidFill>
                <a:latin typeface="Segoe UI"/>
              </a:rPr>
              <a:t>About 3B active parameters per token</a:t>
            </a:r>
          </a:p>
        </p:txBody>
      </p:sp>
      <p:sp>
        <p:nvSpPr>
          <p:cNvPr id="23" name="TextBox 22"/>
          <p:cNvSpPr txBox="1"/>
          <p:nvPr/>
        </p:nvSpPr>
        <p:spPr>
          <a:xfrm>
            <a:off x="6963156" y="3650742"/>
            <a:ext cx="310896" cy="310896"/>
          </a:xfrm>
          <a:prstGeom prst="rect">
            <a:avLst/>
          </a:prstGeom>
          <a:noFill/>
        </p:spPr>
        <p:txBody>
          <a:bodyPr wrap="none" lIns="0" rIns="0" tIns="0" bIns="0" anchor="ctr">
            <a:spAutoFit/>
          </a:bodyPr>
          <a:lstStyle/>
          <a:p>
            <a:pPr algn="ctr"/>
            <a:r>
              <a:rPr sz="1517">
                <a:solidFill>
                  <a:srgbClr val="76B900"/>
                </a:solidFill>
                <a:latin typeface="Segoe Fluent Icons"/>
              </a:rPr>
              <a:t></a:t>
            </a:r>
          </a:p>
        </p:txBody>
      </p:sp>
      <p:sp>
        <p:nvSpPr>
          <p:cNvPr id="24" name="TextBox 23"/>
          <p:cNvSpPr txBox="1"/>
          <p:nvPr/>
        </p:nvSpPr>
        <p:spPr>
          <a:xfrm>
            <a:off x="7420356" y="3543300"/>
            <a:ext cx="3991356" cy="525780"/>
          </a:xfrm>
          <a:prstGeom prst="rect">
            <a:avLst/>
          </a:prstGeom>
          <a:noFill/>
        </p:spPr>
        <p:txBody>
          <a:bodyPr wrap="square" lIns="0" rIns="0" tIns="0" bIns="0" anchor="ctr">
            <a:noAutofit/>
          </a:bodyPr>
          <a:lstStyle/>
          <a:p>
            <a:pPr algn="l"/>
            <a:r>
              <a:rPr sz="1700" i="0">
                <a:solidFill>
                  <a:srgbClr val="F4F6FA"/>
                </a:solidFill>
                <a:latin typeface="Segoe UI"/>
              </a:rPr>
              <a:t>About 86 tokens/s single stream</a:t>
            </a:r>
          </a:p>
        </p:txBody>
      </p:sp>
      <p:sp>
        <p:nvSpPr>
          <p:cNvPr id="25" name="TextBox 24"/>
          <p:cNvSpPr txBox="1"/>
          <p:nvPr/>
        </p:nvSpPr>
        <p:spPr>
          <a:xfrm>
            <a:off x="6963156" y="4176522"/>
            <a:ext cx="310896" cy="310896"/>
          </a:xfrm>
          <a:prstGeom prst="rect">
            <a:avLst/>
          </a:prstGeom>
          <a:noFill/>
        </p:spPr>
        <p:txBody>
          <a:bodyPr wrap="none" lIns="0" rIns="0" tIns="0" bIns="0" anchor="ctr">
            <a:spAutoFit/>
          </a:bodyPr>
          <a:lstStyle/>
          <a:p>
            <a:pPr algn="ctr"/>
            <a:r>
              <a:rPr sz="1517">
                <a:solidFill>
                  <a:srgbClr val="76B900"/>
                </a:solidFill>
                <a:latin typeface="Segoe Fluent Icons"/>
              </a:rPr>
              <a:t></a:t>
            </a:r>
          </a:p>
        </p:txBody>
      </p:sp>
      <p:sp>
        <p:nvSpPr>
          <p:cNvPr id="26" name="TextBox 25"/>
          <p:cNvSpPr txBox="1"/>
          <p:nvPr/>
        </p:nvSpPr>
        <p:spPr>
          <a:xfrm>
            <a:off x="7420356" y="4069080"/>
            <a:ext cx="3991356" cy="525780"/>
          </a:xfrm>
          <a:prstGeom prst="rect">
            <a:avLst/>
          </a:prstGeom>
          <a:noFill/>
        </p:spPr>
        <p:txBody>
          <a:bodyPr wrap="square" lIns="0" rIns="0" tIns="0" bIns="0" anchor="ctr">
            <a:noAutofit/>
          </a:bodyPr>
          <a:lstStyle/>
          <a:p>
            <a:pPr algn="l"/>
            <a:r>
              <a:rPr sz="1700" i="0">
                <a:solidFill>
                  <a:srgbClr val="F4F6FA"/>
                </a:solidFill>
                <a:latin typeface="Segoe UI"/>
              </a:rPr>
              <a:t>0.13 s time to first token</a:t>
            </a:r>
          </a:p>
        </p:txBody>
      </p:sp>
      <p:sp>
        <p:nvSpPr>
          <p:cNvPr id="27" name="TextBox 26"/>
          <p:cNvSpPr txBox="1"/>
          <p:nvPr/>
        </p:nvSpPr>
        <p:spPr>
          <a:xfrm>
            <a:off x="6963156" y="4702302"/>
            <a:ext cx="310896" cy="310896"/>
          </a:xfrm>
          <a:prstGeom prst="rect">
            <a:avLst/>
          </a:prstGeom>
          <a:noFill/>
        </p:spPr>
        <p:txBody>
          <a:bodyPr wrap="none" lIns="0" rIns="0" tIns="0" bIns="0" anchor="ctr">
            <a:spAutoFit/>
          </a:bodyPr>
          <a:lstStyle/>
          <a:p>
            <a:pPr algn="ctr"/>
            <a:r>
              <a:rPr sz="1517">
                <a:solidFill>
                  <a:srgbClr val="76B900"/>
                </a:solidFill>
                <a:latin typeface="Segoe Fluent Icons"/>
              </a:rPr>
              <a:t></a:t>
            </a:r>
          </a:p>
        </p:txBody>
      </p:sp>
      <p:sp>
        <p:nvSpPr>
          <p:cNvPr id="28" name="TextBox 27"/>
          <p:cNvSpPr txBox="1"/>
          <p:nvPr/>
        </p:nvSpPr>
        <p:spPr>
          <a:xfrm>
            <a:off x="7420356" y="4594860"/>
            <a:ext cx="3991356" cy="525780"/>
          </a:xfrm>
          <a:prstGeom prst="rect">
            <a:avLst/>
          </a:prstGeom>
          <a:noFill/>
        </p:spPr>
        <p:txBody>
          <a:bodyPr wrap="square" lIns="0" rIns="0" tIns="0" bIns="0" anchor="ctr">
            <a:noAutofit/>
          </a:bodyPr>
          <a:lstStyle/>
          <a:p>
            <a:pPr algn="l"/>
            <a:r>
              <a:rPr sz="1700" i="0">
                <a:solidFill>
                  <a:srgbClr val="F4F6FA"/>
                </a:solidFill>
                <a:latin typeface="Segoe UI"/>
              </a:rPr>
              <a:t>Q4_K_M, 17.3 GiB file</a:t>
            </a:r>
          </a:p>
        </p:txBody>
      </p:sp>
      <p:sp>
        <p:nvSpPr>
          <p:cNvPr id="29" name="Oval 28"/>
          <p:cNvSpPr/>
          <p:nvPr/>
        </p:nvSpPr>
        <p:spPr>
          <a:xfrm>
            <a:off x="5728716" y="3177540"/>
            <a:ext cx="731520" cy="731520"/>
          </a:xfrm>
          <a:prstGeom prst="ellipse">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728716" y="3177540"/>
            <a:ext cx="731520" cy="731520"/>
          </a:xfrm>
          <a:prstGeom prst="rect">
            <a:avLst/>
          </a:prstGeom>
          <a:noFill/>
        </p:spPr>
        <p:txBody>
          <a:bodyPr wrap="square" lIns="0" rIns="0" tIns="0" bIns="0" anchor="ctr">
            <a:noAutofit/>
          </a:bodyPr>
          <a:lstStyle/>
          <a:p>
            <a:pPr algn="ctr"/>
            <a:r>
              <a:rPr sz="1600" i="0">
                <a:solidFill>
                  <a:srgbClr val="07080C"/>
                </a:solidFill>
                <a:latin typeface="Segoe UI Semibold"/>
              </a:rPr>
              <a:t>VS</a:t>
            </a:r>
          </a:p>
        </p:txBody>
      </p:sp>
      <p:sp>
        <p:nvSpPr>
          <p:cNvPr id="31" name="Rounded Rectangle 30"/>
          <p:cNvSpPr/>
          <p:nvPr/>
        </p:nvSpPr>
        <p:spPr>
          <a:xfrm>
            <a:off x="548640" y="5458968"/>
            <a:ext cx="11091672" cy="713232"/>
          </a:xfrm>
          <a:prstGeom prst="roundRect">
            <a:avLst>
              <a:gd name="adj" fmla="val 17948"/>
            </a:avLst>
          </a:prstGeom>
          <a:solidFill>
            <a:srgbClr val="76B900"/>
          </a:solidFill>
          <a:ln>
            <a:noFill/>
          </a:ln>
          <a:effectLst>
            <a:glow rad="127000">
              <a:srgbClr val="76B900">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960" y="5614416"/>
            <a:ext cx="402336" cy="402336"/>
          </a:xfrm>
          <a:prstGeom prst="rect">
            <a:avLst/>
          </a:prstGeom>
          <a:noFill/>
        </p:spPr>
        <p:txBody>
          <a:bodyPr wrap="none" lIns="0" rIns="0" tIns="0" bIns="0" anchor="ctr">
            <a:spAutoFit/>
          </a:bodyPr>
          <a:lstStyle/>
          <a:p>
            <a:pPr algn="ctr"/>
            <a:r>
              <a:rPr sz="1964">
                <a:solidFill>
                  <a:srgbClr val="07080C"/>
                </a:solidFill>
                <a:latin typeface="Segoe Fluent Icons"/>
              </a:rPr>
              <a:t></a:t>
            </a:r>
          </a:p>
        </p:txBody>
      </p:sp>
      <p:sp>
        <p:nvSpPr>
          <p:cNvPr id="33" name="TextBox 32"/>
          <p:cNvSpPr txBox="1"/>
          <p:nvPr/>
        </p:nvSpPr>
        <p:spPr>
          <a:xfrm>
            <a:off x="1417320" y="5513832"/>
            <a:ext cx="9994392" cy="603504"/>
          </a:xfrm>
          <a:prstGeom prst="rect">
            <a:avLst/>
          </a:prstGeom>
          <a:noFill/>
        </p:spPr>
        <p:txBody>
          <a:bodyPr wrap="square" lIns="0" rIns="0" tIns="0" bIns="0" anchor="ctr">
            <a:noAutofit/>
          </a:bodyPr>
          <a:lstStyle/>
          <a:p>
            <a:pPr algn="l"/>
            <a:r>
              <a:rPr sz="2000" i="0">
                <a:solidFill>
                  <a:srgbClr val="07080C"/>
                </a:solidFill>
                <a:latin typeface="Segoe UI Semibold"/>
              </a:rPr>
              <a:t>MoE decodes several times faster at similar size.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MoE Works Like a Specialist Team</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All experts stay loaded; only a few work on each token.</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7</a:t>
            </a:r>
          </a:p>
        </p:txBody>
      </p:sp>
      <p:sp>
        <p:nvSpPr>
          <p:cNvPr id="9" name="Oval 8"/>
          <p:cNvSpPr/>
          <p:nvPr/>
        </p:nvSpPr>
        <p:spPr>
          <a:xfrm>
            <a:off x="617220" y="1851660"/>
            <a:ext cx="960120" cy="960120"/>
          </a:xfrm>
          <a:prstGeom prst="ellipse">
            <a:avLst/>
          </a:prstGeom>
          <a:solidFill>
            <a:srgbClr val="76B900"/>
          </a:solidFill>
          <a:ln>
            <a:noFill/>
          </a:ln>
          <a:effectLst>
            <a:glow rad="1524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51637" y="1986077"/>
            <a:ext cx="691286" cy="691286"/>
          </a:xfrm>
          <a:prstGeom prst="rect">
            <a:avLst/>
          </a:prstGeom>
          <a:noFill/>
        </p:spPr>
        <p:txBody>
          <a:bodyPr wrap="none" lIns="0" rIns="0" tIns="0" bIns="0" anchor="ctr">
            <a:spAutoFit/>
          </a:bodyPr>
          <a:lstStyle/>
          <a:p>
            <a:pPr algn="ctr"/>
            <a:r>
              <a:rPr sz="3374">
                <a:solidFill>
                  <a:srgbClr val="07080C"/>
                </a:solidFill>
                <a:latin typeface="Segoe Fluent Icons"/>
              </a:rPr>
              <a:t></a:t>
            </a:r>
          </a:p>
        </p:txBody>
      </p:sp>
      <p:sp>
        <p:nvSpPr>
          <p:cNvPr id="11" name="TextBox 10"/>
          <p:cNvSpPr txBox="1"/>
          <p:nvPr/>
        </p:nvSpPr>
        <p:spPr>
          <a:xfrm>
            <a:off x="1737360" y="1920240"/>
            <a:ext cx="3625596" cy="822960"/>
          </a:xfrm>
          <a:prstGeom prst="rect">
            <a:avLst/>
          </a:prstGeom>
          <a:noFill/>
        </p:spPr>
        <p:txBody>
          <a:bodyPr wrap="square" lIns="0" rIns="0" tIns="0" bIns="0" anchor="ctr">
            <a:noAutofit/>
          </a:bodyPr>
          <a:lstStyle/>
          <a:p>
            <a:pPr algn="l"/>
            <a:r>
              <a:rPr sz="2400" i="0">
                <a:solidFill>
                  <a:srgbClr val="F4F6FA"/>
                </a:solidFill>
                <a:latin typeface="Segoe UI Semibold"/>
              </a:rPr>
              <a:t>Mixture of Experts</a:t>
            </a:r>
          </a:p>
        </p:txBody>
      </p:sp>
      <p:sp>
        <p:nvSpPr>
          <p:cNvPr id="12" name="Oval 11"/>
          <p:cNvSpPr/>
          <p:nvPr/>
        </p:nvSpPr>
        <p:spPr>
          <a:xfrm>
            <a:off x="10611612" y="1851660"/>
            <a:ext cx="960120" cy="960120"/>
          </a:xfrm>
          <a:prstGeom prst="ellipse">
            <a:avLst/>
          </a:prstGeom>
          <a:solidFill>
            <a:srgbClr val="9B6BFF"/>
          </a:solidFill>
          <a:ln>
            <a:noFill/>
          </a:ln>
          <a:effectLst>
            <a:glow rad="152400">
              <a:srgbClr val="9B6BF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746029" y="1986077"/>
            <a:ext cx="691286" cy="691286"/>
          </a:xfrm>
          <a:prstGeom prst="rect">
            <a:avLst/>
          </a:prstGeom>
          <a:noFill/>
        </p:spPr>
        <p:txBody>
          <a:bodyPr wrap="none" lIns="0" rIns="0" tIns="0" bIns="0" anchor="ctr">
            <a:spAutoFit/>
          </a:bodyPr>
          <a:lstStyle/>
          <a:p>
            <a:pPr algn="ctr"/>
            <a:r>
              <a:rPr sz="3374">
                <a:solidFill>
                  <a:srgbClr val="07080C"/>
                </a:solidFill>
                <a:latin typeface="Segoe Fluent Icons"/>
              </a:rPr>
              <a:t></a:t>
            </a:r>
          </a:p>
        </p:txBody>
      </p:sp>
      <p:sp>
        <p:nvSpPr>
          <p:cNvPr id="14" name="TextBox 13"/>
          <p:cNvSpPr txBox="1"/>
          <p:nvPr/>
        </p:nvSpPr>
        <p:spPr>
          <a:xfrm>
            <a:off x="6780276" y="1920240"/>
            <a:ext cx="3625596" cy="822960"/>
          </a:xfrm>
          <a:prstGeom prst="rect">
            <a:avLst/>
          </a:prstGeom>
          <a:noFill/>
        </p:spPr>
        <p:txBody>
          <a:bodyPr wrap="square" lIns="0" rIns="0" tIns="0" bIns="0" anchor="ctr">
            <a:noAutofit/>
          </a:bodyPr>
          <a:lstStyle/>
          <a:p>
            <a:pPr algn="r"/>
            <a:r>
              <a:rPr sz="2400" i="0">
                <a:solidFill>
                  <a:srgbClr val="F4F6FA"/>
                </a:solidFill>
                <a:latin typeface="Segoe UI Semibold"/>
              </a:rPr>
              <a:t>Specialist engineering team</a:t>
            </a:r>
          </a:p>
        </p:txBody>
      </p:sp>
      <p:sp>
        <p:nvSpPr>
          <p:cNvPr id="15" name="TextBox 14"/>
          <p:cNvSpPr txBox="1"/>
          <p:nvPr/>
        </p:nvSpPr>
        <p:spPr>
          <a:xfrm>
            <a:off x="5408676" y="2057400"/>
            <a:ext cx="1371600" cy="548640"/>
          </a:xfrm>
          <a:prstGeom prst="rect">
            <a:avLst/>
          </a:prstGeom>
          <a:noFill/>
        </p:spPr>
        <p:txBody>
          <a:bodyPr wrap="square" lIns="0" rIns="0" tIns="0" bIns="0" anchor="ctr">
            <a:noAutofit/>
          </a:bodyPr>
          <a:lstStyle/>
          <a:p>
            <a:pPr algn="ctr"/>
            <a:r>
              <a:rPr sz="1600" i="1">
                <a:solidFill>
                  <a:srgbClr val="6F7890"/>
                </a:solidFill>
                <a:latin typeface="Segoe UI"/>
              </a:rPr>
              <a:t>is like</a:t>
            </a:r>
          </a:p>
        </p:txBody>
      </p:sp>
      <p:sp>
        <p:nvSpPr>
          <p:cNvPr id="16" name="Rounded Rectangle 15"/>
          <p:cNvSpPr/>
          <p:nvPr/>
        </p:nvSpPr>
        <p:spPr>
          <a:xfrm>
            <a:off x="548640" y="3108960"/>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60" y="3145536"/>
            <a:ext cx="4311396" cy="610362"/>
          </a:xfrm>
          <a:prstGeom prst="rect">
            <a:avLst/>
          </a:prstGeom>
          <a:noFill/>
        </p:spPr>
        <p:txBody>
          <a:bodyPr wrap="square" lIns="0" rIns="0" tIns="0" bIns="0" anchor="ctr">
            <a:noAutofit/>
          </a:bodyPr>
          <a:lstStyle/>
          <a:p>
            <a:pPr algn="ctr"/>
            <a:r>
              <a:rPr sz="1700" i="0">
                <a:solidFill>
                  <a:srgbClr val="F4F6FA"/>
                </a:solidFill>
                <a:latin typeface="Segoe UI"/>
              </a:rPr>
              <a:t>30B total parameters</a:t>
            </a:r>
          </a:p>
        </p:txBody>
      </p:sp>
      <p:cxnSp>
        <p:nvCxnSpPr>
          <p:cNvPr id="18" name="Connector 17"/>
          <p:cNvCxnSpPr/>
          <p:nvPr/>
        </p:nvCxnSpPr>
        <p:spPr>
          <a:xfrm>
            <a:off x="5481828" y="3450717"/>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780276" y="3108960"/>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054596" y="3145536"/>
            <a:ext cx="4311396" cy="610362"/>
          </a:xfrm>
          <a:prstGeom prst="rect">
            <a:avLst/>
          </a:prstGeom>
          <a:noFill/>
        </p:spPr>
        <p:txBody>
          <a:bodyPr wrap="square" lIns="0" rIns="0" tIns="0" bIns="0" anchor="ctr">
            <a:noAutofit/>
          </a:bodyPr>
          <a:lstStyle/>
          <a:p>
            <a:pPr algn="ctr"/>
            <a:r>
              <a:rPr sz="1700" i="0">
                <a:solidFill>
                  <a:srgbClr val="F4F6FA"/>
                </a:solidFill>
                <a:latin typeface="Segoe UI"/>
              </a:rPr>
              <a:t>Whole team on roster</a:t>
            </a:r>
          </a:p>
        </p:txBody>
      </p:sp>
      <p:sp>
        <p:nvSpPr>
          <p:cNvPr id="21" name="Rounded Rectangle 20"/>
          <p:cNvSpPr/>
          <p:nvPr/>
        </p:nvSpPr>
        <p:spPr>
          <a:xfrm>
            <a:off x="548640" y="3902202"/>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 y="3938778"/>
            <a:ext cx="4311396" cy="610362"/>
          </a:xfrm>
          <a:prstGeom prst="rect">
            <a:avLst/>
          </a:prstGeom>
          <a:noFill/>
        </p:spPr>
        <p:txBody>
          <a:bodyPr wrap="square" lIns="0" rIns="0" tIns="0" bIns="0" anchor="ctr">
            <a:noAutofit/>
          </a:bodyPr>
          <a:lstStyle/>
          <a:p>
            <a:pPr algn="ctr"/>
            <a:r>
              <a:rPr sz="1700" i="0">
                <a:solidFill>
                  <a:srgbClr val="F4F6FA"/>
                </a:solidFill>
                <a:latin typeface="Segoe UI"/>
              </a:rPr>
              <a:t>~3B active per token</a:t>
            </a:r>
          </a:p>
        </p:txBody>
      </p:sp>
      <p:cxnSp>
        <p:nvCxnSpPr>
          <p:cNvPr id="23" name="Connector 22"/>
          <p:cNvCxnSpPr/>
          <p:nvPr/>
        </p:nvCxnSpPr>
        <p:spPr>
          <a:xfrm>
            <a:off x="5481828" y="4243959"/>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780276" y="3902202"/>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054596" y="3938778"/>
            <a:ext cx="4311396" cy="610362"/>
          </a:xfrm>
          <a:prstGeom prst="rect">
            <a:avLst/>
          </a:prstGeom>
          <a:noFill/>
        </p:spPr>
        <p:txBody>
          <a:bodyPr wrap="square" lIns="0" rIns="0" tIns="0" bIns="0" anchor="ctr">
            <a:noAutofit/>
          </a:bodyPr>
          <a:lstStyle/>
          <a:p>
            <a:pPr algn="ctr"/>
            <a:r>
              <a:rPr sz="1700" i="0">
                <a:solidFill>
                  <a:srgbClr val="F4F6FA"/>
                </a:solidFill>
                <a:latin typeface="Segoe UI"/>
              </a:rPr>
              <a:t>Few specialists per task</a:t>
            </a:r>
          </a:p>
        </p:txBody>
      </p:sp>
      <p:sp>
        <p:nvSpPr>
          <p:cNvPr id="26" name="Rounded Rectangle 25"/>
          <p:cNvSpPr/>
          <p:nvPr/>
        </p:nvSpPr>
        <p:spPr>
          <a:xfrm>
            <a:off x="548640" y="4695444"/>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4732020"/>
            <a:ext cx="4311396" cy="610362"/>
          </a:xfrm>
          <a:prstGeom prst="rect">
            <a:avLst/>
          </a:prstGeom>
          <a:noFill/>
        </p:spPr>
        <p:txBody>
          <a:bodyPr wrap="square" lIns="0" rIns="0" tIns="0" bIns="0" anchor="ctr">
            <a:noAutofit/>
          </a:bodyPr>
          <a:lstStyle/>
          <a:p>
            <a:pPr algn="ctr"/>
            <a:r>
              <a:rPr sz="1700" i="0">
                <a:solidFill>
                  <a:srgbClr val="F4F6FA"/>
                </a:solidFill>
                <a:latin typeface="Segoe UI"/>
              </a:rPr>
              <a:t>Gate picks experts</a:t>
            </a:r>
          </a:p>
        </p:txBody>
      </p:sp>
      <p:cxnSp>
        <p:nvCxnSpPr>
          <p:cNvPr id="28" name="Connector 27"/>
          <p:cNvCxnSpPr/>
          <p:nvPr/>
        </p:nvCxnSpPr>
        <p:spPr>
          <a:xfrm>
            <a:off x="5481828" y="5037201"/>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780276" y="4695444"/>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54596" y="4732020"/>
            <a:ext cx="4311396" cy="610362"/>
          </a:xfrm>
          <a:prstGeom prst="rect">
            <a:avLst/>
          </a:prstGeom>
          <a:noFill/>
        </p:spPr>
        <p:txBody>
          <a:bodyPr wrap="square" lIns="0" rIns="0" tIns="0" bIns="0" anchor="ctr">
            <a:noAutofit/>
          </a:bodyPr>
          <a:lstStyle/>
          <a:p>
            <a:pPr algn="ctr"/>
            <a:r>
              <a:rPr sz="1700" i="0">
                <a:solidFill>
                  <a:srgbClr val="F4F6FA"/>
                </a:solidFill>
                <a:latin typeface="Segoe UI"/>
              </a:rPr>
              <a:t>Lead assigns specialists</a:t>
            </a:r>
          </a:p>
        </p:txBody>
      </p:sp>
      <p:sp>
        <p:nvSpPr>
          <p:cNvPr id="31" name="Rounded Rectangle 30"/>
          <p:cNvSpPr/>
          <p:nvPr/>
        </p:nvSpPr>
        <p:spPr>
          <a:xfrm>
            <a:off x="548640" y="5488686"/>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960" y="5525262"/>
            <a:ext cx="4311396" cy="610362"/>
          </a:xfrm>
          <a:prstGeom prst="rect">
            <a:avLst/>
          </a:prstGeom>
          <a:noFill/>
        </p:spPr>
        <p:txBody>
          <a:bodyPr wrap="square" lIns="0" rIns="0" tIns="0" bIns="0" anchor="ctr">
            <a:noAutofit/>
          </a:bodyPr>
          <a:lstStyle/>
          <a:p>
            <a:pPr algn="ctr"/>
            <a:r>
              <a:rPr sz="1700" i="0">
                <a:solidFill>
                  <a:srgbClr val="F4F6FA"/>
                </a:solidFill>
                <a:latin typeface="Segoe UI"/>
              </a:rPr>
              <a:t>Dense: every weight fires</a:t>
            </a:r>
          </a:p>
        </p:txBody>
      </p:sp>
      <p:cxnSp>
        <p:nvCxnSpPr>
          <p:cNvPr id="33" name="Connector 32"/>
          <p:cNvCxnSpPr/>
          <p:nvPr/>
        </p:nvCxnSpPr>
        <p:spPr>
          <a:xfrm>
            <a:off x="5481828" y="5830443"/>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780276" y="5488686"/>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054596" y="5525262"/>
            <a:ext cx="4311396" cy="610362"/>
          </a:xfrm>
          <a:prstGeom prst="rect">
            <a:avLst/>
          </a:prstGeom>
          <a:noFill/>
        </p:spPr>
        <p:txBody>
          <a:bodyPr wrap="square" lIns="0" rIns="0" tIns="0" bIns="0" anchor="ctr">
            <a:noAutofit/>
          </a:bodyPr>
          <a:lstStyle/>
          <a:p>
            <a:pPr algn="ctr"/>
            <a:r>
              <a:rPr sz="1700" i="0">
                <a:solidFill>
                  <a:srgbClr val="F4F6FA"/>
                </a:solidFill>
                <a:latin typeface="Segoe UI"/>
              </a:rPr>
              <a:t>Everyone in every meeting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Size Models Like Shop Machines</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Bands are planning estimates, not accuracy tiers; pick the band that fits.</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8</a:t>
            </a:r>
          </a:p>
        </p:txBody>
      </p:sp>
      <p:sp>
        <p:nvSpPr>
          <p:cNvPr id="9" name="Oval 8"/>
          <p:cNvSpPr/>
          <p:nvPr/>
        </p:nvSpPr>
        <p:spPr>
          <a:xfrm>
            <a:off x="617220" y="1851660"/>
            <a:ext cx="960120" cy="960120"/>
          </a:xfrm>
          <a:prstGeom prst="ellipse">
            <a:avLst/>
          </a:prstGeom>
          <a:solidFill>
            <a:srgbClr val="76B900"/>
          </a:solidFill>
          <a:ln>
            <a:noFill/>
          </a:ln>
          <a:effectLst>
            <a:glow rad="1524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51637" y="1986077"/>
            <a:ext cx="691286" cy="691286"/>
          </a:xfrm>
          <a:prstGeom prst="rect">
            <a:avLst/>
          </a:prstGeom>
          <a:noFill/>
        </p:spPr>
        <p:txBody>
          <a:bodyPr wrap="none" lIns="0" rIns="0" tIns="0" bIns="0" anchor="ctr">
            <a:spAutoFit/>
          </a:bodyPr>
          <a:lstStyle/>
          <a:p>
            <a:pPr algn="ctr"/>
            <a:r>
              <a:rPr sz="3374">
                <a:solidFill>
                  <a:srgbClr val="07080C"/>
                </a:solidFill>
                <a:latin typeface="Segoe Fluent Icons"/>
              </a:rPr>
              <a:t></a:t>
            </a:r>
          </a:p>
        </p:txBody>
      </p:sp>
      <p:sp>
        <p:nvSpPr>
          <p:cNvPr id="11" name="TextBox 10"/>
          <p:cNvSpPr txBox="1"/>
          <p:nvPr/>
        </p:nvSpPr>
        <p:spPr>
          <a:xfrm>
            <a:off x="1737360" y="1920240"/>
            <a:ext cx="3625596" cy="822960"/>
          </a:xfrm>
          <a:prstGeom prst="rect">
            <a:avLst/>
          </a:prstGeom>
          <a:noFill/>
        </p:spPr>
        <p:txBody>
          <a:bodyPr wrap="square" lIns="0" rIns="0" tIns="0" bIns="0" anchor="ctr">
            <a:noAutofit/>
          </a:bodyPr>
          <a:lstStyle/>
          <a:p>
            <a:pPr algn="l"/>
            <a:r>
              <a:rPr sz="2400" i="0">
                <a:solidFill>
                  <a:srgbClr val="F4F6FA"/>
                </a:solidFill>
                <a:latin typeface="Segoe UI Semibold"/>
              </a:rPr>
              <a:t>Model sizing bands</a:t>
            </a:r>
          </a:p>
        </p:txBody>
      </p:sp>
      <p:sp>
        <p:nvSpPr>
          <p:cNvPr id="12" name="Oval 11"/>
          <p:cNvSpPr/>
          <p:nvPr/>
        </p:nvSpPr>
        <p:spPr>
          <a:xfrm>
            <a:off x="10611612" y="1851660"/>
            <a:ext cx="960120" cy="960120"/>
          </a:xfrm>
          <a:prstGeom prst="ellipse">
            <a:avLst/>
          </a:prstGeom>
          <a:solidFill>
            <a:srgbClr val="9B6BFF"/>
          </a:solidFill>
          <a:ln>
            <a:noFill/>
          </a:ln>
          <a:effectLst>
            <a:glow rad="152400">
              <a:srgbClr val="9B6BF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746029" y="1986077"/>
            <a:ext cx="691286" cy="691286"/>
          </a:xfrm>
          <a:prstGeom prst="rect">
            <a:avLst/>
          </a:prstGeom>
          <a:noFill/>
        </p:spPr>
        <p:txBody>
          <a:bodyPr wrap="none" lIns="0" rIns="0" tIns="0" bIns="0" anchor="ctr">
            <a:spAutoFit/>
          </a:bodyPr>
          <a:lstStyle/>
          <a:p>
            <a:pPr algn="ctr"/>
            <a:r>
              <a:rPr sz="3374">
                <a:solidFill>
                  <a:srgbClr val="07080C"/>
                </a:solidFill>
                <a:latin typeface="Segoe Fluent Icons"/>
              </a:rPr>
              <a:t></a:t>
            </a:r>
          </a:p>
        </p:txBody>
      </p:sp>
      <p:sp>
        <p:nvSpPr>
          <p:cNvPr id="14" name="TextBox 13"/>
          <p:cNvSpPr txBox="1"/>
          <p:nvPr/>
        </p:nvSpPr>
        <p:spPr>
          <a:xfrm>
            <a:off x="6780276" y="1920240"/>
            <a:ext cx="3625596" cy="822960"/>
          </a:xfrm>
          <a:prstGeom prst="rect">
            <a:avLst/>
          </a:prstGeom>
          <a:noFill/>
        </p:spPr>
        <p:txBody>
          <a:bodyPr wrap="square" lIns="0" rIns="0" tIns="0" bIns="0" anchor="ctr">
            <a:noAutofit/>
          </a:bodyPr>
          <a:lstStyle/>
          <a:p>
            <a:pPr algn="r"/>
            <a:r>
              <a:rPr sz="2400" i="0">
                <a:solidFill>
                  <a:srgbClr val="F4F6FA"/>
                </a:solidFill>
                <a:latin typeface="Segoe UI Semibold"/>
              </a:rPr>
              <a:t>Shop machine sizes</a:t>
            </a:r>
          </a:p>
        </p:txBody>
      </p:sp>
      <p:sp>
        <p:nvSpPr>
          <p:cNvPr id="15" name="TextBox 14"/>
          <p:cNvSpPr txBox="1"/>
          <p:nvPr/>
        </p:nvSpPr>
        <p:spPr>
          <a:xfrm>
            <a:off x="5408676" y="2057400"/>
            <a:ext cx="1371600" cy="548640"/>
          </a:xfrm>
          <a:prstGeom prst="rect">
            <a:avLst/>
          </a:prstGeom>
          <a:noFill/>
        </p:spPr>
        <p:txBody>
          <a:bodyPr wrap="square" lIns="0" rIns="0" tIns="0" bIns="0" anchor="ctr">
            <a:noAutofit/>
          </a:bodyPr>
          <a:lstStyle/>
          <a:p>
            <a:pPr algn="ctr"/>
            <a:r>
              <a:rPr sz="1600" i="1">
                <a:solidFill>
                  <a:srgbClr val="6F7890"/>
                </a:solidFill>
                <a:latin typeface="Segoe UI"/>
              </a:rPr>
              <a:t>is like</a:t>
            </a:r>
          </a:p>
        </p:txBody>
      </p:sp>
      <p:sp>
        <p:nvSpPr>
          <p:cNvPr id="16" name="Rounded Rectangle 15"/>
          <p:cNvSpPr/>
          <p:nvPr/>
        </p:nvSpPr>
        <p:spPr>
          <a:xfrm>
            <a:off x="548640" y="3108960"/>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60" y="3145536"/>
            <a:ext cx="4311396" cy="610362"/>
          </a:xfrm>
          <a:prstGeom prst="rect">
            <a:avLst/>
          </a:prstGeom>
          <a:noFill/>
        </p:spPr>
        <p:txBody>
          <a:bodyPr wrap="square" lIns="0" rIns="0" tIns="0" bIns="0" anchor="ctr">
            <a:noAutofit/>
          </a:bodyPr>
          <a:lstStyle/>
          <a:p>
            <a:pPr algn="ctr"/>
            <a:r>
              <a:rPr sz="1700" i="0">
                <a:solidFill>
                  <a:srgbClr val="F4F6FA"/>
                </a:solidFill>
                <a:latin typeface="Segoe UI"/>
              </a:rPr>
              <a:t>S: 1-4B parameters</a:t>
            </a:r>
          </a:p>
        </p:txBody>
      </p:sp>
      <p:cxnSp>
        <p:nvCxnSpPr>
          <p:cNvPr id="18" name="Connector 17"/>
          <p:cNvCxnSpPr/>
          <p:nvPr/>
        </p:nvCxnSpPr>
        <p:spPr>
          <a:xfrm>
            <a:off x="5481828" y="3450717"/>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780276" y="3108960"/>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054596" y="3145536"/>
            <a:ext cx="4311396" cy="610362"/>
          </a:xfrm>
          <a:prstGeom prst="rect">
            <a:avLst/>
          </a:prstGeom>
          <a:noFill/>
        </p:spPr>
        <p:txBody>
          <a:bodyPr wrap="square" lIns="0" rIns="0" tIns="0" bIns="0" anchor="ctr">
            <a:noAutofit/>
          </a:bodyPr>
          <a:lstStyle/>
          <a:p>
            <a:pPr algn="ctr"/>
            <a:r>
              <a:rPr sz="1700" i="0">
                <a:solidFill>
                  <a:srgbClr val="F4F6FA"/>
                </a:solidFill>
                <a:latin typeface="Segoe UI"/>
              </a:rPr>
              <a:t>Benchtop mill</a:t>
            </a:r>
          </a:p>
        </p:txBody>
      </p:sp>
      <p:sp>
        <p:nvSpPr>
          <p:cNvPr id="21" name="Rounded Rectangle 20"/>
          <p:cNvSpPr/>
          <p:nvPr/>
        </p:nvSpPr>
        <p:spPr>
          <a:xfrm>
            <a:off x="548640" y="3902202"/>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 y="3938778"/>
            <a:ext cx="4311396" cy="610362"/>
          </a:xfrm>
          <a:prstGeom prst="rect">
            <a:avLst/>
          </a:prstGeom>
          <a:noFill/>
        </p:spPr>
        <p:txBody>
          <a:bodyPr wrap="square" lIns="0" rIns="0" tIns="0" bIns="0" anchor="ctr">
            <a:noAutofit/>
          </a:bodyPr>
          <a:lstStyle/>
          <a:p>
            <a:pPr algn="ctr"/>
            <a:r>
              <a:rPr sz="1700" i="0">
                <a:solidFill>
                  <a:srgbClr val="F4F6FA"/>
                </a:solidFill>
                <a:latin typeface="Segoe UI"/>
              </a:rPr>
              <a:t>M: 7-8B parameters</a:t>
            </a:r>
          </a:p>
        </p:txBody>
      </p:sp>
      <p:cxnSp>
        <p:nvCxnSpPr>
          <p:cNvPr id="23" name="Connector 22"/>
          <p:cNvCxnSpPr/>
          <p:nvPr/>
        </p:nvCxnSpPr>
        <p:spPr>
          <a:xfrm>
            <a:off x="5481828" y="4243959"/>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780276" y="3902202"/>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054596" y="3938778"/>
            <a:ext cx="4311396" cy="610362"/>
          </a:xfrm>
          <a:prstGeom prst="rect">
            <a:avLst/>
          </a:prstGeom>
          <a:noFill/>
        </p:spPr>
        <p:txBody>
          <a:bodyPr wrap="square" lIns="0" rIns="0" tIns="0" bIns="0" anchor="ctr">
            <a:noAutofit/>
          </a:bodyPr>
          <a:lstStyle/>
          <a:p>
            <a:pPr algn="ctr"/>
            <a:r>
              <a:rPr sz="1700" i="0">
                <a:solidFill>
                  <a:srgbClr val="F4F6FA"/>
                </a:solidFill>
                <a:latin typeface="Segoe UI"/>
              </a:rPr>
              <a:t>Standard CNC mill</a:t>
            </a:r>
          </a:p>
        </p:txBody>
      </p:sp>
      <p:sp>
        <p:nvSpPr>
          <p:cNvPr id="26" name="Rounded Rectangle 25"/>
          <p:cNvSpPr/>
          <p:nvPr/>
        </p:nvSpPr>
        <p:spPr>
          <a:xfrm>
            <a:off x="548640" y="4695444"/>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4732020"/>
            <a:ext cx="4311396" cy="610362"/>
          </a:xfrm>
          <a:prstGeom prst="rect">
            <a:avLst/>
          </a:prstGeom>
          <a:noFill/>
        </p:spPr>
        <p:txBody>
          <a:bodyPr wrap="square" lIns="0" rIns="0" tIns="0" bIns="0" anchor="ctr">
            <a:noAutofit/>
          </a:bodyPr>
          <a:lstStyle/>
          <a:p>
            <a:pPr algn="ctr"/>
            <a:r>
              <a:rPr sz="1700" i="0">
                <a:solidFill>
                  <a:srgbClr val="F4F6FA"/>
                </a:solidFill>
                <a:latin typeface="Segoe UI"/>
              </a:rPr>
              <a:t>L: 14-20B parameters</a:t>
            </a:r>
          </a:p>
        </p:txBody>
      </p:sp>
      <p:cxnSp>
        <p:nvCxnSpPr>
          <p:cNvPr id="28" name="Connector 27"/>
          <p:cNvCxnSpPr/>
          <p:nvPr/>
        </p:nvCxnSpPr>
        <p:spPr>
          <a:xfrm>
            <a:off x="5481828" y="5037201"/>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780276" y="4695444"/>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54596" y="4732020"/>
            <a:ext cx="4311396" cy="610362"/>
          </a:xfrm>
          <a:prstGeom prst="rect">
            <a:avLst/>
          </a:prstGeom>
          <a:noFill/>
        </p:spPr>
        <p:txBody>
          <a:bodyPr wrap="square" lIns="0" rIns="0" tIns="0" bIns="0" anchor="ctr">
            <a:noAutofit/>
          </a:bodyPr>
          <a:lstStyle/>
          <a:p>
            <a:pPr algn="ctr"/>
            <a:r>
              <a:rPr sz="1700" i="0">
                <a:solidFill>
                  <a:srgbClr val="F4F6FA"/>
                </a:solidFill>
                <a:latin typeface="Segoe UI"/>
              </a:rPr>
              <a:t>Large machining center</a:t>
            </a:r>
          </a:p>
        </p:txBody>
      </p:sp>
      <p:sp>
        <p:nvSpPr>
          <p:cNvPr id="31" name="Rounded Rectangle 30"/>
          <p:cNvSpPr/>
          <p:nvPr/>
        </p:nvSpPr>
        <p:spPr>
          <a:xfrm>
            <a:off x="548640" y="5488686"/>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960" y="5525262"/>
            <a:ext cx="4311396" cy="610362"/>
          </a:xfrm>
          <a:prstGeom prst="rect">
            <a:avLst/>
          </a:prstGeom>
          <a:noFill/>
        </p:spPr>
        <p:txBody>
          <a:bodyPr wrap="square" lIns="0" rIns="0" tIns="0" bIns="0" anchor="ctr">
            <a:noAutofit/>
          </a:bodyPr>
          <a:lstStyle/>
          <a:p>
            <a:pPr algn="ctr"/>
            <a:r>
              <a:rPr sz="1700" i="0">
                <a:solidFill>
                  <a:srgbClr val="F4F6FA"/>
                </a:solidFill>
                <a:latin typeface="Segoe UI"/>
              </a:rPr>
              <a:t>XL: 24-32B parameters</a:t>
            </a:r>
          </a:p>
        </p:txBody>
      </p:sp>
      <p:cxnSp>
        <p:nvCxnSpPr>
          <p:cNvPr id="33" name="Connector 32"/>
          <p:cNvCxnSpPr/>
          <p:nvPr/>
        </p:nvCxnSpPr>
        <p:spPr>
          <a:xfrm>
            <a:off x="5481828" y="5830443"/>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780276" y="5488686"/>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054596" y="5525262"/>
            <a:ext cx="4311396" cy="610362"/>
          </a:xfrm>
          <a:prstGeom prst="rect">
            <a:avLst/>
          </a:prstGeom>
          <a:noFill/>
        </p:spPr>
        <p:txBody>
          <a:bodyPr wrap="square" lIns="0" rIns="0" tIns="0" bIns="0" anchor="ctr">
            <a:noAutofit/>
          </a:bodyPr>
          <a:lstStyle/>
          <a:p>
            <a:pPr algn="ctr"/>
            <a:r>
              <a:rPr sz="1700" i="0">
                <a:solidFill>
                  <a:srgbClr val="F4F6FA"/>
                </a:solidFill>
                <a:latin typeface="Segoe UI"/>
              </a:rPr>
              <a:t>Gantry mill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Code Generation and RAG, Kept Local</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Internal docs ground Qwen3-Coder's answers without sending IP to shared services.</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9</a:t>
            </a:r>
          </a:p>
        </p:txBody>
      </p:sp>
      <p:sp>
        <p:nvSpPr>
          <p:cNvPr id="9" name="Rounded Rectangle 8"/>
          <p:cNvSpPr/>
          <p:nvPr/>
        </p:nvSpPr>
        <p:spPr>
          <a:xfrm>
            <a:off x="548640" y="2583180"/>
            <a:ext cx="1815998" cy="3291840"/>
          </a:xfrm>
          <a:prstGeom prst="roundRect">
            <a:avLst>
              <a:gd name="adj" fmla="val 7049"/>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999439" y="2125980"/>
            <a:ext cx="914400" cy="914400"/>
          </a:xfrm>
          <a:prstGeom prst="ellipse">
            <a:avLst/>
          </a:prstGeom>
          <a:solidFill>
            <a:srgbClr val="76B900"/>
          </a:solidFill>
          <a:ln>
            <a:noFill/>
          </a:ln>
          <a:effectLst>
            <a:glow rad="1270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27455" y="2253996"/>
            <a:ext cx="658368" cy="658368"/>
          </a:xfrm>
          <a:prstGeom prst="rect">
            <a:avLst/>
          </a:prstGeom>
          <a:noFill/>
        </p:spPr>
        <p:txBody>
          <a:bodyPr wrap="none" lIns="0" rIns="0" tIns="0" bIns="0" anchor="ctr">
            <a:spAutoFit/>
          </a:bodyPr>
          <a:lstStyle/>
          <a:p>
            <a:pPr algn="ctr"/>
            <a:r>
              <a:rPr sz="3214">
                <a:solidFill>
                  <a:srgbClr val="07080C"/>
                </a:solidFill>
                <a:latin typeface="Segoe Fluent Icons"/>
              </a:rPr>
              <a:t></a:t>
            </a:r>
          </a:p>
        </p:txBody>
      </p:sp>
      <p:sp>
        <p:nvSpPr>
          <p:cNvPr id="12" name="TextBox 11"/>
          <p:cNvSpPr txBox="1"/>
          <p:nvPr/>
        </p:nvSpPr>
        <p:spPr>
          <a:xfrm>
            <a:off x="731520" y="3150108"/>
            <a:ext cx="1450238" cy="274320"/>
          </a:xfrm>
          <a:prstGeom prst="rect">
            <a:avLst/>
          </a:prstGeom>
          <a:noFill/>
        </p:spPr>
        <p:txBody>
          <a:bodyPr wrap="square" lIns="0" rIns="0" tIns="0" bIns="0" anchor="t">
            <a:noAutofit/>
          </a:bodyPr>
          <a:lstStyle/>
          <a:p>
            <a:pPr algn="ctr"/>
            <a:r>
              <a:rPr sz="1200" i="0">
                <a:solidFill>
                  <a:srgbClr val="76B900"/>
                </a:solidFill>
                <a:latin typeface="Segoe UI Semibold"/>
              </a:rPr>
              <a:t>01</a:t>
            </a:r>
          </a:p>
        </p:txBody>
      </p:sp>
      <p:sp>
        <p:nvSpPr>
          <p:cNvPr id="13" name="TextBox 12"/>
          <p:cNvSpPr txBox="1"/>
          <p:nvPr/>
        </p:nvSpPr>
        <p:spPr>
          <a:xfrm>
            <a:off x="713232" y="3451860"/>
            <a:ext cx="1486814" cy="868680"/>
          </a:xfrm>
          <a:prstGeom prst="rect">
            <a:avLst/>
          </a:prstGeom>
          <a:noFill/>
        </p:spPr>
        <p:txBody>
          <a:bodyPr wrap="square" lIns="0" rIns="0" tIns="0" bIns="0" anchor="ctr">
            <a:noAutofit/>
          </a:bodyPr>
          <a:lstStyle/>
          <a:p>
            <a:pPr algn="ctr"/>
            <a:r>
              <a:rPr sz="2000" i="0">
                <a:solidFill>
                  <a:srgbClr val="F4F6FA"/>
                </a:solidFill>
                <a:latin typeface="Segoe UI Semibold"/>
              </a:rPr>
              <a:t>Ask in the IDE</a:t>
            </a:r>
          </a:p>
        </p:txBody>
      </p:sp>
      <p:sp>
        <p:nvSpPr>
          <p:cNvPr id="14" name="TextBox 13"/>
          <p:cNvSpPr txBox="1"/>
          <p:nvPr/>
        </p:nvSpPr>
        <p:spPr>
          <a:xfrm>
            <a:off x="731520" y="4366260"/>
            <a:ext cx="1450238" cy="1371600"/>
          </a:xfrm>
          <a:prstGeom prst="rect">
            <a:avLst/>
          </a:prstGeom>
          <a:noFill/>
        </p:spPr>
        <p:txBody>
          <a:bodyPr wrap="square" lIns="0" rIns="0" tIns="0" bIns="0" anchor="t">
            <a:noAutofit/>
          </a:bodyPr>
          <a:lstStyle/>
          <a:p>
            <a:pPr algn="ctr"/>
            <a:r>
              <a:rPr sz="1500" i="0">
                <a:solidFill>
                  <a:srgbClr val="AEB6C8"/>
                </a:solidFill>
                <a:latin typeface="Segoe UI"/>
              </a:rPr>
              <a:t>Prompt plus open files as context</a:t>
            </a:r>
          </a:p>
        </p:txBody>
      </p:sp>
      <p:sp>
        <p:nvSpPr>
          <p:cNvPr id="15" name="Chevron 14"/>
          <p:cNvSpPr/>
          <p:nvPr/>
        </p:nvSpPr>
        <p:spPr>
          <a:xfrm>
            <a:off x="2501798" y="4027932"/>
            <a:ext cx="228600" cy="402336"/>
          </a:xfrm>
          <a:prstGeom prst="chevron">
            <a:avLst/>
          </a:prstGeom>
          <a:solidFill>
            <a:srgbClr val="6F7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2867558" y="2583180"/>
            <a:ext cx="1815998" cy="3291840"/>
          </a:xfrm>
          <a:prstGeom prst="roundRect">
            <a:avLst>
              <a:gd name="adj" fmla="val 7049"/>
            </a:avLst>
          </a:prstGeom>
          <a:solidFill>
            <a:srgbClr val="141824"/>
          </a:solidFill>
          <a:ln w="12700">
            <a:solidFill>
              <a:srgbClr val="2860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3318358" y="2125980"/>
            <a:ext cx="914400" cy="914400"/>
          </a:xfrm>
          <a:prstGeom prst="ellipse">
            <a:avLst/>
          </a:prstGeom>
          <a:solidFill>
            <a:srgbClr val="3DA9FC"/>
          </a:solidFill>
          <a:ln>
            <a:noFill/>
          </a:ln>
          <a:effectLst>
            <a:glow rad="127000">
              <a:srgbClr val="3DA9FC">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446374" y="2253996"/>
            <a:ext cx="658368" cy="658368"/>
          </a:xfrm>
          <a:prstGeom prst="rect">
            <a:avLst/>
          </a:prstGeom>
          <a:noFill/>
        </p:spPr>
        <p:txBody>
          <a:bodyPr wrap="none" lIns="0" rIns="0" tIns="0" bIns="0" anchor="ctr">
            <a:spAutoFit/>
          </a:bodyPr>
          <a:lstStyle/>
          <a:p>
            <a:pPr algn="ctr"/>
            <a:r>
              <a:rPr sz="3214">
                <a:solidFill>
                  <a:srgbClr val="07080C"/>
                </a:solidFill>
                <a:latin typeface="Segoe Fluent Icons"/>
              </a:rPr>
              <a:t></a:t>
            </a:r>
          </a:p>
        </p:txBody>
      </p:sp>
      <p:sp>
        <p:nvSpPr>
          <p:cNvPr id="19" name="TextBox 18"/>
          <p:cNvSpPr txBox="1"/>
          <p:nvPr/>
        </p:nvSpPr>
        <p:spPr>
          <a:xfrm>
            <a:off x="3050438" y="3150108"/>
            <a:ext cx="1450238" cy="274320"/>
          </a:xfrm>
          <a:prstGeom prst="rect">
            <a:avLst/>
          </a:prstGeom>
          <a:noFill/>
        </p:spPr>
        <p:txBody>
          <a:bodyPr wrap="square" lIns="0" rIns="0" tIns="0" bIns="0" anchor="t">
            <a:noAutofit/>
          </a:bodyPr>
          <a:lstStyle/>
          <a:p>
            <a:pPr algn="ctr"/>
            <a:r>
              <a:rPr sz="1200" i="0">
                <a:solidFill>
                  <a:srgbClr val="3DA9FC"/>
                </a:solidFill>
                <a:latin typeface="Segoe UI Semibold"/>
              </a:rPr>
              <a:t>02</a:t>
            </a:r>
          </a:p>
        </p:txBody>
      </p:sp>
      <p:sp>
        <p:nvSpPr>
          <p:cNvPr id="20" name="TextBox 19"/>
          <p:cNvSpPr txBox="1"/>
          <p:nvPr/>
        </p:nvSpPr>
        <p:spPr>
          <a:xfrm>
            <a:off x="3032150" y="3451860"/>
            <a:ext cx="1486814" cy="868680"/>
          </a:xfrm>
          <a:prstGeom prst="rect">
            <a:avLst/>
          </a:prstGeom>
          <a:noFill/>
        </p:spPr>
        <p:txBody>
          <a:bodyPr wrap="square" lIns="0" rIns="0" tIns="0" bIns="0" anchor="ctr">
            <a:noAutofit/>
          </a:bodyPr>
          <a:lstStyle/>
          <a:p>
            <a:pPr algn="ctr"/>
            <a:r>
              <a:rPr sz="1900" i="0">
                <a:solidFill>
                  <a:srgbClr val="F4F6FA"/>
                </a:solidFill>
                <a:latin typeface="Segoe UI Semibold"/>
              </a:rPr>
              <a:t>Retrieve internal docs</a:t>
            </a:r>
          </a:p>
        </p:txBody>
      </p:sp>
      <p:sp>
        <p:nvSpPr>
          <p:cNvPr id="21" name="TextBox 20"/>
          <p:cNvSpPr txBox="1"/>
          <p:nvPr/>
        </p:nvSpPr>
        <p:spPr>
          <a:xfrm>
            <a:off x="3050438" y="4366260"/>
            <a:ext cx="1450238" cy="1371600"/>
          </a:xfrm>
          <a:prstGeom prst="rect">
            <a:avLst/>
          </a:prstGeom>
          <a:noFill/>
        </p:spPr>
        <p:txBody>
          <a:bodyPr wrap="square" lIns="0" rIns="0" tIns="0" bIns="0" anchor="t">
            <a:noAutofit/>
          </a:bodyPr>
          <a:lstStyle/>
          <a:p>
            <a:pPr algn="ctr"/>
            <a:r>
              <a:rPr sz="1500" i="0">
                <a:solidFill>
                  <a:srgbClr val="AEB6C8"/>
                </a:solidFill>
                <a:latin typeface="Segoe UI"/>
              </a:rPr>
              <a:t>Local search over engineering docs and code</a:t>
            </a:r>
          </a:p>
        </p:txBody>
      </p:sp>
      <p:sp>
        <p:nvSpPr>
          <p:cNvPr id="22" name="Chevron 21"/>
          <p:cNvSpPr/>
          <p:nvPr/>
        </p:nvSpPr>
        <p:spPr>
          <a:xfrm>
            <a:off x="4820717" y="4027932"/>
            <a:ext cx="228600" cy="402336"/>
          </a:xfrm>
          <a:prstGeom prst="chevron">
            <a:avLst/>
          </a:prstGeom>
          <a:solidFill>
            <a:srgbClr val="6F7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5186477" y="2583180"/>
            <a:ext cx="1815998" cy="3291840"/>
          </a:xfrm>
          <a:prstGeom prst="roundRect">
            <a:avLst>
              <a:gd name="adj" fmla="val 7049"/>
            </a:avLst>
          </a:prstGeom>
          <a:solidFill>
            <a:srgbClr val="141824"/>
          </a:solidFill>
          <a:ln w="12700">
            <a:solidFill>
              <a:srgbClr val="58429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5637276" y="2125980"/>
            <a:ext cx="914400" cy="914400"/>
          </a:xfrm>
          <a:prstGeom prst="ellipse">
            <a:avLst/>
          </a:prstGeom>
          <a:solidFill>
            <a:srgbClr val="9B6BFF"/>
          </a:solidFill>
          <a:ln>
            <a:noFill/>
          </a:ln>
          <a:effectLst>
            <a:glow rad="127000">
              <a:srgbClr val="9B6BF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765292" y="2253996"/>
            <a:ext cx="658368" cy="658368"/>
          </a:xfrm>
          <a:prstGeom prst="rect">
            <a:avLst/>
          </a:prstGeom>
          <a:noFill/>
        </p:spPr>
        <p:txBody>
          <a:bodyPr wrap="none" lIns="0" rIns="0" tIns="0" bIns="0" anchor="ctr">
            <a:spAutoFit/>
          </a:bodyPr>
          <a:lstStyle/>
          <a:p>
            <a:pPr algn="ctr"/>
            <a:r>
              <a:rPr sz="3214">
                <a:solidFill>
                  <a:srgbClr val="07080C"/>
                </a:solidFill>
                <a:latin typeface="Segoe Fluent Icons"/>
              </a:rPr>
              <a:t></a:t>
            </a:r>
          </a:p>
        </p:txBody>
      </p:sp>
      <p:sp>
        <p:nvSpPr>
          <p:cNvPr id="26" name="TextBox 25"/>
          <p:cNvSpPr txBox="1"/>
          <p:nvPr/>
        </p:nvSpPr>
        <p:spPr>
          <a:xfrm>
            <a:off x="5369357" y="3150108"/>
            <a:ext cx="1450238" cy="274320"/>
          </a:xfrm>
          <a:prstGeom prst="rect">
            <a:avLst/>
          </a:prstGeom>
          <a:noFill/>
        </p:spPr>
        <p:txBody>
          <a:bodyPr wrap="square" lIns="0" rIns="0" tIns="0" bIns="0" anchor="t">
            <a:noAutofit/>
          </a:bodyPr>
          <a:lstStyle/>
          <a:p>
            <a:pPr algn="ctr"/>
            <a:r>
              <a:rPr sz="1200" i="0">
                <a:solidFill>
                  <a:srgbClr val="9B6BFF"/>
                </a:solidFill>
                <a:latin typeface="Segoe UI Semibold"/>
              </a:rPr>
              <a:t>03</a:t>
            </a:r>
          </a:p>
        </p:txBody>
      </p:sp>
      <p:sp>
        <p:nvSpPr>
          <p:cNvPr id="27" name="TextBox 26"/>
          <p:cNvSpPr txBox="1"/>
          <p:nvPr/>
        </p:nvSpPr>
        <p:spPr>
          <a:xfrm>
            <a:off x="5351069" y="3451860"/>
            <a:ext cx="1486814" cy="868680"/>
          </a:xfrm>
          <a:prstGeom prst="rect">
            <a:avLst/>
          </a:prstGeom>
          <a:noFill/>
        </p:spPr>
        <p:txBody>
          <a:bodyPr wrap="square" lIns="0" rIns="0" tIns="0" bIns="0" anchor="ctr">
            <a:noAutofit/>
          </a:bodyPr>
          <a:lstStyle/>
          <a:p>
            <a:pPr algn="ctr"/>
            <a:r>
              <a:rPr sz="2000" i="0">
                <a:solidFill>
                  <a:srgbClr val="F4F6FA"/>
                </a:solidFill>
                <a:latin typeface="Segoe UI Semibold"/>
              </a:rPr>
              <a:t>Ground the prompt</a:t>
            </a:r>
          </a:p>
        </p:txBody>
      </p:sp>
      <p:sp>
        <p:nvSpPr>
          <p:cNvPr id="28" name="TextBox 27"/>
          <p:cNvSpPr txBox="1"/>
          <p:nvPr/>
        </p:nvSpPr>
        <p:spPr>
          <a:xfrm>
            <a:off x="5369357" y="4366260"/>
            <a:ext cx="1450238" cy="1371600"/>
          </a:xfrm>
          <a:prstGeom prst="rect">
            <a:avLst/>
          </a:prstGeom>
          <a:noFill/>
        </p:spPr>
        <p:txBody>
          <a:bodyPr wrap="square" lIns="0" rIns="0" tIns="0" bIns="0" anchor="t">
            <a:noAutofit/>
          </a:bodyPr>
          <a:lstStyle/>
          <a:p>
            <a:pPr algn="ctr"/>
            <a:r>
              <a:rPr sz="1500" i="0">
                <a:solidFill>
                  <a:srgbClr val="AEB6C8"/>
                </a:solidFill>
                <a:latin typeface="Segoe UI"/>
              </a:rPr>
              <a:t>Best passages added, with source references</a:t>
            </a:r>
          </a:p>
        </p:txBody>
      </p:sp>
      <p:sp>
        <p:nvSpPr>
          <p:cNvPr id="29" name="Chevron 28"/>
          <p:cNvSpPr/>
          <p:nvPr/>
        </p:nvSpPr>
        <p:spPr>
          <a:xfrm>
            <a:off x="7139635" y="4027932"/>
            <a:ext cx="228600" cy="402336"/>
          </a:xfrm>
          <a:prstGeom prst="chevron">
            <a:avLst/>
          </a:prstGeom>
          <a:solidFill>
            <a:srgbClr val="6F7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7505395" y="2583180"/>
            <a:ext cx="1815998" cy="3291840"/>
          </a:xfrm>
          <a:prstGeom prst="roundRect">
            <a:avLst>
              <a:gd name="adj" fmla="val 7049"/>
            </a:avLst>
          </a:prstGeom>
          <a:solidFill>
            <a:srgbClr val="141824"/>
          </a:solidFill>
          <a:ln w="12700">
            <a:solidFill>
              <a:srgbClr val="8A663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7956194" y="2125980"/>
            <a:ext cx="914400" cy="914400"/>
          </a:xfrm>
          <a:prstGeom prst="ellipse">
            <a:avLst/>
          </a:prstGeom>
          <a:solidFill>
            <a:srgbClr val="FFB547"/>
          </a:solidFill>
          <a:ln>
            <a:noFill/>
          </a:ln>
          <a:effectLst>
            <a:glow rad="127000">
              <a:srgbClr val="FFB547">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084210" y="2253996"/>
            <a:ext cx="658368" cy="658368"/>
          </a:xfrm>
          <a:prstGeom prst="rect">
            <a:avLst/>
          </a:prstGeom>
          <a:noFill/>
        </p:spPr>
        <p:txBody>
          <a:bodyPr wrap="none" lIns="0" rIns="0" tIns="0" bIns="0" anchor="ctr">
            <a:spAutoFit/>
          </a:bodyPr>
          <a:lstStyle/>
          <a:p>
            <a:pPr algn="ctr"/>
            <a:r>
              <a:rPr sz="3214">
                <a:solidFill>
                  <a:srgbClr val="07080C"/>
                </a:solidFill>
                <a:latin typeface="Segoe Fluent Icons"/>
              </a:rPr>
              <a:t></a:t>
            </a:r>
          </a:p>
        </p:txBody>
      </p:sp>
      <p:sp>
        <p:nvSpPr>
          <p:cNvPr id="33" name="TextBox 32"/>
          <p:cNvSpPr txBox="1"/>
          <p:nvPr/>
        </p:nvSpPr>
        <p:spPr>
          <a:xfrm>
            <a:off x="7688275" y="3150108"/>
            <a:ext cx="1450238" cy="274320"/>
          </a:xfrm>
          <a:prstGeom prst="rect">
            <a:avLst/>
          </a:prstGeom>
          <a:noFill/>
        </p:spPr>
        <p:txBody>
          <a:bodyPr wrap="square" lIns="0" rIns="0" tIns="0" bIns="0" anchor="t">
            <a:noAutofit/>
          </a:bodyPr>
          <a:lstStyle/>
          <a:p>
            <a:pPr algn="ctr"/>
            <a:r>
              <a:rPr sz="1200" i="0">
                <a:solidFill>
                  <a:srgbClr val="FFB547"/>
                </a:solidFill>
                <a:latin typeface="Segoe UI Semibold"/>
              </a:rPr>
              <a:t>04</a:t>
            </a:r>
          </a:p>
        </p:txBody>
      </p:sp>
      <p:sp>
        <p:nvSpPr>
          <p:cNvPr id="34" name="TextBox 33"/>
          <p:cNvSpPr txBox="1"/>
          <p:nvPr/>
        </p:nvSpPr>
        <p:spPr>
          <a:xfrm>
            <a:off x="7669987" y="3451860"/>
            <a:ext cx="1486814" cy="868680"/>
          </a:xfrm>
          <a:prstGeom prst="rect">
            <a:avLst/>
          </a:prstGeom>
          <a:noFill/>
        </p:spPr>
        <p:txBody>
          <a:bodyPr wrap="square" lIns="0" rIns="0" tIns="0" bIns="0" anchor="ctr">
            <a:noAutofit/>
          </a:bodyPr>
          <a:lstStyle/>
          <a:p>
            <a:pPr algn="ctr"/>
            <a:r>
              <a:rPr sz="2000" i="0">
                <a:solidFill>
                  <a:srgbClr val="F4F6FA"/>
                </a:solidFill>
                <a:latin typeface="Segoe UI Semibold"/>
              </a:rPr>
              <a:t>Generate on device</a:t>
            </a:r>
          </a:p>
        </p:txBody>
      </p:sp>
      <p:sp>
        <p:nvSpPr>
          <p:cNvPr id="35" name="TextBox 34"/>
          <p:cNvSpPr txBox="1"/>
          <p:nvPr/>
        </p:nvSpPr>
        <p:spPr>
          <a:xfrm>
            <a:off x="7688275" y="4366260"/>
            <a:ext cx="1450238" cy="1371600"/>
          </a:xfrm>
          <a:prstGeom prst="rect">
            <a:avLst/>
          </a:prstGeom>
          <a:noFill/>
        </p:spPr>
        <p:txBody>
          <a:bodyPr wrap="square" lIns="0" rIns="0" tIns="0" bIns="0" anchor="t">
            <a:noAutofit/>
          </a:bodyPr>
          <a:lstStyle/>
          <a:p>
            <a:pPr algn="ctr"/>
            <a:r>
              <a:rPr sz="1500" i="0">
                <a:solidFill>
                  <a:srgbClr val="AEB6C8"/>
                </a:solidFill>
                <a:latin typeface="Segoe UI"/>
              </a:rPr>
              <a:t>Qwen3-Coder 30B via llama.cpp on CUDA</a:t>
            </a:r>
          </a:p>
        </p:txBody>
      </p:sp>
      <p:sp>
        <p:nvSpPr>
          <p:cNvPr id="36" name="Chevron 35"/>
          <p:cNvSpPr/>
          <p:nvPr/>
        </p:nvSpPr>
        <p:spPr>
          <a:xfrm>
            <a:off x="9458554" y="4027932"/>
            <a:ext cx="228600" cy="402336"/>
          </a:xfrm>
          <a:prstGeom prst="chevron">
            <a:avLst/>
          </a:prstGeom>
          <a:solidFill>
            <a:srgbClr val="6F7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9824314" y="2583180"/>
            <a:ext cx="1815998" cy="3291840"/>
          </a:xfrm>
          <a:prstGeom prst="roundRect">
            <a:avLst>
              <a:gd name="adj" fmla="val 7049"/>
            </a:avLst>
          </a:prstGeom>
          <a:solidFill>
            <a:srgbClr val="141824"/>
          </a:solidFill>
          <a:ln w="12700">
            <a:solidFill>
              <a:srgbClr val="8A3A5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75113" y="2125980"/>
            <a:ext cx="914400" cy="914400"/>
          </a:xfrm>
          <a:prstGeom prst="ellipse">
            <a:avLst/>
          </a:prstGeom>
          <a:solidFill>
            <a:srgbClr val="FF5D8F"/>
          </a:solidFill>
          <a:ln>
            <a:noFill/>
          </a:ln>
          <a:effectLst>
            <a:glow rad="127000">
              <a:srgbClr val="FF5D8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403129" y="2253996"/>
            <a:ext cx="658368" cy="658368"/>
          </a:xfrm>
          <a:prstGeom prst="rect">
            <a:avLst/>
          </a:prstGeom>
          <a:noFill/>
        </p:spPr>
        <p:txBody>
          <a:bodyPr wrap="none" lIns="0" rIns="0" tIns="0" bIns="0" anchor="ctr">
            <a:spAutoFit/>
          </a:bodyPr>
          <a:lstStyle/>
          <a:p>
            <a:pPr algn="ctr"/>
            <a:r>
              <a:rPr sz="3214">
                <a:solidFill>
                  <a:srgbClr val="07080C"/>
                </a:solidFill>
                <a:latin typeface="Segoe Fluent Icons"/>
              </a:rPr>
              <a:t></a:t>
            </a:r>
          </a:p>
        </p:txBody>
      </p:sp>
      <p:sp>
        <p:nvSpPr>
          <p:cNvPr id="40" name="TextBox 39"/>
          <p:cNvSpPr txBox="1"/>
          <p:nvPr/>
        </p:nvSpPr>
        <p:spPr>
          <a:xfrm>
            <a:off x="10007194" y="3150108"/>
            <a:ext cx="1450238" cy="274320"/>
          </a:xfrm>
          <a:prstGeom prst="rect">
            <a:avLst/>
          </a:prstGeom>
          <a:noFill/>
        </p:spPr>
        <p:txBody>
          <a:bodyPr wrap="square" lIns="0" rIns="0" tIns="0" bIns="0" anchor="t">
            <a:noAutofit/>
          </a:bodyPr>
          <a:lstStyle/>
          <a:p>
            <a:pPr algn="ctr"/>
            <a:r>
              <a:rPr sz="1200" i="0">
                <a:solidFill>
                  <a:srgbClr val="FF5D8F"/>
                </a:solidFill>
                <a:latin typeface="Segoe UI Semibold"/>
              </a:rPr>
              <a:t>05</a:t>
            </a:r>
          </a:p>
        </p:txBody>
      </p:sp>
      <p:sp>
        <p:nvSpPr>
          <p:cNvPr id="41" name="TextBox 40"/>
          <p:cNvSpPr txBox="1"/>
          <p:nvPr/>
        </p:nvSpPr>
        <p:spPr>
          <a:xfrm>
            <a:off x="9988906" y="3451860"/>
            <a:ext cx="1486814" cy="868680"/>
          </a:xfrm>
          <a:prstGeom prst="rect">
            <a:avLst/>
          </a:prstGeom>
          <a:noFill/>
        </p:spPr>
        <p:txBody>
          <a:bodyPr wrap="square" lIns="0" rIns="0" tIns="0" bIns="0" anchor="ctr">
            <a:noAutofit/>
          </a:bodyPr>
          <a:lstStyle/>
          <a:p>
            <a:pPr algn="ctr"/>
            <a:r>
              <a:rPr sz="2000" i="0">
                <a:solidFill>
                  <a:srgbClr val="F4F6FA"/>
                </a:solidFill>
                <a:latin typeface="Segoe UI Semibold"/>
              </a:rPr>
              <a:t>Developer decides</a:t>
            </a:r>
          </a:p>
        </p:txBody>
      </p:sp>
      <p:sp>
        <p:nvSpPr>
          <p:cNvPr id="42" name="TextBox 41"/>
          <p:cNvSpPr txBox="1"/>
          <p:nvPr/>
        </p:nvSpPr>
        <p:spPr>
          <a:xfrm>
            <a:off x="10007194" y="4366260"/>
            <a:ext cx="1450238" cy="1371600"/>
          </a:xfrm>
          <a:prstGeom prst="rect">
            <a:avLst/>
          </a:prstGeom>
          <a:noFill/>
        </p:spPr>
        <p:txBody>
          <a:bodyPr wrap="square" lIns="0" rIns="0" tIns="0" bIns="0" anchor="t">
            <a:noAutofit/>
          </a:bodyPr>
          <a:lstStyle/>
          <a:p>
            <a:pPr algn="ctr"/>
            <a:r>
              <a:rPr sz="1500" i="0">
                <a:solidFill>
                  <a:srgbClr val="AEB6C8"/>
                </a:solidFill>
                <a:latin typeface="Segoe UI"/>
              </a:rPr>
              <a:t>Accept or edit; pilot logs acceptance rate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Hybrid Routing: Sensitive Work Stays Local</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Sensitive, frequent tasks stay local; the heaviest reasoning can route to cloud.</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10</a:t>
            </a:r>
          </a:p>
        </p:txBody>
      </p:sp>
      <p:cxnSp>
        <p:nvCxnSpPr>
          <p:cNvPr id="9" name="Connector 8"/>
          <p:cNvCxnSpPr/>
          <p:nvPr/>
        </p:nvCxnSpPr>
        <p:spPr>
          <a:xfrm>
            <a:off x="2582113" y="4000500"/>
            <a:ext cx="647014" cy="0"/>
          </a:xfrm>
          <a:prstGeom prst="line">
            <a:avLst/>
          </a:prstGeom>
          <a:ln w="28575">
            <a:solidFill>
              <a:srgbClr val="5A627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5077739" y="3131820"/>
            <a:ext cx="1571321" cy="651510"/>
          </a:xfrm>
          <a:prstGeom prst="line">
            <a:avLst/>
          </a:prstGeom>
          <a:ln w="28575">
            <a:solidFill>
              <a:srgbClr val="3DA9F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857560" y="3073527"/>
            <a:ext cx="2011680" cy="329184"/>
          </a:xfrm>
          <a:prstGeom prst="rect">
            <a:avLst/>
          </a:prstGeom>
          <a:noFill/>
        </p:spPr>
        <p:txBody>
          <a:bodyPr wrap="square" lIns="0" rIns="0" tIns="0" bIns="0" anchor="t">
            <a:noAutofit/>
          </a:bodyPr>
          <a:lstStyle/>
          <a:p>
            <a:pPr algn="ctr"/>
            <a:r>
              <a:rPr sz="1200" i="0">
                <a:solidFill>
                  <a:srgbClr val="AEB6C8"/>
                </a:solidFill>
                <a:latin typeface="Segoe UI"/>
              </a:rPr>
              <a:t>Sensitive, frequent tasks</a:t>
            </a:r>
          </a:p>
        </p:txBody>
      </p:sp>
      <p:cxnSp>
        <p:nvCxnSpPr>
          <p:cNvPr id="12" name="Connector 11"/>
          <p:cNvCxnSpPr/>
          <p:nvPr/>
        </p:nvCxnSpPr>
        <p:spPr>
          <a:xfrm>
            <a:off x="5077739" y="4217670"/>
            <a:ext cx="1571321" cy="1122045"/>
          </a:xfrm>
          <a:prstGeom prst="line">
            <a:avLst/>
          </a:prstGeom>
          <a:ln w="28575">
            <a:solidFill>
              <a:srgbClr val="9B6BF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857560" y="4394644"/>
            <a:ext cx="2011680" cy="329184"/>
          </a:xfrm>
          <a:prstGeom prst="rect">
            <a:avLst/>
          </a:prstGeom>
          <a:noFill/>
        </p:spPr>
        <p:txBody>
          <a:bodyPr wrap="square" lIns="0" rIns="0" tIns="0" bIns="0" anchor="t">
            <a:noAutofit/>
          </a:bodyPr>
          <a:lstStyle/>
          <a:p>
            <a:pPr algn="ctr"/>
            <a:r>
              <a:rPr sz="1200" i="0">
                <a:solidFill>
                  <a:srgbClr val="AEB6C8"/>
                </a:solidFill>
                <a:latin typeface="Segoe UI"/>
              </a:rPr>
              <a:t>Heaviest reasoning</a:t>
            </a:r>
          </a:p>
        </p:txBody>
      </p:sp>
      <p:sp>
        <p:nvSpPr>
          <p:cNvPr id="14" name="TextBox 13"/>
          <p:cNvSpPr txBox="1"/>
          <p:nvPr/>
        </p:nvSpPr>
        <p:spPr>
          <a:xfrm>
            <a:off x="733501" y="2118360"/>
            <a:ext cx="4436669" cy="579120"/>
          </a:xfrm>
          <a:prstGeom prst="rect">
            <a:avLst/>
          </a:prstGeom>
          <a:noFill/>
        </p:spPr>
        <p:txBody>
          <a:bodyPr wrap="square" lIns="0" rIns="0" tIns="0" bIns="0" anchor="t">
            <a:noAutofit/>
          </a:bodyPr>
          <a:lstStyle/>
          <a:p>
            <a:pPr algn="l"/>
            <a:r>
              <a:rPr sz="3000" i="0">
                <a:solidFill>
                  <a:srgbClr val="F4F6FA"/>
                </a:solidFill>
                <a:latin typeface="Segoe UI Semibold"/>
              </a:rPr>
              <a:t>Classify, then route</a:t>
            </a:r>
          </a:p>
        </p:txBody>
      </p:sp>
      <p:sp>
        <p:nvSpPr>
          <p:cNvPr id="15" name="Rounded Rectangle 14"/>
          <p:cNvSpPr/>
          <p:nvPr/>
        </p:nvSpPr>
        <p:spPr>
          <a:xfrm>
            <a:off x="733501" y="3493770"/>
            <a:ext cx="1848612" cy="1013460"/>
          </a:xfrm>
          <a:prstGeom prst="roundRect">
            <a:avLst>
              <a:gd name="adj" fmla="val 12631"/>
            </a:avLst>
          </a:prstGeom>
          <a:solidFill>
            <a:srgbClr val="141824"/>
          </a:solidFill>
          <a:ln w="12700">
            <a:solidFill>
              <a:srgbClr val="2830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88949" y="3749040"/>
            <a:ext cx="502920" cy="502920"/>
          </a:xfrm>
          <a:prstGeom prst="rect">
            <a:avLst/>
          </a:prstGeom>
          <a:noFill/>
        </p:spPr>
        <p:txBody>
          <a:bodyPr wrap="none" lIns="0" rIns="0" tIns="0" bIns="0" anchor="ctr">
            <a:spAutoFit/>
          </a:bodyPr>
          <a:lstStyle/>
          <a:p>
            <a:pPr algn="ctr"/>
            <a:r>
              <a:rPr sz="2455">
                <a:solidFill>
                  <a:srgbClr val="F4F6FA"/>
                </a:solidFill>
                <a:latin typeface="Segoe Fluent Icons"/>
              </a:rPr>
              <a:t></a:t>
            </a:r>
          </a:p>
        </p:txBody>
      </p:sp>
      <p:sp>
        <p:nvSpPr>
          <p:cNvPr id="17" name="TextBox 16"/>
          <p:cNvSpPr txBox="1"/>
          <p:nvPr/>
        </p:nvSpPr>
        <p:spPr>
          <a:xfrm>
            <a:off x="1510741" y="3603498"/>
            <a:ext cx="979932" cy="794004"/>
          </a:xfrm>
          <a:prstGeom prst="rect">
            <a:avLst/>
          </a:prstGeom>
          <a:noFill/>
        </p:spPr>
        <p:txBody>
          <a:bodyPr wrap="square" lIns="0" rIns="0" tIns="0" bIns="0" anchor="ctr">
            <a:noAutofit/>
          </a:bodyPr>
          <a:lstStyle/>
          <a:p>
            <a:pPr algn="l"/>
            <a:r>
              <a:rPr sz="1600" i="0">
                <a:solidFill>
                  <a:srgbClr val="F4F6FA"/>
                </a:solidFill>
                <a:latin typeface="Segoe UI Semibold"/>
              </a:rPr>
              <a:t>Developer IDE</a:t>
            </a:r>
          </a:p>
        </p:txBody>
      </p:sp>
      <p:sp>
        <p:nvSpPr>
          <p:cNvPr id="18" name="Hexagon 17"/>
          <p:cNvSpPr/>
          <p:nvPr/>
        </p:nvSpPr>
        <p:spPr>
          <a:xfrm>
            <a:off x="3229127" y="3421380"/>
            <a:ext cx="1848612" cy="1158240"/>
          </a:xfrm>
          <a:prstGeom prst="hexagon">
            <a:avLst/>
          </a:prstGeom>
          <a:solidFill>
            <a:srgbClr val="76B900"/>
          </a:solidFill>
          <a:ln>
            <a:noFill/>
          </a:ln>
          <a:effectLst>
            <a:glow rad="101600">
              <a:srgbClr val="76B900">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384575" y="3749040"/>
            <a:ext cx="502920" cy="502920"/>
          </a:xfrm>
          <a:prstGeom prst="rect">
            <a:avLst/>
          </a:prstGeom>
          <a:noFill/>
        </p:spPr>
        <p:txBody>
          <a:bodyPr wrap="none" lIns="0" rIns="0" tIns="0" bIns="0" anchor="ctr">
            <a:spAutoFit/>
          </a:bodyPr>
          <a:lstStyle/>
          <a:p>
            <a:pPr algn="ctr"/>
            <a:r>
              <a:rPr sz="2455">
                <a:solidFill>
                  <a:srgbClr val="07080C"/>
                </a:solidFill>
                <a:latin typeface="Segoe Fluent Icons"/>
              </a:rPr>
              <a:t></a:t>
            </a:r>
          </a:p>
        </p:txBody>
      </p:sp>
      <p:sp>
        <p:nvSpPr>
          <p:cNvPr id="20" name="TextBox 19"/>
          <p:cNvSpPr txBox="1"/>
          <p:nvPr/>
        </p:nvSpPr>
        <p:spPr>
          <a:xfrm>
            <a:off x="4006367" y="3531108"/>
            <a:ext cx="979932" cy="938784"/>
          </a:xfrm>
          <a:prstGeom prst="rect">
            <a:avLst/>
          </a:prstGeom>
          <a:noFill/>
        </p:spPr>
        <p:txBody>
          <a:bodyPr wrap="square" lIns="0" rIns="0" tIns="0" bIns="0" anchor="ctr">
            <a:noAutofit/>
          </a:bodyPr>
          <a:lstStyle/>
          <a:p>
            <a:pPr algn="l"/>
            <a:r>
              <a:rPr sz="1600" i="0">
                <a:solidFill>
                  <a:srgbClr val="07080C"/>
                </a:solidFill>
                <a:latin typeface="Segoe UI Semibold"/>
              </a:rPr>
              <a:t>Routing policy</a:t>
            </a:r>
          </a:p>
        </p:txBody>
      </p:sp>
      <p:sp>
        <p:nvSpPr>
          <p:cNvPr id="21" name="Rounded Rectangle 20"/>
          <p:cNvSpPr/>
          <p:nvPr/>
        </p:nvSpPr>
        <p:spPr>
          <a:xfrm>
            <a:off x="6649060" y="2045970"/>
            <a:ext cx="4806391" cy="434340"/>
          </a:xfrm>
          <a:prstGeom prst="roundRect">
            <a:avLst>
              <a:gd name="adj" fmla="val 50000"/>
            </a:avLst>
          </a:prstGeom>
          <a:solidFill>
            <a:srgbClr val="3DA9FC"/>
          </a:solidFill>
          <a:ln>
            <a:noFill/>
          </a:ln>
          <a:effectLst>
            <a:glow rad="101600">
              <a:srgbClr val="3DA9FC">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04508" y="2143696"/>
            <a:ext cx="238887" cy="238887"/>
          </a:xfrm>
          <a:prstGeom prst="rect">
            <a:avLst/>
          </a:prstGeom>
          <a:noFill/>
        </p:spPr>
        <p:txBody>
          <a:bodyPr wrap="none" lIns="0" rIns="0" tIns="0" bIns="0" anchor="ctr">
            <a:spAutoFit/>
          </a:bodyPr>
          <a:lstStyle/>
          <a:p>
            <a:pPr algn="ctr"/>
            <a:r>
              <a:rPr sz="1166">
                <a:solidFill>
                  <a:srgbClr val="07080C"/>
                </a:solidFill>
                <a:latin typeface="Segoe Fluent Icons"/>
              </a:rPr>
              <a:t></a:t>
            </a:r>
          </a:p>
        </p:txBody>
      </p:sp>
      <p:sp>
        <p:nvSpPr>
          <p:cNvPr id="23" name="TextBox 22"/>
          <p:cNvSpPr txBox="1"/>
          <p:nvPr/>
        </p:nvSpPr>
        <p:spPr>
          <a:xfrm>
            <a:off x="7162267" y="2155698"/>
            <a:ext cx="4201744" cy="214884"/>
          </a:xfrm>
          <a:prstGeom prst="rect">
            <a:avLst/>
          </a:prstGeom>
          <a:noFill/>
        </p:spPr>
        <p:txBody>
          <a:bodyPr wrap="square" lIns="0" rIns="0" tIns="0" bIns="0" anchor="ctr">
            <a:noAutofit/>
          </a:bodyPr>
          <a:lstStyle/>
          <a:p>
            <a:pPr algn="l"/>
            <a:r>
              <a:rPr sz="1300" i="0">
                <a:solidFill>
                  <a:srgbClr val="07080C"/>
                </a:solidFill>
                <a:latin typeface="Segoe UI Semibold"/>
              </a:rPr>
              <a:t>Local lane, on device</a:t>
            </a:r>
          </a:p>
        </p:txBody>
      </p:sp>
      <p:sp>
        <p:nvSpPr>
          <p:cNvPr id="24" name="Rounded Rectangle 23"/>
          <p:cNvSpPr/>
          <p:nvPr/>
        </p:nvSpPr>
        <p:spPr>
          <a:xfrm>
            <a:off x="6649060" y="2625090"/>
            <a:ext cx="1478890" cy="1013460"/>
          </a:xfrm>
          <a:prstGeom prst="roundRect">
            <a:avLst>
              <a:gd name="adj" fmla="val 12631"/>
            </a:avLst>
          </a:prstGeom>
          <a:solidFill>
            <a:srgbClr val="141824"/>
          </a:solidFill>
          <a:ln w="12700">
            <a:solidFill>
              <a:srgbClr val="2830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804508" y="2880360"/>
            <a:ext cx="502920" cy="502920"/>
          </a:xfrm>
          <a:prstGeom prst="rect">
            <a:avLst/>
          </a:prstGeom>
          <a:noFill/>
        </p:spPr>
        <p:txBody>
          <a:bodyPr wrap="none" lIns="0" rIns="0" tIns="0" bIns="0" anchor="ctr">
            <a:spAutoFit/>
          </a:bodyPr>
          <a:lstStyle/>
          <a:p>
            <a:pPr algn="ctr"/>
            <a:r>
              <a:rPr sz="2455">
                <a:solidFill>
                  <a:srgbClr val="F4F6FA"/>
                </a:solidFill>
                <a:latin typeface="Segoe Fluent Icons"/>
              </a:rPr>
              <a:t></a:t>
            </a:r>
          </a:p>
        </p:txBody>
      </p:sp>
      <p:sp>
        <p:nvSpPr>
          <p:cNvPr id="26" name="TextBox 25"/>
          <p:cNvSpPr txBox="1"/>
          <p:nvPr/>
        </p:nvSpPr>
        <p:spPr>
          <a:xfrm>
            <a:off x="7426300" y="2734818"/>
            <a:ext cx="610210" cy="794004"/>
          </a:xfrm>
          <a:prstGeom prst="rect">
            <a:avLst/>
          </a:prstGeom>
          <a:noFill/>
        </p:spPr>
        <p:txBody>
          <a:bodyPr wrap="square" lIns="0" rIns="0" tIns="0" bIns="0" anchor="ctr">
            <a:noAutofit/>
          </a:bodyPr>
          <a:lstStyle/>
          <a:p>
            <a:pPr algn="l"/>
            <a:r>
              <a:rPr sz="900" i="0">
                <a:solidFill>
                  <a:srgbClr val="F4F6FA"/>
                </a:solidFill>
                <a:latin typeface="Segoe UI Semibold"/>
              </a:rPr>
              <a:t>Qwen3-Coder 30B</a:t>
            </a:r>
          </a:p>
        </p:txBody>
      </p:sp>
      <p:sp>
        <p:nvSpPr>
          <p:cNvPr id="27" name="Rounded Rectangle 26"/>
          <p:cNvSpPr/>
          <p:nvPr/>
        </p:nvSpPr>
        <p:spPr>
          <a:xfrm>
            <a:off x="8312810" y="2625090"/>
            <a:ext cx="1478890" cy="1013460"/>
          </a:xfrm>
          <a:prstGeom prst="roundRect">
            <a:avLst>
              <a:gd name="adj" fmla="val 12631"/>
            </a:avLst>
          </a:prstGeom>
          <a:solidFill>
            <a:srgbClr val="141824"/>
          </a:solidFill>
          <a:ln w="12700">
            <a:solidFill>
              <a:srgbClr val="2830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468258" y="2880360"/>
            <a:ext cx="502920" cy="502920"/>
          </a:xfrm>
          <a:prstGeom prst="rect">
            <a:avLst/>
          </a:prstGeom>
          <a:noFill/>
        </p:spPr>
        <p:txBody>
          <a:bodyPr wrap="none" lIns="0" rIns="0" tIns="0" bIns="0" anchor="ctr">
            <a:spAutoFit/>
          </a:bodyPr>
          <a:lstStyle/>
          <a:p>
            <a:pPr algn="ctr"/>
            <a:r>
              <a:rPr sz="2455">
                <a:solidFill>
                  <a:srgbClr val="F4F6FA"/>
                </a:solidFill>
                <a:latin typeface="Segoe Fluent Icons"/>
              </a:rPr>
              <a:t></a:t>
            </a:r>
          </a:p>
        </p:txBody>
      </p:sp>
      <p:sp>
        <p:nvSpPr>
          <p:cNvPr id="29" name="TextBox 28"/>
          <p:cNvSpPr txBox="1"/>
          <p:nvPr/>
        </p:nvSpPr>
        <p:spPr>
          <a:xfrm>
            <a:off x="9090050" y="2734818"/>
            <a:ext cx="610210" cy="794004"/>
          </a:xfrm>
          <a:prstGeom prst="rect">
            <a:avLst/>
          </a:prstGeom>
          <a:noFill/>
        </p:spPr>
        <p:txBody>
          <a:bodyPr wrap="square" lIns="0" rIns="0" tIns="0" bIns="0" anchor="ctr">
            <a:noAutofit/>
          </a:bodyPr>
          <a:lstStyle/>
          <a:p>
            <a:pPr algn="l"/>
            <a:r>
              <a:rPr sz="1300" i="0">
                <a:solidFill>
                  <a:srgbClr val="F4F6FA"/>
                </a:solidFill>
                <a:latin typeface="Segoe UI Semibold"/>
              </a:rPr>
              <a:t>Internal doc RAG</a:t>
            </a:r>
          </a:p>
        </p:txBody>
      </p:sp>
      <p:sp>
        <p:nvSpPr>
          <p:cNvPr id="30" name="Rounded Rectangle 29"/>
          <p:cNvSpPr/>
          <p:nvPr/>
        </p:nvSpPr>
        <p:spPr>
          <a:xfrm>
            <a:off x="9976561" y="2625090"/>
            <a:ext cx="1478890" cy="1013460"/>
          </a:xfrm>
          <a:prstGeom prst="roundRect">
            <a:avLst>
              <a:gd name="adj" fmla="val 12631"/>
            </a:avLst>
          </a:prstGeom>
          <a:solidFill>
            <a:srgbClr val="141824"/>
          </a:solidFill>
          <a:ln w="12700">
            <a:solidFill>
              <a:srgbClr val="2830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132009" y="2880360"/>
            <a:ext cx="502920" cy="502920"/>
          </a:xfrm>
          <a:prstGeom prst="rect">
            <a:avLst/>
          </a:prstGeom>
          <a:noFill/>
        </p:spPr>
        <p:txBody>
          <a:bodyPr wrap="none" lIns="0" rIns="0" tIns="0" bIns="0" anchor="ctr">
            <a:spAutoFit/>
          </a:bodyPr>
          <a:lstStyle/>
          <a:p>
            <a:pPr algn="ctr"/>
            <a:r>
              <a:rPr sz="2455">
                <a:solidFill>
                  <a:srgbClr val="F4F6FA"/>
                </a:solidFill>
                <a:latin typeface="Segoe Fluent Icons"/>
              </a:rPr>
              <a:t></a:t>
            </a:r>
          </a:p>
        </p:txBody>
      </p:sp>
      <p:sp>
        <p:nvSpPr>
          <p:cNvPr id="32" name="TextBox 31"/>
          <p:cNvSpPr txBox="1"/>
          <p:nvPr/>
        </p:nvSpPr>
        <p:spPr>
          <a:xfrm>
            <a:off x="10753801" y="2734818"/>
            <a:ext cx="610210" cy="794004"/>
          </a:xfrm>
          <a:prstGeom prst="rect">
            <a:avLst/>
          </a:prstGeom>
          <a:noFill/>
        </p:spPr>
        <p:txBody>
          <a:bodyPr wrap="square" lIns="0" rIns="0" tIns="0" bIns="0" anchor="ctr">
            <a:noAutofit/>
          </a:bodyPr>
          <a:lstStyle/>
          <a:p>
            <a:pPr algn="l"/>
            <a:r>
              <a:rPr sz="1000" i="0">
                <a:solidFill>
                  <a:srgbClr val="F4F6FA"/>
                </a:solidFill>
                <a:latin typeface="Segoe UI Semibold"/>
              </a:rPr>
              <a:t>llama.cpp, Foundry Local</a:t>
            </a:r>
          </a:p>
        </p:txBody>
      </p:sp>
      <p:sp>
        <p:nvSpPr>
          <p:cNvPr id="33" name="Rounded Rectangle 32"/>
          <p:cNvSpPr/>
          <p:nvPr/>
        </p:nvSpPr>
        <p:spPr>
          <a:xfrm>
            <a:off x="6649060" y="4290060"/>
            <a:ext cx="4806391" cy="434340"/>
          </a:xfrm>
          <a:prstGeom prst="roundRect">
            <a:avLst>
              <a:gd name="adj" fmla="val 50000"/>
            </a:avLst>
          </a:prstGeom>
          <a:solidFill>
            <a:srgbClr val="9B6BFF"/>
          </a:solidFill>
          <a:ln>
            <a:noFill/>
          </a:ln>
          <a:effectLst>
            <a:glow rad="101600">
              <a:srgbClr val="9B6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804508" y="4387786"/>
            <a:ext cx="238887" cy="238887"/>
          </a:xfrm>
          <a:prstGeom prst="rect">
            <a:avLst/>
          </a:prstGeom>
          <a:noFill/>
        </p:spPr>
        <p:txBody>
          <a:bodyPr wrap="none" lIns="0" rIns="0" tIns="0" bIns="0" anchor="ctr">
            <a:spAutoFit/>
          </a:bodyPr>
          <a:lstStyle/>
          <a:p>
            <a:pPr algn="ctr"/>
            <a:r>
              <a:rPr sz="1166">
                <a:solidFill>
                  <a:srgbClr val="07080C"/>
                </a:solidFill>
                <a:latin typeface="Segoe Fluent Icons"/>
              </a:rPr>
              <a:t></a:t>
            </a:r>
          </a:p>
        </p:txBody>
      </p:sp>
      <p:sp>
        <p:nvSpPr>
          <p:cNvPr id="35" name="TextBox 34"/>
          <p:cNvSpPr txBox="1"/>
          <p:nvPr/>
        </p:nvSpPr>
        <p:spPr>
          <a:xfrm>
            <a:off x="7162267" y="4399788"/>
            <a:ext cx="4201744" cy="214884"/>
          </a:xfrm>
          <a:prstGeom prst="rect">
            <a:avLst/>
          </a:prstGeom>
          <a:noFill/>
        </p:spPr>
        <p:txBody>
          <a:bodyPr wrap="square" lIns="0" rIns="0" tIns="0" bIns="0" anchor="ctr">
            <a:noAutofit/>
          </a:bodyPr>
          <a:lstStyle/>
          <a:p>
            <a:pPr algn="l"/>
            <a:r>
              <a:rPr sz="1300" i="0">
                <a:solidFill>
                  <a:srgbClr val="07080C"/>
                </a:solidFill>
                <a:latin typeface="Segoe UI Semibold"/>
              </a:rPr>
              <a:t>Cloud lane, by policy</a:t>
            </a:r>
          </a:p>
        </p:txBody>
      </p:sp>
      <p:sp>
        <p:nvSpPr>
          <p:cNvPr id="36" name="Rounded Rectangle 35"/>
          <p:cNvSpPr/>
          <p:nvPr/>
        </p:nvSpPr>
        <p:spPr>
          <a:xfrm>
            <a:off x="6649060" y="4869180"/>
            <a:ext cx="4806391" cy="941070"/>
          </a:xfrm>
          <a:prstGeom prst="roundRect">
            <a:avLst>
              <a:gd name="adj" fmla="val 13603"/>
            </a:avLst>
          </a:prstGeom>
          <a:solidFill>
            <a:srgbClr val="141824"/>
          </a:solidFill>
          <a:ln w="12700">
            <a:solidFill>
              <a:srgbClr val="2830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804508" y="5088255"/>
            <a:ext cx="502920" cy="502920"/>
          </a:xfrm>
          <a:prstGeom prst="rect">
            <a:avLst/>
          </a:prstGeom>
          <a:noFill/>
        </p:spPr>
        <p:txBody>
          <a:bodyPr wrap="none" lIns="0" rIns="0" tIns="0" bIns="0" anchor="ctr">
            <a:spAutoFit/>
          </a:bodyPr>
          <a:lstStyle/>
          <a:p>
            <a:pPr algn="ctr"/>
            <a:r>
              <a:rPr sz="2455">
                <a:solidFill>
                  <a:srgbClr val="F4F6FA"/>
                </a:solidFill>
                <a:latin typeface="Segoe Fluent Icons"/>
              </a:rPr>
              <a:t></a:t>
            </a:r>
          </a:p>
        </p:txBody>
      </p:sp>
      <p:sp>
        <p:nvSpPr>
          <p:cNvPr id="38" name="TextBox 37"/>
          <p:cNvSpPr txBox="1"/>
          <p:nvPr/>
        </p:nvSpPr>
        <p:spPr>
          <a:xfrm>
            <a:off x="7426300" y="4978908"/>
            <a:ext cx="3937711" cy="721614"/>
          </a:xfrm>
          <a:prstGeom prst="rect">
            <a:avLst/>
          </a:prstGeom>
          <a:noFill/>
        </p:spPr>
        <p:txBody>
          <a:bodyPr wrap="square" lIns="0" rIns="0" tIns="0" bIns="0" anchor="ctr">
            <a:noAutofit/>
          </a:bodyPr>
          <a:lstStyle/>
          <a:p>
            <a:pPr algn="l"/>
            <a:r>
              <a:rPr sz="1600" i="0">
                <a:solidFill>
                  <a:srgbClr val="F4F6FA"/>
                </a:solidFill>
                <a:latin typeface="Segoe UI Semibold"/>
              </a:rPr>
              <a:t>Cloud reasoning models</a:t>
            </a:r>
          </a:p>
        </p:txBody>
      </p:sp>
      <p:sp>
        <p:nvSpPr>
          <p:cNvPr id="39" name="TextBox 38"/>
          <p:cNvSpPr txBox="1"/>
          <p:nvPr/>
        </p:nvSpPr>
        <p:spPr>
          <a:xfrm>
            <a:off x="733501" y="4724400"/>
            <a:ext cx="4436669" cy="289560"/>
          </a:xfrm>
          <a:prstGeom prst="rect">
            <a:avLst/>
          </a:prstGeom>
          <a:noFill/>
        </p:spPr>
        <p:txBody>
          <a:bodyPr wrap="square" lIns="0" rIns="0" tIns="0" bIns="0" anchor="t">
            <a:noAutofit/>
          </a:bodyPr>
          <a:lstStyle/>
          <a:p>
            <a:pPr algn="l"/>
            <a:r>
              <a:rPr sz="1400" i="0">
                <a:solidFill>
                  <a:srgbClr val="5A6276"/>
                </a:solidFill>
                <a:latin typeface="Segoe UI"/>
              </a:rPr>
              <a:t>Shop-floor analogy</a:t>
            </a:r>
          </a:p>
        </p:txBody>
      </p:sp>
      <p:sp>
        <p:nvSpPr>
          <p:cNvPr id="40" name="TextBox 39"/>
          <p:cNvSpPr txBox="1"/>
          <p:nvPr/>
        </p:nvSpPr>
        <p:spPr>
          <a:xfrm>
            <a:off x="733501" y="5086350"/>
            <a:ext cx="361950" cy="361950"/>
          </a:xfrm>
          <a:prstGeom prst="rect">
            <a:avLst/>
          </a:prstGeom>
          <a:noFill/>
        </p:spPr>
        <p:txBody>
          <a:bodyPr wrap="none" lIns="0" rIns="0" tIns="0" bIns="0" anchor="ctr">
            <a:spAutoFit/>
          </a:bodyPr>
          <a:lstStyle/>
          <a:p>
            <a:pPr algn="ctr"/>
            <a:r>
              <a:rPr sz="1766">
                <a:solidFill>
                  <a:srgbClr val="3DA9FC"/>
                </a:solidFill>
                <a:latin typeface="Segoe Fluent Icons"/>
              </a:rPr>
              <a:t></a:t>
            </a:r>
          </a:p>
        </p:txBody>
      </p:sp>
      <p:sp>
        <p:nvSpPr>
          <p:cNvPr id="41" name="TextBox 40"/>
          <p:cNvSpPr txBox="1"/>
          <p:nvPr/>
        </p:nvSpPr>
        <p:spPr>
          <a:xfrm>
            <a:off x="1334300" y="5086350"/>
            <a:ext cx="3882085" cy="361950"/>
          </a:xfrm>
          <a:prstGeom prst="rect">
            <a:avLst/>
          </a:prstGeom>
          <a:noFill/>
        </p:spPr>
        <p:txBody>
          <a:bodyPr wrap="square" lIns="0" rIns="0" tIns="0" bIns="0" anchor="t">
            <a:noAutofit/>
          </a:bodyPr>
          <a:lstStyle/>
          <a:p>
            <a:pPr algn="l"/>
            <a:r>
              <a:rPr sz="1400" i="0">
                <a:solidFill>
                  <a:srgbClr val="F4F6FA"/>
                </a:solidFill>
                <a:latin typeface="Segoe UI"/>
              </a:rPr>
              <a:t>In-house shop: sensitive parts</a:t>
            </a:r>
          </a:p>
        </p:txBody>
      </p:sp>
      <p:sp>
        <p:nvSpPr>
          <p:cNvPr id="42" name="TextBox 41"/>
          <p:cNvSpPr txBox="1"/>
          <p:nvPr/>
        </p:nvSpPr>
        <p:spPr>
          <a:xfrm>
            <a:off x="733501" y="5556885"/>
            <a:ext cx="361950" cy="361950"/>
          </a:xfrm>
          <a:prstGeom prst="rect">
            <a:avLst/>
          </a:prstGeom>
          <a:noFill/>
        </p:spPr>
        <p:txBody>
          <a:bodyPr wrap="none" lIns="0" rIns="0" tIns="0" bIns="0" anchor="ctr">
            <a:spAutoFit/>
          </a:bodyPr>
          <a:lstStyle/>
          <a:p>
            <a:pPr algn="ctr"/>
            <a:r>
              <a:rPr sz="1766">
                <a:solidFill>
                  <a:srgbClr val="9B6BFF"/>
                </a:solidFill>
                <a:latin typeface="Segoe Fluent Icons"/>
              </a:rPr>
              <a:t></a:t>
            </a:r>
          </a:p>
        </p:txBody>
      </p:sp>
      <p:sp>
        <p:nvSpPr>
          <p:cNvPr id="43" name="TextBox 42"/>
          <p:cNvSpPr txBox="1"/>
          <p:nvPr/>
        </p:nvSpPr>
        <p:spPr>
          <a:xfrm>
            <a:off x="1334300" y="5556885"/>
            <a:ext cx="3882085" cy="361950"/>
          </a:xfrm>
          <a:prstGeom prst="rect">
            <a:avLst/>
          </a:prstGeom>
          <a:noFill/>
        </p:spPr>
        <p:txBody>
          <a:bodyPr wrap="square" lIns="0" rIns="0" tIns="0" bIns="0" anchor="t">
            <a:noAutofit/>
          </a:bodyPr>
          <a:lstStyle/>
          <a:p>
            <a:pPr algn="l"/>
            <a:r>
              <a:rPr sz="1400" i="0">
                <a:solidFill>
                  <a:srgbClr val="F4F6FA"/>
                </a:solidFill>
                <a:latin typeface="Segoe UI"/>
              </a:rPr>
              <a:t>Outside foundry: heaviest jobs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A Two-Week Pilot, Measured End to End</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10 developers, 14 days, measuring acceptance rate, latency and developer experience.</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11</a:t>
            </a:r>
          </a:p>
        </p:txBody>
      </p:sp>
      <p:sp>
        <p:nvSpPr>
          <p:cNvPr id="9" name="Rectangle 8"/>
          <p:cNvSpPr/>
          <p:nvPr/>
        </p:nvSpPr>
        <p:spPr>
          <a:xfrm>
            <a:off x="731520" y="3968496"/>
            <a:ext cx="10725912" cy="64008"/>
          </a:xfrm>
          <a:prstGeom prst="rect">
            <a:avLst/>
          </a:prstGeom>
          <a:solidFill>
            <a:srgbClr val="3E60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 name="Connector 9"/>
          <p:cNvCxnSpPr/>
          <p:nvPr/>
        </p:nvCxnSpPr>
        <p:spPr>
          <a:xfrm flipV="1">
            <a:off x="2140839" y="3616452"/>
            <a:ext cx="0" cy="384048"/>
          </a:xfrm>
          <a:prstGeom prst="line">
            <a:avLst/>
          </a:prstGeom>
          <a:ln w="19050">
            <a:solidFill>
              <a:srgbClr val="76B9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957959" y="3817620"/>
            <a:ext cx="365760" cy="365760"/>
          </a:xfrm>
          <a:prstGeom prst="ellipse">
            <a:avLst/>
          </a:prstGeom>
          <a:solidFill>
            <a:srgbClr val="76B900"/>
          </a:solidFill>
          <a:ln>
            <a:noFill/>
          </a:ln>
          <a:effectLst>
            <a:glow rad="127000">
              <a:srgbClr val="76B900">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14959" y="2244852"/>
            <a:ext cx="2651760" cy="1371600"/>
          </a:xfrm>
          <a:prstGeom prst="roundRect">
            <a:avLst>
              <a:gd name="adj" fmla="val 9333"/>
            </a:avLst>
          </a:prstGeom>
          <a:solidFill>
            <a:srgbClr val="141824"/>
          </a:solidFill>
          <a:ln w="12700">
            <a:solidFill>
              <a:srgbClr val="4F79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52119" y="2382012"/>
            <a:ext cx="365760" cy="365760"/>
          </a:xfrm>
          <a:prstGeom prst="rect">
            <a:avLst/>
          </a:prstGeom>
          <a:noFill/>
        </p:spPr>
        <p:txBody>
          <a:bodyPr wrap="none" lIns="0" rIns="0" tIns="0" bIns="0" anchor="ctr">
            <a:spAutoFit/>
          </a:bodyPr>
          <a:lstStyle/>
          <a:p>
            <a:pPr algn="ctr"/>
            <a:r>
              <a:rPr sz="1785">
                <a:solidFill>
                  <a:srgbClr val="76B900"/>
                </a:solidFill>
                <a:latin typeface="Segoe Fluent Icons"/>
              </a:rPr>
              <a:t></a:t>
            </a:r>
          </a:p>
        </p:txBody>
      </p:sp>
      <p:sp>
        <p:nvSpPr>
          <p:cNvPr id="14" name="TextBox 13"/>
          <p:cNvSpPr txBox="1"/>
          <p:nvPr/>
        </p:nvSpPr>
        <p:spPr>
          <a:xfrm>
            <a:off x="1381887" y="2354580"/>
            <a:ext cx="1965960" cy="411480"/>
          </a:xfrm>
          <a:prstGeom prst="rect">
            <a:avLst/>
          </a:prstGeom>
          <a:noFill/>
        </p:spPr>
        <p:txBody>
          <a:bodyPr wrap="square" lIns="0" rIns="0" tIns="0" bIns="0" anchor="ctr">
            <a:noAutofit/>
          </a:bodyPr>
          <a:lstStyle/>
          <a:p>
            <a:pPr algn="l"/>
            <a:r>
              <a:rPr sz="1500" i="0">
                <a:solidFill>
                  <a:srgbClr val="76B900"/>
                </a:solidFill>
                <a:latin typeface="Segoe UI Semibold"/>
              </a:rPr>
              <a:t>Start</a:t>
            </a:r>
          </a:p>
        </p:txBody>
      </p:sp>
      <p:sp>
        <p:nvSpPr>
          <p:cNvPr id="15" name="TextBox 14"/>
          <p:cNvSpPr txBox="1"/>
          <p:nvPr/>
        </p:nvSpPr>
        <p:spPr>
          <a:xfrm>
            <a:off x="952119" y="2811780"/>
            <a:ext cx="2377440" cy="731520"/>
          </a:xfrm>
          <a:prstGeom prst="rect">
            <a:avLst/>
          </a:prstGeom>
          <a:noFill/>
        </p:spPr>
        <p:txBody>
          <a:bodyPr wrap="square" lIns="0" rIns="0" tIns="0" bIns="0" anchor="t">
            <a:noAutofit/>
          </a:bodyPr>
          <a:lstStyle/>
          <a:p>
            <a:pPr algn="l"/>
            <a:r>
              <a:rPr sz="1500" i="0">
                <a:solidFill>
                  <a:srgbClr val="F4F6FA"/>
                </a:solidFill>
                <a:latin typeface="Segoe UI"/>
              </a:rPr>
              <a:t>Install stack, index docs</a:t>
            </a:r>
          </a:p>
        </p:txBody>
      </p:sp>
      <p:cxnSp>
        <p:nvCxnSpPr>
          <p:cNvPr id="16" name="Connector 15"/>
          <p:cNvCxnSpPr/>
          <p:nvPr/>
        </p:nvCxnSpPr>
        <p:spPr>
          <a:xfrm>
            <a:off x="4776597" y="4000500"/>
            <a:ext cx="0" cy="384048"/>
          </a:xfrm>
          <a:prstGeom prst="line">
            <a:avLst/>
          </a:prstGeom>
          <a:ln w="19050">
            <a:solidFill>
              <a:srgbClr val="3DA9FC"/>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4593717" y="3817620"/>
            <a:ext cx="365760" cy="365760"/>
          </a:xfrm>
          <a:prstGeom prst="ellipse">
            <a:avLst/>
          </a:prstGeom>
          <a:solidFill>
            <a:srgbClr val="3DA9FC"/>
          </a:solidFill>
          <a:ln>
            <a:noFill/>
          </a:ln>
          <a:effectLst>
            <a:glow rad="127000">
              <a:srgbClr val="3DA9FC">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3450717" y="4384548"/>
            <a:ext cx="2651760" cy="1371600"/>
          </a:xfrm>
          <a:prstGeom prst="roundRect">
            <a:avLst>
              <a:gd name="adj" fmla="val 9333"/>
            </a:avLst>
          </a:prstGeom>
          <a:solidFill>
            <a:srgbClr val="141824"/>
          </a:solidFill>
          <a:ln w="12700">
            <a:solidFill>
              <a:srgbClr val="2D6F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587877" y="4521708"/>
            <a:ext cx="365760" cy="365760"/>
          </a:xfrm>
          <a:prstGeom prst="rect">
            <a:avLst/>
          </a:prstGeom>
          <a:noFill/>
        </p:spPr>
        <p:txBody>
          <a:bodyPr wrap="none" lIns="0" rIns="0" tIns="0" bIns="0" anchor="ctr">
            <a:spAutoFit/>
          </a:bodyPr>
          <a:lstStyle/>
          <a:p>
            <a:pPr algn="ctr"/>
            <a:r>
              <a:rPr sz="1785">
                <a:solidFill>
                  <a:srgbClr val="3DA9FC"/>
                </a:solidFill>
                <a:latin typeface="Segoe Fluent Icons"/>
              </a:rPr>
              <a:t></a:t>
            </a:r>
          </a:p>
        </p:txBody>
      </p:sp>
      <p:sp>
        <p:nvSpPr>
          <p:cNvPr id="20" name="TextBox 19"/>
          <p:cNvSpPr txBox="1"/>
          <p:nvPr/>
        </p:nvSpPr>
        <p:spPr>
          <a:xfrm>
            <a:off x="4017645" y="4494276"/>
            <a:ext cx="1965960" cy="411480"/>
          </a:xfrm>
          <a:prstGeom prst="rect">
            <a:avLst/>
          </a:prstGeom>
          <a:noFill/>
        </p:spPr>
        <p:txBody>
          <a:bodyPr wrap="square" lIns="0" rIns="0" tIns="0" bIns="0" anchor="ctr">
            <a:noAutofit/>
          </a:bodyPr>
          <a:lstStyle/>
          <a:p>
            <a:pPr algn="l"/>
            <a:r>
              <a:rPr sz="1500" i="0">
                <a:solidFill>
                  <a:srgbClr val="3DA9FC"/>
                </a:solidFill>
                <a:latin typeface="Segoe UI Semibold"/>
              </a:rPr>
              <a:t>Week 1</a:t>
            </a:r>
          </a:p>
        </p:txBody>
      </p:sp>
      <p:sp>
        <p:nvSpPr>
          <p:cNvPr id="21" name="TextBox 20"/>
          <p:cNvSpPr txBox="1"/>
          <p:nvPr/>
        </p:nvSpPr>
        <p:spPr>
          <a:xfrm>
            <a:off x="3587877" y="4951476"/>
            <a:ext cx="2377440" cy="731520"/>
          </a:xfrm>
          <a:prstGeom prst="rect">
            <a:avLst/>
          </a:prstGeom>
          <a:noFill/>
        </p:spPr>
        <p:txBody>
          <a:bodyPr wrap="square" lIns="0" rIns="0" tIns="0" bIns="0" anchor="t">
            <a:noAutofit/>
          </a:bodyPr>
          <a:lstStyle/>
          <a:p>
            <a:pPr algn="l"/>
            <a:r>
              <a:rPr sz="1500" i="0">
                <a:solidFill>
                  <a:srgbClr val="F4F6FA"/>
                </a:solidFill>
                <a:latin typeface="Segoe UI"/>
              </a:rPr>
              <a:t>Code generation, daily work</a:t>
            </a:r>
          </a:p>
        </p:txBody>
      </p:sp>
      <p:cxnSp>
        <p:nvCxnSpPr>
          <p:cNvPr id="22" name="Connector 21"/>
          <p:cNvCxnSpPr/>
          <p:nvPr/>
        </p:nvCxnSpPr>
        <p:spPr>
          <a:xfrm flipV="1">
            <a:off x="7412355" y="3616452"/>
            <a:ext cx="0" cy="384048"/>
          </a:xfrm>
          <a:prstGeom prst="line">
            <a:avLst/>
          </a:prstGeom>
          <a:ln w="19050">
            <a:solidFill>
              <a:srgbClr val="9B6BFF"/>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229475" y="3817620"/>
            <a:ext cx="365760" cy="365760"/>
          </a:xfrm>
          <a:prstGeom prst="ellipse">
            <a:avLst/>
          </a:prstGeom>
          <a:solidFill>
            <a:srgbClr val="9B6BFF"/>
          </a:solidFill>
          <a:ln>
            <a:noFill/>
          </a:ln>
          <a:effectLst>
            <a:glow rad="127000">
              <a:srgbClr val="9B6BFF">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6086475" y="2244852"/>
            <a:ext cx="2651760" cy="1371600"/>
          </a:xfrm>
          <a:prstGeom prst="roundRect">
            <a:avLst>
              <a:gd name="adj" fmla="val 9333"/>
            </a:avLst>
          </a:prstGeom>
          <a:solidFill>
            <a:srgbClr val="141824"/>
          </a:solidFill>
          <a:ln w="12700">
            <a:solidFill>
              <a:srgbClr val="654AA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223635" y="2382012"/>
            <a:ext cx="365760" cy="365760"/>
          </a:xfrm>
          <a:prstGeom prst="rect">
            <a:avLst/>
          </a:prstGeom>
          <a:noFill/>
        </p:spPr>
        <p:txBody>
          <a:bodyPr wrap="none" lIns="0" rIns="0" tIns="0" bIns="0" anchor="ctr">
            <a:spAutoFit/>
          </a:bodyPr>
          <a:lstStyle/>
          <a:p>
            <a:pPr algn="ctr"/>
            <a:r>
              <a:rPr sz="1785">
                <a:solidFill>
                  <a:srgbClr val="9B6BFF"/>
                </a:solidFill>
                <a:latin typeface="Segoe Fluent Icons"/>
              </a:rPr>
              <a:t></a:t>
            </a:r>
          </a:p>
        </p:txBody>
      </p:sp>
      <p:sp>
        <p:nvSpPr>
          <p:cNvPr id="26" name="TextBox 25"/>
          <p:cNvSpPr txBox="1"/>
          <p:nvPr/>
        </p:nvSpPr>
        <p:spPr>
          <a:xfrm>
            <a:off x="6653403" y="2354580"/>
            <a:ext cx="1965960" cy="411480"/>
          </a:xfrm>
          <a:prstGeom prst="rect">
            <a:avLst/>
          </a:prstGeom>
          <a:noFill/>
        </p:spPr>
        <p:txBody>
          <a:bodyPr wrap="square" lIns="0" rIns="0" tIns="0" bIns="0" anchor="ctr">
            <a:noAutofit/>
          </a:bodyPr>
          <a:lstStyle/>
          <a:p>
            <a:pPr algn="l"/>
            <a:r>
              <a:rPr sz="1500" i="0">
                <a:solidFill>
                  <a:srgbClr val="9B6BFF"/>
                </a:solidFill>
                <a:latin typeface="Segoe UI Semibold"/>
              </a:rPr>
              <a:t>Week 2</a:t>
            </a:r>
          </a:p>
        </p:txBody>
      </p:sp>
      <p:sp>
        <p:nvSpPr>
          <p:cNvPr id="27" name="TextBox 26"/>
          <p:cNvSpPr txBox="1"/>
          <p:nvPr/>
        </p:nvSpPr>
        <p:spPr>
          <a:xfrm>
            <a:off x="6223635" y="2811780"/>
            <a:ext cx="2377440" cy="731520"/>
          </a:xfrm>
          <a:prstGeom prst="rect">
            <a:avLst/>
          </a:prstGeom>
          <a:noFill/>
        </p:spPr>
        <p:txBody>
          <a:bodyPr wrap="square" lIns="0" rIns="0" tIns="0" bIns="0" anchor="t">
            <a:noAutofit/>
          </a:bodyPr>
          <a:lstStyle/>
          <a:p>
            <a:pPr algn="l"/>
            <a:r>
              <a:rPr sz="1500" i="0">
                <a:solidFill>
                  <a:srgbClr val="F4F6FA"/>
                </a:solidFill>
                <a:latin typeface="Segoe UI"/>
              </a:rPr>
              <a:t>Add doc RAG, routing</a:t>
            </a:r>
          </a:p>
        </p:txBody>
      </p:sp>
      <p:cxnSp>
        <p:nvCxnSpPr>
          <p:cNvPr id="28" name="Connector 27"/>
          <p:cNvCxnSpPr/>
          <p:nvPr/>
        </p:nvCxnSpPr>
        <p:spPr>
          <a:xfrm>
            <a:off x="10048113" y="4000500"/>
            <a:ext cx="0" cy="384048"/>
          </a:xfrm>
          <a:prstGeom prst="line">
            <a:avLst/>
          </a:prstGeom>
          <a:ln w="19050">
            <a:solidFill>
              <a:srgbClr val="FFB547"/>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9865233" y="3817620"/>
            <a:ext cx="365760" cy="365760"/>
          </a:xfrm>
          <a:prstGeom prst="ellipse">
            <a:avLst/>
          </a:prstGeom>
          <a:solidFill>
            <a:srgbClr val="FFB547"/>
          </a:solidFill>
          <a:ln>
            <a:noFill/>
          </a:ln>
          <a:effectLst>
            <a:glow rad="127000">
              <a:srgbClr val="FFB547">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8722233" y="4384548"/>
            <a:ext cx="2651760" cy="1371600"/>
          </a:xfrm>
          <a:prstGeom prst="roundRect">
            <a:avLst>
              <a:gd name="adj" fmla="val 9333"/>
            </a:avLst>
          </a:prstGeom>
          <a:solidFill>
            <a:srgbClr val="141824"/>
          </a:solidFill>
          <a:ln w="12700">
            <a:solidFill>
              <a:srgbClr val="A1763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859393" y="4521708"/>
            <a:ext cx="365760" cy="365760"/>
          </a:xfrm>
          <a:prstGeom prst="rect">
            <a:avLst/>
          </a:prstGeom>
          <a:noFill/>
        </p:spPr>
        <p:txBody>
          <a:bodyPr wrap="none" lIns="0" rIns="0" tIns="0" bIns="0" anchor="ctr">
            <a:spAutoFit/>
          </a:bodyPr>
          <a:lstStyle/>
          <a:p>
            <a:pPr algn="ctr"/>
            <a:r>
              <a:rPr sz="1785">
                <a:solidFill>
                  <a:srgbClr val="FFB547"/>
                </a:solidFill>
                <a:latin typeface="Segoe Fluent Icons"/>
              </a:rPr>
              <a:t></a:t>
            </a:r>
          </a:p>
        </p:txBody>
      </p:sp>
      <p:sp>
        <p:nvSpPr>
          <p:cNvPr id="32" name="TextBox 31"/>
          <p:cNvSpPr txBox="1"/>
          <p:nvPr/>
        </p:nvSpPr>
        <p:spPr>
          <a:xfrm>
            <a:off x="9289161" y="4494276"/>
            <a:ext cx="1965960" cy="411480"/>
          </a:xfrm>
          <a:prstGeom prst="rect">
            <a:avLst/>
          </a:prstGeom>
          <a:noFill/>
        </p:spPr>
        <p:txBody>
          <a:bodyPr wrap="square" lIns="0" rIns="0" tIns="0" bIns="0" anchor="ctr">
            <a:noAutofit/>
          </a:bodyPr>
          <a:lstStyle/>
          <a:p>
            <a:pPr algn="l"/>
            <a:r>
              <a:rPr sz="1500" i="0">
                <a:solidFill>
                  <a:srgbClr val="FFB547"/>
                </a:solidFill>
                <a:latin typeface="Segoe UI Semibold"/>
              </a:rPr>
              <a:t>Day 14</a:t>
            </a:r>
          </a:p>
        </p:txBody>
      </p:sp>
      <p:sp>
        <p:nvSpPr>
          <p:cNvPr id="33" name="TextBox 32"/>
          <p:cNvSpPr txBox="1"/>
          <p:nvPr/>
        </p:nvSpPr>
        <p:spPr>
          <a:xfrm>
            <a:off x="8859393" y="4951476"/>
            <a:ext cx="2377440" cy="731520"/>
          </a:xfrm>
          <a:prstGeom prst="rect">
            <a:avLst/>
          </a:prstGeom>
          <a:noFill/>
        </p:spPr>
        <p:txBody>
          <a:bodyPr wrap="square" lIns="0" rIns="0" tIns="0" bIns="0" anchor="t">
            <a:noAutofit/>
          </a:bodyPr>
          <a:lstStyle/>
          <a:p>
            <a:pPr algn="l"/>
            <a:r>
              <a:rPr sz="1500" i="0">
                <a:solidFill>
                  <a:srgbClr val="F4F6FA"/>
                </a:solidFill>
                <a:latin typeface="Segoe UI"/>
              </a:rPr>
              <a:t>Readout and decision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Approve the 10-Developer Pilot</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Two weeks, ten developers, real Zava work: let the measurements decide.</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12</a:t>
            </a:r>
          </a:p>
        </p:txBody>
      </p:sp>
      <p:sp>
        <p:nvSpPr>
          <p:cNvPr id="9" name="Rounded Rectangle 8"/>
          <p:cNvSpPr/>
          <p:nvPr/>
        </p:nvSpPr>
        <p:spPr>
          <a:xfrm>
            <a:off x="548640" y="1828800"/>
            <a:ext cx="2567178" cy="2926080"/>
          </a:xfrm>
          <a:prstGeom prst="roundRect">
            <a:avLst>
              <a:gd name="adj" fmla="val 4986"/>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22960" y="2103120"/>
            <a:ext cx="640080" cy="640080"/>
          </a:xfrm>
          <a:prstGeom prst="ellipse">
            <a:avLst/>
          </a:prstGeom>
          <a:solidFill>
            <a:srgbClr val="76B900"/>
          </a:solidFill>
          <a:ln>
            <a:noFill/>
          </a:ln>
          <a:effectLst>
            <a:glow rad="1016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60" y="2103120"/>
            <a:ext cx="640080" cy="640080"/>
          </a:xfrm>
          <a:prstGeom prst="rect">
            <a:avLst/>
          </a:prstGeom>
          <a:noFill/>
        </p:spPr>
        <p:txBody>
          <a:bodyPr wrap="square" lIns="0" rIns="0" tIns="0" bIns="0" anchor="ctr">
            <a:noAutofit/>
          </a:bodyPr>
          <a:lstStyle/>
          <a:p>
            <a:pPr algn="ctr"/>
            <a:r>
              <a:rPr sz="2200" i="0">
                <a:solidFill>
                  <a:srgbClr val="07080C"/>
                </a:solidFill>
                <a:latin typeface="Segoe UI Semibold"/>
              </a:rPr>
              <a:t>1</a:t>
            </a:r>
          </a:p>
        </p:txBody>
      </p:sp>
      <p:sp>
        <p:nvSpPr>
          <p:cNvPr id="12" name="TextBox 11"/>
          <p:cNvSpPr txBox="1"/>
          <p:nvPr/>
        </p:nvSpPr>
        <p:spPr>
          <a:xfrm>
            <a:off x="2384298" y="2176272"/>
            <a:ext cx="475488" cy="475488"/>
          </a:xfrm>
          <a:prstGeom prst="rect">
            <a:avLst/>
          </a:prstGeom>
          <a:noFill/>
        </p:spPr>
        <p:txBody>
          <a:bodyPr wrap="none" lIns="0" rIns="0" tIns="0" bIns="0" anchor="ctr">
            <a:spAutoFit/>
          </a:bodyPr>
          <a:lstStyle/>
          <a:p>
            <a:pPr algn="ctr"/>
            <a:r>
              <a:rPr sz="2321">
                <a:solidFill>
                  <a:srgbClr val="76B900"/>
                </a:solidFill>
                <a:latin typeface="Segoe Fluent Icons"/>
              </a:rPr>
              <a:t></a:t>
            </a:r>
          </a:p>
        </p:txBody>
      </p:sp>
      <p:sp>
        <p:nvSpPr>
          <p:cNvPr id="13" name="TextBox 12"/>
          <p:cNvSpPr txBox="1"/>
          <p:nvPr/>
        </p:nvSpPr>
        <p:spPr>
          <a:xfrm>
            <a:off x="822960" y="2880360"/>
            <a:ext cx="2018538" cy="777240"/>
          </a:xfrm>
          <a:prstGeom prst="rect">
            <a:avLst/>
          </a:prstGeom>
          <a:noFill/>
        </p:spPr>
        <p:txBody>
          <a:bodyPr wrap="square" lIns="0" rIns="0" tIns="0" bIns="0" anchor="t">
            <a:noAutofit/>
          </a:bodyPr>
          <a:lstStyle/>
          <a:p>
            <a:pPr algn="l"/>
            <a:r>
              <a:rPr sz="2000" i="0">
                <a:solidFill>
                  <a:srgbClr val="F4F6FA"/>
                </a:solidFill>
                <a:latin typeface="Segoe UI Semibold"/>
              </a:rPr>
              <a:t>Nominate 10 developers</a:t>
            </a:r>
          </a:p>
        </p:txBody>
      </p:sp>
      <p:sp>
        <p:nvSpPr>
          <p:cNvPr id="14" name="TextBox 13"/>
          <p:cNvSpPr txBox="1"/>
          <p:nvPr/>
        </p:nvSpPr>
        <p:spPr>
          <a:xfrm>
            <a:off x="822960" y="3657600"/>
            <a:ext cx="2018538" cy="960120"/>
          </a:xfrm>
          <a:prstGeom prst="rect">
            <a:avLst/>
          </a:prstGeom>
          <a:noFill/>
        </p:spPr>
        <p:txBody>
          <a:bodyPr wrap="square" lIns="0" rIns="0" tIns="0" bIns="0" anchor="t">
            <a:noAutofit/>
          </a:bodyPr>
          <a:lstStyle/>
          <a:p>
            <a:pPr algn="l"/>
            <a:r>
              <a:rPr sz="1500" i="0">
                <a:solidFill>
                  <a:srgbClr val="AEB6C8"/>
                </a:solidFill>
                <a:latin typeface="Segoe UI"/>
              </a:rPr>
              <a:t>Across platform and CAD/PLM teams</a:t>
            </a:r>
          </a:p>
        </p:txBody>
      </p:sp>
      <p:sp>
        <p:nvSpPr>
          <p:cNvPr id="15" name="Rounded Rectangle 14"/>
          <p:cNvSpPr/>
          <p:nvPr/>
        </p:nvSpPr>
        <p:spPr>
          <a:xfrm>
            <a:off x="3390138" y="1828800"/>
            <a:ext cx="2567178" cy="2926080"/>
          </a:xfrm>
          <a:prstGeom prst="roundRect">
            <a:avLst>
              <a:gd name="adj" fmla="val 4986"/>
            </a:avLst>
          </a:prstGeom>
          <a:solidFill>
            <a:srgbClr val="141824"/>
          </a:solidFill>
          <a:ln w="12700">
            <a:solidFill>
              <a:srgbClr val="2860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3664458" y="2103120"/>
            <a:ext cx="640080" cy="640080"/>
          </a:xfrm>
          <a:prstGeom prst="ellipse">
            <a:avLst/>
          </a:prstGeom>
          <a:solidFill>
            <a:srgbClr val="3DA9FC"/>
          </a:solidFill>
          <a:ln>
            <a:noFill/>
          </a:ln>
          <a:effectLst>
            <a:glow rad="101600">
              <a:srgbClr val="3DA9FC">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664458" y="2103120"/>
            <a:ext cx="640080" cy="640080"/>
          </a:xfrm>
          <a:prstGeom prst="rect">
            <a:avLst/>
          </a:prstGeom>
          <a:noFill/>
        </p:spPr>
        <p:txBody>
          <a:bodyPr wrap="square" lIns="0" rIns="0" tIns="0" bIns="0" anchor="ctr">
            <a:noAutofit/>
          </a:bodyPr>
          <a:lstStyle/>
          <a:p>
            <a:pPr algn="ctr"/>
            <a:r>
              <a:rPr sz="2200" i="0">
                <a:solidFill>
                  <a:srgbClr val="07080C"/>
                </a:solidFill>
                <a:latin typeface="Segoe UI Semibold"/>
              </a:rPr>
              <a:t>2</a:t>
            </a:r>
          </a:p>
        </p:txBody>
      </p:sp>
      <p:sp>
        <p:nvSpPr>
          <p:cNvPr id="18" name="TextBox 17"/>
          <p:cNvSpPr txBox="1"/>
          <p:nvPr/>
        </p:nvSpPr>
        <p:spPr>
          <a:xfrm>
            <a:off x="5225796" y="2176272"/>
            <a:ext cx="475488" cy="475488"/>
          </a:xfrm>
          <a:prstGeom prst="rect">
            <a:avLst/>
          </a:prstGeom>
          <a:noFill/>
        </p:spPr>
        <p:txBody>
          <a:bodyPr wrap="none" lIns="0" rIns="0" tIns="0" bIns="0" anchor="ctr">
            <a:spAutoFit/>
          </a:bodyPr>
          <a:lstStyle/>
          <a:p>
            <a:pPr algn="ctr"/>
            <a:r>
              <a:rPr sz="2321">
                <a:solidFill>
                  <a:srgbClr val="3DA9FC"/>
                </a:solidFill>
                <a:latin typeface="Segoe Fluent Icons"/>
              </a:rPr>
              <a:t></a:t>
            </a:r>
          </a:p>
        </p:txBody>
      </p:sp>
      <p:sp>
        <p:nvSpPr>
          <p:cNvPr id="19" name="TextBox 18"/>
          <p:cNvSpPr txBox="1"/>
          <p:nvPr/>
        </p:nvSpPr>
        <p:spPr>
          <a:xfrm>
            <a:off x="3664458" y="2880360"/>
            <a:ext cx="2018538" cy="777240"/>
          </a:xfrm>
          <a:prstGeom prst="rect">
            <a:avLst/>
          </a:prstGeom>
          <a:noFill/>
        </p:spPr>
        <p:txBody>
          <a:bodyPr wrap="square" lIns="0" rIns="0" tIns="0" bIns="0" anchor="t">
            <a:noAutofit/>
          </a:bodyPr>
          <a:lstStyle/>
          <a:p>
            <a:pPr algn="l"/>
            <a:r>
              <a:rPr sz="2000" i="0">
                <a:solidFill>
                  <a:srgbClr val="F4F6FA"/>
                </a:solidFill>
                <a:latin typeface="Segoe UI Semibold"/>
              </a:rPr>
              <a:t>Scope docs and repos</a:t>
            </a:r>
          </a:p>
        </p:txBody>
      </p:sp>
      <p:sp>
        <p:nvSpPr>
          <p:cNvPr id="20" name="TextBox 19"/>
          <p:cNvSpPr txBox="1"/>
          <p:nvPr/>
        </p:nvSpPr>
        <p:spPr>
          <a:xfrm>
            <a:off x="3664458" y="3657600"/>
            <a:ext cx="2018538" cy="960120"/>
          </a:xfrm>
          <a:prstGeom prst="rect">
            <a:avLst/>
          </a:prstGeom>
          <a:noFill/>
        </p:spPr>
        <p:txBody>
          <a:bodyPr wrap="square" lIns="0" rIns="0" tIns="0" bIns="0" anchor="t">
            <a:noAutofit/>
          </a:bodyPr>
          <a:lstStyle/>
          <a:p>
            <a:pPr algn="l"/>
            <a:r>
              <a:rPr sz="1500" i="0">
                <a:solidFill>
                  <a:srgbClr val="AEB6C8"/>
                </a:solidFill>
                <a:latin typeface="Segoe UI"/>
              </a:rPr>
              <a:t>Pick internal docs and code for local RAG</a:t>
            </a:r>
          </a:p>
        </p:txBody>
      </p:sp>
      <p:sp>
        <p:nvSpPr>
          <p:cNvPr id="21" name="Rounded Rectangle 20"/>
          <p:cNvSpPr/>
          <p:nvPr/>
        </p:nvSpPr>
        <p:spPr>
          <a:xfrm>
            <a:off x="6231636" y="1828800"/>
            <a:ext cx="2567178" cy="2926080"/>
          </a:xfrm>
          <a:prstGeom prst="roundRect">
            <a:avLst>
              <a:gd name="adj" fmla="val 4986"/>
            </a:avLst>
          </a:prstGeom>
          <a:solidFill>
            <a:srgbClr val="141824"/>
          </a:solidFill>
          <a:ln w="12700">
            <a:solidFill>
              <a:srgbClr val="58429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505956" y="2103120"/>
            <a:ext cx="640080" cy="640080"/>
          </a:xfrm>
          <a:prstGeom prst="ellipse">
            <a:avLst/>
          </a:prstGeom>
          <a:solidFill>
            <a:srgbClr val="9B6BFF"/>
          </a:solidFill>
          <a:ln>
            <a:noFill/>
          </a:ln>
          <a:effectLst>
            <a:glow rad="101600">
              <a:srgbClr val="9B6BFF">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505956" y="2103120"/>
            <a:ext cx="640080" cy="640080"/>
          </a:xfrm>
          <a:prstGeom prst="rect">
            <a:avLst/>
          </a:prstGeom>
          <a:noFill/>
        </p:spPr>
        <p:txBody>
          <a:bodyPr wrap="square" lIns="0" rIns="0" tIns="0" bIns="0" anchor="ctr">
            <a:noAutofit/>
          </a:bodyPr>
          <a:lstStyle/>
          <a:p>
            <a:pPr algn="ctr"/>
            <a:r>
              <a:rPr sz="2200" i="0">
                <a:solidFill>
                  <a:srgbClr val="07080C"/>
                </a:solidFill>
                <a:latin typeface="Segoe UI Semibold"/>
              </a:rPr>
              <a:t>3</a:t>
            </a:r>
          </a:p>
        </p:txBody>
      </p:sp>
      <p:sp>
        <p:nvSpPr>
          <p:cNvPr id="24" name="TextBox 23"/>
          <p:cNvSpPr txBox="1"/>
          <p:nvPr/>
        </p:nvSpPr>
        <p:spPr>
          <a:xfrm>
            <a:off x="8067294" y="2176272"/>
            <a:ext cx="475488" cy="475488"/>
          </a:xfrm>
          <a:prstGeom prst="rect">
            <a:avLst/>
          </a:prstGeom>
          <a:noFill/>
        </p:spPr>
        <p:txBody>
          <a:bodyPr wrap="none" lIns="0" rIns="0" tIns="0" bIns="0" anchor="ctr">
            <a:spAutoFit/>
          </a:bodyPr>
          <a:lstStyle/>
          <a:p>
            <a:pPr algn="ctr"/>
            <a:r>
              <a:rPr sz="2321">
                <a:solidFill>
                  <a:srgbClr val="9B6BFF"/>
                </a:solidFill>
                <a:latin typeface="Segoe Fluent Icons"/>
              </a:rPr>
              <a:t></a:t>
            </a:r>
          </a:p>
        </p:txBody>
      </p:sp>
      <p:sp>
        <p:nvSpPr>
          <p:cNvPr id="25" name="TextBox 24"/>
          <p:cNvSpPr txBox="1"/>
          <p:nvPr/>
        </p:nvSpPr>
        <p:spPr>
          <a:xfrm>
            <a:off x="6505956" y="2880360"/>
            <a:ext cx="2018538" cy="777240"/>
          </a:xfrm>
          <a:prstGeom prst="rect">
            <a:avLst/>
          </a:prstGeom>
          <a:noFill/>
        </p:spPr>
        <p:txBody>
          <a:bodyPr wrap="square" lIns="0" rIns="0" tIns="0" bIns="0" anchor="t">
            <a:noAutofit/>
          </a:bodyPr>
          <a:lstStyle/>
          <a:p>
            <a:pPr algn="l"/>
            <a:r>
              <a:rPr sz="2000" i="0">
                <a:solidFill>
                  <a:srgbClr val="F4F6FA"/>
                </a:solidFill>
                <a:latin typeface="Segoe UI Semibold"/>
              </a:rPr>
              <a:t>Run 14 days</a:t>
            </a:r>
          </a:p>
        </p:txBody>
      </p:sp>
      <p:sp>
        <p:nvSpPr>
          <p:cNvPr id="26" name="TextBox 25"/>
          <p:cNvSpPr txBox="1"/>
          <p:nvPr/>
        </p:nvSpPr>
        <p:spPr>
          <a:xfrm>
            <a:off x="6505956" y="3657600"/>
            <a:ext cx="2018538" cy="960120"/>
          </a:xfrm>
          <a:prstGeom prst="rect">
            <a:avLst/>
          </a:prstGeom>
          <a:noFill/>
        </p:spPr>
        <p:txBody>
          <a:bodyPr wrap="square" lIns="0" rIns="0" tIns="0" bIns="0" anchor="t">
            <a:noAutofit/>
          </a:bodyPr>
          <a:lstStyle/>
          <a:p>
            <a:pPr algn="l"/>
            <a:r>
              <a:rPr sz="1500" i="0">
                <a:solidFill>
                  <a:srgbClr val="AEB6C8"/>
                </a:solidFill>
                <a:latin typeface="Segoe UI"/>
              </a:rPr>
              <a:t>Code generation, doc RAG, hybrid routing in daily work</a:t>
            </a:r>
          </a:p>
        </p:txBody>
      </p:sp>
      <p:sp>
        <p:nvSpPr>
          <p:cNvPr id="27" name="Rounded Rectangle 26"/>
          <p:cNvSpPr/>
          <p:nvPr/>
        </p:nvSpPr>
        <p:spPr>
          <a:xfrm>
            <a:off x="9073134" y="1828800"/>
            <a:ext cx="2567178" cy="2926080"/>
          </a:xfrm>
          <a:prstGeom prst="roundRect">
            <a:avLst>
              <a:gd name="adj" fmla="val 4986"/>
            </a:avLst>
          </a:prstGeom>
          <a:solidFill>
            <a:srgbClr val="141824"/>
          </a:solidFill>
          <a:ln w="12700">
            <a:solidFill>
              <a:srgbClr val="8A663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347454" y="2103120"/>
            <a:ext cx="640080" cy="640080"/>
          </a:xfrm>
          <a:prstGeom prst="ellipse">
            <a:avLst/>
          </a:prstGeom>
          <a:solidFill>
            <a:srgbClr val="FFB547"/>
          </a:solidFill>
          <a:ln>
            <a:noFill/>
          </a:ln>
          <a:effectLst>
            <a:glow rad="101600">
              <a:srgbClr val="FFB547">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347454" y="2103120"/>
            <a:ext cx="640080" cy="640080"/>
          </a:xfrm>
          <a:prstGeom prst="rect">
            <a:avLst/>
          </a:prstGeom>
          <a:noFill/>
        </p:spPr>
        <p:txBody>
          <a:bodyPr wrap="square" lIns="0" rIns="0" tIns="0" bIns="0" anchor="ctr">
            <a:noAutofit/>
          </a:bodyPr>
          <a:lstStyle/>
          <a:p>
            <a:pPr algn="ctr"/>
            <a:r>
              <a:rPr sz="2200" i="0">
                <a:solidFill>
                  <a:srgbClr val="07080C"/>
                </a:solidFill>
                <a:latin typeface="Segoe UI Semibold"/>
              </a:rPr>
              <a:t>4</a:t>
            </a:r>
          </a:p>
        </p:txBody>
      </p:sp>
      <p:sp>
        <p:nvSpPr>
          <p:cNvPr id="30" name="TextBox 29"/>
          <p:cNvSpPr txBox="1"/>
          <p:nvPr/>
        </p:nvSpPr>
        <p:spPr>
          <a:xfrm>
            <a:off x="10908792" y="2176272"/>
            <a:ext cx="475488" cy="475488"/>
          </a:xfrm>
          <a:prstGeom prst="rect">
            <a:avLst/>
          </a:prstGeom>
          <a:noFill/>
        </p:spPr>
        <p:txBody>
          <a:bodyPr wrap="none" lIns="0" rIns="0" tIns="0" bIns="0" anchor="ctr">
            <a:spAutoFit/>
          </a:bodyPr>
          <a:lstStyle/>
          <a:p>
            <a:pPr algn="ctr"/>
            <a:r>
              <a:rPr sz="2321">
                <a:solidFill>
                  <a:srgbClr val="FFB547"/>
                </a:solidFill>
                <a:latin typeface="Segoe Fluent Icons"/>
              </a:rPr>
              <a:t></a:t>
            </a:r>
          </a:p>
        </p:txBody>
      </p:sp>
      <p:sp>
        <p:nvSpPr>
          <p:cNvPr id="31" name="TextBox 30"/>
          <p:cNvSpPr txBox="1"/>
          <p:nvPr/>
        </p:nvSpPr>
        <p:spPr>
          <a:xfrm>
            <a:off x="9347454" y="2880360"/>
            <a:ext cx="2018538" cy="777240"/>
          </a:xfrm>
          <a:prstGeom prst="rect">
            <a:avLst/>
          </a:prstGeom>
          <a:noFill/>
        </p:spPr>
        <p:txBody>
          <a:bodyPr wrap="square" lIns="0" rIns="0" tIns="0" bIns="0" anchor="t">
            <a:noAutofit/>
          </a:bodyPr>
          <a:lstStyle/>
          <a:p>
            <a:pPr algn="l"/>
            <a:r>
              <a:rPr sz="2000" i="0">
                <a:solidFill>
                  <a:srgbClr val="F4F6FA"/>
                </a:solidFill>
                <a:latin typeface="Segoe UI Semibold"/>
              </a:rPr>
              <a:t>Decide on data</a:t>
            </a:r>
          </a:p>
        </p:txBody>
      </p:sp>
      <p:sp>
        <p:nvSpPr>
          <p:cNvPr id="32" name="TextBox 31"/>
          <p:cNvSpPr txBox="1"/>
          <p:nvPr/>
        </p:nvSpPr>
        <p:spPr>
          <a:xfrm>
            <a:off x="9347454" y="3657600"/>
            <a:ext cx="2018538" cy="960120"/>
          </a:xfrm>
          <a:prstGeom prst="rect">
            <a:avLst/>
          </a:prstGeom>
          <a:noFill/>
        </p:spPr>
        <p:txBody>
          <a:bodyPr wrap="square" lIns="0" rIns="0" tIns="0" bIns="0" anchor="t">
            <a:noAutofit/>
          </a:bodyPr>
          <a:lstStyle/>
          <a:p>
            <a:pPr algn="l"/>
            <a:r>
              <a:rPr sz="1500" i="0">
                <a:solidFill>
                  <a:srgbClr val="AEB6C8"/>
                </a:solidFill>
                <a:latin typeface="Segoe UI"/>
              </a:rPr>
              <a:t>Acceptance rate, latency, developer experience readout</a:t>
            </a:r>
          </a:p>
        </p:txBody>
      </p:sp>
      <p:sp>
        <p:nvSpPr>
          <p:cNvPr id="33" name="Rounded Rectangle 32"/>
          <p:cNvSpPr/>
          <p:nvPr/>
        </p:nvSpPr>
        <p:spPr>
          <a:xfrm>
            <a:off x="548640" y="5029200"/>
            <a:ext cx="11091672" cy="1143000"/>
          </a:xfrm>
          <a:prstGeom prst="roundRect">
            <a:avLst>
              <a:gd name="adj" fmla="val 11200"/>
            </a:avLst>
          </a:prstGeom>
          <a:gradFill rotWithShape="1">
            <a:gsLst>
              <a:gs pos="0">
                <a:srgbClr val="76B900"/>
              </a:gs>
              <a:gs pos="100000">
                <a:srgbClr val="54AF97"/>
              </a:gs>
            </a:gsLst>
            <a:lin scaled="0" ang="0"/>
          </a:gradFill>
          <a:ln>
            <a:noFill/>
          </a:ln>
          <a:effectLst>
            <a:glow rad="1778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14400" y="5349240"/>
            <a:ext cx="502920" cy="502920"/>
          </a:xfrm>
          <a:prstGeom prst="rect">
            <a:avLst/>
          </a:prstGeom>
          <a:noFill/>
        </p:spPr>
        <p:txBody>
          <a:bodyPr wrap="none" lIns="0" rIns="0" tIns="0" bIns="0" anchor="ctr">
            <a:spAutoFit/>
          </a:bodyPr>
          <a:lstStyle/>
          <a:p>
            <a:pPr algn="ctr"/>
            <a:r>
              <a:rPr sz="2455">
                <a:solidFill>
                  <a:srgbClr val="07080C"/>
                </a:solidFill>
                <a:latin typeface="Segoe Fluent Icons"/>
              </a:rPr>
              <a:t></a:t>
            </a:r>
          </a:p>
        </p:txBody>
      </p:sp>
      <p:sp>
        <p:nvSpPr>
          <p:cNvPr id="35" name="TextBox 34"/>
          <p:cNvSpPr txBox="1"/>
          <p:nvPr/>
        </p:nvSpPr>
        <p:spPr>
          <a:xfrm>
            <a:off x="1645920" y="5138928"/>
            <a:ext cx="9720072" cy="914400"/>
          </a:xfrm>
          <a:prstGeom prst="rect">
            <a:avLst/>
          </a:prstGeom>
          <a:noFill/>
        </p:spPr>
        <p:txBody>
          <a:bodyPr wrap="square" lIns="0" rIns="0" tIns="0" bIns="0" anchor="ctr">
            <a:noAutofit/>
          </a:bodyPr>
          <a:lstStyle/>
          <a:p>
            <a:pPr algn="l"/>
            <a:r>
              <a:rPr sz="2400" i="0">
                <a:solidFill>
                  <a:srgbClr val="07080C"/>
                </a:solidFill>
                <a:latin typeface="Segoe UI Semibold"/>
              </a:rPr>
              <a:t>Approve a 10-developer, 2-week pilot on Surface Laptop Ultra.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Local AI Developer Stack, Measured</dc:title>
  <dc:subject/>
  <dc:creator>Offline PPTX Forge</dc:creator>
  <cp:keywords/>
  <dc:description>Generated offline; template=surface_ultra</dc:description>
  <cp:lastModifiedBy>Steve Canny</cp:lastModifiedBy>
  <cp:revision>1</cp:revision>
  <dcterms:created xsi:type="dcterms:W3CDTF">2013-01-27T09:14:16Z</dcterms:created>
  <dcterms:modified xsi:type="dcterms:W3CDTF">2013-01-27T09:15:58Z</dcterms:modified>
  <cp:category/>
</cp:coreProperties>
</file>