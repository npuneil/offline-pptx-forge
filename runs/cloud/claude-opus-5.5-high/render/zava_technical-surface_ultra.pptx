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4B5162"/>
            </a:solidFill>
          </c:spPr>
          <c:dPt>
            <c:idx val="0"/>
            <c:spPr>
              <a:solidFill>
                <a:srgbClr val="76B900"/>
              </a:solidFill>
            </c:spPr>
          </c:dPt>
          <c:cat>
            <c:strRef>
              <c:f>Sheet1!$A$2:$A$4</c:f>
              <c:strCache>
                <c:ptCount val="3"/>
                <c:pt idx="0">
                  <c:v>Qwen3-Coder 30B</c:v>
                </c:pt>
                <c:pt idx="1">
                  <c:v>Gemma 4 26B</c:v>
                </c:pt>
                <c:pt idx="2">
                  <c:v>Qwen3.6 27B dense</c:v>
                </c:pt>
              </c:strCache>
            </c:strRef>
          </c:cat>
          <c:val>
            <c:numRef>
              <c:f>Sheet1!$B$2:$B$4</c:f>
              <c:numCache>
                <c:formatCode>General</c:formatCode>
                <c:ptCount val="3"/>
                <c:pt idx="0">
                  <c:v>86.0</c:v>
                </c:pt>
                <c:pt idx="1">
                  <c:v>72.0</c:v>
                </c:pt>
                <c:pt idx="2">
                  <c:v>13.0</c:v>
                </c:pt>
              </c:numCache>
            </c:numRef>
          </c:val>
        </c:ser>
        <c:dLbls>
          <c:numFmt formatCode="#,##0&quot; tokens/s&quot;" sourceLinked="0"/>
          <c:txPr>
            <a:bodyPr/>
            <a:lstStyle/>
            <a:p>
              <a:pPr>
                <a:defRPr sz="1500" b="1">
                  <a:solidFill>
                    <a:srgbClr val="F4F6F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F4F6FA"/>
                </a:solidFill>
              </a:defRPr>
            </a:pPr>
          </a:p>
        </c:txPr>
        <c:crossAx val="-2113994440"/>
        <c:crosses val="autoZero"/>
        <c:auto val="1"/>
        <c:lblAlgn val="ctr"/>
        <c:lblOffset val="100"/>
        <c:noMultiLvlLbl val="0"/>
      </c:catAx>
      <c:valAx>
        <c:axId val="-2113994440"/>
        <c:scaling>
          <c:max val="111.8"/>
          <c:min val="0.0"/>
        </c:scaling>
        <c:delete/>
        <c:axPos val="b"/>
        <c:majorTickMark val="out"/>
        <c:minorTickMark val="none"/>
        <c:tickLblPos val="nextTo"/>
        <c:crossAx val="-2068027336"/>
        <c:crosses val="autoZero"/>
      </c:valAx>
    </c:plotArea>
    <c:dispBlanksAs val="gap"/>
  </c:chart>
  <c:txPr>
    <a:bodyPr/>
    <a:lstStyle/>
    <a:p>
      <a:pPr>
        <a:defRPr sz="1500">
          <a:solidFill>
            <a:srgbClr val="F4F6F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walk through a local AI developer stack running on one Surface Laptop Ultra: code generation, retrieval over internal docs, and hybrid routing to cloud. Every number comes from measurements on this device. Our ask at the end is a 10-developer, 2-week technical pilot.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of the stack is what developers touch: code generation and retrieval over internal docs. Underneath sit two runtimes, llama.cpp build 11573 native ARM64 with CUDA and Foundry Local with the CUDA execution provider. They draw on 28 installed open models, 315 GiB on disk, running on the RTX Spark N1X with 20 CPU cores.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Architects always ask about memory, so here are the honest numbers. 128 GB is installed. Windows reports about 64 GB visible. nvidia-smi reports a 64,000 MiB GPU memory budget. These are distinct views of memory, not separate pools to sum. We plan model fit against the GPU budget.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runtimes share one local catalog. llama.cpp runs as a native ARM64 build with CUDA; Foundry Local uses the CUDA execution provider. Twenty-eight open models are installed, 315 GiB on disk, so teams can choose the right model per task instead of standardizing on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Single-stream decode on this device: Qwen3-Coder 30B about 86 tokens per second with 0.13 seconds to first token, Gemma 4 26B about 72, dense Qwen3.6 27B about 13. Measured with Local-AI-Bench in October 2026 on a shared machine, so treat these as observations, not guaranteed specs or device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Concurrency matters for team use. Qwen3-Coder 30B reached about 140 tokens per second aggregate across 4 streams; Gemma 4 26B about 245 across 8 streams. Time to first token for Qwen3-Coder was 0.13 seconds. Shared-machine measurements; the pilot will validate real developer workloads.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machine shop. A dense model makes every worker touch every part. A mixture-of-experts model has a big roster, but the foreman calls in only the specialists each job needs. Qwen3-Coder 30B activates about 3B parameters per token, which is why it decodes several times faster than dense Qwen3.6 27B. Speed, not accuracy.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plan in four bands: S is 1 to 4B parameters, M 7 to 8B, L 14 to 20B, XL 24 to 32B. Bands are planning estimates for memory and speed, not accuracy tiers. A larger parameter count does not mean better answers; the pilot measures acceptance rate to judge quality.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Requests from the IDE hit a hybrid router. Sensitive, frequent work, code and internal engineering docs, stays on the local lane: llama.cpp or Foundry Local serving Qwen3-Coder 30B, with a local retrieval index supplying context. Only the heaviest reasoning routes to cloud models. This is a routing policy, not an air-gapped claim.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Zava already makes this decision on the factory floor. Proprietary parts are machined in-house; oversized runs go to a contract factory. Hybrid routing applies the same make-or-buy logic: CAD, PLM and source-code tasks stay on the local lane, while the heaviest reasoning can go to cloud models. Engineering sets the policy.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proof point: this deck spec was generated on this Surface Laptop Ultra by Qwen3-Coder 30B through llama.cpp, with no cloud calls. The device is explaining itself. That is not a certified offline claim, simply a demonstration of the local lane doing real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ask: ten developers, two weeks, fourteen days of real work. We measure acceptance rate, latency and developer experience, then review the data with your platform architects. If the numbers hold on your workloads, you decide the next step with evidence, not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62179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2960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315200" y="1234440"/>
            <a:ext cx="4297680" cy="4297680"/>
          </a:xfrm>
          <a:prstGeom prst="ellipse">
            <a:avLst/>
          </a:prstGeom>
          <a:noFill/>
          <a:ln w="15875">
            <a:solidFill>
              <a:srgbClr val="76B900"/>
            </a:solidFill>
          </a:ln>
          <a:effectLst>
            <a:glow rad="1016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0" y="1691640"/>
            <a:ext cx="3383280" cy="3383280"/>
          </a:xfrm>
          <a:prstGeom prst="ellipse">
            <a:avLst/>
          </a:prstGeom>
          <a:noFill/>
          <a:ln w="22225">
            <a:solidFill>
              <a:srgbClr val="3DA9FC"/>
            </a:solidFill>
          </a:ln>
          <a:effectLst>
            <a:glow rad="101600">
              <a:srgbClr val="3DA9FC">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600" y="2148840"/>
            <a:ext cx="2468880" cy="2468880"/>
          </a:xfrm>
          <a:prstGeom prst="ellipse">
            <a:avLst/>
          </a:prstGeom>
          <a:noFill/>
          <a:ln w="28575">
            <a:solidFill>
              <a:srgbClr val="9B6BFF"/>
            </a:solidFill>
          </a:ln>
          <a:effectLst>
            <a:glow rad="101600">
              <a:srgbClr val="9B6B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95360" y="2514600"/>
            <a:ext cx="1737360" cy="1737360"/>
          </a:xfrm>
          <a:prstGeom prst="ellipse">
            <a:avLst/>
          </a:prstGeom>
          <a:solidFill>
            <a:srgbClr val="141824"/>
          </a:solidFill>
          <a:ln>
            <a:noFill/>
          </a:ln>
          <a:effectLst>
            <a:glow rad="3048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42248" y="2743200"/>
            <a:ext cx="1243584" cy="1243584"/>
          </a:xfrm>
          <a:prstGeom prst="rect">
            <a:avLst/>
          </a:prstGeom>
          <a:noFill/>
        </p:spPr>
        <p:txBody>
          <a:bodyPr wrap="none" lIns="0" rIns="0" tIns="0" bIns="0" anchor="ctr">
            <a:spAutoFit/>
          </a:bodyPr>
          <a:lstStyle/>
          <a:p>
            <a:pPr algn="ctr"/>
            <a:r>
              <a:rPr sz="6071">
                <a:solidFill>
                  <a:srgbClr val="76B900"/>
                </a:solidFill>
                <a:latin typeface="Segoe Fluent Icons"/>
              </a:rPr>
              <a:t></a:t>
            </a:r>
          </a:p>
        </p:txBody>
      </p:sp>
      <p:sp>
        <p:nvSpPr>
          <p:cNvPr id="9" name="Oval 8"/>
          <p:cNvSpPr/>
          <p:nvPr/>
        </p:nvSpPr>
        <p:spPr>
          <a:xfrm>
            <a:off x="6967728" y="3035808"/>
            <a:ext cx="694944" cy="694944"/>
          </a:xfrm>
          <a:prstGeom prst="ellipse">
            <a:avLst/>
          </a:prstGeom>
          <a:solidFill>
            <a:srgbClr val="141824"/>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04888" y="3172968"/>
            <a:ext cx="420624" cy="420624"/>
          </a:xfrm>
          <a:prstGeom prst="rect">
            <a:avLst/>
          </a:prstGeom>
          <a:noFill/>
        </p:spPr>
        <p:txBody>
          <a:bodyPr wrap="none" lIns="0" rIns="0" tIns="0" bIns="0" anchor="ctr">
            <a:spAutoFit/>
          </a:bodyPr>
          <a:lstStyle/>
          <a:p>
            <a:pPr algn="ctr"/>
            <a:r>
              <a:rPr sz="2053">
                <a:solidFill>
                  <a:srgbClr val="76B900"/>
                </a:solidFill>
                <a:latin typeface="Segoe Fluent Icons"/>
              </a:rPr>
              <a:t></a:t>
            </a:r>
          </a:p>
        </p:txBody>
      </p:sp>
      <p:sp>
        <p:nvSpPr>
          <p:cNvPr id="11" name="Oval 10"/>
          <p:cNvSpPr/>
          <p:nvPr/>
        </p:nvSpPr>
        <p:spPr>
          <a:xfrm>
            <a:off x="11265408" y="3035808"/>
            <a:ext cx="694944" cy="694944"/>
          </a:xfrm>
          <a:prstGeom prst="ellipse">
            <a:avLst/>
          </a:prstGeom>
          <a:solidFill>
            <a:srgbClr val="141824"/>
          </a:solidFill>
          <a:ln w="19050">
            <a:solidFill>
              <a:srgbClr val="3DA9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02568" y="3172968"/>
            <a:ext cx="420624" cy="420624"/>
          </a:xfrm>
          <a:prstGeom prst="rect">
            <a:avLst/>
          </a:prstGeom>
          <a:noFill/>
        </p:spPr>
        <p:txBody>
          <a:bodyPr wrap="none" lIns="0" rIns="0" tIns="0" bIns="0" anchor="ctr">
            <a:spAutoFit/>
          </a:bodyPr>
          <a:lstStyle/>
          <a:p>
            <a:pPr algn="ctr"/>
            <a:r>
              <a:rPr sz="2053">
                <a:solidFill>
                  <a:srgbClr val="3DA9FC"/>
                </a:solidFill>
                <a:latin typeface="Segoe Fluent Icons"/>
              </a:rPr>
              <a:t></a:t>
            </a:r>
          </a:p>
        </p:txBody>
      </p:sp>
      <p:sp>
        <p:nvSpPr>
          <p:cNvPr id="13" name="Oval 12"/>
          <p:cNvSpPr/>
          <p:nvPr/>
        </p:nvSpPr>
        <p:spPr>
          <a:xfrm>
            <a:off x="9116568" y="886968"/>
            <a:ext cx="694944" cy="694944"/>
          </a:xfrm>
          <a:prstGeom prst="ellipse">
            <a:avLst/>
          </a:prstGeom>
          <a:solidFill>
            <a:srgbClr val="141824"/>
          </a:solidFill>
          <a:ln w="19050">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3728" y="1024128"/>
            <a:ext cx="420624" cy="420624"/>
          </a:xfrm>
          <a:prstGeom prst="rect">
            <a:avLst/>
          </a:prstGeom>
          <a:noFill/>
        </p:spPr>
        <p:txBody>
          <a:bodyPr wrap="none" lIns="0" rIns="0" tIns="0" bIns="0" anchor="ctr">
            <a:spAutoFit/>
          </a:bodyPr>
          <a:lstStyle/>
          <a:p>
            <a:pPr algn="ctr"/>
            <a:r>
              <a:rPr sz="2053">
                <a:solidFill>
                  <a:srgbClr val="9B6BFF"/>
                </a:solidFill>
                <a:latin typeface="Segoe Fluent Icons"/>
              </a:rPr>
              <a:t></a:t>
            </a:r>
          </a:p>
        </p:txBody>
      </p:sp>
      <p:sp>
        <p:nvSpPr>
          <p:cNvPr id="15" name="Oval 14"/>
          <p:cNvSpPr/>
          <p:nvPr/>
        </p:nvSpPr>
        <p:spPr>
          <a:xfrm>
            <a:off x="9116568" y="5184648"/>
            <a:ext cx="694944" cy="694944"/>
          </a:xfrm>
          <a:prstGeom prst="ellipse">
            <a:avLst/>
          </a:prstGeom>
          <a:solidFill>
            <a:srgbClr val="141824"/>
          </a:solidFill>
          <a:ln w="1905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53728" y="5321808"/>
            <a:ext cx="420624" cy="420624"/>
          </a:xfrm>
          <a:prstGeom prst="rect">
            <a:avLst/>
          </a:prstGeom>
          <a:noFill/>
        </p:spPr>
        <p:txBody>
          <a:bodyPr wrap="none" lIns="0" rIns="0" tIns="0" bIns="0" anchor="ctr">
            <a:spAutoFit/>
          </a:bodyPr>
          <a:lstStyle/>
          <a:p>
            <a:pPr algn="ctr"/>
            <a:r>
              <a:rPr sz="2053">
                <a:solidFill>
                  <a:srgbClr val="FFB547"/>
                </a:solidFill>
                <a:latin typeface="Segoe Fluent Icons"/>
              </a:rPr>
              <a:t></a:t>
            </a:r>
          </a:p>
        </p:txBody>
      </p:sp>
      <p:sp>
        <p:nvSpPr>
          <p:cNvPr id="17" name="TextBox 16"/>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76B900"/>
                </a:solidFill>
                <a:latin typeface="Segoe UI Semibold"/>
              </a:rPr>
              <a:t>ZAVA TECHNICAL BRIEFING</a:t>
            </a:r>
          </a:p>
        </p:txBody>
      </p:sp>
      <p:sp>
        <p:nvSpPr>
          <p:cNvPr id="18" name="TextBox 17"/>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F4F6FA"/>
                </a:solidFill>
                <a:latin typeface="Segoe UI Semibold"/>
              </a:rPr>
              <a:t>Local AI Developer Stack, On-Device</a:t>
            </a:r>
          </a:p>
        </p:txBody>
      </p:sp>
      <p:sp>
        <p:nvSpPr>
          <p:cNvPr id="19" name="TextBox 18"/>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AEB6C8"/>
                </a:solidFill>
                <a:latin typeface="Segoe UI"/>
              </a:rPr>
              <a:t>Surface Laptop Ultra with NVIDIA RTX Spark</a:t>
            </a:r>
          </a:p>
        </p:txBody>
      </p:sp>
      <p:sp>
        <p:nvSpPr>
          <p:cNvPr id="20" name="TextBox 19"/>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6F7890"/>
                </a:solidFill>
                <a:latin typeface="Segoe UI"/>
              </a:rPr>
              <a:t>Surface Laptop Ultra  |  NVIDIA RTX Spark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Hardware and runtimes, top to bottom</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One laptop hosts the full local AI developer stack.</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2</a:t>
            </a:r>
          </a:p>
        </p:txBody>
      </p:sp>
      <p:sp>
        <p:nvSpPr>
          <p:cNvPr id="9" name="Rounded Rectangle 8"/>
          <p:cNvSpPr/>
          <p:nvPr/>
        </p:nvSpPr>
        <p:spPr>
          <a:xfrm>
            <a:off x="548640" y="1828800"/>
            <a:ext cx="9262872" cy="766267"/>
          </a:xfrm>
          <a:prstGeom prst="roundRect">
            <a:avLst>
              <a:gd name="adj" fmla="val 16706"/>
            </a:avLst>
          </a:prstGeom>
          <a:solidFill>
            <a:srgbClr val="141824"/>
          </a:solidFill>
          <a:ln w="12700">
            <a:solidFill>
              <a:srgbClr val="4060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0080" y="1920240"/>
            <a:ext cx="583387" cy="583387"/>
          </a:xfrm>
          <a:prstGeom prst="roundRect">
            <a:avLst>
              <a:gd name="adj" fmla="val 18808"/>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5090" y="2025250"/>
            <a:ext cx="373368" cy="373368"/>
          </a:xfrm>
          <a:prstGeom prst="rect">
            <a:avLst/>
          </a:prstGeom>
          <a:noFill/>
        </p:spPr>
        <p:txBody>
          <a:bodyPr wrap="none" lIns="0" rIns="0" tIns="0" bIns="0" anchor="ctr">
            <a:spAutoFit/>
          </a:bodyPr>
          <a:lstStyle/>
          <a:p>
            <a:pPr algn="ctr"/>
            <a:r>
              <a:rPr sz="1822">
                <a:solidFill>
                  <a:srgbClr val="07080C"/>
                </a:solidFill>
                <a:latin typeface="Segoe Fluent Icons"/>
              </a:rPr>
              <a:t></a:t>
            </a:r>
          </a:p>
        </p:txBody>
      </p:sp>
      <p:sp>
        <p:nvSpPr>
          <p:cNvPr id="12" name="TextBox 11"/>
          <p:cNvSpPr txBox="1"/>
          <p:nvPr/>
        </p:nvSpPr>
        <p:spPr>
          <a:xfrm>
            <a:off x="1424635" y="1901952"/>
            <a:ext cx="3017520" cy="619963"/>
          </a:xfrm>
          <a:prstGeom prst="rect">
            <a:avLst/>
          </a:prstGeom>
          <a:noFill/>
        </p:spPr>
        <p:txBody>
          <a:bodyPr wrap="square" lIns="0" rIns="0" tIns="0" bIns="0" anchor="ctr">
            <a:noAutofit/>
          </a:bodyPr>
          <a:lstStyle/>
          <a:p>
            <a:pPr algn="l"/>
            <a:r>
              <a:rPr sz="2100" i="0">
                <a:solidFill>
                  <a:srgbClr val="F4F6FA"/>
                </a:solidFill>
                <a:latin typeface="Segoe UI Semibold"/>
              </a:rPr>
              <a:t>Developer tools</a:t>
            </a:r>
          </a:p>
        </p:txBody>
      </p:sp>
      <p:sp>
        <p:nvSpPr>
          <p:cNvPr id="13" name="TextBox 12"/>
          <p:cNvSpPr txBox="1"/>
          <p:nvPr/>
        </p:nvSpPr>
        <p:spPr>
          <a:xfrm>
            <a:off x="4579315" y="1901952"/>
            <a:ext cx="5049317" cy="619963"/>
          </a:xfrm>
          <a:prstGeom prst="rect">
            <a:avLst/>
          </a:prstGeom>
          <a:noFill/>
        </p:spPr>
        <p:txBody>
          <a:bodyPr wrap="square" lIns="0" rIns="0" tIns="0" bIns="0" anchor="ctr">
            <a:noAutofit/>
          </a:bodyPr>
          <a:lstStyle/>
          <a:p>
            <a:pPr algn="l"/>
            <a:r>
              <a:rPr sz="1600" i="0">
                <a:solidFill>
                  <a:srgbClr val="AEB6C8"/>
                </a:solidFill>
                <a:latin typeface="Segoe UI"/>
              </a:rPr>
              <a:t>Code generation and RAG over docs</a:t>
            </a:r>
          </a:p>
        </p:txBody>
      </p:sp>
      <p:sp>
        <p:nvSpPr>
          <p:cNvPr id="14" name="Rounded Rectangle 13"/>
          <p:cNvSpPr/>
          <p:nvPr/>
        </p:nvSpPr>
        <p:spPr>
          <a:xfrm>
            <a:off x="548640" y="2723083"/>
            <a:ext cx="9262872" cy="766267"/>
          </a:xfrm>
          <a:prstGeom prst="roundRect">
            <a:avLst>
              <a:gd name="adj" fmla="val 16706"/>
            </a:avLst>
          </a:prstGeom>
          <a:solidFill>
            <a:srgbClr val="141824"/>
          </a:solidFill>
          <a:ln w="12700">
            <a:solidFill>
              <a:srgbClr val="26598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0080" y="2814523"/>
            <a:ext cx="583387" cy="583387"/>
          </a:xfrm>
          <a:prstGeom prst="roundRect">
            <a:avLst>
              <a:gd name="adj" fmla="val 18808"/>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5090" y="2919533"/>
            <a:ext cx="373368" cy="373368"/>
          </a:xfrm>
          <a:prstGeom prst="rect">
            <a:avLst/>
          </a:prstGeom>
          <a:noFill/>
        </p:spPr>
        <p:txBody>
          <a:bodyPr wrap="none" lIns="0" rIns="0" tIns="0" bIns="0" anchor="ctr">
            <a:spAutoFit/>
          </a:bodyPr>
          <a:lstStyle/>
          <a:p>
            <a:pPr algn="ctr"/>
            <a:r>
              <a:rPr sz="1822">
                <a:solidFill>
                  <a:srgbClr val="07080C"/>
                </a:solidFill>
                <a:latin typeface="Segoe Fluent Icons"/>
              </a:rPr>
              <a:t></a:t>
            </a:r>
          </a:p>
        </p:txBody>
      </p:sp>
      <p:sp>
        <p:nvSpPr>
          <p:cNvPr id="17" name="TextBox 16"/>
          <p:cNvSpPr txBox="1"/>
          <p:nvPr/>
        </p:nvSpPr>
        <p:spPr>
          <a:xfrm>
            <a:off x="1424635" y="2796235"/>
            <a:ext cx="3017520" cy="619963"/>
          </a:xfrm>
          <a:prstGeom prst="rect">
            <a:avLst/>
          </a:prstGeom>
          <a:noFill/>
        </p:spPr>
        <p:txBody>
          <a:bodyPr wrap="square" lIns="0" rIns="0" tIns="0" bIns="0" anchor="ctr">
            <a:noAutofit/>
          </a:bodyPr>
          <a:lstStyle/>
          <a:p>
            <a:pPr algn="l"/>
            <a:r>
              <a:rPr sz="2100" i="0">
                <a:solidFill>
                  <a:srgbClr val="F4F6FA"/>
                </a:solidFill>
                <a:latin typeface="Segoe UI Semibold"/>
              </a:rPr>
              <a:t>Local runtimes</a:t>
            </a:r>
          </a:p>
        </p:txBody>
      </p:sp>
      <p:sp>
        <p:nvSpPr>
          <p:cNvPr id="18" name="TextBox 17"/>
          <p:cNvSpPr txBox="1"/>
          <p:nvPr/>
        </p:nvSpPr>
        <p:spPr>
          <a:xfrm>
            <a:off x="4579315" y="2796235"/>
            <a:ext cx="5049317" cy="619963"/>
          </a:xfrm>
          <a:prstGeom prst="rect">
            <a:avLst/>
          </a:prstGeom>
          <a:noFill/>
        </p:spPr>
        <p:txBody>
          <a:bodyPr wrap="square" lIns="0" rIns="0" tIns="0" bIns="0" anchor="ctr">
            <a:noAutofit/>
          </a:bodyPr>
          <a:lstStyle/>
          <a:p>
            <a:pPr algn="l"/>
            <a:r>
              <a:rPr sz="1600" i="0">
                <a:solidFill>
                  <a:srgbClr val="AEB6C8"/>
                </a:solidFill>
                <a:latin typeface="Segoe UI"/>
              </a:rPr>
              <a:t>llama.cpp build 11573 and Foundry Local</a:t>
            </a:r>
          </a:p>
        </p:txBody>
      </p:sp>
      <p:sp>
        <p:nvSpPr>
          <p:cNvPr id="19" name="Rounded Rectangle 18"/>
          <p:cNvSpPr/>
          <p:nvPr/>
        </p:nvSpPr>
        <p:spPr>
          <a:xfrm>
            <a:off x="548640" y="3617366"/>
            <a:ext cx="9262872" cy="766267"/>
          </a:xfrm>
          <a:prstGeom prst="roundRect">
            <a:avLst>
              <a:gd name="adj" fmla="val 16706"/>
            </a:avLst>
          </a:prstGeom>
          <a:solidFill>
            <a:srgbClr val="141824"/>
          </a:solidFill>
          <a:ln w="12700">
            <a:solidFill>
              <a:srgbClr val="513D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0080" y="3708806"/>
            <a:ext cx="583387" cy="583387"/>
          </a:xfrm>
          <a:prstGeom prst="roundRect">
            <a:avLst>
              <a:gd name="adj" fmla="val 18808"/>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5090" y="3813816"/>
            <a:ext cx="373368" cy="373368"/>
          </a:xfrm>
          <a:prstGeom prst="rect">
            <a:avLst/>
          </a:prstGeom>
          <a:noFill/>
        </p:spPr>
        <p:txBody>
          <a:bodyPr wrap="none" lIns="0" rIns="0" tIns="0" bIns="0" anchor="ctr">
            <a:spAutoFit/>
          </a:bodyPr>
          <a:lstStyle/>
          <a:p>
            <a:pPr algn="ctr"/>
            <a:r>
              <a:rPr sz="1822">
                <a:solidFill>
                  <a:srgbClr val="07080C"/>
                </a:solidFill>
                <a:latin typeface="Segoe Fluent Icons"/>
              </a:rPr>
              <a:t></a:t>
            </a:r>
          </a:p>
        </p:txBody>
      </p:sp>
      <p:sp>
        <p:nvSpPr>
          <p:cNvPr id="22" name="TextBox 21"/>
          <p:cNvSpPr txBox="1"/>
          <p:nvPr/>
        </p:nvSpPr>
        <p:spPr>
          <a:xfrm>
            <a:off x="1424635" y="3690518"/>
            <a:ext cx="3017520" cy="619963"/>
          </a:xfrm>
          <a:prstGeom prst="rect">
            <a:avLst/>
          </a:prstGeom>
          <a:noFill/>
        </p:spPr>
        <p:txBody>
          <a:bodyPr wrap="square" lIns="0" rIns="0" tIns="0" bIns="0" anchor="ctr">
            <a:noAutofit/>
          </a:bodyPr>
          <a:lstStyle/>
          <a:p>
            <a:pPr algn="l"/>
            <a:r>
              <a:rPr sz="2100" i="0">
                <a:solidFill>
                  <a:srgbClr val="F4F6FA"/>
                </a:solidFill>
                <a:latin typeface="Segoe UI Semibold"/>
              </a:rPr>
              <a:t>Open model catalog</a:t>
            </a:r>
          </a:p>
        </p:txBody>
      </p:sp>
      <p:sp>
        <p:nvSpPr>
          <p:cNvPr id="23" name="TextBox 22"/>
          <p:cNvSpPr txBox="1"/>
          <p:nvPr/>
        </p:nvSpPr>
        <p:spPr>
          <a:xfrm>
            <a:off x="4579315" y="3690518"/>
            <a:ext cx="5049317" cy="619963"/>
          </a:xfrm>
          <a:prstGeom prst="rect">
            <a:avLst/>
          </a:prstGeom>
          <a:noFill/>
        </p:spPr>
        <p:txBody>
          <a:bodyPr wrap="square" lIns="0" rIns="0" tIns="0" bIns="0" anchor="ctr">
            <a:noAutofit/>
          </a:bodyPr>
          <a:lstStyle/>
          <a:p>
            <a:pPr algn="l"/>
            <a:r>
              <a:rPr sz="1600" i="0">
                <a:solidFill>
                  <a:srgbClr val="AEB6C8"/>
                </a:solidFill>
                <a:latin typeface="Segoe UI"/>
              </a:rPr>
              <a:t>28 models installed, 315 GiB on disk</a:t>
            </a:r>
          </a:p>
        </p:txBody>
      </p:sp>
      <p:sp>
        <p:nvSpPr>
          <p:cNvPr id="24" name="Rounded Rectangle 23"/>
          <p:cNvSpPr/>
          <p:nvPr/>
        </p:nvSpPr>
        <p:spPr>
          <a:xfrm>
            <a:off x="548640" y="4511650"/>
            <a:ext cx="9262872" cy="766267"/>
          </a:xfrm>
          <a:prstGeom prst="roundRect">
            <a:avLst>
              <a:gd name="adj" fmla="val 16706"/>
            </a:avLst>
          </a:prstGeom>
          <a:solidFill>
            <a:srgbClr val="141824"/>
          </a:solidFill>
          <a:ln w="12700">
            <a:solidFill>
              <a:srgbClr val="7E5F3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40080" y="4603090"/>
            <a:ext cx="583387" cy="583387"/>
          </a:xfrm>
          <a:prstGeom prst="roundRect">
            <a:avLst>
              <a:gd name="adj" fmla="val 18808"/>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5090" y="4708099"/>
            <a:ext cx="373368" cy="373368"/>
          </a:xfrm>
          <a:prstGeom prst="rect">
            <a:avLst/>
          </a:prstGeom>
          <a:noFill/>
        </p:spPr>
        <p:txBody>
          <a:bodyPr wrap="none" lIns="0" rIns="0" tIns="0" bIns="0" anchor="ctr">
            <a:spAutoFit/>
          </a:bodyPr>
          <a:lstStyle/>
          <a:p>
            <a:pPr algn="ctr"/>
            <a:r>
              <a:rPr sz="1822">
                <a:solidFill>
                  <a:srgbClr val="07080C"/>
                </a:solidFill>
                <a:latin typeface="Segoe Fluent Icons"/>
              </a:rPr>
              <a:t></a:t>
            </a:r>
          </a:p>
        </p:txBody>
      </p:sp>
      <p:sp>
        <p:nvSpPr>
          <p:cNvPr id="27" name="TextBox 26"/>
          <p:cNvSpPr txBox="1"/>
          <p:nvPr/>
        </p:nvSpPr>
        <p:spPr>
          <a:xfrm>
            <a:off x="1424635" y="4584802"/>
            <a:ext cx="3017520" cy="619963"/>
          </a:xfrm>
          <a:prstGeom prst="rect">
            <a:avLst/>
          </a:prstGeom>
          <a:noFill/>
        </p:spPr>
        <p:txBody>
          <a:bodyPr wrap="square" lIns="0" rIns="0" tIns="0" bIns="0" anchor="ctr">
            <a:noAutofit/>
          </a:bodyPr>
          <a:lstStyle/>
          <a:p>
            <a:pPr algn="l"/>
            <a:r>
              <a:rPr sz="2100" i="0">
                <a:solidFill>
                  <a:srgbClr val="F4F6FA"/>
                </a:solidFill>
                <a:latin typeface="Segoe UI Semibold"/>
              </a:rPr>
              <a:t>NVIDIA RTX Spark N1X</a:t>
            </a:r>
          </a:p>
        </p:txBody>
      </p:sp>
      <p:sp>
        <p:nvSpPr>
          <p:cNvPr id="28" name="TextBox 27"/>
          <p:cNvSpPr txBox="1"/>
          <p:nvPr/>
        </p:nvSpPr>
        <p:spPr>
          <a:xfrm>
            <a:off x="4579315" y="4584802"/>
            <a:ext cx="5049317" cy="619963"/>
          </a:xfrm>
          <a:prstGeom prst="rect">
            <a:avLst/>
          </a:prstGeom>
          <a:noFill/>
        </p:spPr>
        <p:txBody>
          <a:bodyPr wrap="square" lIns="0" rIns="0" tIns="0" bIns="0" anchor="ctr">
            <a:noAutofit/>
          </a:bodyPr>
          <a:lstStyle/>
          <a:p>
            <a:pPr algn="l"/>
            <a:r>
              <a:rPr sz="1600" i="0">
                <a:solidFill>
                  <a:srgbClr val="AEB6C8"/>
                </a:solidFill>
                <a:latin typeface="Segoe UI"/>
              </a:rPr>
              <a:t>Blackwell RTX GPU and 20 CPU cores</a:t>
            </a:r>
          </a:p>
        </p:txBody>
      </p:sp>
      <p:sp>
        <p:nvSpPr>
          <p:cNvPr id="29" name="Rounded Rectangle 28"/>
          <p:cNvSpPr/>
          <p:nvPr/>
        </p:nvSpPr>
        <p:spPr>
          <a:xfrm>
            <a:off x="548640" y="5405933"/>
            <a:ext cx="9262872" cy="766267"/>
          </a:xfrm>
          <a:prstGeom prst="roundRect">
            <a:avLst>
              <a:gd name="adj" fmla="val 16706"/>
            </a:avLst>
          </a:prstGeom>
          <a:solidFill>
            <a:srgbClr val="141824"/>
          </a:solidFill>
          <a:ln w="12700">
            <a:solidFill>
              <a:srgbClr val="7E375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40080" y="5497373"/>
            <a:ext cx="583387" cy="583387"/>
          </a:xfrm>
          <a:prstGeom prst="roundRect">
            <a:avLst>
              <a:gd name="adj" fmla="val 18808"/>
            </a:avLst>
          </a:prstGeom>
          <a:solidFill>
            <a:srgbClr val="FF5D8F"/>
          </a:solidFill>
          <a:ln>
            <a:noFill/>
          </a:ln>
          <a:effectLst>
            <a:glow rad="101600">
              <a:srgbClr val="FF5D8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5090" y="5602382"/>
            <a:ext cx="373368" cy="373368"/>
          </a:xfrm>
          <a:prstGeom prst="rect">
            <a:avLst/>
          </a:prstGeom>
          <a:noFill/>
        </p:spPr>
        <p:txBody>
          <a:bodyPr wrap="none" lIns="0" rIns="0" tIns="0" bIns="0" anchor="ctr">
            <a:spAutoFit/>
          </a:bodyPr>
          <a:lstStyle/>
          <a:p>
            <a:pPr algn="ctr"/>
            <a:r>
              <a:rPr sz="1822">
                <a:solidFill>
                  <a:srgbClr val="07080C"/>
                </a:solidFill>
                <a:latin typeface="Segoe Fluent Icons"/>
              </a:rPr>
              <a:t></a:t>
            </a:r>
          </a:p>
        </p:txBody>
      </p:sp>
      <p:sp>
        <p:nvSpPr>
          <p:cNvPr id="32" name="TextBox 31"/>
          <p:cNvSpPr txBox="1"/>
          <p:nvPr/>
        </p:nvSpPr>
        <p:spPr>
          <a:xfrm>
            <a:off x="1424635" y="5479085"/>
            <a:ext cx="3017520" cy="619963"/>
          </a:xfrm>
          <a:prstGeom prst="rect">
            <a:avLst/>
          </a:prstGeom>
          <a:noFill/>
        </p:spPr>
        <p:txBody>
          <a:bodyPr wrap="square" lIns="0" rIns="0" tIns="0" bIns="0" anchor="ctr">
            <a:noAutofit/>
          </a:bodyPr>
          <a:lstStyle/>
          <a:p>
            <a:pPr algn="l"/>
            <a:r>
              <a:rPr sz="2100" i="0">
                <a:solidFill>
                  <a:srgbClr val="F4F6FA"/>
                </a:solidFill>
                <a:latin typeface="Segoe UI Semibold"/>
              </a:rPr>
              <a:t>Installed memory</a:t>
            </a:r>
          </a:p>
        </p:txBody>
      </p:sp>
      <p:sp>
        <p:nvSpPr>
          <p:cNvPr id="33" name="TextBox 32"/>
          <p:cNvSpPr txBox="1"/>
          <p:nvPr/>
        </p:nvSpPr>
        <p:spPr>
          <a:xfrm>
            <a:off x="4579315" y="5479085"/>
            <a:ext cx="5049317" cy="619963"/>
          </a:xfrm>
          <a:prstGeom prst="rect">
            <a:avLst/>
          </a:prstGeom>
          <a:noFill/>
        </p:spPr>
        <p:txBody>
          <a:bodyPr wrap="square" lIns="0" rIns="0" tIns="0" bIns="0" anchor="ctr">
            <a:noAutofit/>
          </a:bodyPr>
          <a:lstStyle/>
          <a:p>
            <a:pPr algn="l"/>
            <a:r>
              <a:rPr sz="1600" i="0">
                <a:solidFill>
                  <a:srgbClr val="AEB6C8"/>
                </a:solidFill>
                <a:latin typeface="Segoe UI"/>
              </a:rPr>
              <a:t>128 GB installed in the device</a:t>
            </a:r>
          </a:p>
        </p:txBody>
      </p:sp>
      <p:sp>
        <p:nvSpPr>
          <p:cNvPr id="34" name="Rectangle 33"/>
          <p:cNvSpPr/>
          <p:nvPr/>
        </p:nvSpPr>
        <p:spPr>
          <a:xfrm>
            <a:off x="10085832" y="1828800"/>
            <a:ext cx="73152" cy="4343400"/>
          </a:xfrm>
          <a:prstGeom prst="rect">
            <a:avLst/>
          </a:prstGeom>
          <a:solidFill>
            <a:srgbClr val="76B900"/>
          </a:solidFill>
          <a:ln>
            <a:noFill/>
          </a:ln>
          <a:effectLst>
            <a:glow rad="1270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10314432" y="3314700"/>
            <a:ext cx="1325880" cy="1371600"/>
          </a:xfrm>
          <a:prstGeom prst="roundRect">
            <a:avLst>
              <a:gd name="adj" fmla="val 9655"/>
            </a:avLst>
          </a:prstGeom>
          <a:solidFill>
            <a:srgbClr val="233409"/>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F4F6FA"/>
                </a:solidFill>
                <a:latin typeface="Segoe UI Semibold"/>
              </a:rPr>
              <a:t>On device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Three distinct views of memory</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Each number is a different view; never add them together.</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3</a:t>
            </a:r>
          </a:p>
        </p:txBody>
      </p:sp>
      <p:sp>
        <p:nvSpPr>
          <p:cNvPr id="9" name="Rounded Rectangle 8"/>
          <p:cNvSpPr/>
          <p:nvPr/>
        </p:nvSpPr>
        <p:spPr>
          <a:xfrm>
            <a:off x="548640" y="2217420"/>
            <a:ext cx="3483864" cy="3566160"/>
          </a:xfrm>
          <a:prstGeom prst="roundRect">
            <a:avLst>
              <a:gd name="adj" fmla="val 367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3483864"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2935224" cy="1234440"/>
          </a:xfrm>
          <a:prstGeom prst="rect">
            <a:avLst/>
          </a:prstGeom>
          <a:noFill/>
        </p:spPr>
        <p:txBody>
          <a:bodyPr wrap="square" lIns="0" rIns="0" tIns="0" bIns="0" anchor="ctr">
            <a:noAutofit/>
          </a:bodyPr>
          <a:lstStyle/>
          <a:p>
            <a:pPr algn="l"/>
            <a:r>
              <a:rPr sz="6000" i="0">
                <a:solidFill>
                  <a:srgbClr val="76B900"/>
                </a:solidFill>
                <a:latin typeface="Segoe UI Black"/>
              </a:rPr>
              <a:t>128 GB</a:t>
            </a:r>
          </a:p>
        </p:txBody>
      </p:sp>
      <p:sp>
        <p:nvSpPr>
          <p:cNvPr id="14" name="TextBox 13"/>
          <p:cNvSpPr txBox="1"/>
          <p:nvPr/>
        </p:nvSpPr>
        <p:spPr>
          <a:xfrm>
            <a:off x="822960"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Installed</a:t>
            </a:r>
          </a:p>
        </p:txBody>
      </p:sp>
      <p:sp>
        <p:nvSpPr>
          <p:cNvPr id="15" name="TextBox 14"/>
          <p:cNvSpPr txBox="1"/>
          <p:nvPr/>
        </p:nvSpPr>
        <p:spPr>
          <a:xfrm>
            <a:off x="822960"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Device configuration</a:t>
            </a:r>
          </a:p>
        </p:txBody>
      </p:sp>
      <p:sp>
        <p:nvSpPr>
          <p:cNvPr id="16" name="Rounded Rectangle 15"/>
          <p:cNvSpPr/>
          <p:nvPr/>
        </p:nvSpPr>
        <p:spPr>
          <a:xfrm>
            <a:off x="4352544" y="2217420"/>
            <a:ext cx="3483864" cy="3566160"/>
          </a:xfrm>
          <a:prstGeom prst="roundRect">
            <a:avLst>
              <a:gd name="adj" fmla="val 367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2544" y="2217420"/>
            <a:ext cx="3483864"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636008"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3586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4626864" y="3406140"/>
            <a:ext cx="2935224" cy="1234440"/>
          </a:xfrm>
          <a:prstGeom prst="rect">
            <a:avLst/>
          </a:prstGeom>
          <a:noFill/>
        </p:spPr>
        <p:txBody>
          <a:bodyPr wrap="square" lIns="0" rIns="0" tIns="0" bIns="0" anchor="ctr">
            <a:noAutofit/>
          </a:bodyPr>
          <a:lstStyle/>
          <a:p>
            <a:pPr algn="l"/>
            <a:r>
              <a:rPr sz="6000" i="0">
                <a:solidFill>
                  <a:srgbClr val="3DA9FC"/>
                </a:solidFill>
                <a:latin typeface="Segoe UI Black"/>
              </a:rPr>
              <a:t>~64 GB</a:t>
            </a:r>
          </a:p>
        </p:txBody>
      </p:sp>
      <p:sp>
        <p:nvSpPr>
          <p:cNvPr id="21" name="TextBox 20"/>
          <p:cNvSpPr txBox="1"/>
          <p:nvPr/>
        </p:nvSpPr>
        <p:spPr>
          <a:xfrm>
            <a:off x="4626864"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Visible to Windows</a:t>
            </a:r>
          </a:p>
        </p:txBody>
      </p:sp>
      <p:sp>
        <p:nvSpPr>
          <p:cNvPr id="22" name="TextBox 21"/>
          <p:cNvSpPr txBox="1"/>
          <p:nvPr/>
        </p:nvSpPr>
        <p:spPr>
          <a:xfrm>
            <a:off x="4626864"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Windows</a:t>
            </a:r>
          </a:p>
        </p:txBody>
      </p:sp>
      <p:sp>
        <p:nvSpPr>
          <p:cNvPr id="23" name="Rounded Rectangle 22"/>
          <p:cNvSpPr/>
          <p:nvPr/>
        </p:nvSpPr>
        <p:spPr>
          <a:xfrm>
            <a:off x="8156448" y="2217420"/>
            <a:ext cx="3483864" cy="3566160"/>
          </a:xfrm>
          <a:prstGeom prst="roundRect">
            <a:avLst>
              <a:gd name="adj" fmla="val 367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56448" y="2217420"/>
            <a:ext cx="3483864"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439912"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976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8430768" y="3406140"/>
            <a:ext cx="2935224" cy="1234440"/>
          </a:xfrm>
          <a:prstGeom prst="rect">
            <a:avLst/>
          </a:prstGeom>
          <a:noFill/>
        </p:spPr>
        <p:txBody>
          <a:bodyPr wrap="square" lIns="0" rIns="0" tIns="0" bIns="0" anchor="ctr">
            <a:noAutofit/>
          </a:bodyPr>
          <a:lstStyle/>
          <a:p>
            <a:pPr algn="l"/>
            <a:r>
              <a:rPr sz="4000" i="0">
                <a:solidFill>
                  <a:srgbClr val="9B6BFF"/>
                </a:solidFill>
                <a:latin typeface="Segoe UI Black"/>
              </a:rPr>
              <a:t>64,000 MiB</a:t>
            </a:r>
          </a:p>
        </p:txBody>
      </p:sp>
      <p:sp>
        <p:nvSpPr>
          <p:cNvPr id="28" name="TextBox 27"/>
          <p:cNvSpPr txBox="1"/>
          <p:nvPr/>
        </p:nvSpPr>
        <p:spPr>
          <a:xfrm>
            <a:off x="8430768"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GPU memory budget</a:t>
            </a:r>
          </a:p>
        </p:txBody>
      </p:sp>
      <p:sp>
        <p:nvSpPr>
          <p:cNvPr id="29" name="TextBox 28"/>
          <p:cNvSpPr txBox="1"/>
          <p:nvPr/>
        </p:nvSpPr>
        <p:spPr>
          <a:xfrm>
            <a:off x="8430768"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nvidia-smi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Two runtimes, one local catalog</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llama.cpp and Foundry Local serve 28 open models with CUDA.</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4</a:t>
            </a:r>
          </a:p>
        </p:txBody>
      </p:sp>
      <p:cxnSp>
        <p:nvCxnSpPr>
          <p:cNvPr id="9" name="Connector 8"/>
          <p:cNvCxnSpPr/>
          <p:nvPr/>
        </p:nvCxnSpPr>
        <p:spPr>
          <a:xfrm flipV="1">
            <a:off x="6094476" y="2240280"/>
            <a:ext cx="0" cy="176022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094476" y="3120390"/>
            <a:ext cx="3614994" cy="88011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4476" y="4000500"/>
            <a:ext cx="3614994" cy="88011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4476" y="4000500"/>
            <a:ext cx="0" cy="176022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479482" y="4000500"/>
            <a:ext cx="3614994" cy="88011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2479482" y="3120390"/>
            <a:ext cx="3614994" cy="88011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910328" y="2816352"/>
            <a:ext cx="2368296" cy="2368296"/>
          </a:xfrm>
          <a:prstGeom prst="ellipse">
            <a:avLst/>
          </a:prstGeom>
          <a:solidFill>
            <a:srgbClr val="76B900">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111496" y="3017520"/>
            <a:ext cx="1965960" cy="1965960"/>
          </a:xfrm>
          <a:prstGeom prst="ellipse">
            <a:avLst/>
          </a:prstGeom>
          <a:solidFill>
            <a:srgbClr val="76B900"/>
          </a:solidFill>
          <a:ln>
            <a:noFill/>
          </a:ln>
          <a:effectLst>
            <a:glow rad="2286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710428" y="3287268"/>
            <a:ext cx="768096" cy="768096"/>
          </a:xfrm>
          <a:prstGeom prst="rect">
            <a:avLst/>
          </a:prstGeom>
          <a:noFill/>
        </p:spPr>
        <p:txBody>
          <a:bodyPr wrap="none" lIns="0" rIns="0" tIns="0" bIns="0" anchor="ctr">
            <a:spAutoFit/>
          </a:bodyPr>
          <a:lstStyle/>
          <a:p>
            <a:pPr algn="ctr"/>
            <a:r>
              <a:rPr sz="3749">
                <a:solidFill>
                  <a:srgbClr val="07080C"/>
                </a:solidFill>
                <a:latin typeface="Segoe Fluent Icons"/>
              </a:rPr>
              <a:t></a:t>
            </a:r>
          </a:p>
        </p:txBody>
      </p:sp>
      <p:sp>
        <p:nvSpPr>
          <p:cNvPr id="18" name="TextBox 17"/>
          <p:cNvSpPr txBox="1"/>
          <p:nvPr/>
        </p:nvSpPr>
        <p:spPr>
          <a:xfrm>
            <a:off x="5294376" y="4073652"/>
            <a:ext cx="1600200" cy="685800"/>
          </a:xfrm>
          <a:prstGeom prst="rect">
            <a:avLst/>
          </a:prstGeom>
          <a:noFill/>
        </p:spPr>
        <p:txBody>
          <a:bodyPr wrap="square" lIns="0" rIns="0" tIns="0" bIns="0" anchor="t">
            <a:noAutofit/>
          </a:bodyPr>
          <a:lstStyle/>
          <a:p>
            <a:pPr algn="ctr"/>
            <a:r>
              <a:rPr sz="1800" i="0">
                <a:solidFill>
                  <a:srgbClr val="07080C"/>
                </a:solidFill>
                <a:latin typeface="Segoe UI Semibold"/>
              </a:rPr>
              <a:t>Local model catalog</a:t>
            </a:r>
          </a:p>
        </p:txBody>
      </p:sp>
      <p:sp>
        <p:nvSpPr>
          <p:cNvPr id="19" name="Rounded Rectangle 18"/>
          <p:cNvSpPr/>
          <p:nvPr/>
        </p:nvSpPr>
        <p:spPr>
          <a:xfrm>
            <a:off x="4837176" y="1865376"/>
            <a:ext cx="2514600" cy="749808"/>
          </a:xfrm>
          <a:prstGeom prst="roundRect">
            <a:avLst>
              <a:gd name="adj" fmla="val 50000"/>
            </a:avLst>
          </a:prstGeom>
          <a:solidFill>
            <a:srgbClr val="141824"/>
          </a:solidFill>
          <a:ln w="12700">
            <a:solidFill>
              <a:srgbClr val="2D6F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910328" y="1938528"/>
            <a:ext cx="603504" cy="603504"/>
          </a:xfrm>
          <a:prstGeom prst="ellipse">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994819" y="202301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2" name="TextBox 21"/>
          <p:cNvSpPr txBox="1"/>
          <p:nvPr/>
        </p:nvSpPr>
        <p:spPr>
          <a:xfrm>
            <a:off x="5605272" y="192024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llama.cpp build 11573</a:t>
            </a:r>
          </a:p>
        </p:txBody>
      </p:sp>
      <p:sp>
        <p:nvSpPr>
          <p:cNvPr id="23" name="Rounded Rectangle 22"/>
          <p:cNvSpPr/>
          <p:nvPr/>
        </p:nvSpPr>
        <p:spPr>
          <a:xfrm>
            <a:off x="8452170" y="2745486"/>
            <a:ext cx="2514600" cy="749808"/>
          </a:xfrm>
          <a:prstGeom prst="roundRect">
            <a:avLst>
              <a:gd name="adj" fmla="val 50000"/>
            </a:avLst>
          </a:prstGeom>
          <a:solidFill>
            <a:srgbClr val="141824"/>
          </a:solidFill>
          <a:ln w="12700">
            <a:solidFill>
              <a:srgbClr val="654A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525322" y="2818638"/>
            <a:ext cx="603504" cy="603504"/>
          </a:xfrm>
          <a:prstGeom prst="ellipse">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09813" y="290312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6" name="TextBox 25"/>
          <p:cNvSpPr txBox="1"/>
          <p:nvPr/>
        </p:nvSpPr>
        <p:spPr>
          <a:xfrm>
            <a:off x="9220266" y="280035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Foundry Local, CUDA</a:t>
            </a:r>
          </a:p>
        </p:txBody>
      </p:sp>
      <p:sp>
        <p:nvSpPr>
          <p:cNvPr id="27" name="Rounded Rectangle 26"/>
          <p:cNvSpPr/>
          <p:nvPr/>
        </p:nvSpPr>
        <p:spPr>
          <a:xfrm>
            <a:off x="8452170" y="4505706"/>
            <a:ext cx="2514600" cy="749808"/>
          </a:xfrm>
          <a:prstGeom prst="roundRect">
            <a:avLst>
              <a:gd name="adj" fmla="val 50000"/>
            </a:avLst>
          </a:prstGeom>
          <a:solidFill>
            <a:srgbClr val="141824"/>
          </a:solidFill>
          <a:ln w="12700">
            <a:solidFill>
              <a:srgbClr val="A176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525322" y="4578858"/>
            <a:ext cx="603504" cy="603504"/>
          </a:xfrm>
          <a:prstGeom prst="ellipse">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609813" y="466334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30" name="TextBox 29"/>
          <p:cNvSpPr txBox="1"/>
          <p:nvPr/>
        </p:nvSpPr>
        <p:spPr>
          <a:xfrm>
            <a:off x="9220266" y="456057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28 open models</a:t>
            </a:r>
          </a:p>
        </p:txBody>
      </p:sp>
      <p:sp>
        <p:nvSpPr>
          <p:cNvPr id="31" name="Rounded Rectangle 30"/>
          <p:cNvSpPr/>
          <p:nvPr/>
        </p:nvSpPr>
        <p:spPr>
          <a:xfrm>
            <a:off x="4837176" y="5385816"/>
            <a:ext cx="2514600" cy="749808"/>
          </a:xfrm>
          <a:prstGeom prst="roundRect">
            <a:avLst>
              <a:gd name="adj" fmla="val 50000"/>
            </a:avLst>
          </a:prstGeom>
          <a:solidFill>
            <a:srgbClr val="141824"/>
          </a:solidFill>
          <a:ln w="12700">
            <a:solidFill>
              <a:srgbClr val="A1416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4910328" y="5458968"/>
            <a:ext cx="603504" cy="603504"/>
          </a:xfrm>
          <a:prstGeom prst="ellipse">
            <a:avLst/>
          </a:prstGeom>
          <a:solidFill>
            <a:srgbClr val="FF5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994819" y="554345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34" name="TextBox 33"/>
          <p:cNvSpPr txBox="1"/>
          <p:nvPr/>
        </p:nvSpPr>
        <p:spPr>
          <a:xfrm>
            <a:off x="5605272" y="544068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315 GiB on disk</a:t>
            </a:r>
          </a:p>
        </p:txBody>
      </p:sp>
      <p:sp>
        <p:nvSpPr>
          <p:cNvPr id="35" name="Rounded Rectangle 34"/>
          <p:cNvSpPr/>
          <p:nvPr/>
        </p:nvSpPr>
        <p:spPr>
          <a:xfrm>
            <a:off x="1222182" y="4505706"/>
            <a:ext cx="2514600" cy="749808"/>
          </a:xfrm>
          <a:prstGeom prst="roundRect">
            <a:avLst>
              <a:gd name="adj" fmla="val 50000"/>
            </a:avLst>
          </a:prstGeom>
          <a:solidFill>
            <a:srgbClr val="141824"/>
          </a:solidFill>
          <a:ln w="12700">
            <a:solidFill>
              <a:srgbClr val="4F79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295334" y="4578858"/>
            <a:ext cx="603504" cy="603504"/>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79824" y="466334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38" name="TextBox 37"/>
          <p:cNvSpPr txBox="1"/>
          <p:nvPr/>
        </p:nvSpPr>
        <p:spPr>
          <a:xfrm>
            <a:off x="1990278" y="456057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Qwen3-Coder 30B</a:t>
            </a:r>
          </a:p>
        </p:txBody>
      </p:sp>
      <p:sp>
        <p:nvSpPr>
          <p:cNvPr id="39" name="Rounded Rectangle 38"/>
          <p:cNvSpPr/>
          <p:nvPr/>
        </p:nvSpPr>
        <p:spPr>
          <a:xfrm>
            <a:off x="1222182" y="2745486"/>
            <a:ext cx="2514600" cy="749808"/>
          </a:xfrm>
          <a:prstGeom prst="roundRect">
            <a:avLst>
              <a:gd name="adj" fmla="val 50000"/>
            </a:avLst>
          </a:prstGeom>
          <a:solidFill>
            <a:srgbClr val="141824"/>
          </a:solidFill>
          <a:ln w="12700">
            <a:solidFill>
              <a:srgbClr val="2D6F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295334" y="2818638"/>
            <a:ext cx="603504" cy="603504"/>
          </a:xfrm>
          <a:prstGeom prst="ellipse">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379824" y="290312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42" name="TextBox 41"/>
          <p:cNvSpPr txBox="1"/>
          <p:nvPr/>
        </p:nvSpPr>
        <p:spPr>
          <a:xfrm>
            <a:off x="1990278" y="280035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Gemma 4 26B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Single-stream decode speed, measured here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MoE models decode far faster than a dense 27B model.</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5</a:t>
            </a:r>
          </a:p>
        </p:txBody>
      </p:sp>
      <p:graphicFrame>
        <p:nvGraphicFramePr>
          <p:cNvPr id="9" name="Chart 8"/>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0" name="Rounded Rectangle 9"/>
          <p:cNvSpPr/>
          <p:nvPr/>
        </p:nvSpPr>
        <p:spPr>
          <a:xfrm>
            <a:off x="7921630" y="2011680"/>
            <a:ext cx="3718682" cy="3977640"/>
          </a:xfrm>
          <a:prstGeom prst="roundRect">
            <a:avLst>
              <a:gd name="adj" fmla="val 3442"/>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73090" y="2308860"/>
            <a:ext cx="777240" cy="777240"/>
          </a:xfrm>
          <a:prstGeom prst="ellipse">
            <a:avLst/>
          </a:prstGeom>
          <a:solidFill>
            <a:srgbClr val="76B900"/>
          </a:solidFill>
          <a:ln>
            <a:noFill/>
          </a:ln>
          <a:effectLst>
            <a:glow rad="1270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07080C"/>
                </a:solidFill>
                <a:latin typeface="Segoe Fluent Icons"/>
              </a:rPr>
              <a:t></a:t>
            </a:r>
          </a:p>
        </p:txBody>
      </p:sp>
      <p:sp>
        <p:nvSpPr>
          <p:cNvPr id="13" name="TextBox 12"/>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76B900"/>
                </a:solidFill>
                <a:latin typeface="Segoe UI Black"/>
              </a:rPr>
              <a:t>86</a:t>
            </a:r>
          </a:p>
        </p:txBody>
      </p:sp>
      <p:sp>
        <p:nvSpPr>
          <p:cNvPr id="14" name="TextBox 13"/>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AEB6C8"/>
                </a:solidFill>
                <a:latin typeface="Segoe UI"/>
              </a:rPr>
              <a:t>tokens/s  |  Qwen3-Coder 30B</a:t>
            </a:r>
          </a:p>
        </p:txBody>
      </p:sp>
      <p:sp>
        <p:nvSpPr>
          <p:cNvPr id="15" name="TextBox 14"/>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F4F6FA"/>
                </a:solidFill>
                <a:latin typeface="Segoe UI"/>
              </a:rPr>
              <a:t>Local-AI-Bench, Oct 2026, shared machine; not a guaranteed spec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Throughput across concurrent streams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One device can serve several developer streams at once.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6</a:t>
            </a:r>
          </a:p>
        </p:txBody>
      </p:sp>
      <p:sp>
        <p:nvSpPr>
          <p:cNvPr id="9" name="Rounded Rectangle 8"/>
          <p:cNvSpPr/>
          <p:nvPr/>
        </p:nvSpPr>
        <p:spPr>
          <a:xfrm>
            <a:off x="548640" y="2217420"/>
            <a:ext cx="3483864" cy="3566160"/>
          </a:xfrm>
          <a:prstGeom prst="roundRect">
            <a:avLst>
              <a:gd name="adj" fmla="val 367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3483864"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2935224" cy="1234440"/>
          </a:xfrm>
          <a:prstGeom prst="rect">
            <a:avLst/>
          </a:prstGeom>
          <a:noFill/>
        </p:spPr>
        <p:txBody>
          <a:bodyPr wrap="square" lIns="0" rIns="0" tIns="0" bIns="0" anchor="ctr">
            <a:noAutofit/>
          </a:bodyPr>
          <a:lstStyle/>
          <a:p>
            <a:pPr algn="l"/>
            <a:r>
              <a:rPr sz="6000" i="0">
                <a:solidFill>
                  <a:srgbClr val="76B900"/>
                </a:solidFill>
                <a:latin typeface="Segoe UI Black"/>
              </a:rPr>
              <a:t>0.13 s</a:t>
            </a:r>
          </a:p>
        </p:txBody>
      </p:sp>
      <p:sp>
        <p:nvSpPr>
          <p:cNvPr id="14" name="TextBox 13"/>
          <p:cNvSpPr txBox="1"/>
          <p:nvPr/>
        </p:nvSpPr>
        <p:spPr>
          <a:xfrm>
            <a:off x="822960"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Time to first token</a:t>
            </a:r>
          </a:p>
        </p:txBody>
      </p:sp>
      <p:sp>
        <p:nvSpPr>
          <p:cNvPr id="15" name="TextBox 14"/>
          <p:cNvSpPr txBox="1"/>
          <p:nvPr/>
        </p:nvSpPr>
        <p:spPr>
          <a:xfrm>
            <a:off x="822960"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Qwen3-Coder 30B, Local-AI-Bench, Oct 2026</a:t>
            </a:r>
          </a:p>
        </p:txBody>
      </p:sp>
      <p:sp>
        <p:nvSpPr>
          <p:cNvPr id="16" name="Rounded Rectangle 15"/>
          <p:cNvSpPr/>
          <p:nvPr/>
        </p:nvSpPr>
        <p:spPr>
          <a:xfrm>
            <a:off x="4352544" y="2217420"/>
            <a:ext cx="3483864" cy="3566160"/>
          </a:xfrm>
          <a:prstGeom prst="roundRect">
            <a:avLst>
              <a:gd name="adj" fmla="val 367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2544" y="2217420"/>
            <a:ext cx="3483864"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636008"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3586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4626864" y="3406140"/>
            <a:ext cx="2935224" cy="1234440"/>
          </a:xfrm>
          <a:prstGeom prst="rect">
            <a:avLst/>
          </a:prstGeom>
          <a:noFill/>
        </p:spPr>
        <p:txBody>
          <a:bodyPr wrap="square" lIns="0" rIns="0" tIns="0" bIns="0" anchor="ctr">
            <a:noAutofit/>
          </a:bodyPr>
          <a:lstStyle/>
          <a:p>
            <a:pPr algn="l"/>
            <a:r>
              <a:rPr sz="4300" i="0">
                <a:solidFill>
                  <a:srgbClr val="3DA9FC"/>
                </a:solidFill>
                <a:latin typeface="Segoe UI Black"/>
              </a:rPr>
              <a:t>~140 tok/s</a:t>
            </a:r>
          </a:p>
        </p:txBody>
      </p:sp>
      <p:sp>
        <p:nvSpPr>
          <p:cNvPr id="21" name="TextBox 20"/>
          <p:cNvSpPr txBox="1"/>
          <p:nvPr/>
        </p:nvSpPr>
        <p:spPr>
          <a:xfrm>
            <a:off x="4626864"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Qwen3-Coder, 4 streams</a:t>
            </a:r>
          </a:p>
        </p:txBody>
      </p:sp>
      <p:sp>
        <p:nvSpPr>
          <p:cNvPr id="22" name="TextBox 21"/>
          <p:cNvSpPr txBox="1"/>
          <p:nvPr/>
        </p:nvSpPr>
        <p:spPr>
          <a:xfrm>
            <a:off x="4626864"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Aggregate, Local-AI-Bench, shared machine</a:t>
            </a:r>
          </a:p>
        </p:txBody>
      </p:sp>
      <p:sp>
        <p:nvSpPr>
          <p:cNvPr id="23" name="Rounded Rectangle 22"/>
          <p:cNvSpPr/>
          <p:nvPr/>
        </p:nvSpPr>
        <p:spPr>
          <a:xfrm>
            <a:off x="8156448" y="2217420"/>
            <a:ext cx="3483864" cy="3566160"/>
          </a:xfrm>
          <a:prstGeom prst="roundRect">
            <a:avLst>
              <a:gd name="adj" fmla="val 367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56448" y="2217420"/>
            <a:ext cx="3483864"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439912"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976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8430768" y="3406140"/>
            <a:ext cx="2935224" cy="1234440"/>
          </a:xfrm>
          <a:prstGeom prst="rect">
            <a:avLst/>
          </a:prstGeom>
          <a:noFill/>
        </p:spPr>
        <p:txBody>
          <a:bodyPr wrap="square" lIns="0" rIns="0" tIns="0" bIns="0" anchor="ctr">
            <a:noAutofit/>
          </a:bodyPr>
          <a:lstStyle/>
          <a:p>
            <a:pPr algn="l"/>
            <a:r>
              <a:rPr sz="4200" i="0">
                <a:solidFill>
                  <a:srgbClr val="9B6BFF"/>
                </a:solidFill>
                <a:latin typeface="Segoe UI Black"/>
              </a:rPr>
              <a:t>~245 tok/s</a:t>
            </a:r>
          </a:p>
        </p:txBody>
      </p:sp>
      <p:sp>
        <p:nvSpPr>
          <p:cNvPr id="28" name="TextBox 27"/>
          <p:cNvSpPr txBox="1"/>
          <p:nvPr/>
        </p:nvSpPr>
        <p:spPr>
          <a:xfrm>
            <a:off x="8430768"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Gemma 4, 8 streams</a:t>
            </a:r>
          </a:p>
        </p:txBody>
      </p:sp>
      <p:sp>
        <p:nvSpPr>
          <p:cNvPr id="29" name="TextBox 28"/>
          <p:cNvSpPr txBox="1"/>
          <p:nvPr/>
        </p:nvSpPr>
        <p:spPr>
          <a:xfrm>
            <a:off x="8430768"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Aggregate, Local-AI-Bench, shared machine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MoE vs dense: specialists on call</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MoE activates only a few experts per token, so it decodes faster.</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7</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Mixture of Experts</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Specialist machine shop</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30B total parameters</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Full roster of specialists</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~3B active per token</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Only needed specialists clock in</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Router picks experts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Foreman assigns each job</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Dense uses all weights</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Every worker touches every part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Model sizing bands for planning</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Bands guide capacity planning; larger is not more accurate.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8</a:t>
            </a:r>
          </a:p>
        </p:txBody>
      </p:sp>
      <p:cxnSp>
        <p:nvCxnSpPr>
          <p:cNvPr id="9" name="Connector 8"/>
          <p:cNvCxnSpPr/>
          <p:nvPr/>
        </p:nvCxnSpPr>
        <p:spPr>
          <a:xfrm flipV="1">
            <a:off x="822960" y="1828800"/>
            <a:ext cx="0" cy="3886200"/>
          </a:xfrm>
          <a:prstGeom prst="line">
            <a:avLst/>
          </a:prstGeom>
          <a:ln w="25400">
            <a:solidFill>
              <a:srgbClr val="6F78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51560" y="5916168"/>
            <a:ext cx="10588752" cy="0"/>
          </a:xfrm>
          <a:prstGeom prst="line">
            <a:avLst/>
          </a:prstGeom>
          <a:ln w="25400">
            <a:solidFill>
              <a:srgbClr val="6F78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51560" y="5961888"/>
            <a:ext cx="10588752" cy="274320"/>
          </a:xfrm>
          <a:prstGeom prst="rect">
            <a:avLst/>
          </a:prstGeom>
          <a:noFill/>
        </p:spPr>
        <p:txBody>
          <a:bodyPr wrap="square" lIns="0" rIns="0" tIns="0" bIns="0" anchor="t">
            <a:noAutofit/>
          </a:bodyPr>
          <a:lstStyle/>
          <a:p>
            <a:pPr algn="r"/>
            <a:r>
              <a:rPr sz="1300" i="0">
                <a:solidFill>
                  <a:srgbClr val="AEB6C8"/>
                </a:solidFill>
                <a:latin typeface="Segoe UI"/>
              </a:rPr>
              <a:t>Parameter band grows  →</a:t>
            </a:r>
          </a:p>
        </p:txBody>
      </p:sp>
      <p:sp>
        <p:nvSpPr>
          <p:cNvPr id="12" name="TextBox 11"/>
          <p:cNvSpPr txBox="1"/>
          <p:nvPr/>
        </p:nvSpPr>
        <p:spPr>
          <a:xfrm>
            <a:off x="1051560" y="1810512"/>
            <a:ext cx="3657600" cy="256032"/>
          </a:xfrm>
          <a:prstGeom prst="rect">
            <a:avLst/>
          </a:prstGeom>
          <a:noFill/>
        </p:spPr>
        <p:txBody>
          <a:bodyPr wrap="square" lIns="0" rIns="0" tIns="0" bIns="0" anchor="t">
            <a:noAutofit/>
          </a:bodyPr>
          <a:lstStyle/>
          <a:p>
            <a:pPr algn="l"/>
            <a:r>
              <a:rPr sz="1300" i="0">
                <a:solidFill>
                  <a:srgbClr val="AEB6C8"/>
                </a:solidFill>
                <a:latin typeface="Segoe UI"/>
              </a:rPr>
              <a:t>Planning estimate only</a:t>
            </a:r>
          </a:p>
        </p:txBody>
      </p:sp>
      <p:sp>
        <p:nvSpPr>
          <p:cNvPr id="13" name="Rounded Rectangle 12"/>
          <p:cNvSpPr/>
          <p:nvPr/>
        </p:nvSpPr>
        <p:spPr>
          <a:xfrm>
            <a:off x="1051560" y="2148840"/>
            <a:ext cx="5225796" cy="1737360"/>
          </a:xfrm>
          <a:prstGeom prst="roundRect">
            <a:avLst>
              <a:gd name="adj" fmla="val 7368"/>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80160" y="2377440"/>
            <a:ext cx="457200" cy="457200"/>
          </a:xfrm>
          <a:prstGeom prst="rect">
            <a:avLst/>
          </a:prstGeom>
          <a:noFill/>
        </p:spPr>
        <p:txBody>
          <a:bodyPr wrap="none" lIns="0" rIns="0" tIns="0" bIns="0" anchor="ctr">
            <a:spAutoFit/>
          </a:bodyPr>
          <a:lstStyle/>
          <a:p>
            <a:pPr algn="ctr"/>
            <a:r>
              <a:rPr sz="2232">
                <a:solidFill>
                  <a:srgbClr val="76B900"/>
                </a:solidFill>
                <a:latin typeface="Segoe Fluent Icons"/>
              </a:rPr>
              <a:t></a:t>
            </a:r>
          </a:p>
        </p:txBody>
      </p:sp>
      <p:sp>
        <p:nvSpPr>
          <p:cNvPr id="15" name="TextBox 14"/>
          <p:cNvSpPr txBox="1"/>
          <p:nvPr/>
        </p:nvSpPr>
        <p:spPr>
          <a:xfrm>
            <a:off x="1874520" y="2331720"/>
            <a:ext cx="4219956" cy="548640"/>
          </a:xfrm>
          <a:prstGeom prst="rect">
            <a:avLst/>
          </a:prstGeom>
          <a:noFill/>
        </p:spPr>
        <p:txBody>
          <a:bodyPr wrap="square" lIns="0" rIns="0" tIns="0" bIns="0" anchor="ctr">
            <a:noAutofit/>
          </a:bodyPr>
          <a:lstStyle/>
          <a:p>
            <a:pPr algn="l"/>
            <a:r>
              <a:rPr sz="2000" i="0">
                <a:solidFill>
                  <a:srgbClr val="F4F6FA"/>
                </a:solidFill>
                <a:latin typeface="Segoe UI Semibold"/>
              </a:rPr>
              <a:t>S: 1-4B</a:t>
            </a:r>
          </a:p>
        </p:txBody>
      </p:sp>
      <p:sp>
        <p:nvSpPr>
          <p:cNvPr id="16" name="TextBox 15"/>
          <p:cNvSpPr txBox="1"/>
          <p:nvPr/>
        </p:nvSpPr>
        <p:spPr>
          <a:xfrm>
            <a:off x="1280160" y="2971800"/>
            <a:ext cx="4768596" cy="822960"/>
          </a:xfrm>
          <a:prstGeom prst="rect">
            <a:avLst/>
          </a:prstGeom>
          <a:noFill/>
        </p:spPr>
        <p:txBody>
          <a:bodyPr wrap="square" lIns="0" rIns="0" tIns="0" bIns="0" anchor="t">
            <a:noAutofit/>
          </a:bodyPr>
          <a:lstStyle/>
          <a:p>
            <a:pPr algn="l"/>
            <a:r>
              <a:rPr sz="1500" i="0">
                <a:solidFill>
                  <a:srgbClr val="AEB6C8"/>
                </a:solidFill>
                <a:latin typeface="Segoe UI"/>
              </a:rPr>
              <a:t>Smallest band, light helper tasks</a:t>
            </a:r>
          </a:p>
        </p:txBody>
      </p:sp>
      <p:sp>
        <p:nvSpPr>
          <p:cNvPr id="17" name="Rounded Rectangle 16"/>
          <p:cNvSpPr/>
          <p:nvPr/>
        </p:nvSpPr>
        <p:spPr>
          <a:xfrm>
            <a:off x="6414516" y="2148840"/>
            <a:ext cx="5225796" cy="1737360"/>
          </a:xfrm>
          <a:prstGeom prst="roundRect">
            <a:avLst>
              <a:gd name="adj" fmla="val 7368"/>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43116" y="2377440"/>
            <a:ext cx="457200" cy="457200"/>
          </a:xfrm>
          <a:prstGeom prst="rect">
            <a:avLst/>
          </a:prstGeom>
          <a:noFill/>
        </p:spPr>
        <p:txBody>
          <a:bodyPr wrap="none" lIns="0" rIns="0" tIns="0" bIns="0" anchor="ctr">
            <a:spAutoFit/>
          </a:bodyPr>
          <a:lstStyle/>
          <a:p>
            <a:pPr algn="ctr"/>
            <a:r>
              <a:rPr sz="2232">
                <a:solidFill>
                  <a:srgbClr val="3DA9FC"/>
                </a:solidFill>
                <a:latin typeface="Segoe Fluent Icons"/>
              </a:rPr>
              <a:t></a:t>
            </a:r>
          </a:p>
        </p:txBody>
      </p:sp>
      <p:sp>
        <p:nvSpPr>
          <p:cNvPr id="19" name="TextBox 18"/>
          <p:cNvSpPr txBox="1"/>
          <p:nvPr/>
        </p:nvSpPr>
        <p:spPr>
          <a:xfrm>
            <a:off x="7237476" y="2331720"/>
            <a:ext cx="4219956" cy="548640"/>
          </a:xfrm>
          <a:prstGeom prst="rect">
            <a:avLst/>
          </a:prstGeom>
          <a:noFill/>
        </p:spPr>
        <p:txBody>
          <a:bodyPr wrap="square" lIns="0" rIns="0" tIns="0" bIns="0" anchor="ctr">
            <a:noAutofit/>
          </a:bodyPr>
          <a:lstStyle/>
          <a:p>
            <a:pPr algn="l"/>
            <a:r>
              <a:rPr sz="2000" i="0">
                <a:solidFill>
                  <a:srgbClr val="F4F6FA"/>
                </a:solidFill>
                <a:latin typeface="Segoe UI Semibold"/>
              </a:rPr>
              <a:t>M: 7-8B</a:t>
            </a:r>
          </a:p>
        </p:txBody>
      </p:sp>
      <p:sp>
        <p:nvSpPr>
          <p:cNvPr id="20" name="TextBox 19"/>
          <p:cNvSpPr txBox="1"/>
          <p:nvPr/>
        </p:nvSpPr>
        <p:spPr>
          <a:xfrm>
            <a:off x="6643116" y="2971800"/>
            <a:ext cx="4768596" cy="822960"/>
          </a:xfrm>
          <a:prstGeom prst="rect">
            <a:avLst/>
          </a:prstGeom>
          <a:noFill/>
        </p:spPr>
        <p:txBody>
          <a:bodyPr wrap="square" lIns="0" rIns="0" tIns="0" bIns="0" anchor="t">
            <a:noAutofit/>
          </a:bodyPr>
          <a:lstStyle/>
          <a:p>
            <a:pPr algn="l"/>
            <a:r>
              <a:rPr sz="1500" i="0">
                <a:solidFill>
                  <a:srgbClr val="AEB6C8"/>
                </a:solidFill>
                <a:latin typeface="Segoe UI"/>
              </a:rPr>
              <a:t>Mid band for everyday tasks</a:t>
            </a:r>
          </a:p>
        </p:txBody>
      </p:sp>
      <p:sp>
        <p:nvSpPr>
          <p:cNvPr id="21" name="Rounded Rectangle 20"/>
          <p:cNvSpPr/>
          <p:nvPr/>
        </p:nvSpPr>
        <p:spPr>
          <a:xfrm>
            <a:off x="1051560" y="4023360"/>
            <a:ext cx="5225796" cy="1737360"/>
          </a:xfrm>
          <a:prstGeom prst="roundRect">
            <a:avLst>
              <a:gd name="adj" fmla="val 7368"/>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80160" y="4251960"/>
            <a:ext cx="457200" cy="457200"/>
          </a:xfrm>
          <a:prstGeom prst="rect">
            <a:avLst/>
          </a:prstGeom>
          <a:noFill/>
        </p:spPr>
        <p:txBody>
          <a:bodyPr wrap="none" lIns="0" rIns="0" tIns="0" bIns="0" anchor="ctr">
            <a:spAutoFit/>
          </a:bodyPr>
          <a:lstStyle/>
          <a:p>
            <a:pPr algn="ctr"/>
            <a:r>
              <a:rPr sz="2232">
                <a:solidFill>
                  <a:srgbClr val="9B6BFF"/>
                </a:solidFill>
                <a:latin typeface="Segoe Fluent Icons"/>
              </a:rPr>
              <a:t></a:t>
            </a:r>
          </a:p>
        </p:txBody>
      </p:sp>
      <p:sp>
        <p:nvSpPr>
          <p:cNvPr id="23" name="TextBox 22"/>
          <p:cNvSpPr txBox="1"/>
          <p:nvPr/>
        </p:nvSpPr>
        <p:spPr>
          <a:xfrm>
            <a:off x="1874520" y="4206240"/>
            <a:ext cx="4219956" cy="548640"/>
          </a:xfrm>
          <a:prstGeom prst="rect">
            <a:avLst/>
          </a:prstGeom>
          <a:noFill/>
        </p:spPr>
        <p:txBody>
          <a:bodyPr wrap="square" lIns="0" rIns="0" tIns="0" bIns="0" anchor="ctr">
            <a:noAutofit/>
          </a:bodyPr>
          <a:lstStyle/>
          <a:p>
            <a:pPr algn="l"/>
            <a:r>
              <a:rPr sz="2000" i="0">
                <a:solidFill>
                  <a:srgbClr val="F4F6FA"/>
                </a:solidFill>
                <a:latin typeface="Segoe UI Semibold"/>
              </a:rPr>
              <a:t>L: 14-20B</a:t>
            </a:r>
          </a:p>
        </p:txBody>
      </p:sp>
      <p:sp>
        <p:nvSpPr>
          <p:cNvPr id="24" name="TextBox 23"/>
          <p:cNvSpPr txBox="1"/>
          <p:nvPr/>
        </p:nvSpPr>
        <p:spPr>
          <a:xfrm>
            <a:off x="1280160" y="4846320"/>
            <a:ext cx="4768596" cy="822960"/>
          </a:xfrm>
          <a:prstGeom prst="rect">
            <a:avLst/>
          </a:prstGeom>
          <a:noFill/>
        </p:spPr>
        <p:txBody>
          <a:bodyPr wrap="square" lIns="0" rIns="0" tIns="0" bIns="0" anchor="t">
            <a:noAutofit/>
          </a:bodyPr>
          <a:lstStyle/>
          <a:p>
            <a:pPr algn="l"/>
            <a:r>
              <a:rPr sz="1500" i="0">
                <a:solidFill>
                  <a:srgbClr val="AEB6C8"/>
                </a:solidFill>
                <a:latin typeface="Segoe UI"/>
              </a:rPr>
              <a:t>Large band, more memory needed</a:t>
            </a:r>
          </a:p>
        </p:txBody>
      </p:sp>
      <p:sp>
        <p:nvSpPr>
          <p:cNvPr id="25" name="Rounded Rectangle 24"/>
          <p:cNvSpPr/>
          <p:nvPr/>
        </p:nvSpPr>
        <p:spPr>
          <a:xfrm>
            <a:off x="6414516" y="4023360"/>
            <a:ext cx="5225796" cy="1737360"/>
          </a:xfrm>
          <a:prstGeom prst="roundRect">
            <a:avLst>
              <a:gd name="adj" fmla="val 7368"/>
            </a:avLst>
          </a:prstGeom>
          <a:solidFill>
            <a:srgbClr val="76B900"/>
          </a:solidFill>
          <a:ln>
            <a:noFill/>
          </a:ln>
          <a:effectLst>
            <a:glow rad="1524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43116" y="4251960"/>
            <a:ext cx="457200" cy="457200"/>
          </a:xfrm>
          <a:prstGeom prst="rect">
            <a:avLst/>
          </a:prstGeom>
          <a:noFill/>
        </p:spPr>
        <p:txBody>
          <a:bodyPr wrap="none" lIns="0" rIns="0" tIns="0" bIns="0" anchor="ctr">
            <a:spAutoFit/>
          </a:bodyPr>
          <a:lstStyle/>
          <a:p>
            <a:pPr algn="ctr"/>
            <a:r>
              <a:rPr sz="2232">
                <a:solidFill>
                  <a:srgbClr val="07080C"/>
                </a:solidFill>
                <a:latin typeface="Segoe Fluent Icons"/>
              </a:rPr>
              <a:t></a:t>
            </a:r>
          </a:p>
        </p:txBody>
      </p:sp>
      <p:sp>
        <p:nvSpPr>
          <p:cNvPr id="27" name="TextBox 26"/>
          <p:cNvSpPr txBox="1"/>
          <p:nvPr/>
        </p:nvSpPr>
        <p:spPr>
          <a:xfrm>
            <a:off x="7237476" y="4206240"/>
            <a:ext cx="4219956" cy="548640"/>
          </a:xfrm>
          <a:prstGeom prst="rect">
            <a:avLst/>
          </a:prstGeom>
          <a:noFill/>
        </p:spPr>
        <p:txBody>
          <a:bodyPr wrap="square" lIns="0" rIns="0" tIns="0" bIns="0" anchor="ctr">
            <a:noAutofit/>
          </a:bodyPr>
          <a:lstStyle/>
          <a:p>
            <a:pPr algn="l"/>
            <a:r>
              <a:rPr sz="2000" i="0">
                <a:solidFill>
                  <a:srgbClr val="07080C"/>
                </a:solidFill>
                <a:latin typeface="Segoe UI Semibold"/>
              </a:rPr>
              <a:t>XL: 24-32B</a:t>
            </a:r>
          </a:p>
        </p:txBody>
      </p:sp>
      <p:sp>
        <p:nvSpPr>
          <p:cNvPr id="28" name="TextBox 27"/>
          <p:cNvSpPr txBox="1"/>
          <p:nvPr/>
        </p:nvSpPr>
        <p:spPr>
          <a:xfrm>
            <a:off x="6643116" y="4846320"/>
            <a:ext cx="4768596" cy="822960"/>
          </a:xfrm>
          <a:prstGeom prst="rect">
            <a:avLst/>
          </a:prstGeom>
          <a:noFill/>
        </p:spPr>
        <p:txBody>
          <a:bodyPr wrap="square" lIns="0" rIns="0" tIns="0" bIns="0" anchor="t">
            <a:noAutofit/>
          </a:bodyPr>
          <a:lstStyle/>
          <a:p>
            <a:pPr algn="l"/>
            <a:r>
              <a:rPr sz="1500" i="0">
                <a:solidFill>
                  <a:srgbClr val="07080C"/>
                </a:solidFill>
                <a:latin typeface="Segoe UI"/>
              </a:rPr>
              <a:t>Qwen3-Coder 30B, Gemma 4 26B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Codegen and RAG on the local lane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Code and internal docs stay local; heaviest reasoning can route to cloud.</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9</a:t>
            </a:r>
          </a:p>
        </p:txBody>
      </p:sp>
      <p:cxnSp>
        <p:nvCxnSpPr>
          <p:cNvPr id="9" name="Connector 8"/>
          <p:cNvCxnSpPr/>
          <p:nvPr/>
        </p:nvCxnSpPr>
        <p:spPr>
          <a:xfrm>
            <a:off x="8959825" y="1901190"/>
            <a:ext cx="0" cy="4198620"/>
          </a:xfrm>
          <a:prstGeom prst="line">
            <a:avLst/>
          </a:prstGeom>
          <a:ln w="28575">
            <a:solidFill>
              <a:srgbClr val="5A6276"/>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951836" y="2552700"/>
            <a:ext cx="739444" cy="0"/>
          </a:xfrm>
          <a:prstGeom prst="line">
            <a:avLst/>
          </a:prstGeom>
          <a:ln w="28575">
            <a:solidFill>
              <a:srgbClr val="F4F6F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09615" y="2552700"/>
            <a:ext cx="3327501" cy="0"/>
          </a:xfrm>
          <a:prstGeom prst="line">
            <a:avLst/>
          </a:prstGeom>
          <a:ln w="28575">
            <a:solidFill>
              <a:srgbClr val="FFB54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67526" y="2168652"/>
            <a:ext cx="2011680" cy="329184"/>
          </a:xfrm>
          <a:prstGeom prst="rect">
            <a:avLst/>
          </a:prstGeom>
          <a:noFill/>
        </p:spPr>
        <p:txBody>
          <a:bodyPr wrap="square" lIns="0" rIns="0" tIns="0" bIns="0" anchor="t">
            <a:noAutofit/>
          </a:bodyPr>
          <a:lstStyle/>
          <a:p>
            <a:pPr algn="ctr"/>
            <a:r>
              <a:rPr sz="1200" i="0">
                <a:solidFill>
                  <a:srgbClr val="AEB6C8"/>
                </a:solidFill>
                <a:latin typeface="Segoe UI"/>
              </a:rPr>
              <a:t>Heaviest reasoning</a:t>
            </a:r>
          </a:p>
        </p:txBody>
      </p:sp>
      <p:cxnSp>
        <p:nvCxnSpPr>
          <p:cNvPr id="13" name="Connector 12"/>
          <p:cNvCxnSpPr/>
          <p:nvPr/>
        </p:nvCxnSpPr>
        <p:spPr>
          <a:xfrm>
            <a:off x="5355031" y="2987040"/>
            <a:ext cx="1109167" cy="86868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03775" y="3037332"/>
            <a:ext cx="2011680" cy="329184"/>
          </a:xfrm>
          <a:prstGeom prst="rect">
            <a:avLst/>
          </a:prstGeom>
          <a:noFill/>
        </p:spPr>
        <p:txBody>
          <a:bodyPr wrap="square" lIns="0" rIns="0" tIns="0" bIns="0" anchor="t">
            <a:noAutofit/>
          </a:bodyPr>
          <a:lstStyle/>
          <a:p>
            <a:pPr algn="ctr"/>
            <a:r>
              <a:rPr sz="1200" i="0">
                <a:solidFill>
                  <a:srgbClr val="AEB6C8"/>
                </a:solidFill>
                <a:latin typeface="Segoe UI"/>
              </a:rPr>
              <a:t>Code, docs</a:t>
            </a:r>
          </a:p>
        </p:txBody>
      </p:sp>
      <p:cxnSp>
        <p:nvCxnSpPr>
          <p:cNvPr id="15" name="Connector 14"/>
          <p:cNvCxnSpPr/>
          <p:nvPr/>
        </p:nvCxnSpPr>
        <p:spPr>
          <a:xfrm>
            <a:off x="7573366" y="4290060"/>
            <a:ext cx="0" cy="57912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51836" y="5303520"/>
            <a:ext cx="739444" cy="0"/>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09615" y="5303520"/>
            <a:ext cx="554583" cy="0"/>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181067" y="4919472"/>
            <a:ext cx="2011680" cy="329184"/>
          </a:xfrm>
          <a:prstGeom prst="rect">
            <a:avLst/>
          </a:prstGeom>
          <a:noFill/>
        </p:spPr>
        <p:txBody>
          <a:bodyPr wrap="square" lIns="0" rIns="0" tIns="0" bIns="0" anchor="t">
            <a:noAutofit/>
          </a:bodyPr>
          <a:lstStyle/>
          <a:p>
            <a:pPr algn="ctr"/>
            <a:r>
              <a:rPr sz="1200" i="0">
                <a:solidFill>
                  <a:srgbClr val="AEB6C8"/>
                </a:solidFill>
                <a:latin typeface="Segoe UI"/>
              </a:rPr>
              <a:t>Context</a:t>
            </a:r>
          </a:p>
        </p:txBody>
      </p:sp>
      <p:sp>
        <p:nvSpPr>
          <p:cNvPr id="19" name="Rounded Rectangle 18"/>
          <p:cNvSpPr/>
          <p:nvPr/>
        </p:nvSpPr>
        <p:spPr>
          <a:xfrm>
            <a:off x="733501" y="2118360"/>
            <a:ext cx="2218334" cy="868680"/>
          </a:xfrm>
          <a:prstGeom prst="roundRect">
            <a:avLst>
              <a:gd name="adj" fmla="val 14736"/>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8949" y="2313813"/>
            <a:ext cx="477774" cy="477774"/>
          </a:xfrm>
          <a:prstGeom prst="rect">
            <a:avLst/>
          </a:prstGeom>
          <a:noFill/>
        </p:spPr>
        <p:txBody>
          <a:bodyPr wrap="none" lIns="0" rIns="0" tIns="0" bIns="0" anchor="ctr">
            <a:spAutoFit/>
          </a:bodyPr>
          <a:lstStyle/>
          <a:p>
            <a:pPr algn="ctr"/>
            <a:r>
              <a:rPr sz="2332">
                <a:solidFill>
                  <a:srgbClr val="F4F6FA"/>
                </a:solidFill>
                <a:latin typeface="Segoe Fluent Icons"/>
              </a:rPr>
              <a:t></a:t>
            </a:r>
          </a:p>
        </p:txBody>
      </p:sp>
      <p:sp>
        <p:nvSpPr>
          <p:cNvPr id="21" name="TextBox 20"/>
          <p:cNvSpPr txBox="1"/>
          <p:nvPr/>
        </p:nvSpPr>
        <p:spPr>
          <a:xfrm>
            <a:off x="1485595" y="2228088"/>
            <a:ext cx="1374800" cy="649224"/>
          </a:xfrm>
          <a:prstGeom prst="rect">
            <a:avLst/>
          </a:prstGeom>
          <a:noFill/>
        </p:spPr>
        <p:txBody>
          <a:bodyPr wrap="square" lIns="0" rIns="0" tIns="0" bIns="0" anchor="ctr">
            <a:noAutofit/>
          </a:bodyPr>
          <a:lstStyle/>
          <a:p>
            <a:pPr algn="l"/>
            <a:r>
              <a:rPr sz="1600" i="0">
                <a:solidFill>
                  <a:srgbClr val="F4F6FA"/>
                </a:solidFill>
                <a:latin typeface="Segoe UI Semibold"/>
              </a:rPr>
              <a:t>Developer IDE</a:t>
            </a:r>
          </a:p>
        </p:txBody>
      </p:sp>
      <p:sp>
        <p:nvSpPr>
          <p:cNvPr id="22" name="Hexagon 21"/>
          <p:cNvSpPr/>
          <p:nvPr/>
        </p:nvSpPr>
        <p:spPr>
          <a:xfrm>
            <a:off x="3691280" y="2118360"/>
            <a:ext cx="2218334" cy="868680"/>
          </a:xfrm>
          <a:prstGeom prst="hexagon">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846728" y="2313813"/>
            <a:ext cx="477774" cy="477774"/>
          </a:xfrm>
          <a:prstGeom prst="rect">
            <a:avLst/>
          </a:prstGeom>
          <a:noFill/>
        </p:spPr>
        <p:txBody>
          <a:bodyPr wrap="none" lIns="0" rIns="0" tIns="0" bIns="0" anchor="ctr">
            <a:spAutoFit/>
          </a:bodyPr>
          <a:lstStyle/>
          <a:p>
            <a:pPr algn="ctr"/>
            <a:r>
              <a:rPr sz="2332">
                <a:solidFill>
                  <a:srgbClr val="07080C"/>
                </a:solidFill>
                <a:latin typeface="Segoe Fluent Icons"/>
              </a:rPr>
              <a:t></a:t>
            </a:r>
          </a:p>
        </p:txBody>
      </p:sp>
      <p:sp>
        <p:nvSpPr>
          <p:cNvPr id="24" name="TextBox 23"/>
          <p:cNvSpPr txBox="1"/>
          <p:nvPr/>
        </p:nvSpPr>
        <p:spPr>
          <a:xfrm>
            <a:off x="4443374" y="2228088"/>
            <a:ext cx="1374800" cy="649224"/>
          </a:xfrm>
          <a:prstGeom prst="rect">
            <a:avLst/>
          </a:prstGeom>
          <a:noFill/>
        </p:spPr>
        <p:txBody>
          <a:bodyPr wrap="square" lIns="0" rIns="0" tIns="0" bIns="0" anchor="ctr">
            <a:noAutofit/>
          </a:bodyPr>
          <a:lstStyle/>
          <a:p>
            <a:pPr algn="l"/>
            <a:r>
              <a:rPr sz="1600" i="0">
                <a:solidFill>
                  <a:srgbClr val="07080C"/>
                </a:solidFill>
                <a:latin typeface="Segoe UI Semibold"/>
              </a:rPr>
              <a:t>Hybrid router</a:t>
            </a:r>
          </a:p>
        </p:txBody>
      </p:sp>
      <p:sp>
        <p:nvSpPr>
          <p:cNvPr id="25" name="Rounded Rectangle 24"/>
          <p:cNvSpPr/>
          <p:nvPr/>
        </p:nvSpPr>
        <p:spPr>
          <a:xfrm>
            <a:off x="9237116" y="2118360"/>
            <a:ext cx="2218334" cy="868680"/>
          </a:xfrm>
          <a:prstGeom prst="roundRect">
            <a:avLst>
              <a:gd name="adj" fmla="val 14736"/>
            </a:avLst>
          </a:prstGeom>
          <a:solidFill>
            <a:srgbClr val="5A6276"/>
          </a:solidFill>
          <a:ln>
            <a:noFill/>
          </a:ln>
          <a:effectLst>
            <a:glow rad="101600">
              <a:srgbClr val="5A6276">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92564" y="2313813"/>
            <a:ext cx="477774" cy="477774"/>
          </a:xfrm>
          <a:prstGeom prst="rect">
            <a:avLst/>
          </a:prstGeom>
          <a:noFill/>
        </p:spPr>
        <p:txBody>
          <a:bodyPr wrap="none" lIns="0" rIns="0" tIns="0" bIns="0" anchor="ctr">
            <a:spAutoFit/>
          </a:bodyPr>
          <a:lstStyle/>
          <a:p>
            <a:pPr algn="ctr"/>
            <a:r>
              <a:rPr sz="2332">
                <a:solidFill>
                  <a:srgbClr val="07080C"/>
                </a:solidFill>
                <a:latin typeface="Segoe Fluent Icons"/>
              </a:rPr>
              <a:t></a:t>
            </a:r>
          </a:p>
        </p:txBody>
      </p:sp>
      <p:sp>
        <p:nvSpPr>
          <p:cNvPr id="27" name="TextBox 26"/>
          <p:cNvSpPr txBox="1"/>
          <p:nvPr/>
        </p:nvSpPr>
        <p:spPr>
          <a:xfrm>
            <a:off x="9989210" y="2228088"/>
            <a:ext cx="1374800" cy="649224"/>
          </a:xfrm>
          <a:prstGeom prst="rect">
            <a:avLst/>
          </a:prstGeom>
          <a:noFill/>
        </p:spPr>
        <p:txBody>
          <a:bodyPr wrap="square" lIns="0" rIns="0" tIns="0" bIns="0" anchor="ctr">
            <a:noAutofit/>
          </a:bodyPr>
          <a:lstStyle/>
          <a:p>
            <a:pPr algn="l"/>
            <a:r>
              <a:rPr sz="1600" i="0">
                <a:solidFill>
                  <a:srgbClr val="07080C"/>
                </a:solidFill>
                <a:latin typeface="Segoe UI Semibold"/>
              </a:rPr>
              <a:t>Cloud models</a:t>
            </a:r>
          </a:p>
        </p:txBody>
      </p:sp>
      <p:sp>
        <p:nvSpPr>
          <p:cNvPr id="28" name="Rounded Rectangle 27"/>
          <p:cNvSpPr/>
          <p:nvPr/>
        </p:nvSpPr>
        <p:spPr>
          <a:xfrm>
            <a:off x="6464198" y="3421380"/>
            <a:ext cx="2218334" cy="868680"/>
          </a:xfrm>
          <a:prstGeom prst="roundRect">
            <a:avLst>
              <a:gd name="adj" fmla="val 14736"/>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619646" y="3616833"/>
            <a:ext cx="477774" cy="477774"/>
          </a:xfrm>
          <a:prstGeom prst="rect">
            <a:avLst/>
          </a:prstGeom>
          <a:noFill/>
        </p:spPr>
        <p:txBody>
          <a:bodyPr wrap="none" lIns="0" rIns="0" tIns="0" bIns="0" anchor="ctr">
            <a:spAutoFit/>
          </a:bodyPr>
          <a:lstStyle/>
          <a:p>
            <a:pPr algn="ctr"/>
            <a:r>
              <a:rPr sz="2332">
                <a:solidFill>
                  <a:srgbClr val="07080C"/>
                </a:solidFill>
                <a:latin typeface="Segoe Fluent Icons"/>
              </a:rPr>
              <a:t></a:t>
            </a:r>
          </a:p>
        </p:txBody>
      </p:sp>
      <p:sp>
        <p:nvSpPr>
          <p:cNvPr id="30" name="TextBox 29"/>
          <p:cNvSpPr txBox="1"/>
          <p:nvPr/>
        </p:nvSpPr>
        <p:spPr>
          <a:xfrm>
            <a:off x="7216292" y="3531108"/>
            <a:ext cx="1374800" cy="649224"/>
          </a:xfrm>
          <a:prstGeom prst="rect">
            <a:avLst/>
          </a:prstGeom>
          <a:noFill/>
        </p:spPr>
        <p:txBody>
          <a:bodyPr wrap="square" lIns="0" rIns="0" tIns="0" bIns="0" anchor="ctr">
            <a:noAutofit/>
          </a:bodyPr>
          <a:lstStyle/>
          <a:p>
            <a:pPr algn="l"/>
            <a:r>
              <a:rPr sz="1600" i="0">
                <a:solidFill>
                  <a:srgbClr val="07080C"/>
                </a:solidFill>
                <a:latin typeface="Segoe UI Semibold"/>
              </a:rPr>
              <a:t>llama.cpp / Foundry Local</a:t>
            </a:r>
          </a:p>
        </p:txBody>
      </p:sp>
      <p:sp>
        <p:nvSpPr>
          <p:cNvPr id="31" name="Rounded Rectangle 30"/>
          <p:cNvSpPr/>
          <p:nvPr/>
        </p:nvSpPr>
        <p:spPr>
          <a:xfrm>
            <a:off x="6464198" y="4869180"/>
            <a:ext cx="2218334" cy="868680"/>
          </a:xfrm>
          <a:prstGeom prst="roundRect">
            <a:avLst>
              <a:gd name="adj" fmla="val 14736"/>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619646" y="5064633"/>
            <a:ext cx="477774" cy="477774"/>
          </a:xfrm>
          <a:prstGeom prst="rect">
            <a:avLst/>
          </a:prstGeom>
          <a:noFill/>
        </p:spPr>
        <p:txBody>
          <a:bodyPr wrap="none" lIns="0" rIns="0" tIns="0" bIns="0" anchor="ctr">
            <a:spAutoFit/>
          </a:bodyPr>
          <a:lstStyle/>
          <a:p>
            <a:pPr algn="ctr"/>
            <a:r>
              <a:rPr sz="2332">
                <a:solidFill>
                  <a:srgbClr val="07080C"/>
                </a:solidFill>
                <a:latin typeface="Segoe Fluent Icons"/>
              </a:rPr>
              <a:t></a:t>
            </a:r>
          </a:p>
        </p:txBody>
      </p:sp>
      <p:sp>
        <p:nvSpPr>
          <p:cNvPr id="33" name="TextBox 32"/>
          <p:cNvSpPr txBox="1"/>
          <p:nvPr/>
        </p:nvSpPr>
        <p:spPr>
          <a:xfrm>
            <a:off x="7216292" y="4978908"/>
            <a:ext cx="1374800" cy="649224"/>
          </a:xfrm>
          <a:prstGeom prst="rect">
            <a:avLst/>
          </a:prstGeom>
          <a:noFill/>
        </p:spPr>
        <p:txBody>
          <a:bodyPr wrap="square" lIns="0" rIns="0" tIns="0" bIns="0" anchor="ctr">
            <a:noAutofit/>
          </a:bodyPr>
          <a:lstStyle/>
          <a:p>
            <a:pPr algn="l"/>
            <a:r>
              <a:rPr sz="1600" i="0">
                <a:solidFill>
                  <a:srgbClr val="07080C"/>
                </a:solidFill>
                <a:latin typeface="Segoe UI Semibold"/>
              </a:rPr>
              <a:t>Qwen3-Coder 30B</a:t>
            </a:r>
          </a:p>
        </p:txBody>
      </p:sp>
      <p:sp>
        <p:nvSpPr>
          <p:cNvPr id="34" name="Rounded Rectangle 33"/>
          <p:cNvSpPr/>
          <p:nvPr/>
        </p:nvSpPr>
        <p:spPr>
          <a:xfrm>
            <a:off x="733501" y="4869180"/>
            <a:ext cx="2218334" cy="868680"/>
          </a:xfrm>
          <a:prstGeom prst="roundRect">
            <a:avLst>
              <a:gd name="adj" fmla="val 14736"/>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88949" y="5064633"/>
            <a:ext cx="477774" cy="477774"/>
          </a:xfrm>
          <a:prstGeom prst="rect">
            <a:avLst/>
          </a:prstGeom>
          <a:noFill/>
        </p:spPr>
        <p:txBody>
          <a:bodyPr wrap="none" lIns="0" rIns="0" tIns="0" bIns="0" anchor="ctr">
            <a:spAutoFit/>
          </a:bodyPr>
          <a:lstStyle/>
          <a:p>
            <a:pPr algn="ctr"/>
            <a:r>
              <a:rPr sz="2332">
                <a:solidFill>
                  <a:srgbClr val="F4F6FA"/>
                </a:solidFill>
                <a:latin typeface="Segoe Fluent Icons"/>
              </a:rPr>
              <a:t></a:t>
            </a:r>
          </a:p>
        </p:txBody>
      </p:sp>
      <p:sp>
        <p:nvSpPr>
          <p:cNvPr id="36" name="TextBox 35"/>
          <p:cNvSpPr txBox="1"/>
          <p:nvPr/>
        </p:nvSpPr>
        <p:spPr>
          <a:xfrm>
            <a:off x="1485595" y="4978908"/>
            <a:ext cx="1374800" cy="649224"/>
          </a:xfrm>
          <a:prstGeom prst="rect">
            <a:avLst/>
          </a:prstGeom>
          <a:noFill/>
        </p:spPr>
        <p:txBody>
          <a:bodyPr wrap="square" lIns="0" rIns="0" tIns="0" bIns="0" anchor="ctr">
            <a:noAutofit/>
          </a:bodyPr>
          <a:lstStyle/>
          <a:p>
            <a:pPr algn="l"/>
            <a:r>
              <a:rPr sz="1600" i="0">
                <a:solidFill>
                  <a:srgbClr val="F4F6FA"/>
                </a:solidFill>
                <a:latin typeface="Segoe UI Semibold"/>
              </a:rPr>
              <a:t>Internal eng docs</a:t>
            </a:r>
          </a:p>
        </p:txBody>
      </p:sp>
      <p:sp>
        <p:nvSpPr>
          <p:cNvPr id="37" name="Rounded Rectangle 36"/>
          <p:cNvSpPr/>
          <p:nvPr/>
        </p:nvSpPr>
        <p:spPr>
          <a:xfrm>
            <a:off x="3691280" y="4869180"/>
            <a:ext cx="2218334" cy="868680"/>
          </a:xfrm>
          <a:prstGeom prst="roundRect">
            <a:avLst>
              <a:gd name="adj" fmla="val 14736"/>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846728" y="5064633"/>
            <a:ext cx="477774" cy="477774"/>
          </a:xfrm>
          <a:prstGeom prst="rect">
            <a:avLst/>
          </a:prstGeom>
          <a:noFill/>
        </p:spPr>
        <p:txBody>
          <a:bodyPr wrap="none" lIns="0" rIns="0" tIns="0" bIns="0" anchor="ctr">
            <a:spAutoFit/>
          </a:bodyPr>
          <a:lstStyle/>
          <a:p>
            <a:pPr algn="ctr"/>
            <a:r>
              <a:rPr sz="2332">
                <a:solidFill>
                  <a:srgbClr val="07080C"/>
                </a:solidFill>
                <a:latin typeface="Segoe Fluent Icons"/>
              </a:rPr>
              <a:t></a:t>
            </a:r>
          </a:p>
        </p:txBody>
      </p:sp>
      <p:sp>
        <p:nvSpPr>
          <p:cNvPr id="39" name="TextBox 38"/>
          <p:cNvSpPr txBox="1"/>
          <p:nvPr/>
        </p:nvSpPr>
        <p:spPr>
          <a:xfrm>
            <a:off x="4443374" y="4978908"/>
            <a:ext cx="1374800" cy="649224"/>
          </a:xfrm>
          <a:prstGeom prst="rect">
            <a:avLst/>
          </a:prstGeom>
          <a:noFill/>
        </p:spPr>
        <p:txBody>
          <a:bodyPr wrap="square" lIns="0" rIns="0" tIns="0" bIns="0" anchor="ctr">
            <a:noAutofit/>
          </a:bodyPr>
          <a:lstStyle/>
          <a:p>
            <a:pPr algn="l"/>
            <a:r>
              <a:rPr sz="1600" i="0">
                <a:solidFill>
                  <a:srgbClr val="07080C"/>
                </a:solidFill>
                <a:latin typeface="Segoe UI Semibold"/>
              </a:rPr>
              <a:t>Local retrieval index</a:t>
            </a:r>
          </a:p>
        </p:txBody>
      </p:sp>
      <p:sp>
        <p:nvSpPr>
          <p:cNvPr id="40" name="TextBox 39"/>
          <p:cNvSpPr txBox="1"/>
          <p:nvPr/>
        </p:nvSpPr>
        <p:spPr>
          <a:xfrm>
            <a:off x="733501" y="5810250"/>
            <a:ext cx="7949032" cy="361950"/>
          </a:xfrm>
          <a:prstGeom prst="rect">
            <a:avLst/>
          </a:prstGeom>
          <a:noFill/>
        </p:spPr>
        <p:txBody>
          <a:bodyPr wrap="square" lIns="0" rIns="0" tIns="0" bIns="0" anchor="t">
            <a:noAutofit/>
          </a:bodyPr>
          <a:lstStyle/>
          <a:p>
            <a:pPr algn="l"/>
            <a:r>
              <a:rPr sz="1400" i="0">
                <a:solidFill>
                  <a:srgbClr val="76B900"/>
                </a:solidFill>
                <a:latin typeface="Segoe UI"/>
              </a:rPr>
              <a:t>Local lane: this Surface Laptop Ultra</a:t>
            </a:r>
          </a:p>
        </p:txBody>
      </p:sp>
      <p:sp>
        <p:nvSpPr>
          <p:cNvPr id="41" name="TextBox 40"/>
          <p:cNvSpPr txBox="1"/>
          <p:nvPr/>
        </p:nvSpPr>
        <p:spPr>
          <a:xfrm>
            <a:off x="9237116" y="3131820"/>
            <a:ext cx="2218334" cy="361950"/>
          </a:xfrm>
          <a:prstGeom prst="rect">
            <a:avLst/>
          </a:prstGeom>
          <a:noFill/>
        </p:spPr>
        <p:txBody>
          <a:bodyPr wrap="square" lIns="0" rIns="0" tIns="0" bIns="0" anchor="t">
            <a:noAutofit/>
          </a:bodyPr>
          <a:lstStyle/>
          <a:p>
            <a:pPr algn="l"/>
            <a:r>
              <a:rPr sz="1400" i="0">
                <a:solidFill>
                  <a:srgbClr val="5A6276"/>
                </a:solidFill>
                <a:latin typeface="Segoe UI"/>
              </a:rPr>
              <a:t>Cloud lane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Hybrid routing: make or buy</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Keep sensitive, frequent work local; send the heaviest jobs to cloud.</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10</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Hybrid routing</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Make-or-buy planning</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Local lane</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In-house machine shop</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Code and internal docs</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Proprietary parts stay inside</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Cloud models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Contract factory for big runs</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Routing policy</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Planner decides make or buy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This deck was built on-device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Qwen3-Coder 30B wrote this spec via llama.cpp, with no cloud calls.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11</a:t>
            </a:r>
          </a:p>
        </p:txBody>
      </p:sp>
      <p:sp>
        <p:nvSpPr>
          <p:cNvPr id="9" name="Oval 8"/>
          <p:cNvSpPr/>
          <p:nvPr/>
        </p:nvSpPr>
        <p:spPr>
          <a:xfrm>
            <a:off x="5500116" y="1920240"/>
            <a:ext cx="1188720" cy="1188720"/>
          </a:xfrm>
          <a:prstGeom prst="ellipse">
            <a:avLst/>
          </a:prstGeom>
          <a:solidFill>
            <a:srgbClr val="76B900"/>
          </a:solidFill>
          <a:ln>
            <a:noFill/>
          </a:ln>
          <a:effectLst>
            <a:glow rad="2286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6537" y="2086661"/>
            <a:ext cx="855878" cy="855878"/>
          </a:xfrm>
          <a:prstGeom prst="rect">
            <a:avLst/>
          </a:prstGeom>
          <a:noFill/>
        </p:spPr>
        <p:txBody>
          <a:bodyPr wrap="none" lIns="0" rIns="0" tIns="0" bIns="0" anchor="ctr">
            <a:spAutoFit/>
          </a:bodyPr>
          <a:lstStyle/>
          <a:p>
            <a:pPr algn="ctr"/>
            <a:r>
              <a:rPr sz="4178">
                <a:solidFill>
                  <a:srgbClr val="07080C"/>
                </a:solidFill>
                <a:latin typeface="Segoe Fluent Icons"/>
              </a:rPr>
              <a:t></a:t>
            </a:r>
          </a:p>
        </p:txBody>
      </p:sp>
      <p:sp>
        <p:nvSpPr>
          <p:cNvPr id="11" name="TextBox 10"/>
          <p:cNvSpPr txBox="1"/>
          <p:nvPr/>
        </p:nvSpPr>
        <p:spPr>
          <a:xfrm>
            <a:off x="1280160" y="3337560"/>
            <a:ext cx="9628632" cy="1645920"/>
          </a:xfrm>
          <a:prstGeom prst="rect">
            <a:avLst/>
          </a:prstGeom>
          <a:noFill/>
        </p:spPr>
        <p:txBody>
          <a:bodyPr wrap="square" lIns="0" rIns="0" tIns="0" bIns="0" anchor="ctr">
            <a:noAutofit/>
          </a:bodyPr>
          <a:lstStyle/>
          <a:p>
            <a:pPr algn="ctr"/>
            <a:r>
              <a:rPr sz="4000" i="0">
                <a:solidFill>
                  <a:srgbClr val="F4F6FA"/>
                </a:solidFill>
                <a:latin typeface="Segoe UI Semibold"/>
              </a:rPr>
              <a:t>Generated here, with no cloud calls</a:t>
            </a:r>
          </a:p>
        </p:txBody>
      </p:sp>
      <p:sp>
        <p:nvSpPr>
          <p:cNvPr id="12" name="TextBox 11"/>
          <p:cNvSpPr txBox="1"/>
          <p:nvPr/>
        </p:nvSpPr>
        <p:spPr>
          <a:xfrm>
            <a:off x="1920240" y="5074920"/>
            <a:ext cx="8348472" cy="822960"/>
          </a:xfrm>
          <a:prstGeom prst="rect">
            <a:avLst/>
          </a:prstGeom>
          <a:noFill/>
        </p:spPr>
        <p:txBody>
          <a:bodyPr wrap="square" lIns="0" rIns="0" tIns="0" bIns="0" anchor="t">
            <a:noAutofit/>
          </a:bodyPr>
          <a:lstStyle/>
          <a:p>
            <a:pPr algn="ctr"/>
            <a:r>
              <a:rPr sz="1800" i="0">
                <a:solidFill>
                  <a:srgbClr val="AEB6C8"/>
                </a:solidFill>
                <a:latin typeface="Segoe UI"/>
              </a:rPr>
              <a:t>Qwen3-Coder 30B via llama.cpp on Surface Laptop Ultra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Run a 2-week, 10-developer pilot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Measure acceptance, latency and developer experience on real Zava work.</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12</a:t>
            </a:r>
          </a:p>
        </p:txBody>
      </p:sp>
      <p:sp>
        <p:nvSpPr>
          <p:cNvPr id="9" name="Rounded Rectangle 8"/>
          <p:cNvSpPr/>
          <p:nvPr/>
        </p:nvSpPr>
        <p:spPr>
          <a:xfrm>
            <a:off x="548640" y="1828800"/>
            <a:ext cx="2567178" cy="2926080"/>
          </a:xfrm>
          <a:prstGeom prst="roundRect">
            <a:avLst>
              <a:gd name="adj" fmla="val 4986"/>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103120"/>
            <a:ext cx="640080" cy="640080"/>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1</a:t>
            </a:r>
          </a:p>
        </p:txBody>
      </p:sp>
      <p:sp>
        <p:nvSpPr>
          <p:cNvPr id="12" name="TextBox 11"/>
          <p:cNvSpPr txBox="1"/>
          <p:nvPr/>
        </p:nvSpPr>
        <p:spPr>
          <a:xfrm>
            <a:off x="2384298" y="2176272"/>
            <a:ext cx="475488" cy="475488"/>
          </a:xfrm>
          <a:prstGeom prst="rect">
            <a:avLst/>
          </a:prstGeom>
          <a:noFill/>
        </p:spPr>
        <p:txBody>
          <a:bodyPr wrap="none" lIns="0" rIns="0" tIns="0" bIns="0" anchor="ctr">
            <a:spAutoFit/>
          </a:bodyPr>
          <a:lstStyle/>
          <a:p>
            <a:pPr algn="ctr"/>
            <a:r>
              <a:rPr sz="2321">
                <a:solidFill>
                  <a:srgbClr val="76B900"/>
                </a:solidFill>
                <a:latin typeface="Segoe Fluent Icons"/>
              </a:rPr>
              <a:t></a:t>
            </a:r>
          </a:p>
        </p:txBody>
      </p:sp>
      <p:sp>
        <p:nvSpPr>
          <p:cNvPr id="13" name="TextBox 12"/>
          <p:cNvSpPr txBox="1"/>
          <p:nvPr/>
        </p:nvSpPr>
        <p:spPr>
          <a:xfrm>
            <a:off x="822960"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Pick 10 developers</a:t>
            </a:r>
          </a:p>
        </p:txBody>
      </p:sp>
      <p:sp>
        <p:nvSpPr>
          <p:cNvPr id="14" name="TextBox 13"/>
          <p:cNvSpPr txBox="1"/>
          <p:nvPr/>
        </p:nvSpPr>
        <p:spPr>
          <a:xfrm>
            <a:off x="822960"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Mix of code and internal-docs work</a:t>
            </a:r>
          </a:p>
        </p:txBody>
      </p:sp>
      <p:sp>
        <p:nvSpPr>
          <p:cNvPr id="15" name="Rounded Rectangle 14"/>
          <p:cNvSpPr/>
          <p:nvPr/>
        </p:nvSpPr>
        <p:spPr>
          <a:xfrm>
            <a:off x="3390138" y="1828800"/>
            <a:ext cx="2567178" cy="2926080"/>
          </a:xfrm>
          <a:prstGeom prst="roundRect">
            <a:avLst>
              <a:gd name="adj" fmla="val 4986"/>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664458" y="2103120"/>
            <a:ext cx="640080" cy="640080"/>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664458"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2</a:t>
            </a:r>
          </a:p>
        </p:txBody>
      </p:sp>
      <p:sp>
        <p:nvSpPr>
          <p:cNvPr id="18" name="TextBox 17"/>
          <p:cNvSpPr txBox="1"/>
          <p:nvPr/>
        </p:nvSpPr>
        <p:spPr>
          <a:xfrm>
            <a:off x="5225796" y="2176272"/>
            <a:ext cx="475488" cy="475488"/>
          </a:xfrm>
          <a:prstGeom prst="rect">
            <a:avLst/>
          </a:prstGeom>
          <a:noFill/>
        </p:spPr>
        <p:txBody>
          <a:bodyPr wrap="none" lIns="0" rIns="0" tIns="0" bIns="0" anchor="ctr">
            <a:spAutoFit/>
          </a:bodyPr>
          <a:lstStyle/>
          <a:p>
            <a:pPr algn="ctr"/>
            <a:r>
              <a:rPr sz="2321">
                <a:solidFill>
                  <a:srgbClr val="3DA9FC"/>
                </a:solidFill>
                <a:latin typeface="Segoe Fluent Icons"/>
              </a:rPr>
              <a:t></a:t>
            </a:r>
          </a:p>
        </p:txBody>
      </p:sp>
      <p:sp>
        <p:nvSpPr>
          <p:cNvPr id="19" name="TextBox 18"/>
          <p:cNvSpPr txBox="1"/>
          <p:nvPr/>
        </p:nvSpPr>
        <p:spPr>
          <a:xfrm>
            <a:off x="3664458"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Run 14 days</a:t>
            </a:r>
          </a:p>
        </p:txBody>
      </p:sp>
      <p:sp>
        <p:nvSpPr>
          <p:cNvPr id="20" name="TextBox 19"/>
          <p:cNvSpPr txBox="1"/>
          <p:nvPr/>
        </p:nvSpPr>
        <p:spPr>
          <a:xfrm>
            <a:off x="3664458"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Local codegen and RAG, hybrid routing on</a:t>
            </a:r>
          </a:p>
        </p:txBody>
      </p:sp>
      <p:sp>
        <p:nvSpPr>
          <p:cNvPr id="21" name="Rounded Rectangle 20"/>
          <p:cNvSpPr/>
          <p:nvPr/>
        </p:nvSpPr>
        <p:spPr>
          <a:xfrm>
            <a:off x="6231636" y="1828800"/>
            <a:ext cx="2567178" cy="2926080"/>
          </a:xfrm>
          <a:prstGeom prst="roundRect">
            <a:avLst>
              <a:gd name="adj" fmla="val 4986"/>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505956" y="2103120"/>
            <a:ext cx="640080" cy="640080"/>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05956"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3</a:t>
            </a:r>
          </a:p>
        </p:txBody>
      </p:sp>
      <p:sp>
        <p:nvSpPr>
          <p:cNvPr id="24" name="TextBox 23"/>
          <p:cNvSpPr txBox="1"/>
          <p:nvPr/>
        </p:nvSpPr>
        <p:spPr>
          <a:xfrm>
            <a:off x="8067294" y="2176272"/>
            <a:ext cx="475488" cy="475488"/>
          </a:xfrm>
          <a:prstGeom prst="rect">
            <a:avLst/>
          </a:prstGeom>
          <a:noFill/>
        </p:spPr>
        <p:txBody>
          <a:bodyPr wrap="none" lIns="0" rIns="0" tIns="0" bIns="0" anchor="ctr">
            <a:spAutoFit/>
          </a:bodyPr>
          <a:lstStyle/>
          <a:p>
            <a:pPr algn="ctr"/>
            <a:r>
              <a:rPr sz="2321">
                <a:solidFill>
                  <a:srgbClr val="9B6BFF"/>
                </a:solidFill>
                <a:latin typeface="Segoe Fluent Icons"/>
              </a:rPr>
              <a:t></a:t>
            </a:r>
          </a:p>
        </p:txBody>
      </p:sp>
      <p:sp>
        <p:nvSpPr>
          <p:cNvPr id="25" name="TextBox 24"/>
          <p:cNvSpPr txBox="1"/>
          <p:nvPr/>
        </p:nvSpPr>
        <p:spPr>
          <a:xfrm>
            <a:off x="6505956"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Measure outcomes</a:t>
            </a:r>
          </a:p>
        </p:txBody>
      </p:sp>
      <p:sp>
        <p:nvSpPr>
          <p:cNvPr id="26" name="TextBox 25"/>
          <p:cNvSpPr txBox="1"/>
          <p:nvPr/>
        </p:nvSpPr>
        <p:spPr>
          <a:xfrm>
            <a:off x="6505956"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Acceptance rate, latency, developer experience</a:t>
            </a:r>
          </a:p>
        </p:txBody>
      </p:sp>
      <p:sp>
        <p:nvSpPr>
          <p:cNvPr id="27" name="Rounded Rectangle 26"/>
          <p:cNvSpPr/>
          <p:nvPr/>
        </p:nvSpPr>
        <p:spPr>
          <a:xfrm>
            <a:off x="9073134" y="1828800"/>
            <a:ext cx="2567178" cy="2926080"/>
          </a:xfrm>
          <a:prstGeom prst="roundRect">
            <a:avLst>
              <a:gd name="adj" fmla="val 4986"/>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347454" y="2103120"/>
            <a:ext cx="640080" cy="640080"/>
          </a:xfrm>
          <a:prstGeom prst="ellipse">
            <a:avLst/>
          </a:prstGeom>
          <a:solidFill>
            <a:srgbClr val="FFB547"/>
          </a:solidFill>
          <a:ln>
            <a:noFill/>
          </a:ln>
          <a:effectLst>
            <a:glow rad="101600">
              <a:srgbClr val="FFB547">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47454"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4</a:t>
            </a:r>
          </a:p>
        </p:txBody>
      </p:sp>
      <p:sp>
        <p:nvSpPr>
          <p:cNvPr id="30" name="TextBox 29"/>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FFB547"/>
                </a:solidFill>
                <a:latin typeface="Segoe Fluent Icons"/>
              </a:rPr>
              <a:t></a:t>
            </a:r>
          </a:p>
        </p:txBody>
      </p:sp>
      <p:sp>
        <p:nvSpPr>
          <p:cNvPr id="31" name="TextBox 30"/>
          <p:cNvSpPr txBox="1"/>
          <p:nvPr/>
        </p:nvSpPr>
        <p:spPr>
          <a:xfrm>
            <a:off x="9347454" y="2880360"/>
            <a:ext cx="2018538" cy="777240"/>
          </a:xfrm>
          <a:prstGeom prst="rect">
            <a:avLst/>
          </a:prstGeom>
          <a:noFill/>
        </p:spPr>
        <p:txBody>
          <a:bodyPr wrap="square" lIns="0" rIns="0" tIns="0" bIns="0" anchor="t">
            <a:noAutofit/>
          </a:bodyPr>
          <a:lstStyle/>
          <a:p>
            <a:pPr algn="l"/>
            <a:r>
              <a:rPr sz="2000" i="0">
                <a:solidFill>
                  <a:srgbClr val="F4F6FA"/>
                </a:solidFill>
                <a:latin typeface="Segoe UI Semibold"/>
              </a:rPr>
              <a:t>Decide together</a:t>
            </a:r>
          </a:p>
        </p:txBody>
      </p:sp>
      <p:sp>
        <p:nvSpPr>
          <p:cNvPr id="32" name="TextBox 31"/>
          <p:cNvSpPr txBox="1"/>
          <p:nvPr/>
        </p:nvSpPr>
        <p:spPr>
          <a:xfrm>
            <a:off x="9347454" y="3657600"/>
            <a:ext cx="2018538" cy="960120"/>
          </a:xfrm>
          <a:prstGeom prst="rect">
            <a:avLst/>
          </a:prstGeom>
          <a:noFill/>
        </p:spPr>
        <p:txBody>
          <a:bodyPr wrap="square" lIns="0" rIns="0" tIns="0" bIns="0" anchor="t">
            <a:noAutofit/>
          </a:bodyPr>
          <a:lstStyle/>
          <a:p>
            <a:pPr algn="l"/>
            <a:r>
              <a:rPr sz="1500" i="0">
                <a:solidFill>
                  <a:srgbClr val="AEB6C8"/>
                </a:solidFill>
                <a:latin typeface="Segoe UI"/>
              </a:rPr>
              <a:t>Review results with platform architects</a:t>
            </a:r>
          </a:p>
        </p:txBody>
      </p:sp>
      <p:sp>
        <p:nvSpPr>
          <p:cNvPr id="33" name="Rounded Rectangle 32"/>
          <p:cNvSpPr/>
          <p:nvPr/>
        </p:nvSpPr>
        <p:spPr>
          <a:xfrm>
            <a:off x="548640" y="5029200"/>
            <a:ext cx="11091672" cy="1143000"/>
          </a:xfrm>
          <a:prstGeom prst="roundRect">
            <a:avLst>
              <a:gd name="adj" fmla="val 11200"/>
            </a:avLst>
          </a:prstGeom>
          <a:gradFill rotWithShape="1">
            <a:gsLst>
              <a:gs pos="0">
                <a:srgbClr val="76B900"/>
              </a:gs>
              <a:gs pos="100000">
                <a:srgbClr val="54AF97"/>
              </a:gs>
            </a:gsLst>
            <a:lin scaled="0" ang="0"/>
          </a:gradFill>
          <a:ln>
            <a:noFill/>
          </a:ln>
          <a:effectLst>
            <a:glow rad="1778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07080C"/>
                </a:solidFill>
                <a:latin typeface="Segoe Fluent Icons"/>
              </a:rPr>
              <a:t></a:t>
            </a:r>
          </a:p>
        </p:txBody>
      </p:sp>
      <p:sp>
        <p:nvSpPr>
          <p:cNvPr id="35" name="TextBox 34"/>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07080C"/>
                </a:solidFill>
                <a:latin typeface="Segoe UI Semibold"/>
              </a:rPr>
              <a:t>Approve a 10-developer, 2-week technical 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 Local AI Developer Stack</dc:title>
  <dc:subject/>
  <dc:creator>Offline PPTX Forge</dc:creator>
  <cp:keywords/>
  <dc:description>Generated offline; template=surface_ultra</dc:description>
  <cp:lastModifiedBy>Steve Canny</cp:lastModifiedBy>
  <cp:revision>1</cp:revision>
  <dcterms:created xsi:type="dcterms:W3CDTF">2013-01-27T09:14:16Z</dcterms:created>
  <dcterms:modified xsi:type="dcterms:W3CDTF">2013-01-27T09:15:58Z</dcterms:modified>
  <cp:category/>
</cp:coreProperties>
</file>