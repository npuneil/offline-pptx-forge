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B3B3B3"/>
            </a:solidFill>
          </c:spPr>
          <c:dPt>
            <c:idx val="0"/>
            <c:spPr>
              <a:solidFill>
                <a:srgbClr val="0078D4"/>
              </a:solidFill>
            </c:spPr>
          </c:dPt>
          <c:cat>
            <c:strRef>
              <c:f>Sheet1!$A$2:$A$3</c:f>
              <c:strCache>
                <c:ptCount val="2"/>
                <c:pt idx="0">
                  <c:v>Gemma 4 26B</c:v>
                </c:pt>
                <c:pt idx="1">
                  <c:v>Qwen3-Coder 30B</c:v>
                </c:pt>
              </c:strCache>
            </c:strRef>
          </c:cat>
          <c:val>
            <c:numRef>
              <c:f>Sheet1!$B$2:$B$3</c:f>
              <c:numCache>
                <c:formatCode>General</c:formatCode>
                <c:ptCount val="2"/>
                <c:pt idx="0">
                  <c:v>72.0</c:v>
                </c:pt>
                <c:pt idx="1">
                  <c:v>86.0</c:v>
                </c:pt>
              </c:numCache>
            </c:numRef>
          </c:val>
        </c:ser>
        <c:dLbls>
          <c:numFmt formatCode="#,##0&quot; tokens/sec&quot;" sourceLinked="0"/>
          <c:txPr>
            <a:bodyPr/>
            <a:lstStyle/>
            <a:p>
              <a:pPr>
                <a:defRPr sz="1500" b="1">
                  <a:solidFill>
                    <a:srgbClr val="1B1B1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1B1B1B"/>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1B1B1B"/>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the time. Today we propose a small, low-risk step: a local AI lane on the laptop for traveling consultants, working alongside the Microsoft 365 Copilot you already use. We end with one ask: a 2-week, 10-user 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Contoso's 4,000 employees, 1,200 are traveling consultants. Each writes about 6 client summaries a week, around 25 minutes each. And roughly 30% of client sites restrict guest Wi-Fi, exactly where the notes and documents are gathered.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offline maps. You download the map before the trip, and it still guides you when there is no signal. Local AI works the same way: the model lives on the laptop. When connected, Copilot adds live context. The pilot validates how well disconnected use works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architecture. Interview notes and site documents feed a model running on the laptop itself, producing the summary draft right there. Microsoft 365 Copilot remains available for general connected work. For sensitive, repeated drafting, the work stays on the device. The pilot validates disconnected 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replacement. Copilot stays exactly where it is. We add a second lane on the device for the sensitive, repetitive drafting consultants do at client sites. Each lane does what it does best.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simple way to picture hybrid: you keep going to the restaurant you love, that's Copilot. But everyday meals and family recipes are made in your own kitchen, that's the local lane. Nobody cancels the restaurant; you just stop driving there for every snack.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device is Surface Laptop Ultra with NVIDIA RTX Spark: a Blackwell RTX GPU, 20 CPU cores and 128 GB of installed memory. That is enough headroom to hold a catalog of 28 open models locally, so consultants pick the right model for the task.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matters for adoption. On this device, Gemma 4 26B decodes at about 72 tokens per second and Qwen3-Coder 30B at about 86, single stream, measured with Local-AI-Bench in October 2026. Drafts appear quickly, without waiting on a network.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illustrative capacity, not a promise. If a local assistant saved 5 minutes per summary, 1,200 consultants times 6 summaries times 5 minutes times 46 weeks is about 27,600 hours a year. It is unvalidated. The pilot measures the real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is deliberately small: 10 users for 14 days. We equip consultants on day one, they draft real summaries, we include sites with restricted Wi-Fi to validate disconnected use, and on day 14 we report task time, draft quality and user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point: the deck you are looking at was generated on this Surface Laptop Ultra by a local model, with no cloud calls. It is a small demonstration of the kind of drafting work consultants could do on the road.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ask is simple: approve a 2-week, 10-user pilot. The Consulting practice lead nominates travel-heavy consultants, the CIO's team sets up devices, and we return with measured task time, draft quality and user experience. Copilot stays in place throughout.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155448" cy="155448"/>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2960" y="566928"/>
            <a:ext cx="155448" cy="155448"/>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40080" y="749808"/>
            <a:ext cx="155448" cy="155448"/>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22960" y="749808"/>
            <a:ext cx="155448" cy="15544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530352"/>
            <a:ext cx="2743200" cy="384048"/>
          </a:xfrm>
          <a:prstGeom prst="rect">
            <a:avLst/>
          </a:prstGeom>
          <a:noFill/>
        </p:spPr>
        <p:txBody>
          <a:bodyPr wrap="square" lIns="0" rIns="0" tIns="0" bIns="0" anchor="ctr">
            <a:noAutofit/>
          </a:bodyPr>
          <a:lstStyle/>
          <a:p>
            <a:pPr algn="l"/>
            <a:r>
              <a:rPr sz="1900" i="0">
                <a:solidFill>
                  <a:srgbClr val="737373"/>
                </a:solidFill>
                <a:latin typeface="Segoe UI Semibold"/>
              </a:rPr>
              <a:t>Microsoft</a:t>
            </a:r>
          </a:p>
        </p:txBody>
      </p:sp>
      <p:sp>
        <p:nvSpPr>
          <p:cNvPr id="7" name="Rectangle 6"/>
          <p:cNvSpPr/>
          <p:nvPr/>
        </p:nvSpPr>
        <p:spPr>
          <a:xfrm>
            <a:off x="8001000" y="1600200"/>
            <a:ext cx="1600200" cy="1600200"/>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01050"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9" name="Rectangle 8"/>
          <p:cNvSpPr/>
          <p:nvPr/>
        </p:nvSpPr>
        <p:spPr>
          <a:xfrm>
            <a:off x="9747504" y="1600200"/>
            <a:ext cx="1600200" cy="1600200"/>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47554"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1" name="Rectangle 10"/>
          <p:cNvSpPr/>
          <p:nvPr/>
        </p:nvSpPr>
        <p:spPr>
          <a:xfrm>
            <a:off x="8001000" y="3346704"/>
            <a:ext cx="1600200" cy="160020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01050"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3" name="Rectangle 12"/>
          <p:cNvSpPr/>
          <p:nvPr/>
        </p:nvSpPr>
        <p:spPr>
          <a:xfrm>
            <a:off x="9747504" y="3346704"/>
            <a:ext cx="1600200" cy="160020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7554"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5" name="TextBox 14"/>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0078D4"/>
                </a:solidFill>
                <a:latin typeface="Segoe UI Semibold"/>
              </a:rPr>
              <a:t>CONTOSO EXECUTIVE BRIEFING</a:t>
            </a:r>
          </a:p>
        </p:txBody>
      </p:sp>
      <p:sp>
        <p:nvSpPr>
          <p:cNvPr id="16" name="TextBox 15"/>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1B1B1B"/>
                </a:solidFill>
                <a:latin typeface="Segoe UI Semibold"/>
              </a:rPr>
              <a:t>A Local AI Lane for Consultants</a:t>
            </a:r>
          </a:p>
        </p:txBody>
      </p:sp>
      <p:sp>
        <p:nvSpPr>
          <p:cNvPr id="17" name="TextBox 16"/>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505050"/>
                </a:solidFill>
                <a:latin typeface="Segoe UI"/>
              </a:rPr>
              <a:t>Surface Laptop Ultra with NVIDIA RTX Spark, alongside Microsoft 365 Copilot</a:t>
            </a:r>
          </a:p>
        </p:txBody>
      </p:sp>
      <p:sp>
        <p:nvSpPr>
          <p:cNvPr id="18" name="TextBox 17"/>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8A8A8A"/>
                </a:solidFill>
                <a:latin typeface="Segoe UI"/>
              </a:rPr>
              <a:t>Microsoft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Consultants Draft Under Pressure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1,200 traveling consultants spend hours weekly drafting client summaries.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2</a:t>
            </a:r>
          </a:p>
        </p:txBody>
      </p:sp>
      <p:sp>
        <p:nvSpPr>
          <p:cNvPr id="10" name="Rounded Rectangle 9"/>
          <p:cNvSpPr/>
          <p:nvPr/>
        </p:nvSpPr>
        <p:spPr>
          <a:xfrm>
            <a:off x="548640"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2217420"/>
            <a:ext cx="2532888" cy="822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32104" y="2546604"/>
            <a:ext cx="713232" cy="71323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14" name="TextBox 13"/>
          <p:cNvSpPr txBox="1"/>
          <p:nvPr/>
        </p:nvSpPr>
        <p:spPr>
          <a:xfrm>
            <a:off x="822960" y="3406140"/>
            <a:ext cx="1984248" cy="1234440"/>
          </a:xfrm>
          <a:prstGeom prst="rect">
            <a:avLst/>
          </a:prstGeom>
          <a:noFill/>
        </p:spPr>
        <p:txBody>
          <a:bodyPr wrap="square" lIns="0" rIns="0" tIns="0" bIns="0" anchor="ctr">
            <a:noAutofit/>
          </a:bodyPr>
          <a:lstStyle/>
          <a:p>
            <a:pPr algn="l"/>
            <a:r>
              <a:rPr sz="6000" i="0">
                <a:solidFill>
                  <a:srgbClr val="0078D4"/>
                </a:solidFill>
                <a:latin typeface="Segoe UI Semibold"/>
              </a:rPr>
              <a:t>1,200</a:t>
            </a:r>
          </a:p>
        </p:txBody>
      </p:sp>
      <p:sp>
        <p:nvSpPr>
          <p:cNvPr id="15" name="TextBox 14"/>
          <p:cNvSpPr txBox="1"/>
          <p:nvPr/>
        </p:nvSpPr>
        <p:spPr>
          <a:xfrm>
            <a:off x="822960"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Traveling consultants</a:t>
            </a:r>
          </a:p>
        </p:txBody>
      </p:sp>
      <p:sp>
        <p:nvSpPr>
          <p:cNvPr id="16" name="TextBox 15"/>
          <p:cNvSpPr txBox="1"/>
          <p:nvPr/>
        </p:nvSpPr>
        <p:spPr>
          <a:xfrm>
            <a:off x="822960"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a:t>
            </a:r>
          </a:p>
        </p:txBody>
      </p:sp>
      <p:sp>
        <p:nvSpPr>
          <p:cNvPr id="17" name="Rounded Rectangle 16"/>
          <p:cNvSpPr/>
          <p:nvPr/>
        </p:nvSpPr>
        <p:spPr>
          <a:xfrm>
            <a:off x="3401568"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401568" y="2217420"/>
            <a:ext cx="2532888" cy="82296"/>
          </a:xfrm>
          <a:prstGeom prst="rect">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3685032" y="2546604"/>
            <a:ext cx="713232" cy="713232"/>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784884"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1" name="TextBox 20"/>
          <p:cNvSpPr txBox="1"/>
          <p:nvPr/>
        </p:nvSpPr>
        <p:spPr>
          <a:xfrm>
            <a:off x="3675888" y="3406140"/>
            <a:ext cx="1984248" cy="1234440"/>
          </a:xfrm>
          <a:prstGeom prst="rect">
            <a:avLst/>
          </a:prstGeom>
          <a:noFill/>
        </p:spPr>
        <p:txBody>
          <a:bodyPr wrap="square" lIns="0" rIns="0" tIns="0" bIns="0" anchor="ctr">
            <a:noAutofit/>
          </a:bodyPr>
          <a:lstStyle/>
          <a:p>
            <a:pPr algn="l"/>
            <a:r>
              <a:rPr sz="6000" i="0">
                <a:solidFill>
                  <a:srgbClr val="107C10"/>
                </a:solidFill>
                <a:latin typeface="Segoe UI Semibold"/>
              </a:rPr>
              <a:t>6</a:t>
            </a:r>
          </a:p>
        </p:txBody>
      </p:sp>
      <p:sp>
        <p:nvSpPr>
          <p:cNvPr id="22" name="TextBox 21"/>
          <p:cNvSpPr txBox="1"/>
          <p:nvPr/>
        </p:nvSpPr>
        <p:spPr>
          <a:xfrm>
            <a:off x="3675888"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Summaries per week each</a:t>
            </a:r>
          </a:p>
        </p:txBody>
      </p:sp>
      <p:sp>
        <p:nvSpPr>
          <p:cNvPr id="23" name="TextBox 22"/>
          <p:cNvSpPr txBox="1"/>
          <p:nvPr/>
        </p:nvSpPr>
        <p:spPr>
          <a:xfrm>
            <a:off x="3675888"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a:t>
            </a:r>
          </a:p>
        </p:txBody>
      </p:sp>
      <p:sp>
        <p:nvSpPr>
          <p:cNvPr id="24" name="Rounded Rectangle 23"/>
          <p:cNvSpPr/>
          <p:nvPr/>
        </p:nvSpPr>
        <p:spPr>
          <a:xfrm>
            <a:off x="6254496"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54496" y="2217420"/>
            <a:ext cx="2532888" cy="82296"/>
          </a:xfrm>
          <a:prstGeom prst="rect">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37960" y="2546604"/>
            <a:ext cx="713232" cy="713232"/>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28" name="TextBox 27"/>
          <p:cNvSpPr txBox="1"/>
          <p:nvPr/>
        </p:nvSpPr>
        <p:spPr>
          <a:xfrm>
            <a:off x="6528816" y="3406140"/>
            <a:ext cx="1984248" cy="1234440"/>
          </a:xfrm>
          <a:prstGeom prst="rect">
            <a:avLst/>
          </a:prstGeom>
          <a:noFill/>
        </p:spPr>
        <p:txBody>
          <a:bodyPr wrap="square" lIns="0" rIns="0" tIns="0" bIns="0" anchor="ctr">
            <a:noAutofit/>
          </a:bodyPr>
          <a:lstStyle/>
          <a:p>
            <a:pPr algn="l"/>
            <a:r>
              <a:rPr sz="4900" i="0">
                <a:solidFill>
                  <a:srgbClr val="D83B01"/>
                </a:solidFill>
                <a:latin typeface="Segoe UI Semibold"/>
              </a:rPr>
              <a:t>25 min</a:t>
            </a:r>
          </a:p>
        </p:txBody>
      </p:sp>
      <p:sp>
        <p:nvSpPr>
          <p:cNvPr id="29" name="TextBox 28"/>
          <p:cNvSpPr txBox="1"/>
          <p:nvPr/>
        </p:nvSpPr>
        <p:spPr>
          <a:xfrm>
            <a:off x="6528816"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To draft one summary</a:t>
            </a:r>
          </a:p>
        </p:txBody>
      </p:sp>
      <p:sp>
        <p:nvSpPr>
          <p:cNvPr id="30" name="TextBox 29"/>
          <p:cNvSpPr txBox="1"/>
          <p:nvPr/>
        </p:nvSpPr>
        <p:spPr>
          <a:xfrm>
            <a:off x="6528816"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a:t>
            </a:r>
          </a:p>
        </p:txBody>
      </p:sp>
      <p:sp>
        <p:nvSpPr>
          <p:cNvPr id="31" name="Rounded Rectangle 30"/>
          <p:cNvSpPr/>
          <p:nvPr/>
        </p:nvSpPr>
        <p:spPr>
          <a:xfrm>
            <a:off x="9107424" y="2217420"/>
            <a:ext cx="2532888" cy="3566160"/>
          </a:xfrm>
          <a:prstGeom prst="roundRect">
            <a:avLst>
              <a:gd name="adj" fmla="val 21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107424" y="2217420"/>
            <a:ext cx="2532888"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390888" y="2546604"/>
            <a:ext cx="713232" cy="713232"/>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90740" y="2646456"/>
            <a:ext cx="513527" cy="513527"/>
          </a:xfrm>
          <a:prstGeom prst="rect">
            <a:avLst/>
          </a:prstGeom>
          <a:noFill/>
        </p:spPr>
        <p:txBody>
          <a:bodyPr wrap="none" lIns="0" rIns="0" tIns="0" bIns="0" anchor="ctr">
            <a:spAutoFit/>
          </a:bodyPr>
          <a:lstStyle/>
          <a:p>
            <a:pPr algn="ctr"/>
            <a:r>
              <a:rPr sz="2506">
                <a:solidFill>
                  <a:srgbClr val="FFFFFF"/>
                </a:solidFill>
                <a:latin typeface="Segoe Fluent Icons"/>
              </a:rPr>
              <a:t></a:t>
            </a:r>
          </a:p>
        </p:txBody>
      </p:sp>
      <p:sp>
        <p:nvSpPr>
          <p:cNvPr id="35" name="TextBox 34"/>
          <p:cNvSpPr txBox="1"/>
          <p:nvPr/>
        </p:nvSpPr>
        <p:spPr>
          <a:xfrm>
            <a:off x="9381744" y="3406140"/>
            <a:ext cx="1984248" cy="1234440"/>
          </a:xfrm>
          <a:prstGeom prst="rect">
            <a:avLst/>
          </a:prstGeom>
          <a:noFill/>
        </p:spPr>
        <p:txBody>
          <a:bodyPr wrap="square" lIns="0" rIns="0" tIns="0" bIns="0" anchor="ctr">
            <a:noAutofit/>
          </a:bodyPr>
          <a:lstStyle/>
          <a:p>
            <a:pPr algn="l"/>
            <a:r>
              <a:rPr sz="6000" i="0">
                <a:solidFill>
                  <a:srgbClr val="1B1B1B"/>
                </a:solidFill>
                <a:latin typeface="Segoe UI Semibold"/>
              </a:rPr>
              <a:t>30%</a:t>
            </a:r>
          </a:p>
        </p:txBody>
      </p:sp>
      <p:sp>
        <p:nvSpPr>
          <p:cNvPr id="36" name="TextBox 35"/>
          <p:cNvSpPr txBox="1"/>
          <p:nvPr/>
        </p:nvSpPr>
        <p:spPr>
          <a:xfrm>
            <a:off x="9381744" y="4640580"/>
            <a:ext cx="1984248" cy="731520"/>
          </a:xfrm>
          <a:prstGeom prst="rect">
            <a:avLst/>
          </a:prstGeom>
          <a:noFill/>
        </p:spPr>
        <p:txBody>
          <a:bodyPr wrap="square" lIns="0" rIns="0" tIns="0" bIns="0" anchor="t">
            <a:noAutofit/>
          </a:bodyPr>
          <a:lstStyle/>
          <a:p>
            <a:pPr algn="l"/>
            <a:r>
              <a:rPr sz="1700" i="0">
                <a:solidFill>
                  <a:srgbClr val="1B1B1B"/>
                </a:solidFill>
                <a:latin typeface="Segoe UI"/>
              </a:rPr>
              <a:t>Sites restrict guest Wi-Fi</a:t>
            </a:r>
          </a:p>
        </p:txBody>
      </p:sp>
      <p:sp>
        <p:nvSpPr>
          <p:cNvPr id="37" name="TextBox 36"/>
          <p:cNvSpPr txBox="1"/>
          <p:nvPr/>
        </p:nvSpPr>
        <p:spPr>
          <a:xfrm>
            <a:off x="9381744" y="5372100"/>
            <a:ext cx="1984248" cy="320040"/>
          </a:xfrm>
          <a:prstGeom prst="rect">
            <a:avLst/>
          </a:prstGeom>
          <a:noFill/>
        </p:spPr>
        <p:txBody>
          <a:bodyPr wrap="square" lIns="0" rIns="0" tIns="0" bIns="0" anchor="t">
            <a:noAutofit/>
          </a:bodyPr>
          <a:lstStyle/>
          <a:p>
            <a:pPr algn="l"/>
            <a:r>
              <a:rPr sz="1000" i="0">
                <a:solidFill>
                  <a:srgbClr val="8A8A8A"/>
                </a:solidFill>
                <a:latin typeface="Segoe UI"/>
              </a:rPr>
              <a:t>Contoso brief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Your AI Shouldn't Need Hotel Wi-Fi</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Like offline maps, local AI keeps working when client Wi-Fi doesn't.</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3</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Local AI on device</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Offline maps on phone</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Model stored on laptop</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Map downloaded before trip</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Drafts when Wi-Fi blocked</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Navigates without signal</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Copilot when connected</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Live traffic when online</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Pilot validates disconnected use</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Test drive before trip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Sensitive Notes Stay on the Laptop</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Sensitive drafting happens on-device; the pilot validates disconnected use.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4</a:t>
            </a:r>
          </a:p>
        </p:txBody>
      </p:sp>
      <p:cxnSp>
        <p:nvCxnSpPr>
          <p:cNvPr id="10" name="Connector 9"/>
          <p:cNvCxnSpPr/>
          <p:nvPr/>
        </p:nvCxnSpPr>
        <p:spPr>
          <a:xfrm>
            <a:off x="3321558" y="3638550"/>
            <a:ext cx="554584" cy="506730"/>
          </a:xfrm>
          <a:prstGeom prst="line">
            <a:avLst/>
          </a:prstGeom>
          <a:ln w="28575">
            <a:solidFill>
              <a:srgbClr val="A1A1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321558" y="4290060"/>
            <a:ext cx="554584" cy="506730"/>
          </a:xfrm>
          <a:prstGeom prst="line">
            <a:avLst/>
          </a:prstGeom>
          <a:ln w="28575">
            <a:solidFill>
              <a:srgbClr val="A1A1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539892" y="4217670"/>
            <a:ext cx="554584" cy="0"/>
          </a:xfrm>
          <a:prstGeom prst="line">
            <a:avLst/>
          </a:prstGeom>
          <a:ln w="2857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0380" y="3131820"/>
            <a:ext cx="1016736" cy="0"/>
          </a:xfrm>
          <a:prstGeom prst="line">
            <a:avLst/>
          </a:prstGeom>
          <a:ln w="28575">
            <a:solidFill>
              <a:srgbClr val="A1A1A1"/>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22908" y="2747772"/>
            <a:ext cx="2011680" cy="329184"/>
          </a:xfrm>
          <a:prstGeom prst="rect">
            <a:avLst/>
          </a:prstGeom>
          <a:noFill/>
        </p:spPr>
        <p:txBody>
          <a:bodyPr wrap="square" lIns="0" rIns="0" tIns="0" bIns="0" anchor="t">
            <a:noAutofit/>
          </a:bodyPr>
          <a:lstStyle/>
          <a:p>
            <a:pPr algn="ctr"/>
            <a:r>
              <a:rPr sz="1200" i="0">
                <a:solidFill>
                  <a:srgbClr val="505050"/>
                </a:solidFill>
                <a:latin typeface="Segoe UI"/>
              </a:rPr>
              <a:t>General work</a:t>
            </a:r>
          </a:p>
        </p:txBody>
      </p:sp>
      <p:sp>
        <p:nvSpPr>
          <p:cNvPr id="15" name="Rounded Rectangle 14"/>
          <p:cNvSpPr/>
          <p:nvPr/>
        </p:nvSpPr>
        <p:spPr>
          <a:xfrm>
            <a:off x="825932" y="2407920"/>
            <a:ext cx="7394448" cy="3547110"/>
          </a:xfrm>
          <a:prstGeom prst="roundRect">
            <a:avLst>
              <a:gd name="adj" fmla="val 154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0793" y="2516505"/>
            <a:ext cx="434340" cy="434340"/>
          </a:xfrm>
          <a:prstGeom prst="rect">
            <a:avLst/>
          </a:prstGeom>
          <a:noFill/>
        </p:spPr>
        <p:txBody>
          <a:bodyPr wrap="none" lIns="0" rIns="0" tIns="0" bIns="0" anchor="ctr">
            <a:spAutoFit/>
          </a:bodyPr>
          <a:lstStyle/>
          <a:p>
            <a:pPr algn="ctr"/>
            <a:r>
              <a:rPr sz="2120">
                <a:solidFill>
                  <a:srgbClr val="0078D4"/>
                </a:solidFill>
                <a:latin typeface="Segoe Fluent Icons"/>
              </a:rPr>
              <a:t></a:t>
            </a:r>
          </a:p>
        </p:txBody>
      </p:sp>
      <p:sp>
        <p:nvSpPr>
          <p:cNvPr id="17" name="TextBox 16"/>
          <p:cNvSpPr txBox="1"/>
          <p:nvPr/>
        </p:nvSpPr>
        <p:spPr>
          <a:xfrm>
            <a:off x="1657807" y="2516505"/>
            <a:ext cx="6007989" cy="434340"/>
          </a:xfrm>
          <a:prstGeom prst="rect">
            <a:avLst/>
          </a:prstGeom>
          <a:noFill/>
        </p:spPr>
        <p:txBody>
          <a:bodyPr wrap="square" lIns="0" rIns="0" tIns="0" bIns="0" anchor="t">
            <a:noAutofit/>
          </a:bodyPr>
          <a:lstStyle/>
          <a:p>
            <a:pPr algn="l"/>
            <a:r>
              <a:rPr sz="2000" i="0">
                <a:solidFill>
                  <a:srgbClr val="1B1B1B"/>
                </a:solidFill>
                <a:latin typeface="Segoe UI Semibold"/>
              </a:rPr>
              <a:t>Surface Laptop Ultra: on-device lane</a:t>
            </a:r>
          </a:p>
        </p:txBody>
      </p:sp>
      <p:sp>
        <p:nvSpPr>
          <p:cNvPr id="18" name="Rounded Rectangle 17"/>
          <p:cNvSpPr/>
          <p:nvPr/>
        </p:nvSpPr>
        <p:spPr>
          <a:xfrm>
            <a:off x="1288085" y="3276600"/>
            <a:ext cx="2033473" cy="723900"/>
          </a:xfrm>
          <a:prstGeom prst="roundRect">
            <a:avLst>
              <a:gd name="adj" fmla="val 50000"/>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443533" y="3439478"/>
            <a:ext cx="398145" cy="398145"/>
          </a:xfrm>
          <a:prstGeom prst="rect">
            <a:avLst/>
          </a:prstGeom>
          <a:noFill/>
        </p:spPr>
        <p:txBody>
          <a:bodyPr wrap="none" lIns="0" rIns="0" tIns="0" bIns="0" anchor="ctr">
            <a:spAutoFit/>
          </a:bodyPr>
          <a:lstStyle/>
          <a:p>
            <a:pPr algn="ctr"/>
            <a:r>
              <a:rPr sz="1943">
                <a:solidFill>
                  <a:srgbClr val="FFFFFF"/>
                </a:solidFill>
                <a:latin typeface="Segoe Fluent Icons"/>
              </a:rPr>
              <a:t></a:t>
            </a:r>
          </a:p>
        </p:txBody>
      </p:sp>
      <p:sp>
        <p:nvSpPr>
          <p:cNvPr id="20" name="TextBox 19"/>
          <p:cNvSpPr txBox="1"/>
          <p:nvPr/>
        </p:nvSpPr>
        <p:spPr>
          <a:xfrm>
            <a:off x="1960550" y="3386328"/>
            <a:ext cx="1269568" cy="504444"/>
          </a:xfrm>
          <a:prstGeom prst="rect">
            <a:avLst/>
          </a:prstGeom>
          <a:noFill/>
        </p:spPr>
        <p:txBody>
          <a:bodyPr wrap="square" lIns="0" rIns="0" tIns="0" bIns="0" anchor="ctr">
            <a:noAutofit/>
          </a:bodyPr>
          <a:lstStyle/>
          <a:p>
            <a:pPr algn="l"/>
            <a:r>
              <a:rPr sz="1500" i="0">
                <a:solidFill>
                  <a:srgbClr val="FFFFFF"/>
                </a:solidFill>
                <a:latin typeface="Segoe UI Semibold"/>
              </a:rPr>
              <a:t>Interview notes</a:t>
            </a:r>
          </a:p>
        </p:txBody>
      </p:sp>
      <p:sp>
        <p:nvSpPr>
          <p:cNvPr id="21" name="Rounded Rectangle 20"/>
          <p:cNvSpPr/>
          <p:nvPr/>
        </p:nvSpPr>
        <p:spPr>
          <a:xfrm>
            <a:off x="1288085" y="4434840"/>
            <a:ext cx="2033473" cy="723900"/>
          </a:xfrm>
          <a:prstGeom prst="roundRect">
            <a:avLst>
              <a:gd name="adj" fmla="val 50000"/>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443533" y="4597717"/>
            <a:ext cx="398145" cy="398145"/>
          </a:xfrm>
          <a:prstGeom prst="rect">
            <a:avLst/>
          </a:prstGeom>
          <a:noFill/>
        </p:spPr>
        <p:txBody>
          <a:bodyPr wrap="none" lIns="0" rIns="0" tIns="0" bIns="0" anchor="ctr">
            <a:spAutoFit/>
          </a:bodyPr>
          <a:lstStyle/>
          <a:p>
            <a:pPr algn="ctr"/>
            <a:r>
              <a:rPr sz="1943">
                <a:solidFill>
                  <a:srgbClr val="FFFFFF"/>
                </a:solidFill>
                <a:latin typeface="Segoe Fluent Icons"/>
              </a:rPr>
              <a:t></a:t>
            </a:r>
          </a:p>
        </p:txBody>
      </p:sp>
      <p:sp>
        <p:nvSpPr>
          <p:cNvPr id="23" name="TextBox 22"/>
          <p:cNvSpPr txBox="1"/>
          <p:nvPr/>
        </p:nvSpPr>
        <p:spPr>
          <a:xfrm>
            <a:off x="1960550" y="4544568"/>
            <a:ext cx="1269568" cy="504444"/>
          </a:xfrm>
          <a:prstGeom prst="rect">
            <a:avLst/>
          </a:prstGeom>
          <a:noFill/>
        </p:spPr>
        <p:txBody>
          <a:bodyPr wrap="square" lIns="0" rIns="0" tIns="0" bIns="0" anchor="ctr">
            <a:noAutofit/>
          </a:bodyPr>
          <a:lstStyle/>
          <a:p>
            <a:pPr algn="l"/>
            <a:r>
              <a:rPr sz="1500" i="0">
                <a:solidFill>
                  <a:srgbClr val="FFFFFF"/>
                </a:solidFill>
                <a:latin typeface="Segoe UI Semibold"/>
              </a:rPr>
              <a:t>Site documents</a:t>
            </a:r>
          </a:p>
        </p:txBody>
      </p:sp>
      <p:sp>
        <p:nvSpPr>
          <p:cNvPr id="24" name="Hexagon 23"/>
          <p:cNvSpPr/>
          <p:nvPr/>
        </p:nvSpPr>
        <p:spPr>
          <a:xfrm>
            <a:off x="3876142" y="3710940"/>
            <a:ext cx="1663751" cy="1013460"/>
          </a:xfrm>
          <a:prstGeom prst="hexagon">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031590" y="396621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6" name="TextBox 25"/>
          <p:cNvSpPr txBox="1"/>
          <p:nvPr/>
        </p:nvSpPr>
        <p:spPr>
          <a:xfrm>
            <a:off x="4653382" y="3820668"/>
            <a:ext cx="795071" cy="794004"/>
          </a:xfrm>
          <a:prstGeom prst="rect">
            <a:avLst/>
          </a:prstGeom>
          <a:noFill/>
        </p:spPr>
        <p:txBody>
          <a:bodyPr wrap="square" lIns="0" rIns="0" tIns="0" bIns="0" anchor="ctr">
            <a:noAutofit/>
          </a:bodyPr>
          <a:lstStyle/>
          <a:p>
            <a:pPr algn="l"/>
            <a:r>
              <a:rPr sz="1600" i="0">
                <a:solidFill>
                  <a:srgbClr val="FFFFFF"/>
                </a:solidFill>
                <a:latin typeface="Segoe UI Semibold"/>
              </a:rPr>
              <a:t>Local model</a:t>
            </a:r>
          </a:p>
        </p:txBody>
      </p:sp>
      <p:sp>
        <p:nvSpPr>
          <p:cNvPr id="27" name="Rounded Rectangle 26"/>
          <p:cNvSpPr/>
          <p:nvPr/>
        </p:nvSpPr>
        <p:spPr>
          <a:xfrm>
            <a:off x="6094476" y="3783330"/>
            <a:ext cx="1848612" cy="868680"/>
          </a:xfrm>
          <a:prstGeom prst="roundRect">
            <a:avLst>
              <a:gd name="adj" fmla="val 6315"/>
            </a:avLst>
          </a:prstGeom>
          <a:solidFill>
            <a:srgbClr val="FFB90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49924" y="3978783"/>
            <a:ext cx="477774" cy="477774"/>
          </a:xfrm>
          <a:prstGeom prst="rect">
            <a:avLst/>
          </a:prstGeom>
          <a:noFill/>
        </p:spPr>
        <p:txBody>
          <a:bodyPr wrap="none" lIns="0" rIns="0" tIns="0" bIns="0" anchor="ctr">
            <a:spAutoFit/>
          </a:bodyPr>
          <a:lstStyle/>
          <a:p>
            <a:pPr algn="ctr"/>
            <a:r>
              <a:rPr sz="2332">
                <a:solidFill>
                  <a:srgbClr val="FFFFFF"/>
                </a:solidFill>
                <a:latin typeface="Segoe Fluent Icons"/>
              </a:rPr>
              <a:t></a:t>
            </a:r>
          </a:p>
        </p:txBody>
      </p:sp>
      <p:sp>
        <p:nvSpPr>
          <p:cNvPr id="29" name="TextBox 28"/>
          <p:cNvSpPr txBox="1"/>
          <p:nvPr/>
        </p:nvSpPr>
        <p:spPr>
          <a:xfrm>
            <a:off x="6846570" y="3893058"/>
            <a:ext cx="1005078" cy="649224"/>
          </a:xfrm>
          <a:prstGeom prst="rect">
            <a:avLst/>
          </a:prstGeom>
          <a:noFill/>
        </p:spPr>
        <p:txBody>
          <a:bodyPr wrap="square" lIns="0" rIns="0" tIns="0" bIns="0" anchor="ctr">
            <a:noAutofit/>
          </a:bodyPr>
          <a:lstStyle/>
          <a:p>
            <a:pPr algn="l"/>
            <a:r>
              <a:rPr sz="1600" i="0">
                <a:solidFill>
                  <a:srgbClr val="FFFFFF"/>
                </a:solidFill>
                <a:latin typeface="Segoe UI Semibold"/>
              </a:rPr>
              <a:t>Summary draft</a:t>
            </a:r>
          </a:p>
        </p:txBody>
      </p:sp>
      <p:sp>
        <p:nvSpPr>
          <p:cNvPr id="30" name="TextBox 29"/>
          <p:cNvSpPr txBox="1"/>
          <p:nvPr/>
        </p:nvSpPr>
        <p:spPr>
          <a:xfrm>
            <a:off x="7480935" y="5375910"/>
            <a:ext cx="434340" cy="434340"/>
          </a:xfrm>
          <a:prstGeom prst="rect">
            <a:avLst/>
          </a:prstGeom>
          <a:noFill/>
        </p:spPr>
        <p:txBody>
          <a:bodyPr wrap="none" lIns="0" rIns="0" tIns="0" bIns="0" anchor="ctr">
            <a:spAutoFit/>
          </a:bodyPr>
          <a:lstStyle/>
          <a:p>
            <a:pPr algn="ctr"/>
            <a:r>
              <a:rPr sz="2120">
                <a:solidFill>
                  <a:srgbClr val="D83B01"/>
                </a:solidFill>
                <a:latin typeface="Segoe Fluent Icons"/>
              </a:rPr>
              <a:t></a:t>
            </a:r>
          </a:p>
        </p:txBody>
      </p:sp>
      <p:sp>
        <p:nvSpPr>
          <p:cNvPr id="31" name="TextBox 30"/>
          <p:cNvSpPr txBox="1"/>
          <p:nvPr/>
        </p:nvSpPr>
        <p:spPr>
          <a:xfrm>
            <a:off x="1103224" y="5375910"/>
            <a:ext cx="6285281" cy="434340"/>
          </a:xfrm>
          <a:prstGeom prst="rect">
            <a:avLst/>
          </a:prstGeom>
          <a:noFill/>
        </p:spPr>
        <p:txBody>
          <a:bodyPr wrap="square" lIns="0" rIns="0" tIns="0" bIns="0" anchor="t">
            <a:noAutofit/>
          </a:bodyPr>
          <a:lstStyle/>
          <a:p>
            <a:pPr algn="l"/>
            <a:r>
              <a:rPr sz="1400" i="0">
                <a:solidFill>
                  <a:srgbClr val="A1A1A1"/>
                </a:solidFill>
                <a:latin typeface="Segoe UI"/>
              </a:rPr>
              <a:t>Client data processed on the device</a:t>
            </a:r>
          </a:p>
        </p:txBody>
      </p:sp>
      <p:sp>
        <p:nvSpPr>
          <p:cNvPr id="32" name="Oval 31"/>
          <p:cNvSpPr/>
          <p:nvPr/>
        </p:nvSpPr>
        <p:spPr>
          <a:xfrm>
            <a:off x="9237116" y="2480310"/>
            <a:ext cx="2033473" cy="1303020"/>
          </a:xfrm>
          <a:prstGeom prst="ellipse">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92564" y="288036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34" name="TextBox 33"/>
          <p:cNvSpPr txBox="1"/>
          <p:nvPr/>
        </p:nvSpPr>
        <p:spPr>
          <a:xfrm>
            <a:off x="10014356" y="2590038"/>
            <a:ext cx="1164793" cy="1083564"/>
          </a:xfrm>
          <a:prstGeom prst="rect">
            <a:avLst/>
          </a:prstGeom>
          <a:noFill/>
        </p:spPr>
        <p:txBody>
          <a:bodyPr wrap="square" lIns="0" rIns="0" tIns="0" bIns="0" anchor="ctr">
            <a:noAutofit/>
          </a:bodyPr>
          <a:lstStyle/>
          <a:p>
            <a:pPr algn="l"/>
            <a:r>
              <a:rPr sz="1600" i="0">
                <a:solidFill>
                  <a:srgbClr val="FFFFFF"/>
                </a:solidFill>
                <a:latin typeface="Segoe UI Semibold"/>
              </a:rPr>
              <a:t>Microsoft 365 Copilot</a:t>
            </a:r>
          </a:p>
        </p:txBody>
      </p:sp>
      <p:sp>
        <p:nvSpPr>
          <p:cNvPr id="35" name="TextBox 34"/>
          <p:cNvSpPr txBox="1"/>
          <p:nvPr/>
        </p:nvSpPr>
        <p:spPr>
          <a:xfrm>
            <a:off x="8497672" y="4145280"/>
            <a:ext cx="2957779" cy="1158240"/>
          </a:xfrm>
          <a:prstGeom prst="rect">
            <a:avLst/>
          </a:prstGeom>
          <a:noFill/>
        </p:spPr>
        <p:txBody>
          <a:bodyPr wrap="square" lIns="0" rIns="0" tIns="0" bIns="0" anchor="t">
            <a:noAutofit/>
          </a:bodyPr>
          <a:lstStyle/>
          <a:p>
            <a:pPr algn="l"/>
            <a:r>
              <a:rPr sz="2000" i="0">
                <a:solidFill>
                  <a:srgbClr val="1B1B1B"/>
                </a:solidFill>
                <a:latin typeface="Segoe UI Semibold"/>
              </a:rPr>
              <a:t>Sensitive drafting stays local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Keep Copilot, Add a Local Lane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Hybrid adds a second lane; Microsoft 365 Copilot stays in place.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5</a:t>
            </a:r>
          </a:p>
        </p:txBody>
      </p:sp>
      <p:sp>
        <p:nvSpPr>
          <p:cNvPr id="10" name="Rounded Rectangle 9"/>
          <p:cNvSpPr/>
          <p:nvPr/>
        </p:nvSpPr>
        <p:spPr>
          <a:xfrm>
            <a:off x="548640" y="1828800"/>
            <a:ext cx="5088636" cy="3429000"/>
          </a:xfrm>
          <a:prstGeom prst="roundRect">
            <a:avLst>
              <a:gd name="adj" fmla="val 16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68096" y="2020824"/>
            <a:ext cx="749808" cy="749808"/>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3069"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13" name="TextBox 12"/>
          <p:cNvSpPr txBox="1"/>
          <p:nvPr/>
        </p:nvSpPr>
        <p:spPr>
          <a:xfrm>
            <a:off x="1645920"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Copilot only</a:t>
            </a:r>
          </a:p>
        </p:txBody>
      </p:sp>
      <p:sp>
        <p:nvSpPr>
          <p:cNvPr id="14" name="TextBox 13"/>
          <p:cNvSpPr txBox="1"/>
          <p:nvPr/>
        </p:nvSpPr>
        <p:spPr>
          <a:xfrm>
            <a:off x="960120" y="321259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5" name="TextBox 14"/>
          <p:cNvSpPr txBox="1"/>
          <p:nvPr/>
        </p:nvSpPr>
        <p:spPr>
          <a:xfrm>
            <a:off x="1417320" y="3017520"/>
            <a:ext cx="3991356" cy="701040"/>
          </a:xfrm>
          <a:prstGeom prst="rect">
            <a:avLst/>
          </a:prstGeom>
          <a:noFill/>
        </p:spPr>
        <p:txBody>
          <a:bodyPr wrap="square" lIns="0" rIns="0" tIns="0" bIns="0" anchor="ctr">
            <a:noAutofit/>
          </a:bodyPr>
          <a:lstStyle/>
          <a:p>
            <a:pPr algn="l"/>
            <a:r>
              <a:rPr sz="1700" i="0">
                <a:solidFill>
                  <a:srgbClr val="505050"/>
                </a:solidFill>
                <a:latin typeface="Segoe UI"/>
              </a:rPr>
              <a:t>Strong for connected Microsoft 365 work</a:t>
            </a:r>
          </a:p>
        </p:txBody>
      </p:sp>
      <p:sp>
        <p:nvSpPr>
          <p:cNvPr id="16" name="TextBox 15"/>
          <p:cNvSpPr txBox="1"/>
          <p:nvPr/>
        </p:nvSpPr>
        <p:spPr>
          <a:xfrm>
            <a:off x="960120" y="391363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7" name="TextBox 16"/>
          <p:cNvSpPr txBox="1"/>
          <p:nvPr/>
        </p:nvSpPr>
        <p:spPr>
          <a:xfrm>
            <a:off x="1417320" y="3718560"/>
            <a:ext cx="3991356" cy="701040"/>
          </a:xfrm>
          <a:prstGeom prst="rect">
            <a:avLst/>
          </a:prstGeom>
          <a:noFill/>
        </p:spPr>
        <p:txBody>
          <a:bodyPr wrap="square" lIns="0" rIns="0" tIns="0" bIns="0" anchor="ctr">
            <a:noAutofit/>
          </a:bodyPr>
          <a:lstStyle/>
          <a:p>
            <a:pPr algn="l"/>
            <a:r>
              <a:rPr sz="1700" i="0">
                <a:solidFill>
                  <a:srgbClr val="505050"/>
                </a:solidFill>
                <a:latin typeface="Segoe UI"/>
              </a:rPr>
              <a:t>Depends on client-site connectivity</a:t>
            </a:r>
          </a:p>
        </p:txBody>
      </p:sp>
      <p:sp>
        <p:nvSpPr>
          <p:cNvPr id="18" name="TextBox 17"/>
          <p:cNvSpPr txBox="1"/>
          <p:nvPr/>
        </p:nvSpPr>
        <p:spPr>
          <a:xfrm>
            <a:off x="960120" y="4614672"/>
            <a:ext cx="310896" cy="310896"/>
          </a:xfrm>
          <a:prstGeom prst="rect">
            <a:avLst/>
          </a:prstGeom>
          <a:noFill/>
        </p:spPr>
        <p:txBody>
          <a:bodyPr wrap="none" lIns="0" rIns="0" tIns="0" bIns="0" anchor="ctr">
            <a:spAutoFit/>
          </a:bodyPr>
          <a:lstStyle/>
          <a:p>
            <a:pPr algn="ctr"/>
            <a:r>
              <a:rPr sz="1517">
                <a:solidFill>
                  <a:srgbClr val="8A8A8A"/>
                </a:solidFill>
                <a:latin typeface="Segoe Fluent Icons"/>
              </a:rPr>
              <a:t></a:t>
            </a:r>
          </a:p>
        </p:txBody>
      </p:sp>
      <p:sp>
        <p:nvSpPr>
          <p:cNvPr id="19" name="TextBox 18"/>
          <p:cNvSpPr txBox="1"/>
          <p:nvPr/>
        </p:nvSpPr>
        <p:spPr>
          <a:xfrm>
            <a:off x="1417320" y="4419600"/>
            <a:ext cx="3991356" cy="701040"/>
          </a:xfrm>
          <a:prstGeom prst="rect">
            <a:avLst/>
          </a:prstGeom>
          <a:noFill/>
        </p:spPr>
        <p:txBody>
          <a:bodyPr wrap="square" lIns="0" rIns="0" tIns="0" bIns="0" anchor="ctr">
            <a:noAutofit/>
          </a:bodyPr>
          <a:lstStyle/>
          <a:p>
            <a:pPr algn="l"/>
            <a:r>
              <a:rPr sz="1700" i="0">
                <a:solidFill>
                  <a:srgbClr val="505050"/>
                </a:solidFill>
                <a:latin typeface="Segoe UI"/>
              </a:rPr>
              <a:t>One lane for every task</a:t>
            </a:r>
          </a:p>
        </p:txBody>
      </p:sp>
      <p:sp>
        <p:nvSpPr>
          <p:cNvPr id="20" name="Rounded Rectangle 19"/>
          <p:cNvSpPr/>
          <p:nvPr/>
        </p:nvSpPr>
        <p:spPr>
          <a:xfrm>
            <a:off x="6551676" y="1828800"/>
            <a:ext cx="5088636" cy="3429000"/>
          </a:xfrm>
          <a:prstGeom prst="roundRect">
            <a:avLst>
              <a:gd name="adj" fmla="val 1600"/>
            </a:avLst>
          </a:prstGeom>
          <a:solidFill>
            <a:srgbClr val="F3F3F3"/>
          </a:solidFill>
          <a:ln w="28575">
            <a:solidFill>
              <a:srgbClr val="0078D4"/>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771132" y="2020824"/>
            <a:ext cx="749808" cy="74980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76105" y="2125797"/>
            <a:ext cx="539862" cy="539862"/>
          </a:xfrm>
          <a:prstGeom prst="rect">
            <a:avLst/>
          </a:prstGeom>
          <a:noFill/>
        </p:spPr>
        <p:txBody>
          <a:bodyPr wrap="none" lIns="0" rIns="0" tIns="0" bIns="0" anchor="ctr">
            <a:spAutoFit/>
          </a:bodyPr>
          <a:lstStyle/>
          <a:p>
            <a:pPr algn="ctr"/>
            <a:r>
              <a:rPr sz="2635">
                <a:solidFill>
                  <a:srgbClr val="FFFFFF"/>
                </a:solidFill>
                <a:latin typeface="Segoe Fluent Icons"/>
              </a:rPr>
              <a:t></a:t>
            </a:r>
          </a:p>
        </p:txBody>
      </p:sp>
      <p:sp>
        <p:nvSpPr>
          <p:cNvPr id="23" name="TextBox 22"/>
          <p:cNvSpPr txBox="1"/>
          <p:nvPr/>
        </p:nvSpPr>
        <p:spPr>
          <a:xfrm>
            <a:off x="7648956" y="2029968"/>
            <a:ext cx="3808476" cy="731520"/>
          </a:xfrm>
          <a:prstGeom prst="rect">
            <a:avLst/>
          </a:prstGeom>
          <a:noFill/>
        </p:spPr>
        <p:txBody>
          <a:bodyPr wrap="square" lIns="0" rIns="0" tIns="0" bIns="0" anchor="ctr">
            <a:noAutofit/>
          </a:bodyPr>
          <a:lstStyle/>
          <a:p>
            <a:pPr algn="l"/>
            <a:r>
              <a:rPr sz="2300" i="0">
                <a:solidFill>
                  <a:srgbClr val="1B1B1B"/>
                </a:solidFill>
                <a:latin typeface="Segoe UI Semibold"/>
              </a:rPr>
              <a:t>Copilot plus local lane</a:t>
            </a:r>
          </a:p>
        </p:txBody>
      </p:sp>
      <p:sp>
        <p:nvSpPr>
          <p:cNvPr id="24" name="TextBox 23"/>
          <p:cNvSpPr txBox="1"/>
          <p:nvPr/>
        </p:nvSpPr>
        <p:spPr>
          <a:xfrm>
            <a:off x="6963156" y="321259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5" name="TextBox 24"/>
          <p:cNvSpPr txBox="1"/>
          <p:nvPr/>
        </p:nvSpPr>
        <p:spPr>
          <a:xfrm>
            <a:off x="7420356" y="3017520"/>
            <a:ext cx="3991356" cy="701040"/>
          </a:xfrm>
          <a:prstGeom prst="rect">
            <a:avLst/>
          </a:prstGeom>
          <a:noFill/>
        </p:spPr>
        <p:txBody>
          <a:bodyPr wrap="square" lIns="0" rIns="0" tIns="0" bIns="0" anchor="ctr">
            <a:noAutofit/>
          </a:bodyPr>
          <a:lstStyle/>
          <a:p>
            <a:pPr algn="l"/>
            <a:r>
              <a:rPr sz="1700" i="0">
                <a:solidFill>
                  <a:srgbClr val="1B1B1B"/>
                </a:solidFill>
                <a:latin typeface="Segoe UI"/>
              </a:rPr>
              <a:t>Copilot stays for Microsoft 365 work</a:t>
            </a:r>
          </a:p>
        </p:txBody>
      </p:sp>
      <p:sp>
        <p:nvSpPr>
          <p:cNvPr id="26" name="TextBox 25"/>
          <p:cNvSpPr txBox="1"/>
          <p:nvPr/>
        </p:nvSpPr>
        <p:spPr>
          <a:xfrm>
            <a:off x="6963156" y="391363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7" name="TextBox 26"/>
          <p:cNvSpPr txBox="1"/>
          <p:nvPr/>
        </p:nvSpPr>
        <p:spPr>
          <a:xfrm>
            <a:off x="7420356" y="3718560"/>
            <a:ext cx="3991356" cy="701040"/>
          </a:xfrm>
          <a:prstGeom prst="rect">
            <a:avLst/>
          </a:prstGeom>
          <a:noFill/>
        </p:spPr>
        <p:txBody>
          <a:bodyPr wrap="square" lIns="0" rIns="0" tIns="0" bIns="0" anchor="ctr">
            <a:noAutofit/>
          </a:bodyPr>
          <a:lstStyle/>
          <a:p>
            <a:pPr algn="l"/>
            <a:r>
              <a:rPr sz="1700" i="0">
                <a:solidFill>
                  <a:srgbClr val="1B1B1B"/>
                </a:solidFill>
                <a:latin typeface="Segoe UI"/>
              </a:rPr>
              <a:t>Local lane for sensitive drafts</a:t>
            </a:r>
          </a:p>
        </p:txBody>
      </p:sp>
      <p:sp>
        <p:nvSpPr>
          <p:cNvPr id="28" name="TextBox 27"/>
          <p:cNvSpPr txBox="1"/>
          <p:nvPr/>
        </p:nvSpPr>
        <p:spPr>
          <a:xfrm>
            <a:off x="6963156" y="4614672"/>
            <a:ext cx="310896" cy="310896"/>
          </a:xfrm>
          <a:prstGeom prst="rect">
            <a:avLst/>
          </a:prstGeom>
          <a:noFill/>
        </p:spPr>
        <p:txBody>
          <a:bodyPr wrap="none" lIns="0" rIns="0" tIns="0" bIns="0" anchor="ctr">
            <a:spAutoFit/>
          </a:bodyPr>
          <a:lstStyle/>
          <a:p>
            <a:pPr algn="ctr"/>
            <a:r>
              <a:rPr sz="1517">
                <a:solidFill>
                  <a:srgbClr val="0078D4"/>
                </a:solidFill>
                <a:latin typeface="Segoe Fluent Icons"/>
              </a:rPr>
              <a:t></a:t>
            </a:r>
          </a:p>
        </p:txBody>
      </p:sp>
      <p:sp>
        <p:nvSpPr>
          <p:cNvPr id="29" name="TextBox 28"/>
          <p:cNvSpPr txBox="1"/>
          <p:nvPr/>
        </p:nvSpPr>
        <p:spPr>
          <a:xfrm>
            <a:off x="7420356" y="4419600"/>
            <a:ext cx="3991356" cy="701040"/>
          </a:xfrm>
          <a:prstGeom prst="rect">
            <a:avLst/>
          </a:prstGeom>
          <a:noFill/>
        </p:spPr>
        <p:txBody>
          <a:bodyPr wrap="square" lIns="0" rIns="0" tIns="0" bIns="0" anchor="ctr">
            <a:noAutofit/>
          </a:bodyPr>
          <a:lstStyle/>
          <a:p>
            <a:pPr algn="l"/>
            <a:r>
              <a:rPr sz="1700" i="0">
                <a:solidFill>
                  <a:srgbClr val="1B1B1B"/>
                </a:solidFill>
                <a:latin typeface="Segoe UI"/>
              </a:rPr>
              <a:t>Keeps drafting when Wi-Fi is restricted</a:t>
            </a:r>
          </a:p>
        </p:txBody>
      </p:sp>
      <p:sp>
        <p:nvSpPr>
          <p:cNvPr id="30" name="Oval 29"/>
          <p:cNvSpPr/>
          <p:nvPr/>
        </p:nvSpPr>
        <p:spPr>
          <a:xfrm>
            <a:off x="5728716" y="3177540"/>
            <a:ext cx="731520" cy="731520"/>
          </a:xfrm>
          <a:prstGeom prst="ellipse">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728716" y="3177540"/>
            <a:ext cx="731520" cy="731520"/>
          </a:xfrm>
          <a:prstGeom prst="rect">
            <a:avLst/>
          </a:prstGeom>
          <a:noFill/>
        </p:spPr>
        <p:txBody>
          <a:bodyPr wrap="square" lIns="0" rIns="0" tIns="0" bIns="0" anchor="ctr">
            <a:noAutofit/>
          </a:bodyPr>
          <a:lstStyle/>
          <a:p>
            <a:pPr algn="ctr"/>
            <a:r>
              <a:rPr sz="1600" i="0">
                <a:solidFill>
                  <a:srgbClr val="FFFFFF"/>
                </a:solidFill>
                <a:latin typeface="Segoe UI Semibold"/>
              </a:rPr>
              <a:t>VS</a:t>
            </a:r>
          </a:p>
        </p:txBody>
      </p:sp>
      <p:sp>
        <p:nvSpPr>
          <p:cNvPr id="32" name="Rounded Rectangle 31"/>
          <p:cNvSpPr/>
          <p:nvPr/>
        </p:nvSpPr>
        <p:spPr>
          <a:xfrm>
            <a:off x="548640" y="5458968"/>
            <a:ext cx="11091672" cy="713232"/>
          </a:xfrm>
          <a:prstGeom prst="roundRect">
            <a:avLst>
              <a:gd name="adj" fmla="val 7692"/>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614416"/>
            <a:ext cx="402336" cy="402336"/>
          </a:xfrm>
          <a:prstGeom prst="rect">
            <a:avLst/>
          </a:prstGeom>
          <a:noFill/>
        </p:spPr>
        <p:txBody>
          <a:bodyPr wrap="none" lIns="0" rIns="0" tIns="0" bIns="0" anchor="ctr">
            <a:spAutoFit/>
          </a:bodyPr>
          <a:lstStyle/>
          <a:p>
            <a:pPr algn="ctr"/>
            <a:r>
              <a:rPr sz="1964">
                <a:solidFill>
                  <a:srgbClr val="FFFFFF"/>
                </a:solidFill>
                <a:latin typeface="Segoe Fluent Icons"/>
              </a:rPr>
              <a:t></a:t>
            </a:r>
          </a:p>
        </p:txBody>
      </p:sp>
      <p:sp>
        <p:nvSpPr>
          <p:cNvPr id="34" name="TextBox 33"/>
          <p:cNvSpPr txBox="1"/>
          <p:nvPr/>
        </p:nvSpPr>
        <p:spPr>
          <a:xfrm>
            <a:off x="1417320" y="5513832"/>
            <a:ext cx="9994392" cy="603504"/>
          </a:xfrm>
          <a:prstGeom prst="rect">
            <a:avLst/>
          </a:prstGeom>
          <a:noFill/>
        </p:spPr>
        <p:txBody>
          <a:bodyPr wrap="square" lIns="0" rIns="0" tIns="0" bIns="0" anchor="ctr">
            <a:noAutofit/>
          </a:bodyPr>
          <a:lstStyle/>
          <a:p>
            <a:pPr algn="l"/>
            <a:r>
              <a:rPr sz="2000" i="0">
                <a:solidFill>
                  <a:srgbClr val="FFFFFF"/>
                </a:solidFill>
                <a:latin typeface="Segoe UI Semibold"/>
              </a:rPr>
              <a:t>Hybrid: add a lane, replace nothing.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Restaurant Plus Home Kitchen</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Keep the restaurant you love; cook private, everyday meals at home.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6</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Hybrid AI lanes</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Restaurant and home kitchen</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Microsoft 365 Copilot</a:t>
            </a:r>
          </a:p>
        </p:txBody>
      </p:sp>
      <p:cxnSp>
        <p:nvCxnSpPr>
          <p:cNvPr id="19" name="Connector 18"/>
          <p:cNvCxnSpPr/>
          <p:nvPr/>
        </p:nvCxnSpPr>
        <p:spPr>
          <a:xfrm>
            <a:off x="5481828" y="3450717"/>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1B1B1B"/>
                </a:solidFill>
                <a:latin typeface="Segoe UI"/>
              </a:rPr>
              <a:t>Favorite restaurant</a:t>
            </a:r>
          </a:p>
        </p:txBody>
      </p:sp>
      <p:sp>
        <p:nvSpPr>
          <p:cNvPr id="22" name="Rounded Rectangle 21"/>
          <p:cNvSpPr/>
          <p:nvPr/>
        </p:nvSpPr>
        <p:spPr>
          <a:xfrm>
            <a:off x="548640" y="3902202"/>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Local AI lane</a:t>
            </a:r>
          </a:p>
        </p:txBody>
      </p:sp>
      <p:cxnSp>
        <p:nvCxnSpPr>
          <p:cNvPr id="24" name="Connector 23"/>
          <p:cNvCxnSpPr/>
          <p:nvPr/>
        </p:nvCxnSpPr>
        <p:spPr>
          <a:xfrm>
            <a:off x="5481828" y="4243959"/>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3902202"/>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1B1B1B"/>
                </a:solidFill>
                <a:latin typeface="Segoe UI"/>
              </a:rPr>
              <a:t>Your own kitchen</a:t>
            </a:r>
          </a:p>
        </p:txBody>
      </p:sp>
      <p:sp>
        <p:nvSpPr>
          <p:cNvPr id="27" name="Rounded Rectangle 26"/>
          <p:cNvSpPr/>
          <p:nvPr/>
        </p:nvSpPr>
        <p:spPr>
          <a:xfrm>
            <a:off x="548640" y="4695444"/>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Sensitive client drafts</a:t>
            </a:r>
          </a:p>
        </p:txBody>
      </p:sp>
      <p:cxnSp>
        <p:nvCxnSpPr>
          <p:cNvPr id="29" name="Connector 28"/>
          <p:cNvCxnSpPr/>
          <p:nvPr/>
        </p:nvCxnSpPr>
        <p:spPr>
          <a:xfrm>
            <a:off x="5481828" y="5037201"/>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4695444"/>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1B1B1B"/>
                </a:solidFill>
                <a:latin typeface="Segoe UI"/>
              </a:rPr>
              <a:t>Family recipes stay home</a:t>
            </a:r>
          </a:p>
        </p:txBody>
      </p:sp>
      <p:sp>
        <p:nvSpPr>
          <p:cNvPr id="32" name="Rounded Rectangle 31"/>
          <p:cNvSpPr/>
          <p:nvPr/>
        </p:nvSpPr>
        <p:spPr>
          <a:xfrm>
            <a:off x="548640" y="5488686"/>
            <a:ext cx="4860036" cy="683514"/>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Repeated daily drafting</a:t>
            </a:r>
          </a:p>
        </p:txBody>
      </p:sp>
      <p:cxnSp>
        <p:nvCxnSpPr>
          <p:cNvPr id="34" name="Connector 33"/>
          <p:cNvCxnSpPr/>
          <p:nvPr/>
        </p:nvCxnSpPr>
        <p:spPr>
          <a:xfrm>
            <a:off x="5481828" y="5830443"/>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780276" y="5488686"/>
            <a:ext cx="4860036" cy="683514"/>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1B1B1B"/>
                </a:solidFill>
                <a:latin typeface="Segoe UI"/>
              </a:rPr>
              <a:t>Everyday meals, made fast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One Laptop, A Full AI Workstation</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Blackwell RTX GPU and 128 GB memory run 28 local models.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7</a:t>
            </a:r>
          </a:p>
        </p:txBody>
      </p:sp>
      <p:sp>
        <p:nvSpPr>
          <p:cNvPr id="10" name="Rounded Rectangle 9"/>
          <p:cNvSpPr/>
          <p:nvPr/>
        </p:nvSpPr>
        <p:spPr>
          <a:xfrm>
            <a:off x="548640" y="1888236"/>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1979676"/>
            <a:ext cx="777240" cy="777240"/>
          </a:xfrm>
          <a:prstGeom prst="roundRect">
            <a:avLst>
              <a:gd name="adj" fmla="val 14117"/>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3" name="TextBox 12"/>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Consultant drafting</a:t>
            </a:r>
          </a:p>
        </p:txBody>
      </p:sp>
      <p:sp>
        <p:nvSpPr>
          <p:cNvPr id="14" name="TextBox 13"/>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505050"/>
                </a:solidFill>
                <a:latin typeface="Segoe UI"/>
              </a:rPr>
              <a:t>Summaries from notes and site documents</a:t>
            </a:r>
          </a:p>
        </p:txBody>
      </p:sp>
      <p:sp>
        <p:nvSpPr>
          <p:cNvPr id="15" name="Rounded Rectangle 14"/>
          <p:cNvSpPr/>
          <p:nvPr/>
        </p:nvSpPr>
        <p:spPr>
          <a:xfrm>
            <a:off x="548640" y="2976372"/>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40080" y="3067812"/>
            <a:ext cx="777240" cy="777240"/>
          </a:xfrm>
          <a:prstGeom prst="roundRect">
            <a:avLst>
              <a:gd name="adj" fmla="val 14117"/>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8" name="TextBox 17"/>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28 open models</a:t>
            </a:r>
          </a:p>
        </p:txBody>
      </p:sp>
      <p:sp>
        <p:nvSpPr>
          <p:cNvPr id="19" name="TextBox 18"/>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505050"/>
                </a:solidFill>
                <a:latin typeface="Segoe UI"/>
              </a:rPr>
              <a:t>Local catalog installed on device</a:t>
            </a:r>
          </a:p>
        </p:txBody>
      </p:sp>
      <p:sp>
        <p:nvSpPr>
          <p:cNvPr id="20" name="Rounded Rectangle 19"/>
          <p:cNvSpPr/>
          <p:nvPr/>
        </p:nvSpPr>
        <p:spPr>
          <a:xfrm>
            <a:off x="548640" y="4064508"/>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0080" y="4155948"/>
            <a:ext cx="777240" cy="777240"/>
          </a:xfrm>
          <a:prstGeom prst="roundRect">
            <a:avLst>
              <a:gd name="adj" fmla="val 14117"/>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3" name="TextBox 22"/>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NVIDIA RTX Spark</a:t>
            </a:r>
          </a:p>
        </p:txBody>
      </p:sp>
      <p:sp>
        <p:nvSpPr>
          <p:cNvPr id="24" name="TextBox 23"/>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505050"/>
                </a:solidFill>
                <a:latin typeface="Segoe UI"/>
              </a:rPr>
              <a:t>Blackwell RTX GPU for local AI</a:t>
            </a:r>
          </a:p>
        </p:txBody>
      </p:sp>
      <p:sp>
        <p:nvSpPr>
          <p:cNvPr id="25" name="Rounded Rectangle 24"/>
          <p:cNvSpPr/>
          <p:nvPr/>
        </p:nvSpPr>
        <p:spPr>
          <a:xfrm>
            <a:off x="548640" y="5152644"/>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40080" y="5244084"/>
            <a:ext cx="777240" cy="777240"/>
          </a:xfrm>
          <a:prstGeom prst="roundRect">
            <a:avLst>
              <a:gd name="adj" fmla="val 14117"/>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8" name="TextBox 27"/>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Compute foundation</a:t>
            </a:r>
          </a:p>
        </p:txBody>
      </p:sp>
      <p:sp>
        <p:nvSpPr>
          <p:cNvPr id="29" name="TextBox 28"/>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505050"/>
                </a:solidFill>
                <a:latin typeface="Segoe UI"/>
              </a:rPr>
              <a:t>20 CPU cores, 128 GB memory</a:t>
            </a:r>
          </a:p>
        </p:txBody>
      </p:sp>
      <p:sp>
        <p:nvSpPr>
          <p:cNvPr id="30" name="Rectangle 29"/>
          <p:cNvSpPr/>
          <p:nvPr/>
        </p:nvSpPr>
        <p:spPr>
          <a:xfrm>
            <a:off x="10085832" y="1888236"/>
            <a:ext cx="73152" cy="42245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10314432" y="3314700"/>
            <a:ext cx="1325880" cy="1371600"/>
          </a:xfrm>
          <a:prstGeom prst="roundRect">
            <a:avLst>
              <a:gd name="adj" fmla="val 4137"/>
            </a:avLst>
          </a:prstGeom>
          <a:solidFill>
            <a:srgbClr val="D9EBF9"/>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1B1B1B"/>
                </a:solidFill>
                <a:latin typeface="Segoe UI Semibold"/>
              </a:rPr>
              <a:t>Surface Laptop Ultra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Fast Enough for Live Drafting</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Local models generate text at about 72 to 86 tokens per second.</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8</a:t>
            </a:r>
          </a:p>
        </p:txBody>
      </p:sp>
      <p:graphicFrame>
        <p:nvGraphicFramePr>
          <p:cNvPr id="10" name="Chart 9"/>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1" name="Rounded Rectangle 10"/>
          <p:cNvSpPr/>
          <p:nvPr/>
        </p:nvSpPr>
        <p:spPr>
          <a:xfrm>
            <a:off x="7921630" y="2011680"/>
            <a:ext cx="3718682" cy="3977640"/>
          </a:xfrm>
          <a:prstGeom prst="roundRect">
            <a:avLst>
              <a:gd name="adj" fmla="val 14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73090" y="2308860"/>
            <a:ext cx="777240" cy="77724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FFFFFF"/>
                </a:solidFill>
                <a:latin typeface="Segoe Fluent Icons"/>
              </a:rPr>
              <a:t></a:t>
            </a:r>
          </a:p>
        </p:txBody>
      </p:sp>
      <p:sp>
        <p:nvSpPr>
          <p:cNvPr id="14" name="TextBox 13"/>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0078D4"/>
                </a:solidFill>
                <a:latin typeface="Segoe UI Semibold"/>
              </a:rPr>
              <a:t>72</a:t>
            </a:r>
          </a:p>
        </p:txBody>
      </p:sp>
      <p:sp>
        <p:nvSpPr>
          <p:cNvPr id="15" name="TextBox 14"/>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505050"/>
                </a:solidFill>
                <a:latin typeface="Segoe UI"/>
              </a:rPr>
              <a:t>tokens/sec  |  Gemma 4 26B</a:t>
            </a:r>
          </a:p>
        </p:txBody>
      </p:sp>
      <p:sp>
        <p:nvSpPr>
          <p:cNvPr id="16" name="TextBox 15"/>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1B1B1B"/>
                </a:solidFill>
                <a:latin typeface="Segoe UI"/>
              </a:rPr>
              <a:t>Single stream, Local-AI-Bench, October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Illustrative Capacity: An Estimate to Validate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Illustrative 27,600 hours a year, an unvalidated estimate the pilot will test.</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9</a:t>
            </a:r>
          </a:p>
        </p:txBody>
      </p:sp>
      <p:sp>
        <p:nvSpPr>
          <p:cNvPr id="10" name="Rounded Rectangle 9"/>
          <p:cNvSpPr/>
          <p:nvPr/>
        </p:nvSpPr>
        <p:spPr>
          <a:xfrm>
            <a:off x="548640"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99439" y="2125980"/>
            <a:ext cx="914400" cy="9144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27455"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13" name="TextBox 12"/>
          <p:cNvSpPr txBox="1"/>
          <p:nvPr/>
        </p:nvSpPr>
        <p:spPr>
          <a:xfrm>
            <a:off x="731520" y="3150108"/>
            <a:ext cx="1450238" cy="274320"/>
          </a:xfrm>
          <a:prstGeom prst="rect">
            <a:avLst/>
          </a:prstGeom>
          <a:noFill/>
        </p:spPr>
        <p:txBody>
          <a:bodyPr wrap="square" lIns="0" rIns="0" tIns="0" bIns="0" anchor="t">
            <a:noAutofit/>
          </a:bodyPr>
          <a:lstStyle/>
          <a:p>
            <a:pPr algn="ctr"/>
            <a:r>
              <a:rPr sz="1200" i="0">
                <a:solidFill>
                  <a:srgbClr val="0078D4"/>
                </a:solidFill>
                <a:latin typeface="Segoe UI Semibold"/>
              </a:rPr>
              <a:t>01</a:t>
            </a:r>
          </a:p>
        </p:txBody>
      </p:sp>
      <p:sp>
        <p:nvSpPr>
          <p:cNvPr id="14" name="TextBox 13"/>
          <p:cNvSpPr txBox="1"/>
          <p:nvPr/>
        </p:nvSpPr>
        <p:spPr>
          <a:xfrm>
            <a:off x="713232"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1,200 consultants</a:t>
            </a:r>
          </a:p>
        </p:txBody>
      </p:sp>
      <p:sp>
        <p:nvSpPr>
          <p:cNvPr id="15" name="TextBox 14"/>
          <p:cNvSpPr txBox="1"/>
          <p:nvPr/>
        </p:nvSpPr>
        <p:spPr>
          <a:xfrm>
            <a:off x="731520"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Traveling consultant population</a:t>
            </a:r>
          </a:p>
        </p:txBody>
      </p:sp>
      <p:sp>
        <p:nvSpPr>
          <p:cNvPr id="16" name="Chevron 15"/>
          <p:cNvSpPr/>
          <p:nvPr/>
        </p:nvSpPr>
        <p:spPr>
          <a:xfrm>
            <a:off x="2501798"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867558"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318358" y="2125980"/>
            <a:ext cx="914400" cy="91440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46374"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0" name="TextBox 19"/>
          <p:cNvSpPr txBox="1"/>
          <p:nvPr/>
        </p:nvSpPr>
        <p:spPr>
          <a:xfrm>
            <a:off x="3050438" y="3150108"/>
            <a:ext cx="1450238" cy="274320"/>
          </a:xfrm>
          <a:prstGeom prst="rect">
            <a:avLst/>
          </a:prstGeom>
          <a:noFill/>
        </p:spPr>
        <p:txBody>
          <a:bodyPr wrap="square" lIns="0" rIns="0" tIns="0" bIns="0" anchor="t">
            <a:noAutofit/>
          </a:bodyPr>
          <a:lstStyle/>
          <a:p>
            <a:pPr algn="ctr"/>
            <a:r>
              <a:rPr sz="1200" i="0">
                <a:solidFill>
                  <a:srgbClr val="107C10"/>
                </a:solidFill>
                <a:latin typeface="Segoe UI Semibold"/>
              </a:rPr>
              <a:t>02</a:t>
            </a:r>
          </a:p>
        </p:txBody>
      </p:sp>
      <p:sp>
        <p:nvSpPr>
          <p:cNvPr id="21" name="TextBox 20"/>
          <p:cNvSpPr txBox="1"/>
          <p:nvPr/>
        </p:nvSpPr>
        <p:spPr>
          <a:xfrm>
            <a:off x="3032150"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x 6 summaries</a:t>
            </a:r>
          </a:p>
        </p:txBody>
      </p:sp>
      <p:sp>
        <p:nvSpPr>
          <p:cNvPr id="22" name="TextBox 21"/>
          <p:cNvSpPr txBox="1"/>
          <p:nvPr/>
        </p:nvSpPr>
        <p:spPr>
          <a:xfrm>
            <a:off x="3050438"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Per consultant, per week</a:t>
            </a:r>
          </a:p>
        </p:txBody>
      </p:sp>
      <p:sp>
        <p:nvSpPr>
          <p:cNvPr id="23" name="Chevron 22"/>
          <p:cNvSpPr/>
          <p:nvPr/>
        </p:nvSpPr>
        <p:spPr>
          <a:xfrm>
            <a:off x="4820717"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186477"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5637276" y="2125980"/>
            <a:ext cx="914400" cy="91440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7" name="TextBox 26"/>
          <p:cNvSpPr txBox="1"/>
          <p:nvPr/>
        </p:nvSpPr>
        <p:spPr>
          <a:xfrm>
            <a:off x="5369357" y="3150108"/>
            <a:ext cx="1450238" cy="274320"/>
          </a:xfrm>
          <a:prstGeom prst="rect">
            <a:avLst/>
          </a:prstGeom>
          <a:noFill/>
        </p:spPr>
        <p:txBody>
          <a:bodyPr wrap="square" lIns="0" rIns="0" tIns="0" bIns="0" anchor="t">
            <a:noAutofit/>
          </a:bodyPr>
          <a:lstStyle/>
          <a:p>
            <a:pPr algn="ctr"/>
            <a:r>
              <a:rPr sz="1200" i="0">
                <a:solidFill>
                  <a:srgbClr val="D83B01"/>
                </a:solidFill>
                <a:latin typeface="Segoe UI Semibold"/>
              </a:rPr>
              <a:t>03</a:t>
            </a:r>
          </a:p>
        </p:txBody>
      </p:sp>
      <p:sp>
        <p:nvSpPr>
          <p:cNvPr id="28" name="TextBox 27"/>
          <p:cNvSpPr txBox="1"/>
          <p:nvPr/>
        </p:nvSpPr>
        <p:spPr>
          <a:xfrm>
            <a:off x="5351069"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x 5 minutes</a:t>
            </a:r>
          </a:p>
        </p:txBody>
      </p:sp>
      <p:sp>
        <p:nvSpPr>
          <p:cNvPr id="29" name="TextBox 28"/>
          <p:cNvSpPr txBox="1"/>
          <p:nvPr/>
        </p:nvSpPr>
        <p:spPr>
          <a:xfrm>
            <a:off x="5369357"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Assumed saving per summary</a:t>
            </a:r>
          </a:p>
        </p:txBody>
      </p:sp>
      <p:sp>
        <p:nvSpPr>
          <p:cNvPr id="30" name="Chevron 29"/>
          <p:cNvSpPr/>
          <p:nvPr/>
        </p:nvSpPr>
        <p:spPr>
          <a:xfrm>
            <a:off x="7139635"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7505395"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56194" y="2125980"/>
            <a:ext cx="914400" cy="91440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084210"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34" name="TextBox 33"/>
          <p:cNvSpPr txBox="1"/>
          <p:nvPr/>
        </p:nvSpPr>
        <p:spPr>
          <a:xfrm>
            <a:off x="7688275" y="3150108"/>
            <a:ext cx="1450238" cy="274320"/>
          </a:xfrm>
          <a:prstGeom prst="rect">
            <a:avLst/>
          </a:prstGeom>
          <a:noFill/>
        </p:spPr>
        <p:txBody>
          <a:bodyPr wrap="square" lIns="0" rIns="0" tIns="0" bIns="0" anchor="t">
            <a:noAutofit/>
          </a:bodyPr>
          <a:lstStyle/>
          <a:p>
            <a:pPr algn="ctr"/>
            <a:r>
              <a:rPr sz="1200" i="0">
                <a:solidFill>
                  <a:srgbClr val="FFB900"/>
                </a:solidFill>
                <a:latin typeface="Segoe UI Semibold"/>
              </a:rPr>
              <a:t>04</a:t>
            </a:r>
          </a:p>
        </p:txBody>
      </p:sp>
      <p:sp>
        <p:nvSpPr>
          <p:cNvPr id="35" name="TextBox 34"/>
          <p:cNvSpPr txBox="1"/>
          <p:nvPr/>
        </p:nvSpPr>
        <p:spPr>
          <a:xfrm>
            <a:off x="7669987"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x 46 weeks</a:t>
            </a:r>
          </a:p>
        </p:txBody>
      </p:sp>
      <p:sp>
        <p:nvSpPr>
          <p:cNvPr id="36" name="TextBox 35"/>
          <p:cNvSpPr txBox="1"/>
          <p:nvPr/>
        </p:nvSpPr>
        <p:spPr>
          <a:xfrm>
            <a:off x="7688275"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Working weeks per year</a:t>
            </a:r>
          </a:p>
        </p:txBody>
      </p:sp>
      <p:sp>
        <p:nvSpPr>
          <p:cNvPr id="37" name="Chevron 36"/>
          <p:cNvSpPr/>
          <p:nvPr/>
        </p:nvSpPr>
        <p:spPr>
          <a:xfrm>
            <a:off x="9458554"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9824314" y="2583180"/>
            <a:ext cx="1815998" cy="3291840"/>
          </a:xfrm>
          <a:prstGeom prst="roundRect">
            <a:avLst>
              <a:gd name="adj" fmla="val 302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10275113" y="2125980"/>
            <a:ext cx="914400" cy="914400"/>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403129"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41" name="TextBox 40"/>
          <p:cNvSpPr txBox="1"/>
          <p:nvPr/>
        </p:nvSpPr>
        <p:spPr>
          <a:xfrm>
            <a:off x="10007194" y="3150108"/>
            <a:ext cx="1450238" cy="274320"/>
          </a:xfrm>
          <a:prstGeom prst="rect">
            <a:avLst/>
          </a:prstGeom>
          <a:noFill/>
        </p:spPr>
        <p:txBody>
          <a:bodyPr wrap="square" lIns="0" rIns="0" tIns="0" bIns="0" anchor="t">
            <a:noAutofit/>
          </a:bodyPr>
          <a:lstStyle/>
          <a:p>
            <a:pPr algn="ctr"/>
            <a:r>
              <a:rPr sz="1200" i="0">
                <a:solidFill>
                  <a:srgbClr val="5C2D91"/>
                </a:solidFill>
                <a:latin typeface="Segoe UI Semibold"/>
              </a:rPr>
              <a:t>05</a:t>
            </a:r>
          </a:p>
        </p:txBody>
      </p:sp>
      <p:sp>
        <p:nvSpPr>
          <p:cNvPr id="42" name="TextBox 41"/>
          <p:cNvSpPr txBox="1"/>
          <p:nvPr/>
        </p:nvSpPr>
        <p:spPr>
          <a:xfrm>
            <a:off x="9988906" y="3451860"/>
            <a:ext cx="1486814" cy="868680"/>
          </a:xfrm>
          <a:prstGeom prst="rect">
            <a:avLst/>
          </a:prstGeom>
          <a:noFill/>
        </p:spPr>
        <p:txBody>
          <a:bodyPr wrap="square" lIns="0" rIns="0" tIns="0" bIns="0" anchor="ctr">
            <a:noAutofit/>
          </a:bodyPr>
          <a:lstStyle/>
          <a:p>
            <a:pPr algn="ctr"/>
            <a:r>
              <a:rPr sz="2000" i="0">
                <a:solidFill>
                  <a:srgbClr val="1B1B1B"/>
                </a:solidFill>
                <a:latin typeface="Segoe UI Semibold"/>
              </a:rPr>
              <a:t>~27,600 hours</a:t>
            </a:r>
          </a:p>
        </p:txBody>
      </p:sp>
      <p:sp>
        <p:nvSpPr>
          <p:cNvPr id="43" name="TextBox 42"/>
          <p:cNvSpPr txBox="1"/>
          <p:nvPr/>
        </p:nvSpPr>
        <p:spPr>
          <a:xfrm>
            <a:off x="10007194" y="4366260"/>
            <a:ext cx="1450238" cy="1371600"/>
          </a:xfrm>
          <a:prstGeom prst="rect">
            <a:avLst/>
          </a:prstGeom>
          <a:noFill/>
        </p:spPr>
        <p:txBody>
          <a:bodyPr wrap="square" lIns="0" rIns="0" tIns="0" bIns="0" anchor="t">
            <a:noAutofit/>
          </a:bodyPr>
          <a:lstStyle/>
          <a:p>
            <a:pPr algn="ctr"/>
            <a:r>
              <a:rPr sz="1500" i="0">
                <a:solidFill>
                  <a:srgbClr val="505050"/>
                </a:solidFill>
                <a:latin typeface="Segoe UI"/>
              </a:rPr>
              <a:t>Estimate per year; pilot validates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 2-Week, 10-User 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Fourteen days measure task time, draft quality and user experience.</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10</a:t>
            </a:r>
          </a:p>
        </p:txBody>
      </p:sp>
      <p:sp>
        <p:nvSpPr>
          <p:cNvPr id="10" name="Rectangle 9"/>
          <p:cNvSpPr/>
          <p:nvPr/>
        </p:nvSpPr>
        <p:spPr>
          <a:xfrm>
            <a:off x="731520" y="3968496"/>
            <a:ext cx="10725912" cy="640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2140839" y="3616452"/>
            <a:ext cx="0" cy="384048"/>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957959" y="3817620"/>
            <a:ext cx="365760" cy="3657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14959"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2119" y="2382012"/>
            <a:ext cx="365760" cy="365760"/>
          </a:xfrm>
          <a:prstGeom prst="rect">
            <a:avLst/>
          </a:prstGeom>
          <a:noFill/>
        </p:spPr>
        <p:txBody>
          <a:bodyPr wrap="none" lIns="0" rIns="0" tIns="0" bIns="0" anchor="ctr">
            <a:spAutoFit/>
          </a:bodyPr>
          <a:lstStyle/>
          <a:p>
            <a:pPr algn="ctr"/>
            <a:r>
              <a:rPr sz="1785">
                <a:solidFill>
                  <a:srgbClr val="0078D4"/>
                </a:solidFill>
                <a:latin typeface="Segoe Fluent Icons"/>
              </a:rPr>
              <a:t></a:t>
            </a:r>
          </a:p>
        </p:txBody>
      </p:sp>
      <p:sp>
        <p:nvSpPr>
          <p:cNvPr id="15" name="TextBox 14"/>
          <p:cNvSpPr txBox="1"/>
          <p:nvPr/>
        </p:nvSpPr>
        <p:spPr>
          <a:xfrm>
            <a:off x="1381887" y="2354580"/>
            <a:ext cx="1965960" cy="411480"/>
          </a:xfrm>
          <a:prstGeom prst="rect">
            <a:avLst/>
          </a:prstGeom>
          <a:noFill/>
        </p:spPr>
        <p:txBody>
          <a:bodyPr wrap="square" lIns="0" rIns="0" tIns="0" bIns="0" anchor="ctr">
            <a:noAutofit/>
          </a:bodyPr>
          <a:lstStyle/>
          <a:p>
            <a:pPr algn="l"/>
            <a:r>
              <a:rPr sz="1500" i="0">
                <a:solidFill>
                  <a:srgbClr val="0078D4"/>
                </a:solidFill>
                <a:latin typeface="Segoe UI Semibold"/>
              </a:rPr>
              <a:t>Day 1</a:t>
            </a:r>
          </a:p>
        </p:txBody>
      </p:sp>
      <p:sp>
        <p:nvSpPr>
          <p:cNvPr id="16" name="TextBox 15"/>
          <p:cNvSpPr txBox="1"/>
          <p:nvPr/>
        </p:nvSpPr>
        <p:spPr>
          <a:xfrm>
            <a:off x="952119"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Equip 10 consultants</a:t>
            </a:r>
          </a:p>
        </p:txBody>
      </p:sp>
      <p:cxnSp>
        <p:nvCxnSpPr>
          <p:cNvPr id="17" name="Connector 16"/>
          <p:cNvCxnSpPr/>
          <p:nvPr/>
        </p:nvCxnSpPr>
        <p:spPr>
          <a:xfrm>
            <a:off x="4776597" y="4000500"/>
            <a:ext cx="0" cy="384048"/>
          </a:xfrm>
          <a:prstGeom prst="line">
            <a:avLst/>
          </a:prstGeom>
          <a:ln w="19050">
            <a:solidFill>
              <a:srgbClr val="107C1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593717" y="3817620"/>
            <a:ext cx="365760" cy="36576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3450717" y="4384548"/>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587877" y="4521708"/>
            <a:ext cx="365760" cy="365760"/>
          </a:xfrm>
          <a:prstGeom prst="rect">
            <a:avLst/>
          </a:prstGeom>
          <a:noFill/>
        </p:spPr>
        <p:txBody>
          <a:bodyPr wrap="none" lIns="0" rIns="0" tIns="0" bIns="0" anchor="ctr">
            <a:spAutoFit/>
          </a:bodyPr>
          <a:lstStyle/>
          <a:p>
            <a:pPr algn="ctr"/>
            <a:r>
              <a:rPr sz="1785">
                <a:solidFill>
                  <a:srgbClr val="107C10"/>
                </a:solidFill>
                <a:latin typeface="Segoe Fluent Icons"/>
              </a:rPr>
              <a:t></a:t>
            </a:r>
          </a:p>
        </p:txBody>
      </p:sp>
      <p:sp>
        <p:nvSpPr>
          <p:cNvPr id="21" name="TextBox 20"/>
          <p:cNvSpPr txBox="1"/>
          <p:nvPr/>
        </p:nvSpPr>
        <p:spPr>
          <a:xfrm>
            <a:off x="4017645" y="4494276"/>
            <a:ext cx="1965960" cy="411480"/>
          </a:xfrm>
          <a:prstGeom prst="rect">
            <a:avLst/>
          </a:prstGeom>
          <a:noFill/>
        </p:spPr>
        <p:txBody>
          <a:bodyPr wrap="square" lIns="0" rIns="0" tIns="0" bIns="0" anchor="ctr">
            <a:noAutofit/>
          </a:bodyPr>
          <a:lstStyle/>
          <a:p>
            <a:pPr algn="l"/>
            <a:r>
              <a:rPr sz="1500" i="0">
                <a:solidFill>
                  <a:srgbClr val="107C10"/>
                </a:solidFill>
                <a:latin typeface="Segoe UI Semibold"/>
              </a:rPr>
              <a:t>Week 1</a:t>
            </a:r>
          </a:p>
        </p:txBody>
      </p:sp>
      <p:sp>
        <p:nvSpPr>
          <p:cNvPr id="22" name="TextBox 21"/>
          <p:cNvSpPr txBox="1"/>
          <p:nvPr/>
        </p:nvSpPr>
        <p:spPr>
          <a:xfrm>
            <a:off x="3587877" y="4951476"/>
            <a:ext cx="2377440" cy="731520"/>
          </a:xfrm>
          <a:prstGeom prst="rect">
            <a:avLst/>
          </a:prstGeom>
          <a:noFill/>
        </p:spPr>
        <p:txBody>
          <a:bodyPr wrap="square" lIns="0" rIns="0" tIns="0" bIns="0" anchor="t">
            <a:noAutofit/>
          </a:bodyPr>
          <a:lstStyle/>
          <a:p>
            <a:pPr algn="l"/>
            <a:r>
              <a:rPr sz="1500" i="0">
                <a:solidFill>
                  <a:srgbClr val="1B1B1B"/>
                </a:solidFill>
                <a:latin typeface="Segoe UI"/>
              </a:rPr>
              <a:t>Draft real client summaries</a:t>
            </a:r>
          </a:p>
        </p:txBody>
      </p:sp>
      <p:cxnSp>
        <p:nvCxnSpPr>
          <p:cNvPr id="23" name="Connector 22"/>
          <p:cNvCxnSpPr/>
          <p:nvPr/>
        </p:nvCxnSpPr>
        <p:spPr>
          <a:xfrm flipV="1">
            <a:off x="7412355" y="3616452"/>
            <a:ext cx="0" cy="384048"/>
          </a:xfrm>
          <a:prstGeom prst="line">
            <a:avLst/>
          </a:prstGeom>
          <a:ln w="19050">
            <a:solidFill>
              <a:srgbClr val="D83B01"/>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229475" y="3817620"/>
            <a:ext cx="365760" cy="36576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086475"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23635" y="2382012"/>
            <a:ext cx="365760" cy="365760"/>
          </a:xfrm>
          <a:prstGeom prst="rect">
            <a:avLst/>
          </a:prstGeom>
          <a:noFill/>
        </p:spPr>
        <p:txBody>
          <a:bodyPr wrap="none" lIns="0" rIns="0" tIns="0" bIns="0" anchor="ctr">
            <a:spAutoFit/>
          </a:bodyPr>
          <a:lstStyle/>
          <a:p>
            <a:pPr algn="ctr"/>
            <a:r>
              <a:rPr sz="1785">
                <a:solidFill>
                  <a:srgbClr val="D83B01"/>
                </a:solidFill>
                <a:latin typeface="Segoe Fluent Icons"/>
              </a:rPr>
              <a:t></a:t>
            </a:r>
          </a:p>
        </p:txBody>
      </p:sp>
      <p:sp>
        <p:nvSpPr>
          <p:cNvPr id="27" name="TextBox 26"/>
          <p:cNvSpPr txBox="1"/>
          <p:nvPr/>
        </p:nvSpPr>
        <p:spPr>
          <a:xfrm>
            <a:off x="6653403" y="2354580"/>
            <a:ext cx="1965960" cy="411480"/>
          </a:xfrm>
          <a:prstGeom prst="rect">
            <a:avLst/>
          </a:prstGeom>
          <a:noFill/>
        </p:spPr>
        <p:txBody>
          <a:bodyPr wrap="square" lIns="0" rIns="0" tIns="0" bIns="0" anchor="ctr">
            <a:noAutofit/>
          </a:bodyPr>
          <a:lstStyle/>
          <a:p>
            <a:pPr algn="l"/>
            <a:r>
              <a:rPr sz="1500" i="0">
                <a:solidFill>
                  <a:srgbClr val="D83B01"/>
                </a:solidFill>
                <a:latin typeface="Segoe UI Semibold"/>
              </a:rPr>
              <a:t>Week 2</a:t>
            </a:r>
          </a:p>
        </p:txBody>
      </p:sp>
      <p:sp>
        <p:nvSpPr>
          <p:cNvPr id="28" name="TextBox 27"/>
          <p:cNvSpPr txBox="1"/>
          <p:nvPr/>
        </p:nvSpPr>
        <p:spPr>
          <a:xfrm>
            <a:off x="6223635"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Test restricted Wi-Fi sites</a:t>
            </a:r>
          </a:p>
        </p:txBody>
      </p:sp>
      <p:cxnSp>
        <p:nvCxnSpPr>
          <p:cNvPr id="29" name="Connector 28"/>
          <p:cNvCxnSpPr/>
          <p:nvPr/>
        </p:nvCxnSpPr>
        <p:spPr>
          <a:xfrm>
            <a:off x="10048113" y="4000500"/>
            <a:ext cx="0" cy="384048"/>
          </a:xfrm>
          <a:prstGeom prst="line">
            <a:avLst/>
          </a:prstGeom>
          <a:ln w="19050">
            <a:solidFill>
              <a:srgbClr val="FFB90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865233" y="3817620"/>
            <a:ext cx="365760" cy="365760"/>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722233" y="4384548"/>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59393" y="4521708"/>
            <a:ext cx="365760" cy="365760"/>
          </a:xfrm>
          <a:prstGeom prst="rect">
            <a:avLst/>
          </a:prstGeom>
          <a:noFill/>
        </p:spPr>
        <p:txBody>
          <a:bodyPr wrap="none" lIns="0" rIns="0" tIns="0" bIns="0" anchor="ctr">
            <a:spAutoFit/>
          </a:bodyPr>
          <a:lstStyle/>
          <a:p>
            <a:pPr algn="ctr"/>
            <a:r>
              <a:rPr sz="1785">
                <a:solidFill>
                  <a:srgbClr val="FFB900"/>
                </a:solidFill>
                <a:latin typeface="Segoe Fluent Icons"/>
              </a:rPr>
              <a:t></a:t>
            </a:r>
          </a:p>
        </p:txBody>
      </p:sp>
      <p:sp>
        <p:nvSpPr>
          <p:cNvPr id="33" name="TextBox 32"/>
          <p:cNvSpPr txBox="1"/>
          <p:nvPr/>
        </p:nvSpPr>
        <p:spPr>
          <a:xfrm>
            <a:off x="9289161" y="4494276"/>
            <a:ext cx="1965960" cy="411480"/>
          </a:xfrm>
          <a:prstGeom prst="rect">
            <a:avLst/>
          </a:prstGeom>
          <a:noFill/>
        </p:spPr>
        <p:txBody>
          <a:bodyPr wrap="square" lIns="0" rIns="0" tIns="0" bIns="0" anchor="ctr">
            <a:noAutofit/>
          </a:bodyPr>
          <a:lstStyle/>
          <a:p>
            <a:pPr algn="l"/>
            <a:r>
              <a:rPr sz="1500" i="0">
                <a:solidFill>
                  <a:srgbClr val="FFB900"/>
                </a:solidFill>
                <a:latin typeface="Segoe UI Semibold"/>
              </a:rPr>
              <a:t>Day 14</a:t>
            </a:r>
          </a:p>
        </p:txBody>
      </p:sp>
      <p:sp>
        <p:nvSpPr>
          <p:cNvPr id="34" name="TextBox 33"/>
          <p:cNvSpPr txBox="1"/>
          <p:nvPr/>
        </p:nvSpPr>
        <p:spPr>
          <a:xfrm>
            <a:off x="8859393" y="4951476"/>
            <a:ext cx="2377440" cy="731520"/>
          </a:xfrm>
          <a:prstGeom prst="rect">
            <a:avLst/>
          </a:prstGeom>
          <a:noFill/>
        </p:spPr>
        <p:txBody>
          <a:bodyPr wrap="square" lIns="0" rIns="0" tIns="0" bIns="0" anchor="t">
            <a:noAutofit/>
          </a:bodyPr>
          <a:lstStyle/>
          <a:p>
            <a:pPr algn="l"/>
            <a:r>
              <a:rPr sz="1500" i="0">
                <a:solidFill>
                  <a:srgbClr val="1B1B1B"/>
                </a:solidFill>
                <a:latin typeface="Segoe UI"/>
              </a:rPr>
              <a:t>Report time, quality, experience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The Proof Is This Deck</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This deck was generated locally on the device, with no cloud calls.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11</a:t>
            </a:r>
          </a:p>
        </p:txBody>
      </p:sp>
      <p:sp>
        <p:nvSpPr>
          <p:cNvPr id="10" name="Oval 9"/>
          <p:cNvSpPr/>
          <p:nvPr/>
        </p:nvSpPr>
        <p:spPr>
          <a:xfrm>
            <a:off x="5500116" y="1920240"/>
            <a:ext cx="1188720" cy="11887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6537" y="2086661"/>
            <a:ext cx="855878" cy="855878"/>
          </a:xfrm>
          <a:prstGeom prst="rect">
            <a:avLst/>
          </a:prstGeom>
          <a:noFill/>
        </p:spPr>
        <p:txBody>
          <a:bodyPr wrap="none" lIns="0" rIns="0" tIns="0" bIns="0" anchor="ctr">
            <a:spAutoFit/>
          </a:bodyPr>
          <a:lstStyle/>
          <a:p>
            <a:pPr algn="ctr"/>
            <a:r>
              <a:rPr sz="4178">
                <a:solidFill>
                  <a:srgbClr val="FFFFFF"/>
                </a:solidFill>
                <a:latin typeface="Segoe Fluent Icons"/>
              </a:rPr>
              <a:t></a:t>
            </a:r>
          </a:p>
        </p:txBody>
      </p:sp>
      <p:sp>
        <p:nvSpPr>
          <p:cNvPr id="12" name="TextBox 11"/>
          <p:cNvSpPr txBox="1"/>
          <p:nvPr/>
        </p:nvSpPr>
        <p:spPr>
          <a:xfrm>
            <a:off x="1280160" y="3337560"/>
            <a:ext cx="9628632" cy="1645920"/>
          </a:xfrm>
          <a:prstGeom prst="rect">
            <a:avLst/>
          </a:prstGeom>
          <a:noFill/>
        </p:spPr>
        <p:txBody>
          <a:bodyPr wrap="square" lIns="0" rIns="0" tIns="0" bIns="0" anchor="ctr">
            <a:noAutofit/>
          </a:bodyPr>
          <a:lstStyle/>
          <a:p>
            <a:pPr algn="ctr"/>
            <a:r>
              <a:rPr sz="4000" i="0">
                <a:solidFill>
                  <a:srgbClr val="1B1B1B"/>
                </a:solidFill>
                <a:latin typeface="Segoe UI Semibold"/>
              </a:rPr>
              <a:t>This deck was built on-device.</a:t>
            </a:r>
          </a:p>
        </p:txBody>
      </p:sp>
      <p:sp>
        <p:nvSpPr>
          <p:cNvPr id="13" name="TextBox 12"/>
          <p:cNvSpPr txBox="1"/>
          <p:nvPr/>
        </p:nvSpPr>
        <p:spPr>
          <a:xfrm>
            <a:off x="1920240" y="5074920"/>
            <a:ext cx="8348472" cy="822960"/>
          </a:xfrm>
          <a:prstGeom prst="rect">
            <a:avLst/>
          </a:prstGeom>
          <a:noFill/>
        </p:spPr>
        <p:txBody>
          <a:bodyPr wrap="square" lIns="0" rIns="0" tIns="0" bIns="0" anchor="t">
            <a:noAutofit/>
          </a:bodyPr>
          <a:lstStyle/>
          <a:p>
            <a:pPr algn="ctr"/>
            <a:r>
              <a:rPr sz="1800" i="0">
                <a:solidFill>
                  <a:srgbClr val="505050"/>
                </a:solidFill>
                <a:latin typeface="Segoe UI"/>
              </a:rPr>
              <a:t>Generated on this Surface Laptop Ultra by a local model, no cloud calls.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Approve the Consultant 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Small pilot, real measurements, then an informed decision.</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Contoso</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12</a:t>
            </a:r>
          </a:p>
        </p:txBody>
      </p:sp>
      <p:sp>
        <p:nvSpPr>
          <p:cNvPr id="10" name="Rounded Rectangle 9"/>
          <p:cNvSpPr/>
          <p:nvPr/>
        </p:nvSpPr>
        <p:spPr>
          <a:xfrm>
            <a:off x="548640" y="1828800"/>
            <a:ext cx="3514344" cy="4343400"/>
          </a:xfrm>
          <a:prstGeom prst="roundRect">
            <a:avLst>
              <a:gd name="adj" fmla="val 156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2960" y="2103120"/>
            <a:ext cx="640080" cy="64008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1</a:t>
            </a:r>
          </a:p>
        </p:txBody>
      </p:sp>
      <p:sp>
        <p:nvSpPr>
          <p:cNvPr id="13" name="TextBox 12"/>
          <p:cNvSpPr txBox="1"/>
          <p:nvPr/>
        </p:nvSpPr>
        <p:spPr>
          <a:xfrm>
            <a:off x="3331464" y="2176272"/>
            <a:ext cx="475488" cy="475488"/>
          </a:xfrm>
          <a:prstGeom prst="rect">
            <a:avLst/>
          </a:prstGeom>
          <a:noFill/>
        </p:spPr>
        <p:txBody>
          <a:bodyPr wrap="none" lIns="0" rIns="0" tIns="0" bIns="0" anchor="ctr">
            <a:spAutoFit/>
          </a:bodyPr>
          <a:lstStyle/>
          <a:p>
            <a:pPr algn="ctr"/>
            <a:r>
              <a:rPr sz="2321">
                <a:solidFill>
                  <a:srgbClr val="0078D4"/>
                </a:solidFill>
                <a:latin typeface="Segoe Fluent Icons"/>
              </a:rPr>
              <a:t></a:t>
            </a:r>
          </a:p>
        </p:txBody>
      </p:sp>
      <p:sp>
        <p:nvSpPr>
          <p:cNvPr id="14" name="TextBox 13"/>
          <p:cNvSpPr txBox="1"/>
          <p:nvPr/>
        </p:nvSpPr>
        <p:spPr>
          <a:xfrm>
            <a:off x="822960"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Approve pilot</a:t>
            </a:r>
          </a:p>
        </p:txBody>
      </p:sp>
      <p:sp>
        <p:nvSpPr>
          <p:cNvPr id="15" name="TextBox 14"/>
          <p:cNvSpPr txBox="1"/>
          <p:nvPr/>
        </p:nvSpPr>
        <p:spPr>
          <a:xfrm>
            <a:off x="822960" y="3657600"/>
            <a:ext cx="2965704" cy="2377440"/>
          </a:xfrm>
          <a:prstGeom prst="rect">
            <a:avLst/>
          </a:prstGeom>
          <a:noFill/>
        </p:spPr>
        <p:txBody>
          <a:bodyPr wrap="square" lIns="0" rIns="0" tIns="0" bIns="0" anchor="t">
            <a:noAutofit/>
          </a:bodyPr>
          <a:lstStyle/>
          <a:p>
            <a:pPr algn="l"/>
            <a:r>
              <a:rPr sz="1500" i="0">
                <a:solidFill>
                  <a:srgbClr val="505050"/>
                </a:solidFill>
                <a:latin typeface="Segoe UI"/>
              </a:rPr>
              <a:t>10 users, 2 weeks</a:t>
            </a:r>
          </a:p>
        </p:txBody>
      </p:sp>
      <p:sp>
        <p:nvSpPr>
          <p:cNvPr id="16" name="Rounded Rectangle 15"/>
          <p:cNvSpPr/>
          <p:nvPr/>
        </p:nvSpPr>
        <p:spPr>
          <a:xfrm>
            <a:off x="4337304" y="1828800"/>
            <a:ext cx="3514344" cy="4343400"/>
          </a:xfrm>
          <a:prstGeom prst="roundRect">
            <a:avLst>
              <a:gd name="adj" fmla="val 156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11624"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611624"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2</a:t>
            </a:r>
          </a:p>
        </p:txBody>
      </p:sp>
      <p:sp>
        <p:nvSpPr>
          <p:cNvPr id="19" name="TextBox 18"/>
          <p:cNvSpPr txBox="1"/>
          <p:nvPr/>
        </p:nvSpPr>
        <p:spPr>
          <a:xfrm>
            <a:off x="7120128" y="2176272"/>
            <a:ext cx="475488" cy="475488"/>
          </a:xfrm>
          <a:prstGeom prst="rect">
            <a:avLst/>
          </a:prstGeom>
          <a:noFill/>
        </p:spPr>
        <p:txBody>
          <a:bodyPr wrap="none" lIns="0" rIns="0" tIns="0" bIns="0" anchor="ctr">
            <a:spAutoFit/>
          </a:bodyPr>
          <a:lstStyle/>
          <a:p>
            <a:pPr algn="ctr"/>
            <a:r>
              <a:rPr sz="2321">
                <a:solidFill>
                  <a:srgbClr val="107C10"/>
                </a:solidFill>
                <a:latin typeface="Segoe Fluent Icons"/>
              </a:rPr>
              <a:t></a:t>
            </a:r>
          </a:p>
        </p:txBody>
      </p:sp>
      <p:sp>
        <p:nvSpPr>
          <p:cNvPr id="20" name="TextBox 19"/>
          <p:cNvSpPr txBox="1"/>
          <p:nvPr/>
        </p:nvSpPr>
        <p:spPr>
          <a:xfrm>
            <a:off x="4611624"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Nominate consultants</a:t>
            </a:r>
          </a:p>
        </p:txBody>
      </p:sp>
      <p:sp>
        <p:nvSpPr>
          <p:cNvPr id="21" name="TextBox 20"/>
          <p:cNvSpPr txBox="1"/>
          <p:nvPr/>
        </p:nvSpPr>
        <p:spPr>
          <a:xfrm>
            <a:off x="4611624" y="3657600"/>
            <a:ext cx="2965704" cy="2377440"/>
          </a:xfrm>
          <a:prstGeom prst="rect">
            <a:avLst/>
          </a:prstGeom>
          <a:noFill/>
        </p:spPr>
        <p:txBody>
          <a:bodyPr wrap="square" lIns="0" rIns="0" tIns="0" bIns="0" anchor="t">
            <a:noAutofit/>
          </a:bodyPr>
          <a:lstStyle/>
          <a:p>
            <a:pPr algn="l"/>
            <a:r>
              <a:rPr sz="1500" i="0">
                <a:solidFill>
                  <a:srgbClr val="505050"/>
                </a:solidFill>
                <a:latin typeface="Segoe UI"/>
              </a:rPr>
              <a:t>Travel-heavy teams with sensitive client work</a:t>
            </a:r>
          </a:p>
        </p:txBody>
      </p:sp>
      <p:sp>
        <p:nvSpPr>
          <p:cNvPr id="22" name="Rounded Rectangle 21"/>
          <p:cNvSpPr/>
          <p:nvPr/>
        </p:nvSpPr>
        <p:spPr>
          <a:xfrm>
            <a:off x="8125968" y="1828800"/>
            <a:ext cx="3514344" cy="4343400"/>
          </a:xfrm>
          <a:prstGeom prst="roundRect">
            <a:avLst>
              <a:gd name="adj" fmla="val 1561"/>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400288" y="2103120"/>
            <a:ext cx="640080" cy="64008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00288"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3</a:t>
            </a:r>
          </a:p>
        </p:txBody>
      </p:sp>
      <p:sp>
        <p:nvSpPr>
          <p:cNvPr id="25" name="TextBox 24"/>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D83B01"/>
                </a:solidFill>
                <a:latin typeface="Segoe Fluent Icons"/>
              </a:rPr>
              <a:t></a:t>
            </a:r>
          </a:p>
        </p:txBody>
      </p:sp>
      <p:sp>
        <p:nvSpPr>
          <p:cNvPr id="26" name="TextBox 25"/>
          <p:cNvSpPr txBox="1"/>
          <p:nvPr/>
        </p:nvSpPr>
        <p:spPr>
          <a:xfrm>
            <a:off x="8400288" y="2880360"/>
            <a:ext cx="2965704" cy="777240"/>
          </a:xfrm>
          <a:prstGeom prst="rect">
            <a:avLst/>
          </a:prstGeom>
          <a:noFill/>
        </p:spPr>
        <p:txBody>
          <a:bodyPr wrap="square" lIns="0" rIns="0" tIns="0" bIns="0" anchor="t">
            <a:noAutofit/>
          </a:bodyPr>
          <a:lstStyle/>
          <a:p>
            <a:pPr algn="l"/>
            <a:r>
              <a:rPr sz="2000" i="0">
                <a:solidFill>
                  <a:srgbClr val="1B1B1B"/>
                </a:solidFill>
                <a:latin typeface="Segoe UI Semibold"/>
              </a:rPr>
              <a:t>Measure and decide</a:t>
            </a:r>
          </a:p>
        </p:txBody>
      </p:sp>
      <p:sp>
        <p:nvSpPr>
          <p:cNvPr id="27" name="TextBox 26"/>
          <p:cNvSpPr txBox="1"/>
          <p:nvPr/>
        </p:nvSpPr>
        <p:spPr>
          <a:xfrm>
            <a:off x="8400288" y="3657600"/>
            <a:ext cx="2965704" cy="2377440"/>
          </a:xfrm>
          <a:prstGeom prst="rect">
            <a:avLst/>
          </a:prstGeom>
          <a:noFill/>
        </p:spPr>
        <p:txBody>
          <a:bodyPr wrap="square" lIns="0" rIns="0" tIns="0" bIns="0" anchor="t">
            <a:noAutofit/>
          </a:bodyPr>
          <a:lstStyle/>
          <a:p>
            <a:pPr algn="l"/>
            <a:r>
              <a:rPr sz="1500" i="0">
                <a:solidFill>
                  <a:srgbClr val="505050"/>
                </a:solidFill>
                <a:latin typeface="Segoe UI"/>
              </a:rPr>
              <a:t>Task time, draft quality, user 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Local AI Lane for Contoso Consultants</dc:title>
  <dc:subject/>
  <dc:creator>Offline PPTX Forge</dc:creator>
  <cp:keywords/>
  <dc:description>Generated offline; template=microsoft</dc:description>
  <cp:lastModifiedBy>Steve Canny</cp:lastModifiedBy>
  <cp:revision>1</cp:revision>
  <dcterms:created xsi:type="dcterms:W3CDTF">2013-01-27T09:14:16Z</dcterms:created>
  <dcterms:modified xsi:type="dcterms:W3CDTF">2013-01-27T09:15:58Z</dcterms:modified>
  <cp:category/>
</cp:coreProperties>
</file>