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0"/>
            <c:spPr>
              <a:solidFill>
                <a:srgbClr val="76B900"/>
              </a:solidFill>
            </c:spPr>
          </c:dPt>
          <c:cat>
            <c:strRef>
              <c:f>Sheet1!$A$2:$A$4</c:f>
              <c:strCache>
                <c:ptCount val="3"/>
                <c:pt idx="0">
                  <c:v>Qwen3-Coder 30B</c:v>
                </c:pt>
                <c:pt idx="1">
                  <c:v>Gemma 4 26B</c:v>
                </c:pt>
                <c:pt idx="2">
                  <c:v>Qwen3.6 27B dense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72.0</c:v>
                </c:pt>
                <c:pt idx="2">
                  <c:v>13.0</c:v>
                </c:pt>
              </c:numCache>
            </c:numRef>
          </c:val>
        </c:ser>
        <c:dLbls>
          <c:numFmt formatCode="#,##0&quot; tokens/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was generated on the device we are discussing. Today: architecture, measured numbers, and a small pilot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silicon up: the N1X with a Blackwell RTX GPU and 20 CPU cores, CUDA runtimes, a local catalog of 28 open models, and the developer workflows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128 GB is installed. Windows reports about 64 GB visible, and nvidia-smi reports a 64,000 MiB GPU memory budget. These are different views of the same memory, not additive, and this is not dedicated VRAM.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one city with several maps. A driver and a courier each see part of it. Adding their maps would double-count streets, just as adding memory views overstates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Qwen3-Coder 30B at about 86 tokens per second with 0.13 second time to first token. Measured on this shared machine in October 2026; treat as observed, not guaranteed.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Aggregate numbers across concurrent streams, measured on a shared machine. They indicate headroom, not a guarantee or device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Qwen3-Coder 30B activates about 3B parameters per token. Dense Qwen3.6 27B uses all weights each token, about 13 tokens per second. MoE decodes several times faster at similar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 1-4B, M 7-8B, L 14-20B, XL 24-32B. These are planning estimates for memory and speed, not accuracy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router sends sensitive, frequent tasks like code generation and RAG over internal docs to the local lane. The heaviest reasoning can route to cloud models when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Retrieval pulls from internal engineering docs, then the local coder model generates. Runtimes: llama.cpp build 11573 native ARM64 with CUDA, and Foundry Local with the CUDA execution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was generated on this Surface Laptop Ultra by Qwen3-Coder 30B through llama.cpp, with no cloud calls. The device is teaching you about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ask for 10 developers over 2 weeks, measuring acceptance rate, latency and developer experience. Your own numbers decide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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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ZAVA ENGINEERING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Your IP-Safe AI Dev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Surface Laptop Ultra with NVIDIA RTX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Hardware to Workflow, Layer by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One laptop carries the full local AI developer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Dev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Code generation and RAG over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Open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28 models, 315 GiB on disk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Runtimes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llama.cpp and Foundry Local, CUDA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7E5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RTX Spark N1X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Blackwell RTX GPU, 20 CPU cores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Closest to developer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Three Views of One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Distinct views of memory; never add them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76B900"/>
                </a:solidFill>
                <a:latin typeface="Segoe UI Black"/>
              </a:rPr>
              <a:t>128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128 GB installed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5490972" cy="1033272"/>
          </a:xfrm>
          <a:prstGeom prst="roundRect">
            <a:avLst>
              <a:gd name="adj" fmla="val 8849"/>
            </a:avLst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53263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Windows-visible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53263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64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1908" y="3118104"/>
            <a:ext cx="5490972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6F78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31636" y="3337560"/>
            <a:ext cx="527151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Headroom 64.0 GB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32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96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76B900"/>
                </a:solidFill>
                <a:latin typeface="Segoe Fluent Icons"/>
              </a:rPr>
              <a:t>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Windows sees about 64 GB; GPU budget 64,000 MiB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Memory Views Are Like Map Zoom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Same territory, different viewers; totals never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Memory views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One city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128 GB installed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The whole 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Windows ~64 GB 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Driver's road 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GPU 64,000 MiB budget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Courier's delivery zone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Never add views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Don't count streets twice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Measured Single-Stream Decode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MoE coder decodes fast enough for interactive coding.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tokens/s  |  Qwen3-Coder 30B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Local-AI-Bench, Oct 2026, shared machine; not a spec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Concurrency for Shared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Aggregate throughput rises when streams run concurrently.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000" i="0">
                <a:solidFill>
                  <a:srgbClr val="76B900"/>
                </a:solidFill>
                <a:latin typeface="Segoe UI Black"/>
              </a:rPr>
              <a:t>140 tok/s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Qwen3-Coder, 4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Local-AI-Bench, Oct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800" i="0">
                <a:solidFill>
                  <a:srgbClr val="3DA9FC"/>
                </a:solidFill>
                <a:latin typeface="Segoe UI Black"/>
              </a:rPr>
              <a:t>245 tok/s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Gemma 4, 8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Local-AI-Bench, Oct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9B6BFF"/>
                </a:solidFill>
                <a:latin typeface="Segoe UI Black"/>
              </a:rPr>
              <a:t>0.13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Coder first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Local-AI-Bench, Oct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MoE Is a Specialist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Only a few experts work per token, so decode runs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Mixture of Experts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Specialist 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Experts in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Clinic specialists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Router picks experts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Triage nurse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~3B active parameters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Few doctors per patient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Dense model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Every doctor sees everyone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Bands guide planning; bigger is not a claim of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Parameters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Planning footprint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M: 7-8B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Mid-size planning band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3DA9FC"/>
                </a:solidFill>
                <a:latin typeface="Segoe Fluent Icons"/>
              </a:rPr>
              <a:t>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L: 14-20B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Larger planning band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S: 1-4B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Smallest planning band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XL: 24-32B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Where Qwen3-Coder 30B sits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Routing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Sensitive work stays local; heaviest reasoning can go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9405" y="4000500"/>
            <a:ext cx="1386459" cy="0"/>
          </a:xfrm>
          <a:prstGeom prst="line">
            <a:avLst/>
          </a:prstGeom>
          <a:ln w="28575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279337" y="2842260"/>
            <a:ext cx="1478890" cy="868680"/>
          </a:xfrm>
          <a:prstGeom prst="line">
            <a:avLst/>
          </a:prstGeom>
          <a:ln w="28575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12942" y="28925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AEB6C8"/>
                </a:solidFill>
                <a:latin typeface="Segoe UI"/>
              </a:rPr>
              <a:t>Code, docs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79337" y="4290060"/>
            <a:ext cx="1478890" cy="868680"/>
          </a:xfrm>
          <a:prstGeom prst="line">
            <a:avLst/>
          </a:prstGeom>
          <a:ln w="28575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12942" y="43403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AEB6C8"/>
                </a:solidFill>
                <a:latin typeface="Segoe UI"/>
              </a:rPr>
              <a:t>Heaviest 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932" y="3493770"/>
            <a:ext cx="2033473" cy="1013460"/>
          </a:xfrm>
          <a:prstGeom prst="roundRect">
            <a:avLst>
              <a:gd name="adj" fmla="val 12631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1380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4F6FA"/>
                </a:solidFill>
                <a:latin typeface="Segoe Fluent Icons"/>
              </a:rPr>
              <a:t>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3172" y="3603498"/>
            <a:ext cx="1164793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4F6FA"/>
                </a:solidFill>
                <a:latin typeface="Segoe UI Semibold"/>
              </a:rPr>
              <a:t>Developer IDE</a:t>
            </a:r>
          </a:p>
        </p:txBody>
      </p:sp>
      <p:sp>
        <p:nvSpPr>
          <p:cNvPr id="17" name="Hexagon 16"/>
          <p:cNvSpPr/>
          <p:nvPr/>
        </p:nvSpPr>
        <p:spPr>
          <a:xfrm>
            <a:off x="4245864" y="3421380"/>
            <a:ext cx="2033473" cy="1158240"/>
          </a:xfrm>
          <a:prstGeom prst="hexagon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01312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3104" y="3531108"/>
            <a:ext cx="1164793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8227" y="2263140"/>
            <a:ext cx="3512363" cy="1158240"/>
          </a:xfrm>
          <a:prstGeom prst="roundRect">
            <a:avLst>
              <a:gd name="adj" fmla="val 11052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13675" y="259080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5467" y="2372868"/>
            <a:ext cx="2643683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Local lane: Qwen3-Coder +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8227" y="4579620"/>
            <a:ext cx="3512363" cy="1158240"/>
          </a:xfrm>
          <a:prstGeom prst="roundRect">
            <a:avLst>
              <a:gd name="adj" fmla="val 11052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13675" y="4907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5467" y="4689348"/>
            <a:ext cx="2643683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Cloud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932" y="5593080"/>
            <a:ext cx="6470142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A6276"/>
                </a:solidFill>
                <a:latin typeface="Segoe UI"/>
              </a:rPr>
              <a:t>CAD/PLM and source IP stay on the local lane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Local Codegen and RAG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Internal docs ground local code answers on 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289304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1732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Developer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Question or code request</a:t>
            </a:r>
          </a:p>
        </p:txBody>
      </p:sp>
      <p:sp>
        <p:nvSpPr>
          <p:cNvPr id="15" name="Chevron 14"/>
          <p:cNvSpPr/>
          <p:nvPr/>
        </p:nvSpPr>
        <p:spPr>
          <a:xfrm>
            <a:off x="308152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47288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187952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1596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Retrieve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Search internal engineering docs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345936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086600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1461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Local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Qwen3-Coder via llama.cpp</a:t>
            </a:r>
          </a:p>
        </p:txBody>
      </p:sp>
      <p:sp>
        <p:nvSpPr>
          <p:cNvPr id="29" name="Chevron 28"/>
          <p:cNvSpPr/>
          <p:nvPr/>
        </p:nvSpPr>
        <p:spPr>
          <a:xfrm>
            <a:off x="887882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244584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985248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1326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Answer in 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Review, accept or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This Deck Was Made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The device generated its own pitch locally.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Generated on this laptop, no cloud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AEB6C8"/>
                </a:solidFill>
                <a:latin typeface="Segoe UI"/>
              </a:rPr>
              <a:t>Qwen3-Coder 30B through llama.cpp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Run a Two-Week Technical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10 developers, 14 days, measured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Pick 10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Mix of code and docs workloads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Run 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Local lane plus hybrid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Measure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Acceptance rate, latency, developer experience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a 10-developer, 2-week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Developer Stack for Zava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