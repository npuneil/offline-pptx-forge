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B3B3B3"/>
            </a:solidFill>
          </c:spPr>
          <c:dPt>
            <c:idx val="1"/>
            <c:spPr>
              <a:solidFill>
                <a:srgbClr val="0078D4"/>
              </a:solidFill>
            </c:spPr>
          </c:dPt>
          <c:cat>
            <c:strRef>
              <c:f>Sheet1!$A$2:$A$3</c:f>
              <c:strCache>
                <c:ptCount val="2"/>
                <c:pt idx="0">
                  <c:v>Gemma 4 26B</c:v>
                </c:pt>
                <c:pt idx="1">
                  <c:v>Qwen3-Coder 30B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72.0</c:v>
                </c:pt>
                <c:pt idx="1">
                  <c:v>86.0</c:v>
                </c:pt>
              </c:numCache>
            </c:numRef>
          </c:val>
        </c:ser>
        <c:dLbls>
          <c:numFmt formatCode="#,##0&quot; tokens/sec&quot;" sourceLinked="0"/>
          <c:txPr>
            <a:bodyPr/>
            <a:lstStyle/>
            <a:p>
              <a:pPr>
                <a:defRPr sz="1500" b="1">
                  <a:solidFill>
                    <a:srgbClr val="1B1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B1B1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1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B1B1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propose a small, low-risk pilot: ten consultants, two weeks, a local AI lane on Surface Laptop Ultra next to the Copilot you already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 4,000 employees, 1,200 travel. Each writes about six client summaries a week, roughly 25 minutes each. That is repeated, sensitive drafting work, exactly where a local assistant can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workflow is familiar: interviews, documents, then drafting. Drafting is the bottleneck and the step a local model accelerates.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30% of client sites restrict guest Wi-Fi. Like a carry-on, local AI goes where the consultant goes. Disconnected use is something we validate in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hybrid. Copilot stays exactly as it is. The local lane adds a place for sensitive, repeated drafting where client documents never need to leave the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not replacing any subscription. The recommendation is a second lane for specific work, while Copilot keeps doing what it does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device pairs a Blackwell RTX GPU with 20 CPU cores and 128 GB of memory, enough to host a catalog of 28 open models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device Gemma 4 26B decodes about 72 tokens per second and Qwen3-Coder 30B about 86. In fact, this deck was generated on this laptop by a local model with no cloud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local assistant saved five minutes per summary, that is 27,600 hours a year of capacity. This is unvalidated and illustrative, not a savings claim. The pilot exists to measure the real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measures task time, draft quality and user experience, and validates disconnected use at client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ask: approve ten users for two weeks. We return with measured results, then decide together on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55448" cy="155448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55448" cy="155448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155448" cy="155448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53035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i="0">
                <a:solidFill>
                  <a:srgbClr val="737373"/>
                </a:solidFill>
                <a:latin typeface="Segoe UI Semibold"/>
              </a:rPr>
              <a:t>Microsoft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1600200"/>
            <a:ext cx="1600200" cy="160020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01050" y="2000250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9" name="Rectangle 8"/>
          <p:cNvSpPr/>
          <p:nvPr/>
        </p:nvSpPr>
        <p:spPr>
          <a:xfrm>
            <a:off x="9747504" y="1600200"/>
            <a:ext cx="1600200" cy="160020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147554" y="2000250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3346704"/>
            <a:ext cx="1600200" cy="160020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01050" y="3746754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47504" y="3346704"/>
            <a:ext cx="1600200" cy="16002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147554" y="3746754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078D4"/>
                </a:solidFill>
                <a:latin typeface="Segoe UI Semibold"/>
              </a:rPr>
              <a:t>CONTOSO PILOT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1B1B1B"/>
                </a:solidFill>
                <a:latin typeface="Segoe UI Semibold"/>
              </a:rPr>
              <a:t>Local AI for Traveling Consultants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505050"/>
                </a:solidFill>
                <a:latin typeface="Segoe UI"/>
              </a:rPr>
              <a:t>A second AI lane alongside Microsoft 365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8A8A8A"/>
                </a:solidFill>
                <a:latin typeface="Segoe UI"/>
              </a:rPr>
              <a:t>Microsoft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Consultants Live in Drafting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Summaries are frequent, repeated and time-consuming for 1,200 consultants.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17420"/>
            <a:ext cx="3483864" cy="3566160"/>
          </a:xfrm>
          <a:prstGeom prst="roundRect">
            <a:avLst>
              <a:gd name="adj" fmla="val 157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217420"/>
            <a:ext cx="3483864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0078D4"/>
                </a:solidFill>
                <a:latin typeface="Segoe UI Semibold"/>
              </a:rPr>
              <a:t>1,200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Traveling consultants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Contoso headcount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2217420"/>
            <a:ext cx="3483864" cy="3566160"/>
          </a:xfrm>
          <a:prstGeom prst="roundRect">
            <a:avLst>
              <a:gd name="adj" fmla="val 157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52544" y="2217420"/>
            <a:ext cx="3483864" cy="82296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636008" y="2546604"/>
            <a:ext cx="713232" cy="713232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3586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107C10"/>
                </a:solidFill>
                <a:latin typeface="Segoe UI Semibold"/>
              </a:rPr>
              <a:t>6/week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Client summaries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Contoso estimate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2217420"/>
            <a:ext cx="3483864" cy="3566160"/>
          </a:xfrm>
          <a:prstGeom prst="roundRect">
            <a:avLst>
              <a:gd name="adj" fmla="val 157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56448" y="2217420"/>
            <a:ext cx="3483864" cy="82296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439912" y="2546604"/>
            <a:ext cx="713232" cy="713232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3976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D83B01"/>
                </a:solidFill>
                <a:latin typeface="Segoe UI Semibold"/>
              </a:rPr>
              <a:t>25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Draft time per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Contoso estimate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From Interview to Client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The drafting step is where consultants lose the most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83180"/>
            <a:ext cx="2395728" cy="3291840"/>
          </a:xfrm>
          <a:prstGeom prst="roundRect">
            <a:avLst>
              <a:gd name="adj" fmla="val 229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289304" y="212598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1732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0078D4"/>
                </a:solidFill>
                <a:latin typeface="Segoe UI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Site 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Notes captured on client premises</a:t>
            </a:r>
          </a:p>
        </p:txBody>
      </p:sp>
      <p:sp>
        <p:nvSpPr>
          <p:cNvPr id="16" name="Chevron 15"/>
          <p:cNvSpPr/>
          <p:nvPr/>
        </p:nvSpPr>
        <p:spPr>
          <a:xfrm>
            <a:off x="3081528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447288" y="2583180"/>
            <a:ext cx="2395728" cy="3291840"/>
          </a:xfrm>
          <a:prstGeom prst="roundRect">
            <a:avLst>
              <a:gd name="adj" fmla="val 229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187952" y="2125980"/>
            <a:ext cx="914400" cy="91440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15968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107C10"/>
                </a:solidFill>
                <a:latin typeface="Segoe UI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Collect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Sensitive client files gathered</a:t>
            </a:r>
          </a:p>
        </p:txBody>
      </p:sp>
      <p:sp>
        <p:nvSpPr>
          <p:cNvPr id="23" name="Chevron 22"/>
          <p:cNvSpPr/>
          <p:nvPr/>
        </p:nvSpPr>
        <p:spPr>
          <a:xfrm>
            <a:off x="5980176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345936" y="2583180"/>
            <a:ext cx="2395728" cy="3291840"/>
          </a:xfrm>
          <a:prstGeom prst="roundRect">
            <a:avLst>
              <a:gd name="adj" fmla="val 229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086600" y="2125980"/>
            <a:ext cx="914400" cy="91440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214616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D83B01"/>
                </a:solidFill>
                <a:latin typeface="Segoe UI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Draft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About 25 minutes today</a:t>
            </a:r>
          </a:p>
        </p:txBody>
      </p:sp>
      <p:sp>
        <p:nvSpPr>
          <p:cNvPr id="30" name="Chevron 29"/>
          <p:cNvSpPr/>
          <p:nvPr/>
        </p:nvSpPr>
        <p:spPr>
          <a:xfrm>
            <a:off x="8878824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244584" y="2583180"/>
            <a:ext cx="2395728" cy="3291840"/>
          </a:xfrm>
          <a:prstGeom prst="roundRect">
            <a:avLst>
              <a:gd name="adj" fmla="val 229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985248" y="2125980"/>
            <a:ext cx="914400" cy="914400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11326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7464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B900"/>
                </a:solidFill>
                <a:latin typeface="Segoe UI Semi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Review and send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7464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Consultant finalizes for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Local AI Is a Carry-On Bag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Your essentials travel with you, even when Wi-Fi does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B1B1B"/>
                </a:solidFill>
                <a:latin typeface="Segoe UI Semibold"/>
              </a:rPr>
              <a:t>Local AI on device</a:t>
            </a:r>
          </a:p>
        </p:txBody>
      </p:sp>
      <p:sp>
        <p:nvSpPr>
          <p:cNvPr id="13" name="Oval 12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B1B1B"/>
                </a:solidFill>
                <a:latin typeface="Segoe UI Semibold"/>
              </a:rPr>
              <a:t>Carry-on luggage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A8A8A"/>
                </a:solidFill>
                <a:latin typeface="Segoe UI"/>
              </a:rPr>
              <a:t>is like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Model runs on laptop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1828" y="3529584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80276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54596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Bag stays at your seat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Works on restricted Wi-Fi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1828" y="4480560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80276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54596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No waiting at baggage claim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Client data stays local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1828" y="5431536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80276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54596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Valuables never leave your 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Two Lanes, One Consultant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Sensitive drafting stays local; Copilot keeps handling collaboration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5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766974" y="2842260"/>
            <a:ext cx="1941043" cy="868680"/>
          </a:xfrm>
          <a:prstGeom prst="line">
            <a:avLst/>
          </a:prstGeom>
          <a:ln w="28575">
            <a:solidFill>
              <a:srgbClr val="107C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31656" y="289255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505050"/>
                </a:solidFill>
                <a:latin typeface="Segoe UI"/>
              </a:rPr>
              <a:t>Sensitive drafts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66974" y="4290060"/>
            <a:ext cx="1941043" cy="868680"/>
          </a:xfrm>
          <a:prstGeom prst="line">
            <a:avLst/>
          </a:prstGeom>
          <a:ln w="28575">
            <a:solidFill>
              <a:srgbClr val="D83B0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31656" y="434035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505050"/>
                </a:solidFill>
                <a:latin typeface="Segoe UI"/>
              </a:rPr>
              <a:t>Collaboration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43088" y="2842260"/>
            <a:ext cx="554584" cy="0"/>
          </a:xfrm>
          <a:prstGeom prst="line">
            <a:avLst/>
          </a:prstGeom>
          <a:ln w="28575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43088" y="5158740"/>
            <a:ext cx="554584" cy="0"/>
          </a:xfrm>
          <a:prstGeom prst="line">
            <a:avLst/>
          </a:prstGeom>
          <a:ln w="28575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10793" y="3421380"/>
            <a:ext cx="1663751" cy="1158240"/>
          </a:xfrm>
          <a:prstGeom prst="ellipse">
            <a:avLst/>
          </a:prstGeom>
          <a:solidFill>
            <a:srgbClr val="0078D4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66241" y="37490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8033" y="3531108"/>
            <a:ext cx="795071" cy="938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i="0">
                <a:solidFill>
                  <a:srgbClr val="FFFFFF"/>
                </a:solidFill>
                <a:latin typeface="Segoe UI Semibold"/>
              </a:rPr>
              <a:t>Consultant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448" y="2263140"/>
            <a:ext cx="3142640" cy="1158240"/>
          </a:xfrm>
          <a:prstGeom prst="roundRect">
            <a:avLst>
              <a:gd name="adj" fmla="val 4736"/>
            </a:avLst>
          </a:prstGeom>
          <a:solidFill>
            <a:srgbClr val="107C10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955896" y="259080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688" y="2372868"/>
            <a:ext cx="2273960" cy="938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Local AI lane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448" y="4579620"/>
            <a:ext cx="3142640" cy="1158240"/>
          </a:xfrm>
          <a:prstGeom prst="roundRect">
            <a:avLst>
              <a:gd name="adj" fmla="val 4736"/>
            </a:avLst>
          </a:prstGeom>
          <a:solidFill>
            <a:srgbClr val="D83B01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955896" y="49072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688" y="4689348"/>
            <a:ext cx="2273960" cy="938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Microsoft 365 Copilot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97672" y="2480310"/>
            <a:ext cx="2772918" cy="72390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53120" y="264318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1B1B1B"/>
                </a:solidFill>
                <a:latin typeface="Segoe Fluent Icons"/>
              </a:rPr>
              <a:t>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0137" y="2590038"/>
            <a:ext cx="2009013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1B1B1B"/>
                </a:solidFill>
                <a:latin typeface="Segoe UI Semibold"/>
              </a:rPr>
              <a:t>Data stays on device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97672" y="4796790"/>
            <a:ext cx="2772918" cy="72390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53120" y="4959667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1B1B1B"/>
                </a:solidFill>
                <a:latin typeface="Segoe Fluent Icons"/>
              </a:rPr>
              <a:t>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0137" y="4906518"/>
            <a:ext cx="2009013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1B1B1B"/>
                </a:solidFill>
                <a:latin typeface="Segoe UI Semibold"/>
              </a:rPr>
              <a:t>Stays in 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448" y="3710940"/>
            <a:ext cx="3142640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Hybrid: add, not replace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Adding a Lane, Not Replacing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Hybrid keeps Copilot and adds on-device drafting for sensitive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B1B1B"/>
                </a:solidFill>
                <a:latin typeface="Segoe UI Semibold"/>
              </a:rPr>
              <a:t>Copilot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Great for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Needs connectivity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1467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1960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Restricted Wi-Fi slows 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28575">
            <a:solidFill>
              <a:srgbClr val="0078D4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B1B1B"/>
                </a:solidFill>
                <a:latin typeface="Segoe UI Semibold"/>
              </a:rPr>
              <a:t>Copilot plus local lane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Copilot stays in 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Drafts sensitive notes locally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3156" y="461467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0356" y="441960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Works where Wi-Fi is restricted</a:t>
            </a:r>
          </a:p>
        </p:txBody>
      </p:sp>
      <p:sp>
        <p:nvSpPr>
          <p:cNvPr id="30" name="Oval 29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FFFFF"/>
                </a:solidFill>
                <a:latin typeface="Segoe UI Semibold"/>
              </a:rPr>
              <a:t>VS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Hybrid gives consultants the right lane per task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Inside the Surface Laptop Ultra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Workstation-class hardware runs large open models right on the laptop.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88236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0080" y="197967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9983" y="211957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196138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Drafting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96138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Summaries from notes and documents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6372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" y="3067812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9983" y="3207715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049524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Local model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3049524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28 open models installed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4508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0080" y="4155948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9983" y="4295851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137660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NVIDIA RTX Spark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137660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Blackwell RTX GPU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52644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40080" y="524408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9983" y="538398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522579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CPU and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522579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20 CPU cores, 128 GB memory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85832" y="1888236"/>
            <a:ext cx="73152" cy="42245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4137"/>
            </a:avLst>
          </a:prstGeom>
          <a:solidFill>
            <a:srgbClr val="D9EBF9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 Semibold"/>
              </a:rPr>
              <a:t>On-device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Fast Enough to Feel Instant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Large local models generate text faster than anyone reads.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14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FFFFFF"/>
                </a:solidFill>
                <a:latin typeface="Segoe Fluent Icons"/>
              </a:rPr>
              <a:t>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0078D4"/>
                </a:solidFill>
                <a:latin typeface="Segoe UI Semibold"/>
              </a:rPr>
              <a:t>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505050"/>
                </a:solidFill>
                <a:latin typeface="Segoe UI"/>
              </a:rPr>
              <a:t>tokens/sec  |  Qwen3-Coder 30B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Single stream, Local-AI-Bench, October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Capacity Worth Measuring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Illustrative estimate only; the pilot measures the real number.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17420"/>
            <a:ext cx="5385816" cy="3566160"/>
          </a:xfrm>
          <a:prstGeom prst="roundRect">
            <a:avLst>
              <a:gd name="adj" fmla="val 1538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217420"/>
            <a:ext cx="5385816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4837176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0078D4"/>
                </a:solidFill>
                <a:latin typeface="Segoe UI Semibold"/>
              </a:rPr>
              <a:t>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40580"/>
            <a:ext cx="483717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Assumed saving per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72100"/>
            <a:ext cx="4837176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Illustrative assumption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2217420"/>
            <a:ext cx="5385816" cy="3566160"/>
          </a:xfrm>
          <a:prstGeom prst="roundRect">
            <a:avLst>
              <a:gd name="adj" fmla="val 1538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54496" y="2217420"/>
            <a:ext cx="5385816" cy="82296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537960" y="2546604"/>
            <a:ext cx="713232" cy="713232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37812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3406140"/>
            <a:ext cx="4837176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107C10"/>
                </a:solidFill>
                <a:latin typeface="Segoe UI Semibold"/>
              </a:rPr>
              <a:t>27,600 hrs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4640580"/>
            <a:ext cx="483717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Estimate to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5372100"/>
            <a:ext cx="4837176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1,200 x 6 x 5 min x 46 weeks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A Two-Week Pilot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Ten consultants, 14 days, three clear measures.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68496"/>
            <a:ext cx="10725912" cy="6400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2140839" y="3616452"/>
            <a:ext cx="0" cy="384048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957959" y="3817620"/>
            <a:ext cx="365760" cy="36576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14959" y="2244852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2119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0078D4"/>
                </a:solidFill>
                <a:latin typeface="Segoe Fluent Icons"/>
              </a:rPr>
              <a:t>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1887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0078D4"/>
                </a:solidFill>
                <a:latin typeface="Segoe UI Semibold"/>
              </a:rPr>
              <a:t>Day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119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Set up 10 users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76597" y="4000500"/>
            <a:ext cx="0" cy="384048"/>
          </a:xfrm>
          <a:prstGeom prst="line">
            <a:avLst/>
          </a:prstGeom>
          <a:ln w="19050">
            <a:solidFill>
              <a:srgbClr val="107C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3717" y="3817620"/>
            <a:ext cx="365760" cy="36576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450717" y="438454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587877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107C10"/>
                </a:solidFill>
                <a:latin typeface="Segoe Fluent Icons"/>
              </a:rPr>
              <a:t>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7645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07C10"/>
                </a:solidFill>
                <a:latin typeface="Segoe UI Semibold"/>
              </a:rPr>
              <a:t>Days 2-7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7877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Draft real summaries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412355" y="3616452"/>
            <a:ext cx="0" cy="384048"/>
          </a:xfrm>
          <a:prstGeom prst="line">
            <a:avLst/>
          </a:prstGeom>
          <a:ln w="19050">
            <a:solidFill>
              <a:srgbClr val="D83B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229475" y="3817620"/>
            <a:ext cx="365760" cy="36576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086475" y="2244852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23635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D83B01"/>
                </a:solidFill>
                <a:latin typeface="Segoe Fluent Icons"/>
              </a:rPr>
              <a:t>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3403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D83B01"/>
                </a:solidFill>
                <a:latin typeface="Segoe UI Semibold"/>
              </a:rPr>
              <a:t>Days 8-13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635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Test restricted Wi-Fi sites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48113" y="4000500"/>
            <a:ext cx="0" cy="384048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865233" y="3817620"/>
            <a:ext cx="365760" cy="365760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722233" y="438454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859393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FFB900"/>
                </a:solidFill>
                <a:latin typeface="Segoe Fluent Icons"/>
              </a:rPr>
              <a:t>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9161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FB900"/>
                </a:solidFill>
                <a:latin typeface="Segoe UI Semibold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9393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Review time, quality,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Approve the 10-User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Small, measured, and alongside Copilot.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0078D4"/>
                </a:solidFill>
                <a:latin typeface="Segoe Fluent Icons"/>
              </a:rPr>
              <a:t>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Approve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10 consultants, 2 weeks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107C10"/>
                </a:solidFill>
                <a:latin typeface="Segoe Fluent Icons"/>
              </a:rPr>
              <a:t>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Pick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Consultants with frequent site visits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D83B01"/>
                </a:solidFill>
                <a:latin typeface="Segoe Fluent Icons"/>
              </a:rPr>
              <a:t>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Review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Time, quality, experience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FFFFF"/>
                </a:solidFill>
                <a:latin typeface="Segoe UI Semibold"/>
              </a:rPr>
              <a:t>Approve a 2-week, 10-user Surface Laptop Ultra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Local AI Lane for Contoso Consultants</dc:title>
  <dc:subject/>
  <dc:creator>Offline PPTX Forge</dc:creator>
  <cp:keywords/>
  <dc:description>Generated offline; template=microsoft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