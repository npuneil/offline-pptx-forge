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dPt>
            <c:idx val="0"/>
            <c:spPr>
              <a:solidFill>
                <a:srgbClr val="76B900"/>
              </a:solidFill>
            </c:spPr>
          </c:dPt>
          <c:cat>
            <c:strRef>
              <c:f>Sheet1!$A$2:$A$4</c:f>
              <c:strCache>
                <c:ptCount val="3"/>
                <c:pt idx="0">
                  <c:v>Qwen3-Coder 30B</c:v>
                </c:pt>
                <c:pt idx="1">
                  <c:v>Gemma4 26B</c:v>
                </c:pt>
                <c:pt idx="2">
                  <c:v>Qwen3.6 27B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86.0</c:v>
                </c:pt>
                <c:pt idx="1">
                  <c:v>72.0</c:v>
                </c:pt>
                <c:pt idx="2">
                  <c:v>13.0</c:v>
                </c:pt>
              </c:numCache>
            </c:numRef>
          </c:val>
        </c:ser>
        <c:dLbls>
          <c:numFmt formatCode="#,##0.#&quot; tok/s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903720" y="594360"/>
            <a:ext cx="5303520" cy="5303520"/>
          </a:xfrm>
          <a:prstGeom prst="ellipse">
            <a:avLst/>
          </a:prstGeom>
          <a:noFill/>
          <a:ln w="15875">
            <a:solidFill>
              <a:srgbClr val="76B900"/>
            </a:solidFill>
          </a:ln>
          <a:effectLst>
            <a:glow rad="1016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498080" y="1188720"/>
            <a:ext cx="4114800" cy="4114800"/>
          </a:xfrm>
          <a:prstGeom prst="ellipse">
            <a:avLst/>
          </a:prstGeom>
          <a:noFill/>
          <a:ln w="22225">
            <a:solidFill>
              <a:srgbClr val="3DA9FC"/>
            </a:solidFill>
          </a:ln>
          <a:effectLst>
            <a:glow rad="101600">
              <a:srgbClr val="3DA9F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092440" y="1783080"/>
            <a:ext cx="2926080" cy="2926080"/>
          </a:xfrm>
          <a:prstGeom prst="ellipse">
            <a:avLst/>
          </a:prstGeom>
          <a:noFill/>
          <a:ln w="28575">
            <a:solidFill>
              <a:srgbClr val="9B6BFF"/>
            </a:solidFill>
          </a:ln>
          <a:effectLst>
            <a:glow rad="101600">
              <a:srgbClr val="9B6B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95360" y="2286000"/>
            <a:ext cx="1920240" cy="1920240"/>
          </a:xfrm>
          <a:prstGeom prst="ellipse">
            <a:avLst/>
          </a:prstGeom>
          <a:solidFill>
            <a:srgbClr val="141824"/>
          </a:solidFill>
          <a:ln>
            <a:noFill/>
          </a:ln>
          <a:effectLst>
            <a:glow rad="3048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0" y="2532888"/>
            <a:ext cx="1371600" cy="137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95">
                <a:solidFill>
                  <a:srgbClr val="76B900"/>
                </a:solidFill>
                <a:latin typeface="Segoe Fluent Icons"/>
              </a:rPr>
              <a:t></a:t>
            </a:r>
          </a:p>
        </p:txBody>
      </p:sp>
      <p:sp>
        <p:nvSpPr>
          <p:cNvPr id="9" name="Oval 8"/>
          <p:cNvSpPr/>
          <p:nvPr/>
        </p:nvSpPr>
        <p:spPr>
          <a:xfrm>
            <a:off x="6537960" y="2880360"/>
            <a:ext cx="731520" cy="731520"/>
          </a:xfrm>
          <a:prstGeom prst="ellipse">
            <a:avLst/>
          </a:prstGeom>
          <a:solidFill>
            <a:srgbClr val="141824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84264" y="3026664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42">
                <a:solidFill>
                  <a:srgbClr val="76B900"/>
                </a:solidFill>
                <a:latin typeface="Segoe Fluent Icons"/>
              </a:rPr>
              <a:t></a:t>
            </a:r>
          </a:p>
        </p:txBody>
      </p:sp>
      <p:sp>
        <p:nvSpPr>
          <p:cNvPr id="11" name="Oval 10"/>
          <p:cNvSpPr/>
          <p:nvPr/>
        </p:nvSpPr>
        <p:spPr>
          <a:xfrm>
            <a:off x="11841480" y="2880360"/>
            <a:ext cx="731520" cy="731520"/>
          </a:xfrm>
          <a:prstGeom prst="ellipse">
            <a:avLst/>
          </a:prstGeom>
          <a:solidFill>
            <a:srgbClr val="141824"/>
          </a:solidFill>
          <a:ln w="1905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987784" y="3026664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42">
                <a:solidFill>
                  <a:srgbClr val="3DA9FC"/>
                </a:solidFill>
                <a:latin typeface="Segoe Fluent Icons"/>
              </a:rPr>
              <a:t></a:t>
            </a:r>
          </a:p>
        </p:txBody>
      </p:sp>
      <p:sp>
        <p:nvSpPr>
          <p:cNvPr id="13" name="Oval 12"/>
          <p:cNvSpPr/>
          <p:nvPr/>
        </p:nvSpPr>
        <p:spPr>
          <a:xfrm>
            <a:off x="9189720" y="822960"/>
            <a:ext cx="731520" cy="731520"/>
          </a:xfrm>
          <a:prstGeom prst="ellipse">
            <a:avLst/>
          </a:prstGeom>
          <a:solidFill>
            <a:srgbClr val="141824"/>
          </a:solidFill>
          <a:ln w="1905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36024" y="969264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42">
                <a:solidFill>
                  <a:srgbClr val="9B6BFF"/>
                </a:solidFill>
                <a:latin typeface="Segoe Fluent Icons"/>
              </a:rPr>
              <a:t></a:t>
            </a:r>
          </a:p>
        </p:txBody>
      </p:sp>
      <p:sp>
        <p:nvSpPr>
          <p:cNvPr id="15" name="Oval 14"/>
          <p:cNvSpPr/>
          <p:nvPr/>
        </p:nvSpPr>
        <p:spPr>
          <a:xfrm>
            <a:off x="9189720" y="4937760"/>
            <a:ext cx="731520" cy="731520"/>
          </a:xfrm>
          <a:prstGeom prst="ellipse">
            <a:avLst/>
          </a:prstGeom>
          <a:solidFill>
            <a:srgbClr val="141824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36024" y="5084064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42">
                <a:solidFill>
                  <a:srgbClr val="FFB547"/>
                </a:solidFill>
                <a:latin typeface="Segoe Fluent Icons"/>
              </a:rPr>
              <a:t>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THEME GALLERY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F4F6FA"/>
                </a:solidFill>
                <a:latin typeface="Segoe UI Semibold"/>
              </a:rPr>
              <a:t>Local AI, made tangible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AEB6C8"/>
                </a:solidFill>
                <a:latin typeface="Segoe UI"/>
              </a:rPr>
              <a:t>Every layout in the Forge catalog, rendered natively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6F7890"/>
                </a:solidFill>
                <a:latin typeface="Segoe UI"/>
              </a:rPr>
              <a:t>Surface Laptop Ultra  |  NVIDIA RTX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The on-device AI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Four layers turn silicon into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88236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406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97967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11957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196138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Apps &amp;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96138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Copilot-style drafting, code,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6372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265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067812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207715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049524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049524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Qwen3-Coder 30B, GPT-OSS 20B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4508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513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155948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295851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137660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137660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llama.cpp CUDA, Foundry Local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52644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7E5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40080" y="524408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9983" y="538398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522579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Silicon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22579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RTX Spark GPU, 20-core CPU, NPU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85832" y="1888236"/>
            <a:ext cx="73152" cy="4224528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9655"/>
            </a:avLst>
          </a:prstGeom>
          <a:solidFill>
            <a:srgbClr val="233409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 Semibold"/>
              </a:rPr>
              <a:t>100% on this PC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From prompt to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Five local steps, zero cloud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76B900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Facts and audience in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DA9FC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Local model drafts the story</a:t>
            </a:r>
          </a:p>
        </p:txBody>
      </p:sp>
      <p:sp>
        <p:nvSpPr>
          <p:cNvPr id="22" name="Chevron 21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9B6B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Pick infographic layouts</a:t>
            </a:r>
          </a:p>
        </p:txBody>
      </p:sp>
      <p:sp>
        <p:nvSpPr>
          <p:cNvPr id="29" name="Chevron 28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27000">
              <a:srgbClr val="FFB547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547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Render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Native shapes, editable</a:t>
            </a:r>
          </a:p>
        </p:txBody>
      </p:sp>
      <p:sp>
        <p:nvSpPr>
          <p:cNvPr id="36" name="Chevron 35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8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FF5D8F"/>
          </a:solidFill>
          <a:ln>
            <a:noFill/>
          </a:ln>
          <a:effectLst>
            <a:glow rad="127000">
              <a:srgbClr val="FF5D8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5D8F"/>
                </a:solidFill>
                <a:latin typeface="Segoe UI Semi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Human signs 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One device, many assistants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 single local model hub serves every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4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94476" y="2240280"/>
            <a:ext cx="0" cy="176022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94476" y="3120390"/>
            <a:ext cx="3614994" cy="88011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4476" y="4000500"/>
            <a:ext cx="3614994" cy="88011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4476" y="4000500"/>
            <a:ext cx="0" cy="176022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79482" y="4000500"/>
            <a:ext cx="3614994" cy="88011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479482" y="3120390"/>
            <a:ext cx="3614994" cy="88011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910328" y="2816352"/>
            <a:ext cx="2368296" cy="2368296"/>
          </a:xfrm>
          <a:prstGeom prst="ellipse">
            <a:avLst/>
          </a:prstGeom>
          <a:solidFill>
            <a:srgbClr val="76B9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111496" y="3017520"/>
            <a:ext cx="1965960" cy="196596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2286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0428" y="3287268"/>
            <a:ext cx="768096" cy="7680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749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4073652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07080C"/>
                </a:solidFill>
                <a:latin typeface="Segoe UI Semibold"/>
              </a:rPr>
              <a:t>Local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37176" y="186537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2D6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910328" y="1938528"/>
            <a:ext cx="603504" cy="603504"/>
          </a:xfrm>
          <a:prstGeom prst="ellipse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94819" y="202301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5272" y="192024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Code drafts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2170" y="274548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654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525322" y="2818638"/>
            <a:ext cx="603504" cy="603504"/>
          </a:xfrm>
          <a:prstGeom prst="ellipse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09813" y="290312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0266" y="280035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Meeting notes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2170" y="450570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A1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525322" y="4578858"/>
            <a:ext cx="603504" cy="603504"/>
          </a:xfrm>
          <a:prstGeom prst="ellipse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09813" y="466334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266" y="456057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Search docs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37176" y="538581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A141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910328" y="5458968"/>
            <a:ext cx="603504" cy="603504"/>
          </a:xfrm>
          <a:prstGeom prst="ellipse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94819" y="554345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544068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Summaries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22182" y="450570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4F7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295334" y="4578858"/>
            <a:ext cx="603504" cy="603504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79824" y="466334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90278" y="456057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Translation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22182" y="274548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2D6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295334" y="2818638"/>
            <a:ext cx="603504" cy="603504"/>
          </a:xfrm>
          <a:prstGeom prst="ellipse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379824" y="290312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0278" y="280035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Slides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Two lanes, one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Keep cloud. Add a local 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Cloud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Largest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Shared tenant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467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1960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Needs connectivity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28575">
            <a:solidFill>
              <a:srgbClr val="76B900"/>
            </a:solidFill>
          </a:ln>
          <a:effectLst>
            <a:glow rad="1270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Local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Data stays on 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Works on a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3156" y="461467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0356" y="441960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No per-token bill</a:t>
            </a:r>
          </a:p>
        </p:txBody>
      </p:sp>
      <p:sp>
        <p:nvSpPr>
          <p:cNvPr id="29" name="Oval 28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07080C"/>
                </a:solidFill>
                <a:latin typeface="Segoe UI Semibold"/>
              </a:rPr>
              <a:t>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17948"/>
            </a:avLst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07080C"/>
                </a:solidFill>
                <a:latin typeface="Segoe Fluent Icons"/>
              </a:rPr>
              <a:t>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Route each task to the lane that fits it best.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Measured on this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Numbers from the local benchmark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3483864" cy="3566160"/>
          </a:xfrm>
          <a:prstGeom prst="roundRect">
            <a:avLst>
              <a:gd name="adj" fmla="val 3674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3483864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76B900"/>
                </a:solidFill>
                <a:latin typeface="Segoe UI Black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tokens/s, Qwen3-Coder 30B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Local-AI-Bench, Oct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217420"/>
            <a:ext cx="3483864" cy="3566160"/>
          </a:xfrm>
          <a:prstGeom prst="roundRect">
            <a:avLst>
              <a:gd name="adj" fmla="val 3674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2544" y="2217420"/>
            <a:ext cx="3483864" cy="82296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636008" y="2546604"/>
            <a:ext cx="713232" cy="713232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3586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3DA9FC"/>
                </a:solidFill>
                <a:latin typeface="Segoe UI Black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models in local 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installed.json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2217420"/>
            <a:ext cx="3483864" cy="3566160"/>
          </a:xfrm>
          <a:prstGeom prst="roundRect">
            <a:avLst>
              <a:gd name="adj" fmla="val 3674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56448" y="2217420"/>
            <a:ext cx="3483864" cy="82296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439912" y="2546604"/>
            <a:ext cx="713232" cy="713232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3976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9B6BFF"/>
                </a:solidFill>
                <a:latin typeface="Segoe UI Black"/>
              </a:rPr>
              <a:t>128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installed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Win32_PhysicalMemory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Think of it like a kitchen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AI is cooking at home instead of ordering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Local AI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Home kitchen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GPU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The stove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Model weights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The recipe book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Memory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Counter space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Your data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Ingredients that never leave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Throughput by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MoE models run fastest on RTX Spark.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2286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07080C"/>
                </a:solidFill>
                <a:latin typeface="Segoe Fluent Icons"/>
              </a:rPr>
              <a:t>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F4F6FA"/>
                </a:solidFill>
                <a:latin typeface="Segoe UI Semibold"/>
              </a:rPr>
              <a:t>MoE models run fastest on RTX Spark.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Pilot in four beats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Two weeks from kickoff to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3E6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V="1">
            <a:off x="2140839" y="3616452"/>
            <a:ext cx="0" cy="384048"/>
          </a:xfrm>
          <a:prstGeom prst="line">
            <a:avLst/>
          </a:prstGeom>
          <a:ln w="1905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57959" y="3817620"/>
            <a:ext cx="365760" cy="36576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14959" y="2244852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4F7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2119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76B900"/>
                </a:solidFill>
                <a:latin typeface="Segoe Fluent Icons"/>
              </a:rPr>
              <a:t>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887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19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Baseline task times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76597" y="4000500"/>
            <a:ext cx="0" cy="384048"/>
          </a:xfrm>
          <a:prstGeom prst="line">
            <a:avLst/>
          </a:prstGeom>
          <a:ln w="19050">
            <a:solidFill>
              <a:srgbClr val="3DA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93717" y="3817620"/>
            <a:ext cx="365760" cy="36576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450717" y="4384548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2D6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87877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3DA9FC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7645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3DA9FC"/>
                </a:solidFill>
                <a:latin typeface="Segoe UI Semibold"/>
              </a:rPr>
              <a:t>Day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7877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Deploy models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412355" y="3616452"/>
            <a:ext cx="0" cy="384048"/>
          </a:xfrm>
          <a:prstGeom prst="line">
            <a:avLst/>
          </a:prstGeom>
          <a:ln w="19050">
            <a:solidFill>
              <a:srgbClr val="9B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29475" y="3817620"/>
            <a:ext cx="365760" cy="36576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86475" y="2244852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654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23635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9B6BFF"/>
                </a:solidFill>
                <a:latin typeface="Segoe Fluent Icons"/>
              </a:rPr>
              <a:t>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3403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9B6BFF"/>
                </a:solidFill>
                <a:latin typeface="Segoe UI Semibold"/>
              </a:rPr>
              <a:t>Day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635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Measure quality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48113" y="4000500"/>
            <a:ext cx="0" cy="384048"/>
          </a:xfrm>
          <a:prstGeom prst="line">
            <a:avLst/>
          </a:prstGeom>
          <a:ln w="1905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65233" y="3817620"/>
            <a:ext cx="365760" cy="36576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27000">
              <a:srgbClr val="FFB547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722233" y="4384548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A1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859393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FFB547"/>
                </a:solidFill>
                <a:latin typeface="Segoe Fluent Icons"/>
              </a:rPr>
              <a:t>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9161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B547"/>
                </a:solidFill>
                <a:latin typeface="Segoe UI Semibold"/>
              </a:rPr>
              <a:t>Day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9393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Go / adapt / stop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Where local AI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Sensitive and frequent tasks win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10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AEB6C8"/>
                </a:solidFill>
                <a:latin typeface="Segoe UI"/>
              </a:rPr>
              <a:t>Task frequency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810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AEB6C8"/>
                </a:solidFill>
                <a:latin typeface="Segoe UI"/>
              </a:rPr>
              <a:t>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AEB6C8"/>
                </a:solidFill>
                <a:latin typeface="Segoe UI"/>
              </a:rPr>
              <a:t>Data sensitivity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76B900"/>
                </a:solidFill>
                <a:latin typeface="Segoe Fluent Icons"/>
              </a:rPr>
              <a:t>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Case by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Sensitive but rare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07080C"/>
                </a:solidFill>
                <a:latin typeface="Segoe Fluent Icons"/>
              </a:rPr>
              <a:t>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Start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"/>
              </a:rPr>
              <a:t>Sensitive and frequent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9B6BFF"/>
                </a:solidFill>
                <a:latin typeface="Segoe Fluent Icons"/>
              </a:rPr>
              <a:t>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Cloud is fine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Public and rare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B547"/>
                </a:solidFill>
                <a:latin typeface="Segoe Fluent Icons"/>
              </a:rPr>
              <a:t>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Either lane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Public and frequent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What fits in the GPU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 30B coder plus context leaves real headroom.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i="0">
                <a:solidFill>
                  <a:srgbClr val="76B900"/>
                </a:solidFill>
                <a:latin typeface="Segoe UI Black"/>
              </a:rPr>
              <a:t>64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38528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GPU memory budget reported by nvidia-smi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76072" y="3118104"/>
            <a:ext cx="2943354" cy="1033272"/>
          </a:xfrm>
          <a:prstGeom prst="roundRect">
            <a:avLst>
              <a:gd name="adj" fmla="val 8849"/>
            </a:avLst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277876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Qwen3-Coder 30B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277876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"/>
              </a:rPr>
              <a:t>17.3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74290" y="3118104"/>
            <a:ext cx="499720" cy="1033272"/>
          </a:xfrm>
          <a:prstGeom prst="roundRect">
            <a:avLst>
              <a:gd name="adj" fmla="val 18298"/>
            </a:avLst>
          </a:prstGeom>
          <a:solidFill>
            <a:srgbClr val="3DA9FC"/>
          </a:solidFill>
          <a:ln>
            <a:noFill/>
          </a:ln>
          <a:effectLst>
            <a:glow rad="762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3824149" y="4206240"/>
            <a:ext cx="0" cy="73152"/>
          </a:xfrm>
          <a:prstGeom prst="line">
            <a:avLst/>
          </a:prstGeom>
          <a:ln w="19050">
            <a:solidFill>
              <a:srgbClr val="3DA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18309" y="427939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F4F6FA"/>
                </a:solidFill>
                <a:latin typeface="Segoe UI"/>
              </a:rPr>
              <a:t>KV cache 3.2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28873" y="3118104"/>
            <a:ext cx="1331595" cy="1033272"/>
          </a:xfrm>
          <a:prstGeom prst="roundRect">
            <a:avLst>
              <a:gd name="adj" fmla="val 8849"/>
            </a:avLst>
          </a:prstGeom>
          <a:solidFill>
            <a:srgbClr val="9B6BFF"/>
          </a:solidFill>
          <a:ln>
            <a:noFill/>
          </a:ln>
          <a:effectLst>
            <a:glow rad="762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9" name="Connector 18"/>
          <p:cNvCxnSpPr/>
          <p:nvPr/>
        </p:nvCxnSpPr>
        <p:spPr>
          <a:xfrm flipV="1">
            <a:off x="4794671" y="3017520"/>
            <a:ext cx="0" cy="45720"/>
          </a:xfrm>
          <a:prstGeom prst="line">
            <a:avLst/>
          </a:prstGeom>
          <a:ln w="19050">
            <a:solidFill>
              <a:srgbClr val="9B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88831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F4F6FA"/>
                </a:solidFill>
                <a:latin typeface="Segoe UI"/>
              </a:rPr>
              <a:t>Desktop + apps 8 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15332" y="3118104"/>
            <a:ext cx="6097548" cy="1033272"/>
          </a:xfrm>
          <a:prstGeom prst="roundRect">
            <a:avLst>
              <a:gd name="adj" fmla="val 8849"/>
            </a:avLst>
          </a:prstGeom>
          <a:noFill/>
          <a:ln w="12700">
            <a:solidFill>
              <a:srgbClr val="6F789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625060" y="3337560"/>
            <a:ext cx="587809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Headroom 35.5 GB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21558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72918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16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45836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32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7394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8754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48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640312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091672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4">
                <a:solidFill>
                  <a:srgbClr val="76B900"/>
                </a:solidFill>
                <a:latin typeface="Segoe Fluent Icons"/>
              </a:rPr>
              <a:t>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62356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Distinct memory views; never add them together.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Hybrid routing, sketched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 router decides which lane handles each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51836" y="4000500"/>
            <a:ext cx="1848612" cy="0"/>
          </a:xfrm>
          <a:prstGeom prst="line">
            <a:avLst/>
          </a:prstGeom>
          <a:ln w="28575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33921" y="2625090"/>
            <a:ext cx="2033473" cy="1085850"/>
          </a:xfrm>
          <a:prstGeom prst="line">
            <a:avLst/>
          </a:prstGeom>
          <a:ln w="28575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44817" y="2783967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AEB6C8"/>
                </a:solidFill>
                <a:latin typeface="Segoe UI"/>
              </a:rPr>
              <a:t>sensitive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33921" y="4290060"/>
            <a:ext cx="2033473" cy="1085850"/>
          </a:xfrm>
          <a:prstGeom prst="line">
            <a:avLst/>
          </a:prstGeom>
          <a:ln w="28575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44817" y="4448937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AEB6C8"/>
                </a:solidFill>
                <a:latin typeface="Segoe UI"/>
              </a:rPr>
              <a:t>heavy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501" y="3493770"/>
            <a:ext cx="2218334" cy="1013460"/>
          </a:xfrm>
          <a:prstGeom prst="roundRect">
            <a:avLst>
              <a:gd name="adj" fmla="val 12631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8949" y="37490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4F6FA"/>
                </a:solidFill>
                <a:latin typeface="Segoe Fluent Icons"/>
              </a:rPr>
              <a:t>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0741" y="3603498"/>
            <a:ext cx="1349654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4F6FA"/>
                </a:solidFill>
                <a:latin typeface="Segoe UI Semibold"/>
              </a:rPr>
              <a:t>Request</a:t>
            </a:r>
          </a:p>
        </p:txBody>
      </p:sp>
      <p:sp>
        <p:nvSpPr>
          <p:cNvPr id="17" name="Oval 16"/>
          <p:cNvSpPr/>
          <p:nvPr/>
        </p:nvSpPr>
        <p:spPr>
          <a:xfrm>
            <a:off x="4800448" y="3204210"/>
            <a:ext cx="2033473" cy="159258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910176" y="3313938"/>
            <a:ext cx="1814017" cy="13731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07080C"/>
                </a:solidFill>
                <a:latin typeface="Segoe UI Semibold"/>
              </a:rPr>
              <a:t>Router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7394" y="2118360"/>
            <a:ext cx="2588057" cy="1013460"/>
          </a:xfrm>
          <a:prstGeom prst="roundRect">
            <a:avLst>
              <a:gd name="adj" fmla="val 12631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22842" y="237363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4634" y="2228088"/>
            <a:ext cx="1719377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Local lane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7394" y="4869180"/>
            <a:ext cx="2588057" cy="1013460"/>
          </a:xfrm>
          <a:prstGeom prst="roundRect">
            <a:avLst>
              <a:gd name="adj" fmla="val 12631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22842" y="512445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4634" y="4978908"/>
            <a:ext cx="1719377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Cloud lane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The 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2286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07080C"/>
                </a:solidFill>
                <a:latin typeface="Segoe Fluent Icons"/>
              </a:rPr>
              <a:t>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F4F6FA"/>
                </a:solidFill>
                <a:latin typeface="Segoe UI Semibold"/>
              </a:rPr>
              <a:t>Your laptop is now an AI workstation.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AEB6C8"/>
                </a:solidFill>
                <a:latin typeface="Segoe UI"/>
              </a:rPr>
              <a:t>Prove it with one workflow, ten users, two weeks.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Start small, measure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76B900"/>
                </a:solidFill>
                <a:latin typeface="Segoe Fluent Icons"/>
              </a:rPr>
              <a:t>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Pick a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One repeated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DA9FC"/>
                </a:solidFill>
                <a:latin typeface="Segoe Fluent Icons"/>
              </a:rPr>
              <a:t>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Run the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10 users, 2 weeks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9B6BFF"/>
                </a:solidFill>
                <a:latin typeface="Segoe Fluent Icons"/>
              </a:rPr>
              <a:t>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Stop, adapt or scale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1200"/>
            </a:avLst>
          </a:prstGeom>
          <a:gradFill rotWithShape="1">
            <a:gsLst>
              <a:gs pos="0">
                <a:srgbClr val="76B900"/>
              </a:gs>
              <a:gs pos="100000">
                <a:srgbClr val="54AF97"/>
              </a:gs>
            </a:gsLst>
            <a:lin scaled="0" ang="0"/>
          </a:gradFill>
          <a:ln>
            <a:noFill/>
          </a:ln>
          <a:effectLst>
            <a:glow rad="1778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07080C"/>
                </a:solidFill>
                <a:latin typeface="Segoe UI Semibold"/>
              </a:rPr>
              <a:t>Approve a two-week local AI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on Surface</dc:title>
  <dc:subject/>
  <dc:creator>Offline PPTX Forge</dc:creator>
  <cp:keywords/>
  <dc:description>Generated offline; template=surface_ultra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