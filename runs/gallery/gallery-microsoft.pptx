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3B3B3"/>
            </a:solidFill>
          </c:spPr>
          <c:dPt>
            <c:idx val="0"/>
            <c:spPr>
              <a:solidFill>
                <a:srgbClr val="0078D4"/>
              </a:solidFill>
            </c:spPr>
          </c:dPt>
          <c:cat>
            <c:strRef>
              <c:f>Sheet1!$A$2:$A$4</c:f>
              <c:strCache>
                <c:ptCount val="3"/>
                <c:pt idx="0">
                  <c:v>Qwen3-Coder 30B</c:v>
                </c:pt>
                <c:pt idx="1">
                  <c:v>Gemma4 26B</c:v>
                </c:pt>
                <c:pt idx="2">
                  <c:v>Qwen3.6 27B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72.0</c:v>
                </c:pt>
                <c:pt idx="2">
                  <c:v>13.0</c:v>
                </c:pt>
              </c:numCache>
            </c:numRef>
          </c:val>
        </c:ser>
        <c:dLbls>
          <c:numFmt formatCode="#,##0.#&quot; tok/s&quot;" sourceLinked="0"/>
          <c:txPr>
            <a:bodyPr/>
            <a:lstStyle/>
            <a:p>
              <a:pPr>
                <a:defRPr sz="1500" b="1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B1B1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B1B1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55448" cy="15544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5303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i="0">
                <a:solidFill>
                  <a:srgbClr val="737373"/>
                </a:solidFill>
                <a:latin typeface="Segoe UI Semibold"/>
              </a:rPr>
              <a:t>Microsoft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00200"/>
            <a:ext cx="1600200" cy="1600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01050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9" name="Rectangle 8"/>
          <p:cNvSpPr/>
          <p:nvPr/>
        </p:nvSpPr>
        <p:spPr>
          <a:xfrm>
            <a:off x="9747504" y="1600200"/>
            <a:ext cx="1600200" cy="1600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7554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46704"/>
            <a:ext cx="1600200" cy="1600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01050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3346704"/>
            <a:ext cx="1600200" cy="1600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7554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THEME GALLERY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B1B1B"/>
                </a:solidFill>
                <a:latin typeface="Segoe UI Semibold"/>
              </a:rPr>
              <a:t>Local AI, made tangible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505050"/>
                </a:solidFill>
                <a:latin typeface="Segoe UI"/>
              </a:rPr>
              <a:t>Every layout in the Forge catalog, rendered natively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A8A8A"/>
                </a:solidFill>
                <a:latin typeface="Segoe UI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The on-device AI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Four layers turn silicon into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Apps &amp;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Copilot-style drafting, code,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Qwen3-Coder 30B, GPT-OSS 20B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llama.cpp CUDA, Foundry Local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Silicon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RTX Spark GPU, 20-core CPU, NPU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4137"/>
            </a:avLst>
          </a:prstGeom>
          <a:solidFill>
            <a:srgbClr val="D9EB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 Semibold"/>
              </a:rPr>
              <a:t>100% on this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From prompt to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Five local steps, zero cloud calls.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0078D4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Facts and audience in</a:t>
            </a:r>
          </a:p>
        </p:txBody>
      </p:sp>
      <p:sp>
        <p:nvSpPr>
          <p:cNvPr id="16" name="Chevron 15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07C10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Local model drafts the story</a:t>
            </a:r>
          </a:p>
        </p:txBody>
      </p:sp>
      <p:sp>
        <p:nvSpPr>
          <p:cNvPr id="23" name="Chevron 22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D83B01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Pick infographic layouts</a:t>
            </a:r>
          </a:p>
        </p:txBody>
      </p:sp>
      <p:sp>
        <p:nvSpPr>
          <p:cNvPr id="30" name="Chevron 29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900"/>
                </a:solidFill>
                <a:latin typeface="Segoe UI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Native shapes, editable</a:t>
            </a:r>
          </a:p>
        </p:txBody>
      </p:sp>
      <p:sp>
        <p:nvSpPr>
          <p:cNvPr id="37" name="Chevron 36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C2D91"/>
                </a:solidFill>
                <a:latin typeface="Segoe UI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Human signs 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One device, many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 single local model hub serves every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4476" y="2240280"/>
            <a:ext cx="0" cy="176022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94476" y="3120390"/>
            <a:ext cx="3614994" cy="88011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4476" y="4000500"/>
            <a:ext cx="3614994" cy="88011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4476" y="4000500"/>
            <a:ext cx="0" cy="176022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79482" y="4000500"/>
            <a:ext cx="3614994" cy="88011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479482" y="3120390"/>
            <a:ext cx="3614994" cy="880110"/>
          </a:xfrm>
          <a:prstGeom prst="line">
            <a:avLst/>
          </a:prstGeom>
          <a:ln w="22225">
            <a:solidFill>
              <a:srgbClr val="73B5E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10328" y="2816352"/>
            <a:ext cx="2368296" cy="2368296"/>
          </a:xfrm>
          <a:prstGeom prst="ellipse">
            <a:avLst/>
          </a:prstGeom>
          <a:solidFill>
            <a:srgbClr val="0078D4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111496" y="3017520"/>
            <a:ext cx="1965960" cy="1965960"/>
          </a:xfrm>
          <a:prstGeom prst="ellipse">
            <a:avLst/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10428" y="3287268"/>
            <a:ext cx="768096" cy="7680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749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4073652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FFFFFF"/>
                </a:solidFill>
                <a:latin typeface="Segoe UI Semibold"/>
              </a:rPr>
              <a:t>Local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37176" y="186537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910328" y="1938528"/>
            <a:ext cx="603504" cy="603504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994819" y="202301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192024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Code drafts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2170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525322" y="2818638"/>
            <a:ext cx="603504" cy="603504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09813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66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Meeting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2170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25322" y="4578858"/>
            <a:ext cx="603504" cy="6035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09813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66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Search docs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37176" y="538581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910328" y="5458968"/>
            <a:ext cx="603504" cy="603504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94819" y="554345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54406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Summaries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2182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295334" y="4578858"/>
            <a:ext cx="603504" cy="6035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379824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0278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Translation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22182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295334" y="2818638"/>
            <a:ext cx="603504" cy="603504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79824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0278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 Semibold"/>
              </a:rPr>
              <a:t>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Two lanes, one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Keep cloud. Add a local lane.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Cloud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Largest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Shared tenant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Needs connectivity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28575">
            <a:solidFill>
              <a:srgbClr val="0078D4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Local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Data stays on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Works on a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3156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0356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No per-token bill</a:t>
            </a:r>
          </a:p>
        </p:txBody>
      </p:sp>
      <p:sp>
        <p:nvSpPr>
          <p:cNvPr id="30" name="Oval 29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Route each task to the lane that fits it best.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Measured on this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Numbers from the local benchmark study.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tokens/s, Qwen3-Coder 30B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Local-AI-Bench, Oct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models in local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installed.json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D83B01"/>
                </a:solidFill>
                <a:latin typeface="Segoe UI Semibold"/>
              </a:rPr>
              <a:t>128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installed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Win32_PhysicalMemory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Think of it like a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Local AI is cooking at home instead of ordering 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Local AI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Home kitchen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GPU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The stove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Model weights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The recipe 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Memory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Counter 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Your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Ingredients that never leave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Throughput by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MoE models run fastest on RTX Spark.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B1B1B"/>
                </a:solidFill>
                <a:latin typeface="Segoe UI Semibold"/>
              </a:rPr>
              <a:t>MoE models run fastest on RTX Spark.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Pilot in four beats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Two weeks from kickoff to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0078D4"/>
                </a:solidFill>
                <a:latin typeface="Segoe Fluent Icons"/>
              </a:rPr>
              <a:t>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Baseline task times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07C10"/>
                </a:solidFill>
                <a:latin typeface="Segoe Fluent Icons"/>
              </a:rPr>
              <a:t>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07C10"/>
                </a:solidFill>
                <a:latin typeface="Segoe UI Semibold"/>
              </a:rPr>
              <a:t>Day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Deploy models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D83B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D83B01"/>
                </a:solidFill>
                <a:latin typeface="Segoe Fluent Icons"/>
              </a:rPr>
              <a:t>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D83B01"/>
                </a:solidFill>
                <a:latin typeface="Segoe UI Semibold"/>
              </a:rPr>
              <a:t>Day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Measure quality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900"/>
                </a:solidFill>
                <a:latin typeface="Segoe Fluent Icons"/>
              </a:rPr>
              <a:t>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900"/>
                </a:solidFill>
                <a:latin typeface="Segoe UI Semibold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Go / adapt /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Where local AI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Sensitive and frequent tasks win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505050"/>
                </a:solidFill>
                <a:latin typeface="Segoe UI"/>
              </a:rPr>
              <a:t>Task frequency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1810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505050"/>
                </a:solidFill>
                <a:latin typeface="Segoe UI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505050"/>
                </a:solidFill>
                <a:latin typeface="Segoe UI"/>
              </a:rPr>
              <a:t>Data sensitivity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078D4"/>
                </a:solidFill>
                <a:latin typeface="Segoe Fluent Icons"/>
              </a:rPr>
              <a:t>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Case by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Sensitive but rare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Start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Sensitive and frequent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D83B01"/>
                </a:solidFill>
                <a:latin typeface="Segoe Fluent Icons"/>
              </a:rPr>
              <a:t>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Cloud is fine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Public and rare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900"/>
                </a:solidFill>
                <a:latin typeface="Segoe Fluent Icons"/>
              </a:rPr>
              <a:t>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Either 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Public and frequent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What fits in the GPU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 30B coder plus context leaves real headroom.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0078D4"/>
                </a:solidFill>
                <a:latin typeface="Segoe UI Semibold"/>
              </a:rPr>
              <a:t>64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GPU memory budget reported by nvidia-smi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76072" y="3118104"/>
            <a:ext cx="2943354" cy="1033272"/>
          </a:xfrm>
          <a:prstGeom prst="roundRect">
            <a:avLst>
              <a:gd name="adj" fmla="val 8849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3172968"/>
            <a:ext cx="277876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Qwen3-Coder 30B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85032"/>
            <a:ext cx="277876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17.3 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74290" y="3118104"/>
            <a:ext cx="499720" cy="1033272"/>
          </a:xfrm>
          <a:prstGeom prst="roundRect">
            <a:avLst>
              <a:gd name="adj" fmla="val 18298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3824149" y="4206240"/>
            <a:ext cx="0" cy="73152"/>
          </a:xfrm>
          <a:prstGeom prst="line">
            <a:avLst/>
          </a:prstGeom>
          <a:ln w="190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8309" y="42793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1B1B1B"/>
                </a:solidFill>
                <a:latin typeface="Segoe UI"/>
              </a:rPr>
              <a:t>KV cache 3.2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28873" y="3118104"/>
            <a:ext cx="1331595" cy="1033272"/>
          </a:xfrm>
          <a:prstGeom prst="roundRect">
            <a:avLst>
              <a:gd name="adj" fmla="val 8849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 flipV="1">
            <a:off x="4794671" y="3017520"/>
            <a:ext cx="0" cy="45720"/>
          </a:xfrm>
          <a:prstGeom prst="line">
            <a:avLst/>
          </a:prstGeom>
          <a:ln w="19050">
            <a:solidFill>
              <a:srgbClr val="D83B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88831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1B1B1B"/>
                </a:solidFill>
                <a:latin typeface="Segoe UI"/>
              </a:rPr>
              <a:t>Desktop + apps 8 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15332" y="3118104"/>
            <a:ext cx="6097548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25060" y="3337560"/>
            <a:ext cx="587809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Headroom 35.5 GB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16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32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48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0078D4"/>
                </a:solidFill>
                <a:latin typeface="Segoe Fluent Icons"/>
              </a:rPr>
              <a:t>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Distinct memory views; never add them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Hybrid routing, sketched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 router decides which lane handles each request.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51836" y="4000500"/>
            <a:ext cx="1848612" cy="0"/>
          </a:xfrm>
          <a:prstGeom prst="line">
            <a:avLst/>
          </a:prstGeom>
          <a:ln w="285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3921" y="2625090"/>
            <a:ext cx="2033473" cy="1085850"/>
          </a:xfrm>
          <a:prstGeom prst="line">
            <a:avLst/>
          </a:prstGeom>
          <a:ln w="285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44817" y="278396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05050"/>
                </a:solidFill>
                <a:latin typeface="Segoe UI"/>
              </a:rPr>
              <a:t>sensitive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33921" y="4290060"/>
            <a:ext cx="2033473" cy="1085850"/>
          </a:xfrm>
          <a:prstGeom prst="line">
            <a:avLst/>
          </a:prstGeom>
          <a:ln w="285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44817" y="444893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05050"/>
                </a:solidFill>
                <a:latin typeface="Segoe UI"/>
              </a:rPr>
              <a:t>heavy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501" y="3493770"/>
            <a:ext cx="2218334" cy="1013460"/>
          </a:xfrm>
          <a:prstGeom prst="roundRect">
            <a:avLst>
              <a:gd name="adj" fmla="val 5413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8949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B1B1B"/>
                </a:solidFill>
                <a:latin typeface="Segoe Fluent Icons"/>
              </a:rPr>
              <a:t>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0741" y="3603498"/>
            <a:ext cx="1349654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B1B1B"/>
                </a:solidFill>
                <a:latin typeface="Segoe UI Semibold"/>
              </a:rPr>
              <a:t>Request</a:t>
            </a:r>
          </a:p>
        </p:txBody>
      </p:sp>
      <p:sp>
        <p:nvSpPr>
          <p:cNvPr id="18" name="Oval 17"/>
          <p:cNvSpPr/>
          <p:nvPr/>
        </p:nvSpPr>
        <p:spPr>
          <a:xfrm>
            <a:off x="4800448" y="3204210"/>
            <a:ext cx="2033473" cy="1592580"/>
          </a:xfrm>
          <a:prstGeom prst="ellipse">
            <a:avLst/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10176" y="3313938"/>
            <a:ext cx="1814017" cy="13731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7394" y="2118360"/>
            <a:ext cx="2588057" cy="1013460"/>
          </a:xfrm>
          <a:prstGeom prst="roundRect">
            <a:avLst>
              <a:gd name="adj" fmla="val 5413"/>
            </a:avLst>
          </a:prstGeom>
          <a:solidFill>
            <a:srgbClr val="107C1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22842" y="237363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4634" y="222808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lane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7394" y="4869180"/>
            <a:ext cx="2588057" cy="1013460"/>
          </a:xfrm>
          <a:prstGeom prst="roundRect">
            <a:avLst>
              <a:gd name="adj" fmla="val 5413"/>
            </a:avLst>
          </a:prstGeom>
          <a:solidFill>
            <a:srgbClr val="D83B0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22842" y="512445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4634" y="497890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Cloud 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The big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B1B1B"/>
                </a:solidFill>
                <a:latin typeface="Segoe UI Semibold"/>
              </a:rPr>
              <a:t>Your laptop is now an AI workstation.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505050"/>
                </a:solidFill>
                <a:latin typeface="Segoe UI"/>
              </a:rPr>
              <a:t>Prove it with one workflow, ten users, two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Start small, measure honestly.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0078D4"/>
                </a:solidFill>
                <a:latin typeface="Segoe Fluent Icons"/>
              </a:rPr>
              <a:t>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Pick a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One repeated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07C10"/>
                </a:solidFill>
                <a:latin typeface="Segoe Fluent Icons"/>
              </a:rPr>
              <a:t>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Run the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10 users, 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D83B01"/>
                </a:solidFill>
                <a:latin typeface="Segoe Fluent Icons"/>
              </a:rPr>
              <a:t>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Stop, adapt or 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a two-week local AI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on Surface</dc:title>
  <dc:subject/>
  <dc:creator>Offline PPTX Forge</dc:creator>
  <cp:keywords/>
  <dc:description>Generated offline; template=microsoft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