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1AEA8"/>
            </a:solidFill>
          </c:spPr>
          <c:dPt>
            <c:idx val="0"/>
            <c:spPr>
              <a:solidFill>
                <a:srgbClr val="1F5FBF"/>
              </a:solidFill>
            </c:spPr>
          </c:dPt>
          <c:cat>
            <c:strRef>
              <c:f>Sheet1!$A$2:$A$4</c:f>
              <c:strCache>
                <c:ptCount val="3"/>
                <c:pt idx="0">
                  <c:v>Qwen3-Coder 30B</c:v>
                </c:pt>
                <c:pt idx="1">
                  <c:v>Gemma4 26B</c:v>
                </c:pt>
                <c:pt idx="2">
                  <c:v>Qwen3.6 27B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86.0</c:v>
                </c:pt>
                <c:pt idx="1">
                  <c:v>72.0</c:v>
                </c:pt>
                <c:pt idx="2">
                  <c:v>13.0</c:v>
                </c:pt>
              </c:numCache>
            </c:numRef>
          </c:val>
        </c:ser>
        <c:dLbls>
          <c:numFmt formatCode="#,##0.#&quot; tok/s&quot;" sourceLinked="0"/>
          <c:txPr>
            <a:bodyPr/>
            <a:lstStyle/>
            <a:p>
              <a:pPr>
                <a:defRPr sz="15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4141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41414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59536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863840" y="1417320"/>
            <a:ext cx="3566160" cy="3566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0" y="2240280"/>
            <a:ext cx="1920240" cy="1920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74">
                <a:solidFill>
                  <a:srgbClr val="1F5FBF"/>
                </a:solidFill>
                <a:latin typeface="Segoe Fluent Icons"/>
              </a:rPr>
              <a:t></a:t>
            </a:r>
          </a:p>
        </p:txBody>
      </p:sp>
      <p:sp>
        <p:nvSpPr>
          <p:cNvPr id="6" name="Oval 5"/>
          <p:cNvSpPr/>
          <p:nvPr/>
        </p:nvSpPr>
        <p:spPr>
          <a:xfrm>
            <a:off x="7452360" y="12344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5240" y="141732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F5FBF"/>
                </a:solidFill>
                <a:latin typeface="Segoe Fluent Icons"/>
              </a:rPr>
              <a:t></a:t>
            </a:r>
          </a:p>
        </p:txBody>
      </p:sp>
      <p:sp>
        <p:nvSpPr>
          <p:cNvPr id="8" name="Oval 7"/>
          <p:cNvSpPr/>
          <p:nvPr/>
        </p:nvSpPr>
        <p:spPr>
          <a:xfrm>
            <a:off x="10744200" y="18288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27080" y="20116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3F8F7E"/>
                </a:solidFill>
                <a:latin typeface="Segoe Fluent Icons"/>
              </a:rPr>
              <a:t>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429768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448056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B8742F"/>
                </a:solidFill>
                <a:latin typeface="Segoe Fluent Icons"/>
              </a:rPr>
              <a:t>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0" y="434340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4200" y="45262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6B5BD2"/>
                </a:solidFill>
                <a:latin typeface="Segoe Fluent Icons"/>
              </a:rPr>
              <a:t>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THEME GALLERY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41414"/>
                </a:solidFill>
                <a:latin typeface="Segoe UI Semibold"/>
              </a:rPr>
              <a:t>Local AI, made tangible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4A4A4A"/>
                </a:solidFill>
                <a:latin typeface="Segoe UI"/>
              </a:rPr>
              <a:t>Every layout in the Forge catalog, rendered natively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C8780"/>
                </a:solidFill>
                <a:latin typeface="Segoe UI"/>
              </a:rPr>
              <a:t>Surface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The on-device AI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Four layers turn silicon into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Apps &amp;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Copilot-style drafting, code,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Qwen3-Coder 30B, GPT-OSS 20B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llama.cpp CUDA, Foundry Local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41414"/>
                </a:solidFill>
                <a:latin typeface="Segoe UI Semibold"/>
              </a:rPr>
              <a:t>Silicon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RTX Spark GPU, 20-core CPU, NPU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12413"/>
            </a:avLst>
          </a:prstGeom>
          <a:solidFill>
            <a:srgbClr val="D7DEEA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 Semibold"/>
              </a:rPr>
              <a:t>100% on this 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From prompt to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Five local steps, zero cloud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F5FB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Facts and audience in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F8F7E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Local model drafts the story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B8742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Pick infographic layouts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6B5BD2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Render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Native shapes, editable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906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C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C2416B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41414"/>
                </a:solidFill>
                <a:latin typeface="Segoe UI Semibold"/>
              </a:rPr>
              <a:t>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Human signs 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One device, many assistants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 single local model hub serves every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4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4476" y="2240280"/>
            <a:ext cx="0" cy="1760220"/>
          </a:xfrm>
          <a:prstGeom prst="line">
            <a:avLst/>
          </a:prstGeom>
          <a:ln w="22225">
            <a:solidFill>
              <a:srgbClr val="80A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94476" y="3120390"/>
            <a:ext cx="3614994" cy="880110"/>
          </a:xfrm>
          <a:prstGeom prst="line">
            <a:avLst/>
          </a:prstGeom>
          <a:ln w="22225">
            <a:solidFill>
              <a:srgbClr val="80A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6" y="4000500"/>
            <a:ext cx="3614994" cy="880110"/>
          </a:xfrm>
          <a:prstGeom prst="line">
            <a:avLst/>
          </a:prstGeom>
          <a:ln w="22225">
            <a:solidFill>
              <a:srgbClr val="80A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4476" y="4000500"/>
            <a:ext cx="0" cy="1760220"/>
          </a:xfrm>
          <a:prstGeom prst="line">
            <a:avLst/>
          </a:prstGeom>
          <a:ln w="22225">
            <a:solidFill>
              <a:srgbClr val="80A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79482" y="4000500"/>
            <a:ext cx="3614994" cy="880110"/>
          </a:xfrm>
          <a:prstGeom prst="line">
            <a:avLst/>
          </a:prstGeom>
          <a:ln w="22225">
            <a:solidFill>
              <a:srgbClr val="80A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479482" y="3120390"/>
            <a:ext cx="3614994" cy="880110"/>
          </a:xfrm>
          <a:prstGeom prst="line">
            <a:avLst/>
          </a:prstGeom>
          <a:ln w="22225">
            <a:solidFill>
              <a:srgbClr val="80A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910328" y="2816352"/>
            <a:ext cx="2368296" cy="2368296"/>
          </a:xfrm>
          <a:prstGeom prst="ellipse">
            <a:avLst/>
          </a:prstGeom>
          <a:solidFill>
            <a:srgbClr val="1F5FB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111496" y="3017520"/>
            <a:ext cx="1965960" cy="1965960"/>
          </a:xfrm>
          <a:prstGeom prst="ellipse">
            <a:avLst/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0428" y="3287268"/>
            <a:ext cx="768096" cy="7680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749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4073652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FFFFFF"/>
                </a:solidFill>
                <a:latin typeface="Segoe UI Semibold"/>
              </a:rPr>
              <a:t>Local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37176" y="186537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10328" y="1938528"/>
            <a:ext cx="603504" cy="603504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94819" y="202301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192024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 Semibold"/>
              </a:rPr>
              <a:t>Code drafts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2170" y="274548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525322" y="2818638"/>
            <a:ext cx="603504" cy="603504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09813" y="290312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66" y="280035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 Semibold"/>
              </a:rPr>
              <a:t>Meeting notes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2170" y="450570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525322" y="4578858"/>
            <a:ext cx="603504" cy="603504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09813" y="466334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266" y="456057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 Semibold"/>
              </a:rPr>
              <a:t>Search docs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37176" y="538581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910328" y="5458968"/>
            <a:ext cx="603504" cy="603504"/>
          </a:xfrm>
          <a:prstGeom prst="ellipse">
            <a:avLst/>
          </a:prstGeom>
          <a:solidFill>
            <a:srgbClr val="C2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94819" y="554345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54406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 Semibold"/>
              </a:rPr>
              <a:t>Summaries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2182" y="450570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295334" y="4578858"/>
            <a:ext cx="603504" cy="603504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79824" y="466334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0278" y="456057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 Semibold"/>
              </a:rPr>
              <a:t>Translation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22182" y="274548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295334" y="2818638"/>
            <a:ext cx="603504" cy="603504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379824" y="290312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FFFFFF"/>
                </a:solidFill>
                <a:latin typeface="Segoe Fluent Icons"/>
              </a:rPr>
              <a:t>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90278" y="280035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 Semibold"/>
              </a:rPr>
              <a:t>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Two lanes, 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Keep cloud. Add a local 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Cloud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Largest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Shared tenant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C8780"/>
                </a:solidFill>
                <a:latin typeface="Segoe Fluent Icons"/>
              </a:rPr>
              <a:t>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Needs connectivity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F5FBF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41414"/>
                </a:solidFill>
                <a:latin typeface="Segoe UI Semibold"/>
              </a:rPr>
              <a:t>Local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Data stays on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Works on 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3156" y="461467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1F5FBF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0356" y="441960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No per-token bill</a:t>
            </a:r>
          </a:p>
        </p:txBody>
      </p:sp>
      <p:sp>
        <p:nvSpPr>
          <p:cNvPr id="29" name="Oval 28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7F5F2"/>
                </a:solidFill>
                <a:latin typeface="Segoe UI Semibold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23076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Route each task to the lane that fits it best.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Measured on this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Numbers from the local benchmark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F5FBF"/>
                </a:solidFill>
                <a:latin typeface="Segoe UI Light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tokens/s, Qwen3-Coder 30B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Local-AI-Bench, Oct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F8F7E"/>
                </a:solidFill>
                <a:latin typeface="Segoe UI Light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models in local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installed.json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B8742F"/>
                </a:solidFill>
                <a:latin typeface="Segoe UI Light"/>
              </a:rPr>
              <a:t>128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41414"/>
                </a:solidFill>
                <a:latin typeface="Segoe UI"/>
              </a:rPr>
              <a:t>installed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Win32_PhysicalMemory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Think of it like a kitchen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Local AI is cooking at home instead of ordering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41414"/>
                </a:solidFill>
                <a:latin typeface="Segoe UI Semibold"/>
              </a:rPr>
              <a:t>Local AI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41414"/>
                </a:solidFill>
                <a:latin typeface="Segoe UI Semibold"/>
              </a:rPr>
              <a:t>Home 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C878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GPU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The stove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Model weights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The recipe 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Memory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Counter space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Your data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C87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EE3D7"/>
          </a:solidFill>
          <a:ln w="15875">
            <a:solidFill>
              <a:srgbClr val="B87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41414"/>
                </a:solidFill>
                <a:latin typeface="Segoe UI"/>
              </a:rPr>
              <a:t>Ingredients that never leave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Throughput by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MoE models run fastest on RTX Spark.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41414"/>
                </a:solidFill>
                <a:latin typeface="Segoe UI Semibold"/>
              </a:rPr>
              <a:t>MoE models run fastest on RTX Spark.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Pilot in four beats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Two weeks from kickoff to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C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1F5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F5FBF"/>
                </a:solidFill>
                <a:latin typeface="Segoe Fluent Icons"/>
              </a:rPr>
              <a:t>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F5FBF"/>
                </a:solidFill>
                <a:latin typeface="Segoe UI Semibold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Baseline task times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3F8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3F8F7E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3F8F7E"/>
                </a:solidFill>
                <a:latin typeface="Segoe UI Semibold"/>
              </a:rP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Deploy models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B87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B8742F"/>
                </a:solidFill>
                <a:latin typeface="Segoe Fluent Icons"/>
              </a:rPr>
              <a:t>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B8742F"/>
                </a:solidFill>
                <a:latin typeface="Segoe UI Semibold"/>
              </a:rPr>
              <a:t>Day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Measure quality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6B5BD2"/>
                </a:solidFill>
                <a:latin typeface="Segoe Fluent Icons"/>
              </a:rPr>
              <a:t>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6B5BD2"/>
                </a:solidFill>
                <a:latin typeface="Segoe UI Semibold"/>
              </a:rPr>
              <a:t>Day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41414"/>
                </a:solidFill>
                <a:latin typeface="Segoe UI"/>
              </a:rPr>
              <a:t>Go / adapt / stop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Where local AI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Sensitive and frequent tasks win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4A4A4A"/>
                </a:solidFill>
                <a:latin typeface="Segoe UI"/>
              </a:rPr>
              <a:t>Task frequency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810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4A4A4A"/>
                </a:solidFill>
                <a:latin typeface="Segoe UI"/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4A4A4A"/>
                </a:solidFill>
                <a:latin typeface="Segoe UI"/>
              </a:rPr>
              <a:t>Data sensitivity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1F5FBF"/>
                </a:solidFill>
                <a:latin typeface="Segoe Fluent Icons"/>
              </a:rPr>
              <a:t>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Case by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Sensitive but rare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Start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Sensitive and frequent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B8742F"/>
                </a:solidFill>
                <a:latin typeface="Segoe Fluent Icons"/>
              </a:rPr>
              <a:t>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Cloud is 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Public and rare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6B5BD2"/>
                </a:solidFill>
                <a:latin typeface="Segoe Fluent Icons"/>
              </a:rPr>
              <a:t>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Either 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Public and frequent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What fits in the GPU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 30B coder plus context leaves real headroom.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1F5FBF"/>
                </a:solidFill>
                <a:latin typeface="Segoe UI Light"/>
              </a:rPr>
              <a:t>64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GPU memory budget reported by nvidia-smi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2943354" cy="1033272"/>
          </a:xfrm>
          <a:prstGeom prst="roundRect">
            <a:avLst>
              <a:gd name="adj" fmla="val 8849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277876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Qwen3-Coder 30B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277876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17.3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4290" y="3118104"/>
            <a:ext cx="499720" cy="1033272"/>
          </a:xfrm>
          <a:prstGeom prst="roundRect">
            <a:avLst>
              <a:gd name="adj" fmla="val 18298"/>
            </a:avLst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3824149" y="4206240"/>
            <a:ext cx="0" cy="73152"/>
          </a:xfrm>
          <a:prstGeom prst="line">
            <a:avLst/>
          </a:prstGeom>
          <a:ln w="19050">
            <a:solidFill>
              <a:srgbClr val="3F8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18309" y="427939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141414"/>
                </a:solidFill>
                <a:latin typeface="Segoe UI"/>
              </a:rPr>
              <a:t>KV cache 3.2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8873" y="3118104"/>
            <a:ext cx="1331595" cy="1033272"/>
          </a:xfrm>
          <a:prstGeom prst="roundRect">
            <a:avLst>
              <a:gd name="adj" fmla="val 8849"/>
            </a:avLst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 flipV="1">
            <a:off x="4794671" y="3017520"/>
            <a:ext cx="0" cy="45720"/>
          </a:xfrm>
          <a:prstGeom prst="line">
            <a:avLst/>
          </a:prstGeom>
          <a:ln w="19050">
            <a:solidFill>
              <a:srgbClr val="B87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88831" y="2468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i="0">
                <a:solidFill>
                  <a:srgbClr val="141414"/>
                </a:solidFill>
                <a:latin typeface="Segoe UI"/>
              </a:rPr>
              <a:t>Desktop + apps 8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15332" y="3118104"/>
            <a:ext cx="6097548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8C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25060" y="3337560"/>
            <a:ext cx="587809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4A4A4A"/>
                </a:solidFill>
                <a:latin typeface="Segoe UI"/>
              </a:rPr>
              <a:t>Headroom 35.5 GB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16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32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48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8C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C8780"/>
                </a:solidFill>
                <a:latin typeface="Segoe UI"/>
              </a:rPr>
              <a:t>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1F5FBF"/>
                </a:solidFill>
                <a:latin typeface="Segoe Fluent Icons"/>
              </a:rPr>
              <a:t>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4A4A4A"/>
                </a:solidFill>
                <a:latin typeface="Segoe UI"/>
              </a:rPr>
              <a:t>Distinct memory views; never add them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Hybrid routing, sketched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A router decides which lane handles each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1836" y="4000500"/>
            <a:ext cx="1848612" cy="0"/>
          </a:xfrm>
          <a:prstGeom prst="line">
            <a:avLst/>
          </a:prstGeom>
          <a:ln w="28575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33921" y="2625090"/>
            <a:ext cx="2033473" cy="1085850"/>
          </a:xfrm>
          <a:prstGeom prst="line">
            <a:avLst/>
          </a:prstGeom>
          <a:ln w="28575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44817" y="278396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4A4A4A"/>
                </a:solidFill>
                <a:latin typeface="Segoe UI"/>
              </a:rPr>
              <a:t>sensitive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33921" y="4290060"/>
            <a:ext cx="2033473" cy="1085850"/>
          </a:xfrm>
          <a:prstGeom prst="line">
            <a:avLst/>
          </a:prstGeom>
          <a:ln w="28575">
            <a:solidFill>
              <a:srgbClr val="8C87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44817" y="444893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4A4A4A"/>
                </a:solidFill>
                <a:latin typeface="Segoe UI"/>
              </a:rPr>
              <a:t>heavy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501" y="3493770"/>
            <a:ext cx="2218334" cy="1013460"/>
          </a:xfrm>
          <a:prstGeom prst="roundRect">
            <a:avLst>
              <a:gd name="adj" fmla="val 16240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8949" y="37490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141414"/>
                </a:solidFill>
                <a:latin typeface="Segoe Fluent Icons"/>
              </a:rPr>
              <a:t>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0741" y="3603498"/>
            <a:ext cx="1349654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41414"/>
                </a:solidFill>
                <a:latin typeface="Segoe UI Semibold"/>
              </a:rPr>
              <a:t>Request</a:t>
            </a:r>
          </a:p>
        </p:txBody>
      </p:sp>
      <p:sp>
        <p:nvSpPr>
          <p:cNvPr id="17" name="Oval 16"/>
          <p:cNvSpPr/>
          <p:nvPr/>
        </p:nvSpPr>
        <p:spPr>
          <a:xfrm>
            <a:off x="4800448" y="3204210"/>
            <a:ext cx="2033473" cy="1592580"/>
          </a:xfrm>
          <a:prstGeom prst="ellipse">
            <a:avLst/>
          </a:prstGeom>
          <a:solidFill>
            <a:srgbClr val="1F5FB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10176" y="3313938"/>
            <a:ext cx="1814017" cy="13731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7394" y="2118360"/>
            <a:ext cx="2588057" cy="1013460"/>
          </a:xfrm>
          <a:prstGeom prst="roundRect">
            <a:avLst>
              <a:gd name="adj" fmla="val 16240"/>
            </a:avLst>
          </a:prstGeom>
          <a:solidFill>
            <a:srgbClr val="3F8F7E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22842" y="237363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4634" y="2228088"/>
            <a:ext cx="1719377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7394" y="4869180"/>
            <a:ext cx="2588057" cy="1013460"/>
          </a:xfrm>
          <a:prstGeom prst="roundRect">
            <a:avLst>
              <a:gd name="adj" fmla="val 16240"/>
            </a:avLst>
          </a:prstGeom>
          <a:solidFill>
            <a:srgbClr val="B8742F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22842" y="512445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4634" y="4978908"/>
            <a:ext cx="1719377" cy="7940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Cloud lane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41414"/>
                </a:solidFill>
                <a:latin typeface="Segoe UI Semibold"/>
              </a:rPr>
              <a:t>Your laptop is now an AI workstation.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4A4A4A"/>
                </a:solidFill>
                <a:latin typeface="Segoe UI"/>
              </a:rPr>
              <a:t>Prove it with one workflow, ten users, two weeks.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7F5F2"/>
            </a:gs>
            <a:gs pos="100000">
              <a:srgbClr val="ECE8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486400"/>
          </a:xfrm>
          <a:prstGeom prst="ellipse">
            <a:avLst/>
          </a:prstGeom>
          <a:solidFill>
            <a:srgbClr val="96B2D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548640"/>
            <a:ext cx="4114800" cy="3840480"/>
          </a:xfrm>
          <a:prstGeom prst="ellipse">
            <a:avLst/>
          </a:prstGeom>
          <a:solidFill>
            <a:srgbClr val="D1A87D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347472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41414"/>
                </a:solidFill>
                <a:latin typeface="Segoe UI Semibold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4A4A4A"/>
                </a:solidFill>
                <a:latin typeface="Segoe UI"/>
              </a:rPr>
              <a:t>Start small, measure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C8780"/>
                </a:solidFill>
                <a:latin typeface="Segoe UI"/>
              </a:rPr>
              <a:t>Surface  | 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C8780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F5FBF"/>
                </a:solidFill>
                <a:latin typeface="Segoe Fluent Icons"/>
              </a:rPr>
              <a:t>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Pick a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One repeated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F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F8F7E"/>
                </a:solidFill>
                <a:latin typeface="Segoe Fluent Icons"/>
              </a:rPr>
              <a:t>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Run the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10 users, 2 weeks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DFD8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B87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B8742F"/>
                </a:solidFill>
                <a:latin typeface="Segoe Fluent Icons"/>
              </a:rPr>
              <a:t>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41414"/>
                </a:solidFill>
                <a:latin typeface="Segoe UI Semibold"/>
              </a:rP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4A4A4A"/>
                </a:solidFill>
                <a:latin typeface="Segoe UI"/>
              </a:rPr>
              <a:t>Stop, adapt or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4399"/>
            </a:avLst>
          </a:prstGeom>
          <a:gradFill rotWithShape="1">
            <a:gsLst>
              <a:gs pos="0">
                <a:srgbClr val="1F5FBF"/>
              </a:gs>
              <a:gs pos="100000">
                <a:srgbClr val="327C9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a two-week local AI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on Surface</dc:title>
  <dc:subject/>
  <dc:creator>Offline PPTX Forge</dc:creator>
  <cp:keywords/>
  <dc:description>Generated offline; template=surface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